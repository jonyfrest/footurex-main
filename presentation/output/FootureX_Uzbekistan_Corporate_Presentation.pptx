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5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6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7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charts/chart8.xml" ContentType="application/vnd.openxmlformats-officedocument.drawingml.chart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charts/chart9.xml" ContentType="application/vnd.openxmlformats-officedocument.drawingml.chart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charts/chart10.xml" ContentType="application/vnd.openxmlformats-officedocument.drawingml.chart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charts/chart11.xml" ContentType="application/vnd.openxmlformats-officedocument.drawingml.chart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charts/chart16.xml" ContentType="application/vnd.openxmlformats-officedocument.drawingml.chart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. CORPORATE IDENTITY" id="{0d375ade-8b63-8ad0-34c5-f3bf562f34a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II. MARKET &amp; STRATEGY" id="{fc3a1749-a2ba-b545-cadd-cd46eb3139b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III. IT SERVICES" id="{cfa5465d-cb39-2bbf-afff-38bab2e88e98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IV. ARTIFICIAL INTELLIGENCE" id="{81aa0d81-5a52-98f3-ed63-065c2b5e9fff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V. GAME DEVELOPMENT" id="{7eb01f60-8032-4bb9-29ad-5544891c6113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VI. GAME COMMUNITY &amp; ESPORTS" id="{167f83f3-0516-57da-97ac-8482eb7a09f3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VII. EDUCATION &amp; ACADEMY" id="{2f813015-fe93-e0bb-0107-ffd8227a735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VIII. FOOTBALL DEVELOPMENT" id="{42c89174-14c9-4f0a-7529-4aa638bb6c3a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</p14:sldIdLst>
        </p14:section>
        <p14:section name="IX. STADIUM &amp; CITY" id="{f9abb2b9-19a1-198a-481c-9c8c6fb3c2d7}">
          <p14:sldIdLst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</p14:sldIdLst>
        </p14:section>
        <p14:section name="X. BUSINESS &amp; FINANCIAL MODEL" id="{30acdf7d-c7b2-c7f3-f752-75f9a1c54df8}">
          <p14:sldIdLst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</p14:sldIdLst>
        </p14:section>
        <p14:section name="XI. GOVERNANCE &amp; EXECUTION" id="{f4f3629a-a653-132e-f084-4414e6a94563}">
          <p14:sldIdLst>
            <p14:sldId id="362"/>
            <p14:sldId id="363"/>
            <p14:sldId id="364"/>
            <p14:sldId id="365"/>
            <p14:sldId id="366"/>
            <p14:sldId id="367"/>
            <p14:sldId id="368"/>
          </p14:sldIdLst>
        </p14:section>
        <p14:section name="XII. FUTURE VISION" id="{8a47af65-ba00-b7eb-2200-18559d30a99d}">
          <p14:sldIdLst>
            <p14:sldId id="369"/>
            <p14:sldId id="370"/>
            <p14:sldId id="371"/>
            <p14:sldId id="3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Мировые IT-расходы, $ млрд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Мировые IT-расходы, $ млрд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 (расчёт)</c:v>
                  </c:pt>
                  <c:pt idx="1">
                    <c:v>2026 (прогноз)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5580</c:v>
                </c:pt>
                <c:pt idx="1">
                  <c:v>6370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Экспорт IT Park, $ млн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Экспорт резидентов IT Park, $ млн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 пол. 2025</c:v>
                  </c:pt>
                  <c:pt idx="1">
                    <c:v>I пол.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302</c:v>
                </c:pt>
                <c:pt idx="1">
                  <c:v>393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Структура рынка 2025, $ млрд (округл.)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D68A"/>
              </a:solidFill>
              <a:effectLst/>
            </c:spPr>
          </c:dPt>
          <c:dPt>
            <c:idx val="1"/>
            <c:bubble3D val="0"/>
            <c:spPr>
              <a:solidFill>
                <a:srgbClr val="3D8BFF"/>
              </a:solidFill>
              <a:effectLst/>
            </c:spPr>
          </c:dPt>
          <c:dPt>
            <c:idx val="2"/>
            <c:bubble3D val="0"/>
            <c:spPr>
              <a:solidFill>
                <a:srgbClr val="C9D3E3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2A3343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2A3343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2A3343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Мобильные</c:v>
                </c:pt>
                <c:pt idx="1">
                  <c:v>Консоли</c:v>
                </c:pt>
                <c:pt idx="2">
                  <c:v>ПК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113</c:v>
                </c:pt>
                <c:pt idx="1">
                  <c:v>45</c:v>
                </c:pt>
                <c:pt idx="2">
                  <c:v>44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Выручка рынка, $ млрд (округл.)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$ млрд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2026П</c:v>
                  </c:pt>
                  <c:pt idx="2">
                    <c:v>2028П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202</c:v>
                </c:pt>
                <c:pt idx="1">
                  <c:v>214</c:v>
                </c:pt>
                <c:pt idx="2">
                  <c:v>234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4F7F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4F7FB"/>
                </a:solidFill>
                <a:latin typeface="+mn-lt"/>
              </a:rPr>
              <a:t>Профиль игрока: сейчас и потенциал</a:t>
            </a:r>
          </a:p>
        </c:rich>
      </c:tx>
      <c:layout/>
      <c:overlay val="0"/>
    </c:title>
    <c:autoTitleDeleted val="0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Сейчас</c:v>
                </c:pt>
              </c:strCache>
            </c:strRef>
          </c:tx>
          <c:spPr>
            <a:solidFill>
              <a:srgbClr val="1ED68A"/>
            </a:solidFill>
            <a:ln w="25400" cap="flat">
              <a:solidFill>
                <a:srgbClr val="1ED68A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1ED68A"/>
              </a:solidFill>
              <a:ln w="9525" cap="flat">
                <a:solidFill>
                  <a:srgbClr val="1ED6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Скорость</c:v>
                  </c:pt>
                  <c:pt idx="1">
                    <c:v>Удар</c:v>
                  </c:pt>
                  <c:pt idx="2">
                    <c:v>Пас</c:v>
                  </c:pt>
                  <c:pt idx="3">
                    <c:v>Дриблинг</c:v>
                  </c:pt>
                  <c:pt idx="4">
                    <c:v>Защита</c:v>
                  </c:pt>
                  <c:pt idx="5">
                    <c:v>Физика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</c:v>
                </c:pt>
                <c:pt idx="1">
                  <c:v>79</c:v>
                </c:pt>
                <c:pt idx="2">
                  <c:v>86</c:v>
                </c:pt>
                <c:pt idx="3">
                  <c:v>88</c:v>
                </c:pt>
                <c:pt idx="4">
                  <c:v>52</c:v>
                </c:pt>
                <c:pt idx="5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Потенциал</c:v>
                </c:pt>
              </c:strCache>
            </c:strRef>
          </c:tx>
          <c:spPr>
            <a:solidFill>
              <a:srgbClr val="3D8BFF"/>
            </a:solidFill>
            <a:ln w="25400" cap="flat">
              <a:solidFill>
                <a:srgbClr val="3D8BF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3D8BFF"/>
              </a:solidFill>
              <a:ln w="9525" cap="flat">
                <a:solidFill>
                  <a:srgbClr val="3D8B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Скорость</c:v>
                  </c:pt>
                  <c:pt idx="1">
                    <c:v>Удар</c:v>
                  </c:pt>
                  <c:pt idx="2">
                    <c:v>Пас</c:v>
                  </c:pt>
                  <c:pt idx="3">
                    <c:v>Дриблинг</c:v>
                  </c:pt>
                  <c:pt idx="4">
                    <c:v>Защита</c:v>
                  </c:pt>
                  <c:pt idx="5">
                    <c:v>Физика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88</c:v>
                </c:pt>
                <c:pt idx="1">
                  <c:v>86</c:v>
                </c:pt>
                <c:pt idx="2">
                  <c:v>90</c:v>
                </c:pt>
                <c:pt idx="3">
                  <c:v>92</c:v>
                </c:pt>
                <c:pt idx="4">
                  <c:v>58</c:v>
                </c:pt>
                <c:pt idx="5">
                  <c:v>78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E6ECF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D99A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1E2A3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D99A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D99A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Esports, $ тыс. (базовый сценарий)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40</c:v>
                </c:pt>
                <c:pt idx="2">
                  <c:v>120</c:v>
                </c:pt>
                <c:pt idx="3">
                  <c:v>250</c:v>
                </c:pt>
                <c:pt idx="4">
                  <c:v>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Валовая прибыль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</c:v>
                </c:pt>
                <c:pt idx="2">
                  <c:v>46</c:v>
                </c:pt>
                <c:pt idx="3">
                  <c:v>100</c:v>
                </c:pt>
                <c:pt idx="4">
                  <c:v>168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Выручка Game Dev Academy, $ тыс. (базовый сценарий)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 академии, $ тыс.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135</c:v>
                </c:pt>
                <c:pt idx="2">
                  <c:v>288</c:v>
                </c:pt>
                <c:pt idx="3">
                  <c:v>459</c:v>
                </c:pt>
                <c:pt idx="4">
                  <c:v>648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IT-услуги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217</c:v>
                </c:pt>
                <c:pt idx="1">
                  <c:v>507</c:v>
                </c:pt>
                <c:pt idx="2">
                  <c:v>999</c:v>
                </c:pt>
                <c:pt idx="3">
                  <c:v>1577</c:v>
                </c:pt>
                <c:pt idx="4">
                  <c:v>2323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(проекты + SaaS)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</c:v>
                </c:pt>
                <c:pt idx="1">
                  <c:v>222</c:v>
                </c:pt>
                <c:pt idx="2">
                  <c:v>494</c:v>
                </c:pt>
                <c:pt idx="3">
                  <c:v>869</c:v>
                </c:pt>
                <c:pt idx="4">
                  <c:v>1398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Игра (покупки + реклама)</c:v>
                </c:pt>
              </c:strCache>
            </c:strRef>
          </c:tx>
          <c:spPr>
            <a:solidFill>
              <a:srgbClr val="0E9F6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29</c:v>
                </c:pt>
                <c:pt idx="1">
                  <c:v>306</c:v>
                </c:pt>
                <c:pt idx="2">
                  <c:v>966</c:v>
                </c:pt>
                <c:pt idx="3">
                  <c:v>1930</c:v>
                </c:pt>
                <c:pt idx="4">
                  <c:v>3240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Заказная разработка игр</c:v>
                </c:pt>
              </c:strCache>
            </c:strRef>
          </c:tx>
          <c:spPr>
            <a:solidFill>
              <a:srgbClr val="C9D3E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120</c:v>
                </c:pt>
                <c:pt idx="2">
                  <c:v>300</c:v>
                </c:pt>
                <c:pt idx="3">
                  <c:v>450</c:v>
                </c:pt>
                <c:pt idx="4">
                  <c:v>600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Академия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42</c:v>
                </c:pt>
                <c:pt idx="1">
                  <c:v>135</c:v>
                </c:pt>
                <c:pt idx="2">
                  <c:v>288</c:v>
                </c:pt>
                <c:pt idx="3">
                  <c:v>459</c:v>
                </c:pt>
                <c:pt idx="4">
                  <c:v>648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Esports и Football Academy</c:v>
                </c:pt>
              </c:strCache>
            </c:strRef>
          </c:tx>
          <c:spPr>
            <a:solidFill>
              <a:srgbClr val="7A8699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40</c:v>
                </c:pt>
                <c:pt idx="2">
                  <c:v>120</c:v>
                </c:pt>
                <c:pt idx="3">
                  <c:v>330</c:v>
                </c:pt>
                <c:pt idx="4">
                  <c:v>560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217</c:v>
                </c:pt>
                <c:pt idx="1">
                  <c:v>507</c:v>
                </c:pt>
                <c:pt idx="2">
                  <c:v>999</c:v>
                </c:pt>
                <c:pt idx="3">
                  <c:v>1577</c:v>
                </c:pt>
                <c:pt idx="4">
                  <c:v>2323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Валовая прибыль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105</c:v>
                </c:pt>
                <c:pt idx="1">
                  <c:v>267</c:v>
                </c:pt>
                <c:pt idx="2">
                  <c:v>537</c:v>
                </c:pt>
                <c:pt idx="3">
                  <c:v>857</c:v>
                </c:pt>
                <c:pt idx="4">
                  <c:v>1251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AI-проекты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176</c:v>
                </c:pt>
                <c:pt idx="2">
                  <c:v>336</c:v>
                </c:pt>
                <c:pt idx="3">
                  <c:v>480</c:v>
                </c:pt>
                <c:pt idx="4">
                  <c:v>630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SaaS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</c:v>
                </c:pt>
                <c:pt idx="1">
                  <c:v>46</c:v>
                </c:pt>
                <c:pt idx="2">
                  <c:v>158</c:v>
                </c:pt>
                <c:pt idx="3">
                  <c:v>389</c:v>
                </c:pt>
                <c:pt idx="4">
                  <c:v>768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Покупки в игре (реальные платежи)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</c:v>
                </c:pt>
                <c:pt idx="1">
                  <c:v>252</c:v>
                </c:pt>
                <c:pt idx="2">
                  <c:v>840</c:v>
                </c:pt>
                <c:pt idx="3">
                  <c:v>1714</c:v>
                </c:pt>
                <c:pt idx="4">
                  <c:v>2916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Реклама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</c:v>
                </c:pt>
                <c:pt idx="1">
                  <c:v>54</c:v>
                </c:pt>
                <c:pt idx="2">
                  <c:v>126</c:v>
                </c:pt>
                <c:pt idx="3">
                  <c:v>216</c:v>
                </c:pt>
                <c:pt idx="4">
                  <c:v>324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Заказная разработка</c:v>
                </c:pt>
              </c:strCache>
            </c:strRef>
          </c:tx>
          <c:spPr>
            <a:solidFill>
              <a:srgbClr val="C9D3E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120</c:v>
                </c:pt>
                <c:pt idx="2">
                  <c:v>300</c:v>
                </c:pt>
                <c:pt idx="3">
                  <c:v>450</c:v>
                </c:pt>
                <c:pt idx="4">
                  <c:v>600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CAPEX, USD тыс.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IT-инфраструктура и офис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90</c:v>
                </c:pt>
                <c:pt idx="2">
                  <c:v>150</c:v>
                </c:pt>
                <c:pt idx="3">
                  <c:v>180</c:v>
                </c:pt>
                <c:pt idx="4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Esports-студия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80</c:v>
                </c:pt>
                <c:pt idx="2">
                  <c:v>40</c:v>
                </c:pt>
                <c:pt idx="3">
                  <c:v>60</c:v>
                </c:pt>
                <c:pt idx="4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Учебные пространства</c:v>
                </c:pt>
              </c:strCache>
            </c:strRef>
          </c:tx>
          <c:spPr>
            <a:solidFill>
              <a:srgbClr val="C9D3E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100</c:v>
                </c:pt>
                <c:pt idx="2">
                  <c:v>120</c:v>
                </c:pt>
                <c:pt idx="3">
                  <c:v>60</c:v>
                </c:pt>
                <c:pt idx="4">
                  <c:v>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Оснащение арендуемой базы Football Academy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300</c:v>
                </c:pt>
                <c:pt idx="4">
                  <c:v>200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OPEX, USD тыс.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Управление</c:v>
                </c:pt>
              </c:strCache>
            </c:strRef>
          </c:tx>
          <c:spPr>
            <a:solidFill>
              <a:srgbClr val="C9D3E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180</c:v>
                </c:pt>
                <c:pt idx="1">
                  <c:v>300</c:v>
                </c:pt>
                <c:pt idx="2">
                  <c:v>450</c:v>
                </c:pt>
                <c:pt idx="3">
                  <c:v>600</c:v>
                </c:pt>
                <c:pt idx="4">
                  <c:v>750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R&amp;D продуктов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</c:v>
                </c:pt>
                <c:pt idx="1">
                  <c:v>380</c:v>
                </c:pt>
                <c:pt idx="2">
                  <c:v>520</c:v>
                </c:pt>
                <c:pt idx="3">
                  <c:v>650</c:v>
                </c:pt>
                <c:pt idx="4">
                  <c:v>780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Привлечение игроков (UA)</c:v>
                </c:pt>
              </c:strCache>
            </c:strRef>
          </c:tx>
          <c:spPr>
            <a:solidFill>
              <a:srgbClr val="0E9F6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60</c:v>
                </c:pt>
                <c:pt idx="1">
                  <c:v>250</c:v>
                </c:pt>
                <c:pt idx="2">
                  <c:v>450</c:v>
                </c:pt>
                <c:pt idx="3">
                  <c:v>650</c:v>
                </c:pt>
                <c:pt idx="4">
                  <c:v>850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Маркетинг и продажи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40</c:v>
                </c:pt>
                <c:pt idx="1">
                  <c:v>90</c:v>
                </c:pt>
                <c:pt idx="2">
                  <c:v>150</c:v>
                </c:pt>
                <c:pt idx="3">
                  <c:v>220</c:v>
                </c:pt>
                <c:pt idx="4">
                  <c:v>300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Офис, юридические и прочие</c:v>
                </c:pt>
              </c:strCache>
            </c:strRef>
          </c:tx>
          <c:spPr>
            <a:solidFill>
              <a:srgbClr val="7A8699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66</c:v>
                </c:pt>
                <c:pt idx="1">
                  <c:v>110</c:v>
                </c:pt>
                <c:pt idx="2">
                  <c:v>176</c:v>
                </c:pt>
                <c:pt idx="3">
                  <c:v>240</c:v>
                </c:pt>
                <c:pt idx="4">
                  <c:v>300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USD тыс., базовый сценарий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1ED6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355</c:v>
                </c:pt>
                <c:pt idx="1">
                  <c:v>1330</c:v>
                </c:pt>
                <c:pt idx="2">
                  <c:v>3168</c:v>
                </c:pt>
                <c:pt idx="3">
                  <c:v>5614</c:v>
                </c:pt>
                <c:pt idx="4">
                  <c:v>8769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3D8B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-387</c:v>
                </c:pt>
                <c:pt idx="1">
                  <c:v>-399</c:v>
                </c:pt>
                <c:pt idx="2">
                  <c:v>71</c:v>
                </c:pt>
                <c:pt idx="3">
                  <c:v>725</c:v>
                </c:pt>
                <c:pt idx="4">
                  <c:v>1962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FCF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-536</c:v>
                </c:pt>
                <c:pt idx="1">
                  <c:v>-747</c:v>
                </c:pt>
                <c:pt idx="2">
                  <c:v>-386</c:v>
                </c:pt>
                <c:pt idx="3">
                  <c:v>-71</c:v>
                </c:pt>
                <c:pt idx="4">
                  <c:v>1051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00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Накопленный FCF, USD тыс.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Накопленный FCF</c:v>
                </c:pt>
              </c:strCache>
            </c:strRef>
          </c:tx>
          <c:spPr>
            <a:solidFill>
              <a:srgbClr val="FFB547"/>
            </a:solidFill>
            <a:ln w="31750" cap="flat">
              <a:solidFill>
                <a:srgbClr val="FFB547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B547"/>
              </a:solidFill>
              <a:ln w="9525" cap="flat">
                <a:solidFill>
                  <a:srgbClr val="FFB54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-536</c:v>
                </c:pt>
                <c:pt idx="1">
                  <c:v>-1282</c:v>
                </c:pt>
                <c:pt idx="2">
                  <c:v>-1668</c:v>
                </c:pt>
                <c:pt idx="3">
                  <c:v>-1739</c:v>
                </c:pt>
                <c:pt idx="4">
                  <c:v>-688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00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11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11B"/>
                </a:solidFill>
                <a:latin typeface="+mn-lt"/>
              </a:rPr>
              <a:t>Накопленный FCF по сценариям, USD тыс.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Пессимистичный</c:v>
                </c:pt>
              </c:strCache>
            </c:strRef>
          </c:tx>
          <c:spPr>
            <a:solidFill>
              <a:srgbClr val="C0392B"/>
            </a:solidFill>
            <a:ln w="28575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-572</c:v>
                </c:pt>
                <c:pt idx="1">
                  <c:v>-1477</c:v>
                </c:pt>
                <c:pt idx="2">
                  <c:v>-2296</c:v>
                </c:pt>
                <c:pt idx="3">
                  <c:v>-3211</c:v>
                </c:pt>
                <c:pt idx="4">
                  <c:v>-3406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Базовый</c:v>
                </c:pt>
              </c:strCache>
            </c:strRef>
          </c:tx>
          <c:spPr>
            <a:solidFill>
              <a:srgbClr val="3D8BFF"/>
            </a:solidFill>
            <a:ln w="28575" cap="flat">
              <a:solidFill>
                <a:srgbClr val="3D8BFF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8BFF"/>
              </a:solidFill>
              <a:ln w="9525" cap="flat">
                <a:solidFill>
                  <a:srgbClr val="3D8B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-536</c:v>
                </c:pt>
                <c:pt idx="1">
                  <c:v>-1282</c:v>
                </c:pt>
                <c:pt idx="2">
                  <c:v>-1668</c:v>
                </c:pt>
                <c:pt idx="3">
                  <c:v>-1739</c:v>
                </c:pt>
                <c:pt idx="4">
                  <c:v>-688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Оптимистичный</c:v>
                </c:pt>
              </c:strCache>
            </c:strRef>
          </c:tx>
          <c:spPr>
            <a:solidFill>
              <a:srgbClr val="1ED68A"/>
            </a:solidFill>
            <a:ln w="28575" cap="flat">
              <a:solidFill>
                <a:srgbClr val="1ED68A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334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D68A"/>
              </a:solidFill>
              <a:ln w="9525" cap="flat">
                <a:solidFill>
                  <a:srgbClr val="1ED6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Год 1</c:v>
                  </c:pt>
                  <c:pt idx="1">
                    <c:v>Год 2</c:v>
                  </c:pt>
                  <c:pt idx="2">
                    <c:v>Год 3</c:v>
                  </c:pt>
                  <c:pt idx="3">
                    <c:v>Год 4</c:v>
                  </c:pt>
                  <c:pt idx="4">
                    <c:v>Год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-500</c:v>
                </c:pt>
                <c:pt idx="1">
                  <c:v>-1088</c:v>
                </c:pt>
                <c:pt idx="2">
                  <c:v>-1040</c:v>
                </c:pt>
                <c:pt idx="3">
                  <c:v>-415</c:v>
                </c:pt>
                <c:pt idx="4">
                  <c:v>1709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A334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4000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5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технологическая компания из Ташкента с долгосрочной стратегией экосистемы.
Подача: открываем не игрой, а компанией. Подчеркнуть: документ — стратегическая презентация, статус «проект для обсуждения».
Связка: далее — корпоративное видение «Creating the Future».
ВНИМАНИЕ: на слайдах используется временный текстовый знак вместо оригинального логотипа — заменить файлом из брендбука (brand/logo/).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мы строим не продукт, а технологическую платформу роста, где каждое направление усиливает остальные.
Подача: три опоры видения — технологии, игры и AI, спорт и городские инновации. Цифровые направления — фундамент ближайших лет; физическая инфраструктура — долгосрочная амбиция.
Связка: далее — откуда компания и почему Узбекистан.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Узбекистан — крупнейший по населению рынок Центральной Азии с молодым, цифровым и быстро растущим обществом; Ташкент — естественный хаб.
Данные: население 38,24 млн на 01.01.2026 (+1,8% за год); средний возраст 29,5 года; интернет-пользователи 33,1 млн, проникновение 89,0% (конец 2025); рост ВВП 7,7% в 2025 г., ВВП свыше $145 млрд.
Связка: далее — кто 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технологическая компания, а не одна игра.
Корпоративные реквизиты: юридическое наименование MChJ «FootureX Uzbekistan»; международное — FootureX Uzbekistan LLC; Ташкент; планируемая ОПФ — ООО (MChJ).
ТРЕБУЕТСЯ ПОДТВЕРЖДЕНИЕ: факт и дата государственной регистрации, ИНН, уставный капитал, состав участников, статус резидента IT Park — документы не предоставлены.
Связка: далее — как возникла идея.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идея выросла из футбольной игры, но логика масштабирования привела к экосистеме.
Подача: пять шагов эволюции. Контекст: сборная Узбекистана впервые в истории квалифицировалась на чемпионат мира ФИФА 2026 (июнь 2025) — футбольный интерес в стране на историческом пике.
ТРЕБУЕТСЯ ПОДТВЕРЖДЕНИЕ: даты и персоналии основания компании не предоставлены — слайд описывает логику, а не хронологию.
Связка: далее — миссия.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миссия соединяет технологии и спорт вокруг людей.
Миссия игрового направления (утверждена в брифе): «Creating a Digital Football Era».
Корпоративная миссия — ПРЕДЛАГАЕМАЯ формулировка для утверждения руководством.
Связка: далее — видение на 10–20 лет.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амбиция масштабная, но последовательность реалистична — от цифровых направлений к физической инфраструктуре.
Годы отсчитываются от запуска операционной деятельности (дата требует подтверждения). Горизонты 3–4 зависят от финансирования, земельных и регуляторных согласований.
Связка: далее — ценности, на которых строится компания.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шесть ценностей задают стандарт решений — от кода до спортивной академии.
Статус: проект ценностей для утверждения руководством.
Связка: далее — основные направления деятельности.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десять направлений — единая система, но с разной степенью готовности.
Легенда статусов: «План · Фаза 1» — планируемые к запуску первыми; «В разработке» — продукт в работе; «Концепция» — стратегическая концепция; «Амбиция» — долгосрочная цель.
ТРЕБУЕТСЯ ПОДТВЕРЖДЕНИЕ: статусы присвоены консервативно по брифу; фактическое состояние каждого направления должно подтвердить руководство.
Связка: далее — карта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экосистема создаёт перекрёстные эффекты — каждое направление поставляет другим клиентов, технологии, таланты или аудиторию.
Примеры связей: Technologies и AI строят платформу для игры; игра формирует сообщество и киберспорт; академия готовит кадры для студии; AI-аналитика служит футбольной академии; стадион и City объединяют аудитории офлайн.
Связка: глава II — рынки и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входит в рынки, которые растут быстрее мировой экономики.
Данные: Gartner (27.07.2026) — мировые IT-расходы $6,37 трлн в 2026 г. (+14,2%); Gartner (16.09.2026) — расходы на AI ≈ $2,7 трлн (+49,5%); Newzoo — выручка игрового рынка $201,6 млрд в 2025 г. (+9,1%).
Важно: прогнозы Gartner пересматривались в течение 2026 г.; использованы последние доступные версии.
Связка: далее — рынок IT подробнее.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глобальный IT-рынок растёт двузначными темпами, а экспорт IT-услуг Узбекистана растёт ещё быстрее — это окно для FootureX Technologies.
Данные: Gartner — $6,37 трлн в 2026 г.; базу 2025 г. (≈$5,58 трлн) мы рассчитали из темпа роста. Экспорт услуг резидентов IT Park: $392,5 млн в январе–июне 2026 г., на $90,3 млн больше, чем годом ранее (≈$302 млн, +30%).
Связка: далее — игровая индустрия.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мобильные игры — более половины рынка; рост 2025 г. обеспечен ростом расходов на игрока и мини-играми.
Данные Newzoo: 2025 г. — $201,6 млрд (+9,1%), мобильные $113,3 млрд (56%), консоли $44,7 млрд, ПК $43,6 млрд; прогноз $213,9 млрд в 2026 г. и $234,4 млрд в 2028 г. Newzoo отмечает бум мини-игр — прямой аналог Telegram Web App.
Связка: далее — искусственный интеллект.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компании массово экспериментируют с AI, но лишь меньшинство получает финансовый эффект — ниша FootureX AI в доведении AI до результата.
Данные: Gartner — ≈$2,7 трлн мировых расходов на AI в 2026 г. (+49,5%). McKinsey 2025 — 62% респондентов как минимум экспериментируют с AI-агентами; только 39% видят влияние на EBIT на уровне компании. Узбекистан: стратегия ИИ до 2030 г. — цель $1,5 млрд AI-продуктов и услуг, топ-50 Government AI Readiness Index.
Связка: далее — киберспорт.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— массовая аудитория с неоднозначной монетизацией; для FootureX это прежде всего маркетинговый и общественный двигатель игры.
Данные: аудитория ≈ 640,8 млн зрителей в 2025 г. (Newzoo). Оценки выручки расходятся: ≈$2,6 млрд (Ken Research) и ≈$4,8 млрд (Statista, включая ставки) — используем диапазон и не смешиваем методики.
Узбекистан: постановление о развитии киберспорта от 16.11.2022; национальная ассоциация — полноправный член AESF; Кубок Кабинета Министров (12.2025) по CS2 и PUBG Mobile.
Связка: далее — цифровизация Узбекистана.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Узбекистан — одна из самых динамичных цифровых экономик региона с прямой государственной поддержкой IT.
Данные: 33,1 млн интернет-пользователей (89,0%) и 33,9 млн мобильных подключений на конец 2025 г.; ВВП свыше $145 млрд в 2025 г.; в январе–июле 2025 г. статус участника IT Park получили 481 экспортно-ориентированная компания, из них 232 иностранные; стратегия «Цифровой Узбекистан — 2030»; инициатива «Пять миллионов лидеров в сфере ИИ».
Связка: далее — проблемы и потребности целевых рынков.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 каждого сегмента есть конкретная нерешённая потребность, и у FootureX есть ответ из своей экосистемы.
Статус: сегментация и формулировки потребностей — гипотезы, требующие подтверждения маркетинговым исследованием (интервью, опросы, пилоты).
Связка: далее — возможности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пересечении шести трендов возникает окно возможностей, которое редко открывается одновременно.
Ключевые факты: растущий IT-экспорт; государственная AI-стратегия; Telegram как основная платформа; молодое население; первый в истории выход сборной на ЧМ-2026; проведение молодёжного чемпионата мира ФИФА U-20 в 2027 г. (совместно с Азербайджаном) и строительство Нового Ташкента.
Связка: далее — конкурентная среда.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в каждом отдельном сегменте есть сильные конкуренты; уникальность FootureX — в связке направлений и локальной экспертизе.
Статус: качественная оценка категорий конкурентов; детальный конкурентный анализ (доли, цены, продукты) требует отдельного исследования.
Связка: далее — стратегические преимущества.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преимущества FootureX — не в одном продукте, а в последовательности и связке направлений.
Важно: это потенциальные преимущества; они становятся реальными по мере исполнения планов и подтверждаются метриками (см. главу XI, KPI).
Связка: глава III — IT-услуги.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Technologies — денежный и технологический фундамент: окупает команду, создаёт платформу для игры и AI.
Услуги: корпоративная разработка, ERP/CRM/SRM/POS, веб и мобильные приложения, облако и интеграции.
Статус: планируемое направление Фазы 1.
Связка: далее — как мы разрабатываем корпоративное ПО.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прозрачный жизненный цикл проекта снижает риск клиента и повышает маржу компании.
Подача: шесть стадий; на каждой — артефакт, который клиент видит и подписывает. Методология — итеративная (Scrum/Kanban), качество — автотесты и код-ревью, безопасность — по OWASP.
Связка: далее — ERP и CRM.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модульная ERP/CRM/SRM-платформа позволяет начать с одного модуля и вырасти до полного контура.
Подача: экран — концепт интерфейса с демо-данными (не реальный клиент). Модули: продажи и CRM, склад, закупки и SRM, касса и POS, финансы, персонал, отчётность, встроенный AI-ассистент.
Связка: далее — пакетные решения для МСБ.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МСБ покупает не разработку, а готовый результат — пакет под отрасль с быстрым запуском и подпиской.
Подача: шесть приоритетных отраслей; каждая — набор модулей ERP/CRM/POS с типовой настройкой. Сроки и цены пакетов — требуют расчёта после пилотов.
Связка: далее — POS и кассовые решения.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POS — точка входа к клиенту МСБ; от кассы естественно расширяемся на склад, финансы и аналитику.
ВАЖНО: работа с фискальными требованиями Узбекистана (онлайн-ККТ, фискальные модули, интеграция с налоговыми сервисами) требует сертификации и юридической проверки — без неё POS-продукт не запускается.
Связка: далее — веб и мобильные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одна команда — четыре канала: веб, iOS/Android, Telegram Mini Apps и прогрессивные веб-приложения.
Подача: Telegram Mini Apps — особая компетенция, отработанная на собственной игре; это конкурентное преимущество для клиентских проектов.
Связка: далее — облачная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облачная архитектура — стандарт для всех продуктов FootureX и клиентских проектов.
ВАЖНО: законодательство Узбекистана о персональных данных предусматривает требования к локализации персональных данных граждан РУз; архитектура проектов учитывает размещение таких данных в стране. Конкретные требования проверяются юристами по каждому проекту.
Связка: далее — интеграции и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ценность корпоративного ПО определяется интеграциями — платежи, банки, налоговые сервисы, маркетплейсы, Telegram.
Примеры целевых интеграций — потенциальные; договорённостей с указанными категориями партнёров нет, подключение выполняется по их публичным API и договорам.
Связка: далее — модель коммерциализации.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смешанная модель — проектная выручка сегодня, повторяющаяся выручка (SLA и подписки) завтра.
Юнит-экономика (допущение, Год 3): ставка $26/ч; себестоимость часа ≈$12 (полная стоимость FTE $16,5 тыс. / 1 760 ч / 78% загрузки) — маржа часа ≈54%.
Все значения — расчётные допущения, а не факт.
Связка: далее — стратегия развития IT-направления.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IT-направление растёт от сервисной команды к продуктовой компании с экспортом.
План (допущения модели): 8 → 16 → 28 → 40 → 55 оплачиваемых специалистов; выручка ≈$0,22 млн → ≈$2,32 млн.
Связка: глава IV — искусственный интеллект.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AI — направление, которое превращает AI из эксперимента в рабочий процесс клиента.
Состав: AI-агенты, ассистенты, мультиагентные системы, машинное обучение и аналитика, отраслевые AI-продукты.
Статус: планируемое направление Фазы 1 (проекты), SaaS — Фаза 2.
Связка: далее — роль AI в бизнесе.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стоимость AI возникает там, где он встроен в процесс с понятной метрикой — время, конверсия, ошибки, выручка.
Данные McKinsey 2025: 62% организаций экспериментируют с агентами, лишь 39% видят эффект на EBIT — значит, ценность в внедрении, а не в модели.
Связка: далее — AI-агенты и ассистенты.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агент — это не чат-бот, а исполнитель задачи с доступом к инструментам и правилам.
Подача: шесть типовых агентов — каждый связан с системами клиента (ERP, CRM, POS, документы) и работает под контролем человека для критичных действий.
Связка: далее — как агенты работают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надёжный AI строится как система — оркестратор распределяет задачи, специализированные агенты исполняют, слой управления контролирует.
Уровни: интерфейсы; оркестратор; специализированные агенты; инструменты и интеграции; знания и данные (RAG); управление и контроль (журнал, человек в контуре, оценка качества).
Статус: целевая архитектура; выбор моделей и провайдеров — по проекту с учётом требований к данным.
Связка: далее — AI для корпоративной автоматизации.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практике AI-контур связывает сразу несколько систем — CRM, склад, финансы — и экономит часы ручной работы.
Подача: экран — концепт интерфейса с демо-данными; показатели точности — демонстрационные значения, не результаты внедрения.
Ключевой принцип: критичные действия (скидки, отправка КП, платежи) подтверждает человек.
Связка: далее — AI для игровой индустрии.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 — встроенная часть FootureX Game: симуляция матчей, соперники, персонализация, античит.
Компетенции, отработанные на собственной игре, затем продаются сторонним студиям (GameDev-услуги).
Связка: далее — AI для спортивной аналитики.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AI-аналитика — мост между цифровым и реальным футболом FootureX: от скаутинга до управления нагрузкой.
Потоки данных: видео матчей и тренировок, событийные данные, GPS/пульсометрия, медицинские показатели (с согласия и по правилам защиты данных несовершеннолетних).
Статус: стратегическая концепция для Football Academy и FC FootureX.
Связка: далее — AI-продукты и SaaS.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SaaS-модель превращает компетенции AI-проектов в масштабируемую повторяющуюся выручку.
Юнит-экономика (допущения, Год 3): ARPA $160/мес, валовая маржа 72%, отток 2,5% в месяц → LTV ≈ $4 608; CAC $900 → LTV/CAC ≈ 5,1; окупаемость CAC ≈ 7,8 месяца.
Тарифы — иллюстративные, не утверждённый прайс-лист.
Связка: далее — безопасность и AI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доверие — главный актив AI-компании; управление рисками AI закладывается в процесс с первого проекта.
Ориентиры: законодательство РУз о персональных данных (включая требования к локализации); государственная повестка по этике ИИ; международные практики — NIST AI Risk Management Framework, ISO/IEC 42001 (системы менеджмента ИИ), ISO/IEC 27001 (информационная безопасность). Сертификации — цель, а не текущий статус.
Связка: далее — долгосрочная AI-стратегия.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AI-направление последовательно движется от проектов к продуктам и платформе, которую используют все направления группы.
Этапы: AI-услуги (Годы 1–2) → AI-продукты SaaS (Годы 2–4) → AI-платформа FootureX (Годы 4–6) → AI для спорта и города (Годы 6+).
Связка: глава V — разработка игр.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игровая студия — продуктовое ядро бренда FootureX: собственные игры и разработка для сторонних заказчиков.
Подача: экраны — концепты интерфейса FootureX Game (Telegram Web App), не финальный дизайн.
Связка: далее — концепция студии.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студия зарабатывает четырьмя способами и переиспользует технологии между ними.
Принципы: одна технологическая платформа (Telegram Web App, движок симуляции, LiveOps-инструменты); заказная разработка стабилизирует денежный поток; собственные IP создают капитализацию.
Связка: далее — продуктовая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сначала доводим один продукт до устойчивых метрик удержания и монетизации, затем расширяем портфель.
Правило перехода: следующий продукт запускается только после достижения целевых метрик предыдущего (устанавливаются после soft launch).
Связка: далее — FootureX Game подробно.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Game — футбольный менеджер в Telegram Web App: собрать клуб, развивать игроков, соревноваться с другими.
Ключевые решения: без установки (запуск из Telegram), короткие сессии, социальная механика (друзья, клубы, турниры), честная экономика.
Статус: продукт в разработке; экраны — концепты интерфейса, имена игроков вымышлены.
Связка: далее — архитектура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архитектура рассчитана на быстрый рост аудитории и частые обновления без простоя.
Уровни: клиент (Telegram Web App, HTML5/WebGL); шлюз API; игровые сервисы (движок матча, прогрессия, экономика, матчмейкинг, турниры); данные (транзакционная БД, кэш, аналитика); платформа Telegram (Bot API, Mini Apps, платежи); эксплуатация (мониторинг, античит, CI/CD).
ТРЕБУЕТСЯ ПОДТВЕРЖДЕНИЕ: схема — целевая; актуальная архитектура должна быть сверена с технической документацией продукта.
Связка: далее — создание команды.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управление составом — центральная механика: выбор схемы, химия игроков и ротация определяют результат.
Механики: стартовый состав, схемы (4-3-3, 4-4-2, 3-5-2 и др.), «химия» сочетаний, усталость и ротация, тактические установки.
Связка: далее — развитие игроков.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развитие игроков — долгосрочная мотивация: тренировки, опыт матчей, потенциал и возраст.
Механики: 6 базовых характеристик; уровень и потенциал; тренировки с выбором фокуса; рост и спад формы по возрасту; редкие «таланты» из академии клуба.
Связка: далее — лиги, PvP и турниры.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лестница лиг с повышением и понижением даёт каждому игроку достижимую цель каждую неделю.
Структура: дивизионы Бронза → Серебро → Золото → Платина → Элита; сезон 6 недель; еженедельные кубки; рейтинг PvP (Elo-подобный); лучшие клубы Элиты получают приглашение на киберспортивные турниры (глава VI).
Параметры (длительность сезона, число дивизионов) — проектные, уточняются по данным тестов.
Связка: далее — внутриигровая экономика.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сбалансирована источниками и стоками; внутриигровая валюта никогда не считается выручкой компании.
Модель: мягкая валюта FX Coins зарабатывается игрой и тратится на трансферы, тренировки и стадион; премиальные покупки совершаются за реальные деньги через платёжные механизмы платформы. Выручка признаётся только по фактическим денежным платежам (за вычетом комиссий платформ — в себестоимости).
ВАЖНО: вывод валюты в деньги не предусмотрен — это исключает признаки азартных игр; модель требует юридической проверки (защита прав потребителей, налогообложение цифровых товаров).
Связка: далее — маркетплейс.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рынок игроков оживляет экономику, но работает только во внутриигровой валюте и под антифрод-контролем.
Правила: торговля за FX Coins; комиссия рынка — сток валюты; ценовые коридоры против отмывания; запрет передачи активов за реальные деньги вне игры. Цифровые активы — лицензия на использование внутри игры, не собственность и не финансовый инструмент.
ТРЕБУЕТСЯ ПОДТВЕРЖДЕНИЕ: правовой режим цифровых предметов и любые блокчейн-механики (если рассматриваются) — только после юридического заключения.
Связка: далее — LiveOps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удержание создаётся ритмом — ежедневные задания, недельные кубки, шестинедельные сезоны и событийный календарь.
Метрики: D1/D7/D30 retention, DAU/MAU, доля платящих, ARPPU. Целевые значения устанавливаются после soft launch на реальных данных — в презентации не приводятся, чтобы не выдавать допущения за факт.
Связка: далее — план выпуска.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выпуск идёт по воротам качества — переход к следующему этапу только при достижении метрик.
Этапы: прототип → закрытая альфа → soft launch в Узбекистане → запуск в Центральной Азии → сезоны и киберспорт → новые рынки СНГ.
ТРЕБУЕТСЯ ПОДТВЕРЖДЕНИЕ: текущий этап разработки и календарные даты — по данным команды продукта.
Связка: глава VI — сообщество и киберспорт.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сообщество превращает игру в социальную платформу и снижает стоимость привлечения игроков.
Статус: стратегическая концепция; запуск сообщества синхронизирован с soft launch игры.
Визуализация: концептуальная esports-арена.
Связка: далее — как формируется сообщество.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сообщество строится как воронка вовлечения — на каждом уровне свой формат и своя метрика.
Уровни: охват (Telegram-каналы, авторы, футбольные медиа) → игроки → активное ядро (клубы и чаты) → участники турниров → амбассадоры и авторы контента.
Метрики уровней — целевые, устанавливаются после soft launch.
Связка: далее — развитие киберспорта.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развивается снизу вверх — от турниров внутри игры к региональным и партнёрским чемпионатам.
Логика: каждая ступень открывается, когда предыдущая набрала аудиторию и спонсоров. Участие в официальных соревнованиях — через национальную федерацию/ассоциацию и по их правилам.
Связка: далее — форматы турниров.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портфель форматов покрывает весь путь игрока — от еженедельного кубка до международного шоу.
Параметры (частота, состав участников, призы) — проектные и будут уточняться под бюджет и спонсоров.
Призовые фонды в денежной форме — только по правилам законодательства о рекламе, стимулирующих мероприятиях и налогообложении.
Связка: далее — региональные соревнования.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региональный кубок делает бренд национальным и находит таланты за пределами Ташкента.
Формат: онлайн-квалификации в регионах → региональные финалы (вузы, IT-хабы, кибер-клубы) → большой финал в Ташкенте с трансляцией.
Партнёры площадок — целевые, договорённостей нет.
Связка: далее — международные мероприятия.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международный уровень — следствие сильной локальной сцены, а не стартовая точка.
Направления: Центральноазиатский кубок FootureX; онлайн-турниры для диаспоры; участие команд в турнирах через национальную ассоциацию (член AESF); партнёрские шоу-матчи.
Статус: долгосрочная амбиция; соглашений с международными организациями нет.
Связка: далее — собственная esports-команда.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собственная команда — витрина бренда и источник медийного контента.
Состав (проект): футбольный симулятор (основной), мобильные дисциплины, популярные в регионе (по решению спортивного директора и анализу аудитории); академический состав из лучших игроков FootureX Game.
Статус: концепция; формирование — после запуска турнирной инфраструктуры.
Связка: далее — стриминг и медиа.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медиа превращают турниры в постоянный поток контента и привлекают игроков дешевле платной рекламы.
Каналы: Telegram (основной), YouTube, стриминговые платформы, короткие видео; собственная студия трансляций.
Контент: трансляции, обзоры туров, разборы тактики, истории игроков и клубов, совместный контент с футбольными блогерами.
Связка: далее — спонсорство.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спонсорский пакет строится на измеримой аудитории — просмотры, участники, вовлечённость.
Уровни: титульный партнёр, официальные партнёры, технологические и медиапартнёры. Наполнение пакетов и цены — после первых сезонов с подтверждённой аудиторией.
Категории-ограничения: реклама азартных игр и ставок не принимается (защита молодой аудитории и репутации).
Связка: далее — экономика esports.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не главный источник прибыли, а двигатель аудитории; модель требует, чтобы мероприятия окупали прямые затраты.
Допущения модели: выручка (спонсорство, билеты, медиа) $0 → $40 → $120 → $250 → $400 тыс.; прямые затраты мероприятий и призовые 65% → 58% выручки. Постоянные расходы команды учтены в OPEX группы.
Связка: глава VII — 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решает главный ограничитель роста индустрии — нехватку практикующих специалистов — и одновременно формирует кадровый резерв FootureX.
Статус: пилот планируется в Фазе 1, масштабирование — Фаза 2. Экран — концепт интерфейса учебной платформы.
Связка: далее — образовательная концепция.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устроена как учебная студия — студент проходит путь от основ до выпуска продукта в команде.
Цикл: Learn (основы) → Build (учебные проекты) → Ship (командный проект с релизом) → Hire (стажировка, найм в FootureX или у партнёров).
Связка: далее — программы подготовки.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шесть программ покрывают ключевые роли игровой и IT-индустрии.
Длительность и форматы — проектные; учебные планы, лицензирование образовательной деятельности (если требуется для выбранного формата) и стоимость подлежат утверждению.
Связка: далее — Game Design и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дизайн и 3D — творческое ядро игр; учим на инструментах и пайплайнах, которые используются в студии.
Модули (проект): Game Design — механики, баланс и экономика, уровни, нарратив, прототипирование. 3D — моделирование, текстурирование, риггинг, анимация, оптимизация для мобильных устройств и WebGL.
Связка: далее — AI и программирование.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программирование и AI — сквозные компетенции для всех направлений FootureX и рынка в целом.
Связь с государственной повесткой: инициатива по подготовке лидеров в сфере ИИ и стратегия ИИ до 2030 г. формируют спрос на такие программы.
Связка: далее — практика и подготовка кадров.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главное отличие академии — практика в действующей студии и прямой путь к найму.
Путь: отбор → базовый модуль → проектный модуль → командный проект в студии → демо-день перед работодателями → стажировка → найм в FootureX или у партнёров.
Обязательства по трудоустройству не даются; партнёры-работодатели — целевые.
Связка: далее — монетизация.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— самостоятельный бизнес с валовой маржой выше 50% и стратегической ценностью для найма.
Допущения модели: слушатели 60 → 180 → 360 → 540 → 720 в год; средняя стоимость $700 → $900; себестоимость (преподаватели, контент) 48% → 45% выручки.
Дополнительные источники (не включены в модель): корпоративное обучение B2B, гранты и программы поддержки, сертификация.
Связка: далее — масштабирование академии.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масштабируется через онлайн и партнёрские площадки, а не через капитальное строительство.
Этапы: пилот в Ташкенте → онлайн-формат для всей страны → партнёрские площадки в регионах (вузы, IT-хабы) → Центральная Азия.
Связка: глава VIII — развитие футбола.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FC FootureX — стратегическая концепция, которая превращает цифровой футбольный бренд в реальный.
Статус: клуб не создан; не зарегистрирован, не лицензирован и не участвует в соревнованиях. Создание — Фаза 3 (ориентировочно годы 7–10), при наличии финансирования и выполнении требований лицензирования.
Связка: далее — стратегия формирования команды.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клуб строится снизу вверх — от любительского уровня к профессиональным лигам, с ростом бюджета только вслед за спортивным результатом.
Структура футбола Узбекистана: Суперлига (16 клубов), Про-лига и низшие лиги; переход — по спортивному принципу и лицензионным требованиям ПФЛ/АФУ.
ТРЕБУЕТСЯ ПОДТВЕРЖДЕНИЕ: актуальный регламент, требования клубного лицензирования (инфраструктура, финансы, академия) и возможность заявки нового клуба.
Связка: далее — организационная структура клуба.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структура разделяет спортивный, коммерческий и операционный блоки с чёткой ответственностью.
Статус: целевая структура для этапа профессионального клуба; на старте функции совмещаются.
Связка: далее — FootureX Football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— фундамент футбольной стратегии: воспитание игроков дешевле покупки и создаёт долгосрочную стоимость.
В иллюстративной модели — пилот детско-юношеских программ с Года 4 на арендуемой базе (выручка $80–160 тыс., затраты $250–350 тыс. в год, CAPEX на улучшения $500 тыс.).
Статус: концепция; визуализация — концептуальная (4 поля, крытый манеж, учебный корпус).
Связка: далее — подготовка молодых футболистов.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система подготовки разделена на четыре этапа с разными целями — от любви к игре до профессиональной готовности.
Возрастные границы и содержание этапов — проектные; методика разрабатывается с привлечением лицензированных тренеров (лицензии AFC/UEFA) и партнёров.
Связка: далее — поиск талантов.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скаутинг соединяет офлайн-фестивали в регионах и цифровые инструменты — расширяя охват без пропорционального роста затрат.
Воронка: региональные фестивали и школьные турниры → видео- и цифровой отбор → просмотровые сборы → пробный период → зачисление в академию.
Этика: отбор детей — только с согласия родителей, без платы за просмотр; защита персональных данных несовершеннолетних.
Связка: далее — спортивная аналитика и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AI даёт футбольному направлению конкурентное преимущество, недоступное большинству клубов региона.
Инструменты: видеоаналитика, событийные данные, носимые датчики, модели развития и риска травм, цифровой профиль игрока.
Связь с игрой: обезличенные модели и статистика могут использоваться в FootureX Game — только с согласия и без персональных данных детей.
Связка: далее — подготовка к профессиональной карьере.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профессиональный футболист — это не только техника; академия готовит личность, образование и карьеру.
Блоки: образование и языки, медицина и питание, психология, медиа-грамотность, финансовая и правовая грамотность, карьерное сопровождение (по правилам ФИФА о посредниках).
Связка: далее — международные партнёрства.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партнёрства ускоряют развитие методики и открывают воспитанникам международный путь.
СТАТУС: соглашений с иностранными клубами, академиями или федерациями НЕТ; на слайде — целевые форматы сотрудничества, а не действующие договорённости.
Связка: далее — трансферная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модель «воспитать и продать» — устойчивый источник дохода для клубов развивающихся рынков; регламент ФИФА защищает права клуба-воспитателя.
Механизмы ФИФА (Регламент по статусу и трансферам игроков): компенсация за подготовку — при первом профессиональном контракте и переходах до 23 лет за годы подготовки 12–21 лет; механизм солидарности — до 5% суммы международного трансфера распределяется клубам, готовившим игрока в возрасте 12–23 лет.
Конкретные условия — по актуальной редакции регламента ФИФА.
Связка: далее — перспективная модель лиги.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собственная любительская лига, связанная с игрой, создаёт уникальный продукт на стыке реального и цифрового футбола.
Модель: любительские и корпоративные команды играют реальные матчи; статистика матчей появляется в FootureX Game; болельщики следят за командами в Telegram; лучшие игроки попадают в поле зрения скаутов академии и клуба.
Статус: концепция; требуется согласование с футбольной ассоциацией и проверка правовых аспектов (права на изображение, данные игроков).
Связка: далее — долгосрочная футбольная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футбол — самое длинное по горизонту направление; каждый шаг финансируется зрелостью предыдущих.
Последовательность: Phygital League и детские программы (Годы 3–4) → пилот Football Academy (Годы 4–5) → любительская команда FC FootureX (Годы 5–7) → профессиональные лиги (Годы 7–10) → собственная инфраструктура (Годы 10+).
Все сроки — ориентиры и зависят от финансирования и решений руководства.
Связка: глава IX — стадион и город.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стадион — долгосрочная амбиция (Фаза 4, горизонт 10+ лет), а не текущий проект.
СТАТУС: земельный участок отсутствует; проектная документация, разрешения и финансирование отсутствуют. Вместимость и бюджет определяются только по итогам ТЭО.
Стратегический контекст: в Новом Ташкенте уже строится государственный стадион на 55 тыс. мест (см. следующий слайд) — FootureX Stadium не должен его дублировать.
Связка: далее — концепция размещения.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Новый Ташкент — предпочтительная перспективная локация, но позиционирование должно учитывать уже строящуюся государственную инфраструктуру.
Факты: под Новый Ташкент выделено 20 000 га; данные о площади первой очереди расходятся (≈6 000 га по одним источникам); запланирована линия метро; строится стадион на 55 тыс. мест (≈$100 млн), рассчитанный на молодёжный чемпионат мира ФИФА U-20 2027.
Вывод: FootureX Stadium — не конкурент национальной арене, а клубный стадион средней вместимости с esports-ареной и цифровыми сервисами, либо партнёрская модель.
ТРЕБУЕТСЯ: согласование с Дирекцией Нового Ташкента; земельный участок FootureX не выделен.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архитектурный образ отражает бренд — технологичный, лаконичный, с цифровым фасадом.
Элементы концепции: две трибуны-чаши с хорошим обзором; лёгкий кольцевой навес; светодиодная лента между ярусами; вертикальные ламели фасада с медиа-подсветкой; газон стандарта ФИФА 105×68 м.
Визуализация — концептуальная, не архитектурный проект. Вместимость, площадь и бюджет — по итогам ТЭО.
Связка: далее — интеллектуальная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стадион — цифровая платформа: билет, проход, навигация, заказ еды и статистика в одном приложении.
Системы: цифровой билет и бесконтактный проход; высокоплотная беспроводная связь; безналичные покупки и заказ к месту; цифровой двойник здания и BMS; видеоаналитика безопасности; энергоменеджмент.
Экран — концепт интерфейса приложения стадиона.
Связка: далее — коммерческая модель стадиона.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стадиона строится на многофункциональности — футбольные матчи дают меньшую часть дохода, чем события, хоспиталити и коммерческие права.
Данные: финансовые показатели стадиона в модель не включены — требуется ТЭО (рыночный анализ, вместимость, CAPEX, операционная модель, источники финансирования).
Рекомендация (для обсуждения): поэтапный путь — сначала партнёрская модель цифровых сервисов для существующих арен, затем многофункциональная арена меньшего формата, затем собственный клубный стадион.
Связка: далее — FootureX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City — долгосрочная инвестиционная концепция многофункционального квартала, где технологии, спорт, образование и жизнь соединены в одной среде.
СТАТУС: концепция; зависит от земельных, градостроительных, финансовых и регуляторных согласований. Земельного участка, проекта планировки и инвесторов нет.
Слайды 88–94 — последовательная виртуальная экскурсия по концептуальной 3D-модели (переход Morph).
Связка: далее — генеральный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генплан организован вокруг центрального бульвара — спортивный кластер на западе, технологический на востоке, жилые кварталы и парк на юге.
Зоны: 1 — стадион; 2 — esports-арена; 3 — технологический кампус; 4 — бульвар с ритейлом; 5 — жилые кварталы; 6 — центральный парк; 7 — образовательный кампус; 8 — спортивный центр и тренировочные поля.
Схема концептуальная, без масштаба; площадь и параметры — по результатам градостроительного анализа.
Связка: далее — технологический кампус.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кампус — штаб-квартира группы и технологический кластер для партнёров, стартапов и академии.
Функции: офисы направлений FootureX; пространства для резидентов-партнёров; R&amp;D-лаборатории AI; студии разработки игр и трансляций; конференц-центр.
Модель: часть площадей — в аренду технологическим компаниям (якорный арендатор — FootureX).
Связка: далее — жилая и общественная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жилые кварталы формируют постоянное сообщество — сотрудников, студентов, семей — и делают квартал живым каждый день.
Принципы: квартальная застройка с закрытыми дворами; первые этажи — общественные; школы и детские сады в пешей доступности; центральный парк; приоритет пешеходов и велосипедистов.
Реализация — с девелоперами-партнёрами; FootureX не планирует выступать застройщиком жилья самостоятельно.
Связка: далее — торговые пространства.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бульвар — главная общественная ось квартала: кофейни, рестораны, магазины и фан-зоны, связывающие стадион и кампус.
Форматы: кофейни и рестораны, бренд-стор FootureX, ритейл повседневного спроса, фан-зоны и экраны трансляций в дни матчей, ночная подсветка.
Визуализация — концептуальная, уровень пешехода.
Связка: далее — Smart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квартал управляется как цифровая платформа — на технологиях FootureX AI и Technologies.
Системы: цифровой двойник квартала; единое приложение жителя и гостя; умная мобильность и парковки; энергоменеджмент и учёт ресурсов; безопасность с защитой приватности; открытые данные для партнёров.
Связь с группой: Smart City — витрина и полигон для продуктов Technologies и AI.
Связка: далее — этапы реализации и инвестиционная 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City реализуется очередями, каждая из которых финансируется отдельно и запускается только после подтверждения предыдущей.
Очереди (цвет на визуализации): I — кампус и образование (зелёный); II — спортивный кластер: стадион, арена, спорткомплекс (синий); III — жилые кварталы и бульвар (янтарный).
Структура финансирования (варианты): проектные компании (SPV) по очередям; ГЧП; совместные предприятия с девелоперами; проектное финансирование банков и институтов развития.
ВАЖНО: инвестиции в City и стадион не привлечены и не включены в финансовую модель группы. CAPEX — только по итогам ТЭО.
Связка: глава X — бизнес-модель и финансы.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бизнес-модель — маховик: сервисная выручка финансирует продукты, продукты создают аудиторию, аудитория — бренд и спрос, бренд — клиентов и таланты.
Порядок: (1) IT и AI-услуги → (2) продукты: игра и AI SaaS → (3) аудитория и сообщество → (4) образование и таланты → (5) спорт и бренд → (6) новые клиенты и партнёры → снова (1).
Связка: далее — Business Model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канва показывает, что экосистема держится на общих ресурсах — технологиях, людях и бренде — и обслуживает несколько клиентских сегментов.
Статус: проектная канва для обсуждения с руководством.
Связка: далее — источники доходов по направлениям.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структура выручки диверсифицируется — от доминирования IT-услуг в Годы 1–2 к сбалансированному портфелю к Году 5.
Данные модели (базовый сценарий, USD тыс.): выручка 355 → 1330 → 3168 → 5614 → 8769.
Важно: выручка игры — только реальные денежные платежи и реклама; внутриигровая валюта не учитывается. FC FootureX, стадион и City в модели отсутствуют.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экономика IT-услуг.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IT-услуги — предсказуемый бизнес с маржой выше 50%, который финансирует продуктовые направления.
Драйверы модели: FTE 8 → 55; загрузка 70% → 80%; ставка $22 → $30/ч; полная стоимость FTE $14 → $19,5 тыс./год.
Чувствительность: каждые −5 п.п. загрузки снижают валовую маржу примерно на 4 п.п.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экономика AI-продуктов.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AI-проекты дают раннюю выручку, SaaS — масштабируемую повторяющуюся выручку с высокой маржой.
Допущения: проекты 4 → 18 в год, средний чек $15 → $35 тыс.; SaaS-клиенты 10 → 400, ARPA $120 → $200/мес; отток 3% → 2% в месяц; CAC $700 → $1 000.
Юнит-экономика Года 3: LTV ≈ $4 608; LTV/CAC ≈ 5,1; окупаемость CAC ≈ 7,8 мес.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экономика Game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игра монетизируется покупками и рекламой; экономика держится на соотношении LTV и стоимости привлечения игрока.
Допущения: средний MAU 40 тыс. → 900 тыс.; доля платящих 1,5% → 3%; ARPPU $6 → $9 в месяц; реклама $0,03 на MAU в месяц; комиссии платформ и платёжных провайдеров 30% покупок; UA $60 → $850 тыс. в год.
Юнит-экономика Года 3: чистая выручка на MAU ≈ $0,17/мес; LTV ≈ $1,29 (8 мес. жизни); CAC ≈ $0,64 → LTV/CAC ≈ 2,0.
FX Coins и любые внутриигровые валюты не являются выручкой.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футбол и киберспорт.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в пятилетнем горизонте футбол и киберспорт — инвестиции в бренд и аудиторию, а не источник прибыли; профессиональный клуб и стадион требуют отдельного финансирования.
В модели: esports — положительная валовая прибыль; Football Academy (пилот с Года 4) — операционный убыток ≈ $170–190 тыс. в год, CAPEX $500 тыс.
Вне модели: FC FootureX (зарплаты, лицензирование, инфраструктура) — требуется отдельный бизнес-план; потенциальный доход академии от компенсаций за подготовку и механизма солидарности ФИФА не учитывается (консервативно).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CAPEX и OPEX.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модель капиталоэффективна — основная часть затрат операционные (команда и привлечение игроков), CAPEX ограничен оборудованием и оснащением арендуемых пространств.
CAPEX за 5 лет (база): 1 820 тыс.; OPEX растёт с 566 до 2 980 тыс. в год.
Стадион и City в CAPEX не включены.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финансовая модель на 5 лет.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в базовом сценарии EBITDA становится положительной в Году 3, чистая прибыль — в Году 4, свободный денежный поток — в Году 5.
Ключевые допущения: см. лист «Допущения» в Excel-модели; налог на прибыль 15% без льгот IT Park; амортизация 4 года; оборотный капитал 8% прироста выручки.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динамика выручки, EBITDA и денежных потоков.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рост выручки в ≈25 раз за 5 лет сопровождается переходом EBITDA и FCF в положительную зону; пик потребности в финансировании — Год 4.
Данные (база): выручка 355 / 1330 / 3168 / 5614 / 8769; EBITDA -387 / -399 / 71 / 725 / 1962; FCF -536 / -747 / -386 / -71 / 1051; накопленный FCF -536 / -1282 / -1668 / -1739 / -688 (USD тыс.).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сценарный анализ.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даже в пессимистичном сценарии EBITDA становится положительной к Году 5; от сценария зависит прежде всего объём необходимого капитала.
Сценарии: пессимистичный — 70% объёмных драйверов (FTE, MAU, клиенты, слушатели), UA −15%; оптимистичный — 130%, UA +15%. Цены, ставки и фиксированные OPEX не меняются.
Безубыточность по EBITDA: база — Год 3; оптимистичный — Год 3; пессимистичный — Год 5. Окупаемость по накопленному FCF: оптимистичный — Год 5; база — за пределами 5 лет (≈ Год 6 при сохранении FCF Года 5); пессимистичный — за пределами горизонта.
Финансовые показатели — расчётный сценарий на основе допущений. Он заменяется утверждённой финансовой моделью компании; при расхождениях приоритет у документов компании.
Связка: далее — инвестиционная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для выхода цифровых направлений на самоокупаемость в базовом сценарии требуется ≈ $2,2 млн (пиковая потребность ≈ $1,74 млн + резерв 25%), привлекаемых в два этапа.
Предлагаемая структура (для решения участников): посевной этап ≈ $0,8 млн (Год 1) и раунд роста ≈ $1,4 млн (Годы 2–3). Диапазон по сценариям: $1,4–4,3 млн.
Доходность: денежный ROI за 5 лет (накопленный FCF / капитал) — база −31%, оптимистичный +122%, пессимистичный −79%; EBITDA Года 5 / капитал (база) ≈ 89%.
ВАЖНО: ни одна сумма не является привлечённым финансированием. Инвестиции в FC FootureX, стадион и City — отдельные проекты с собственными источниками.
Связка: глава XI — управление и исполнение.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сегодня все направления — подразделения одного юридического лица; выделение дочерних компаний происходит поэтапно, когда направление готово к собственным инвесторам, лицензиям или партнёрам.
ВАЖНО: схема концептуальная. Ни одно подразделение не является зарегистрированным юридическим лицом — документы не предоставлены.
Поэтапное выделение (вариант): (1) все направления внутри MChJ; (2) отдельные ДК для AI SaaS и игрового IP — при привлечении профильных инвесторов; (3) FC FootureX и Football Academy — отдельные организации, если этого требуют правила клубного лицензирования; (4) проектные компании (SPV) для Stadium и City с партнёрами.
Связка: далее — модель управления.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управление построено так, чтобы инвестор и участники видели решения, риски и деньги — с первого года.
Органы ООО по законодательству РУз: общее собрание участников, наблюдательный совет (при создании, по уставу), исполнительный орган (директор). Дополнительно (рекомендация): правление из руководителей направлений и комитеты — аудит и риски, инвестиционный, технологии и этика AI.
Финансовый контроль: годовой бюджет, ежемесячная управленческая отчётность, матрица полномочий, двойная подпись платежей сверх лимита, ежегодный внешний аудит (по решению участников).
Статус: проект модели управления; закрепляется в уставе и внутренних положениях.
Связка: далее — структура подразделений и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каждое направление имеет одного ответственного руководителя, понятные права решений и главную метрику.
Совмещение ролей на старте допустимо; конкретные назначения — по решению руководства (ФИО не указываются до утверждения).
Связка: далее — операционная модель и контроль качества.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единая операционная система для всех направлений — от стратегии до аудита — позволяет управлять разными бизнесами одной командой.
Контур: стратегия и OKR (год/квартал) → портфель проектов → поставка (Agile) → качество (тесты, код-ревью, безопасность, клиентский NPS) → финансовый контроль (бюджет, управленческая отчётность, учёт по МСФО по мере готовности) → аудит и комплаенс.
Связка: далее — ключевые риски.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главные риски — не технологические, а риски фокуса и финансирования; для каждого есть конкретная мера.
Карта: 1 — финансирование не привлечено в срок; 2 — распыление фокуса на 10 направлений; 3 — удержание и монетизация игры ниже допущений; 4 — регулирование цифровых платежей и предметов; 5 — дефицит кадров; 6 — концентрация IT-клиентов; 7 — валютный риск (UZS/USD); 8 — зависимость от платформы Telegram; 9 — кибербезопасность и данные; 10 — земля и разрешения для Stadium/City.
Оценка вероятности и влияния — экспертная, пересматривается ежеквартально комитетом по рискам.
Связка: далее — roadmap на 10 лет.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дорожная карта показывает последовательность — цифровые направления первыми, спорт и инфраструктура позже и при выполнении условий.
Легенда: сплошная полоса — планируемая реализация; светлая — подготовка (ТЭО, пилоты, партнёры). Годы отсчитываются от запуска операционной деятельности.
Все сроки — ориентиры, требуют утверждения.
Связка: далее — KPI и контроль исполнения.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каждое направление управляется 1–2 главными метриками с целями на Годы 1, 3 и 5 и понятной частотой контроля.
Цели — значения базового сценария модели; продуктовые метрики игры (retention) утверждаются после soft launch.
Контроль: ежемесячный отчёт правлению, квартальный — наблюдательному совету, ежегодный — участникам.
Связка: глава XII — видение будущего.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экосистема будущего — результат последовательности, а не одновременного запуска всего.
Визуализация — концептуальная (Smart City FootureX).
Связка: далее — влияние на индустрию Узбекистана.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создаёт эффект для страны — рабочие места, кадры, экспорт, цифровые продукты и детский футбол.
Ориентиры модели за 5 лет: ≈1 860 слушателей академии; 55 оплачиваемых IT-специалистов к Году 5 (без учёта продуктовых команд и администрации); до 900 тыс. среднемесячных игроков; экспорт IT-услуг как цель статуса экспортёра.
Вклад соответствует государственным стратегиям «Цифровой Узбекистан — 2030» и развития ИИ до 2030 г.
Связка: далее — международное развитие.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международный рост идёт концентрическими кругами — от Узбекистана к Центральной Азии и далее по мере подтверждения продуктов.
Круги: (1) Узбекистан — база и полигон; (2) Центральная Азия — Казахстан, Кыргызстан, Таджикистан, Туркменистан; (3) СНГ и тюркоязычные рынки — для игры и IT-экспорта; (4) глобальный цифровой рынок — через Telegram и SaaS.
Статус: долгосрочная амбиция; присутствия за рубежом нет.
Связка: финальный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это не презентация одной игры, а стратегия технологической компании.
Закрытие: благодарность, приглашение к обсуждению партнёрства и инвестиций.
Контактные данные — вставить после подтверждения.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FX_DARK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LIGHT">
    <p:bg>
      <p:bgPr>
        <a:solidFill>
          <a:srgbClr val="F3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footurex-main/presentation/brand/logo/_placeholder-wordmark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FULL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23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COVER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4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image" Target="../media/image-59-6.png"/><Relationship Id="rId7" Type="http://schemas.openxmlformats.org/officeDocument/2006/relationships/image" Target="../media/image-59-7.png"/><Relationship Id="rId8" Type="http://schemas.openxmlformats.org/officeDocument/2006/relationships/image" Target="../media/image-5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image" Target="../media/image-6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image" Target="../media/image-67-5.png"/><Relationship Id="rId6" Type="http://schemas.openxmlformats.org/officeDocument/2006/relationships/image" Target="../media/image-6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image" Target="../media/image-74-5.png"/><Relationship Id="rId6" Type="http://schemas.openxmlformats.org/officeDocument/2006/relationships/image" Target="../media/image-74-6.png"/><Relationship Id="rId7" Type="http://schemas.openxmlformats.org/officeDocument/2006/relationships/image" Target="../media/image-74-7.png"/><Relationship Id="rId8" Type="http://schemas.openxmlformats.org/officeDocument/2006/relationships/image" Target="../media/image-74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image" Target="../media/image-77-5.png"/><Relationship Id="rId6" Type="http://schemas.openxmlformats.org/officeDocument/2006/relationships/image" Target="../media/image-7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image" Target="../media/image-7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jp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jp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jp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jpg"/><Relationship Id="rId2" Type="http://schemas.openxmlformats.org/officeDocument/2006/relationships/image" Target="../media/image-90-2.png"/><Relationship Id="rId3" Type="http://schemas.openxmlformats.org/officeDocument/2006/relationships/image" Target="../media/image-90-3.png"/><Relationship Id="rId4" Type="http://schemas.openxmlformats.org/officeDocument/2006/relationships/image" Target="../media/image-90-4.png"/><Relationship Id="rId5" Type="http://schemas.openxmlformats.org/officeDocument/2006/relationships/image" Target="../media/image-90-5.png"/><Relationship Id="rId6" Type="http://schemas.openxmlformats.org/officeDocument/2006/relationships/image" Target="../media/image-90-6.png"/><Relationship Id="rId7" Type="http://schemas.openxmlformats.org/officeDocument/2006/relationships/image" Target="../media/image-90-7.png"/><Relationship Id="rId8" Type="http://schemas.openxmlformats.org/officeDocument/2006/relationships/image" Target="../media/image-90-8.png"/><Relationship Id="rId9" Type="http://schemas.openxmlformats.org/officeDocument/2006/relationships/image" Target="../media/image-90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image" Target="../media/image-91-4.png"/><Relationship Id="rId5" Type="http://schemas.openxmlformats.org/officeDocument/2006/relationships/image" Target="../media/image-91-5.png"/><Relationship Id="rId6" Type="http://schemas.openxmlformats.org/officeDocument/2006/relationships/image" Target="../media/image-91-6.png"/><Relationship Id="rId7" Type="http://schemas.openxmlformats.org/officeDocument/2006/relationships/image" Target="../media/image-91-7.png"/><Relationship Id="rId8" Type="http://schemas.openxmlformats.org/officeDocument/2006/relationships/image" Target="../media/image-91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jpg"/><Relationship Id="rId2" Type="http://schemas.openxmlformats.org/officeDocument/2006/relationships/image" Target="../media/image-92-2.png"/><Relationship Id="rId3" Type="http://schemas.openxmlformats.org/officeDocument/2006/relationships/image" Target="../media/image-92-3.png"/><Relationship Id="rId4" Type="http://schemas.openxmlformats.org/officeDocument/2006/relationships/image" Target="../media/image-92-4.png"/><Relationship Id="rId5" Type="http://schemas.openxmlformats.org/officeDocument/2006/relationships/image" Target="../media/image-92-5.png"/><Relationship Id="rId6" Type="http://schemas.openxmlformats.org/officeDocument/2006/relationships/image" Target="../media/image-92-6.png"/><Relationship Id="rId7" Type="http://schemas.openxmlformats.org/officeDocument/2006/relationships/image" Target="../media/image-92-7.png"/><Relationship Id="rId8" Type="http://schemas.openxmlformats.org/officeDocument/2006/relationships/image" Target="../media/image-92-8.png"/><Relationship Id="rId9" Type="http://schemas.openxmlformats.org/officeDocument/2006/relationships/image" Target="../media/image-9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image" Target="../media/image-93-4.png"/><Relationship Id="rId5" Type="http://schemas.openxmlformats.org/officeDocument/2006/relationships/image" Target="../media/image-93-5.png"/><Relationship Id="rId6" Type="http://schemas.openxmlformats.org/officeDocument/2006/relationships/image" Target="../media/image-93-6.png"/><Relationship Id="rId7" Type="http://schemas.openxmlformats.org/officeDocument/2006/relationships/image" Target="../media/image-93-7.png"/><Relationship Id="rId8" Type="http://schemas.openxmlformats.org/officeDocument/2006/relationships/image" Target="../media/image-93-8.png"/><Relationship Id="rId9" Type="http://schemas.openxmlformats.org/officeDocument/2006/relationships/image" Target="../media/image-93-9.png"/><Relationship Id="rId10" Type="http://schemas.openxmlformats.org/officeDocument/2006/relationships/image" Target="../media/image-93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jpg"/><Relationship Id="rId2" Type="http://schemas.openxmlformats.org/officeDocument/2006/relationships/image" Target="../media/image-94-2.png"/><Relationship Id="rId3" Type="http://schemas.openxmlformats.org/officeDocument/2006/relationships/image" Target="../media/image-94-3.png"/><Relationship Id="rId4" Type="http://schemas.openxmlformats.org/officeDocument/2006/relationships/image" Target="../media/image-9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image" Target="../media/image-95-3.png"/><Relationship Id="rId4" Type="http://schemas.openxmlformats.org/officeDocument/2006/relationships/image" Target="../media/image-95-4.png"/><Relationship Id="rId5" Type="http://schemas.openxmlformats.org/officeDocument/2006/relationships/image" Target="../media/image-95-5.png"/><Relationship Id="rId6" Type="http://schemas.openxmlformats.org/officeDocument/2006/relationships/image" Target="../media/image-9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jpg"/><Relationship Id="rId2" Type="http://schemas.openxmlformats.org/officeDocument/2006/relationships/image" Target="../media/image-114-2.png"/><Relationship Id="rId3" Type="http://schemas.openxmlformats.org/officeDocument/2006/relationships/image" Target="../media/image-114-3.png"/><Relationship Id="rId4" Type="http://schemas.openxmlformats.org/officeDocument/2006/relationships/image" Target="../media/image-1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image" Target="../media/image-115-2.png"/><Relationship Id="rId3" Type="http://schemas.openxmlformats.org/officeDocument/2006/relationships/image" Target="../media/image-115-3.png"/><Relationship Id="rId4" Type="http://schemas.openxmlformats.org/officeDocument/2006/relationships/image" Target="../media/image-1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jpg"/><Relationship Id="rId2" Type="http://schemas.openxmlformats.org/officeDocument/2006/relationships/image" Target="../media/image-116-2.png"/><Relationship Id="rId3" Type="http://schemas.openxmlformats.org/officeDocument/2006/relationships/image" Target="../media/image-116-3.png"/><Relationship Id="rId4" Type="http://schemas.openxmlformats.org/officeDocument/2006/relationships/image" Target="../media/image-1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jpg"/><Relationship Id="rId2" Type="http://schemas.openxmlformats.org/officeDocument/2006/relationships/image" Target="../media/image-117-2.png"/><Relationship Id="rId3" Type="http://schemas.openxmlformats.org/officeDocument/2006/relationships/image" Target="../media/image-117-3.png"/><Relationship Id="rId4" Type="http://schemas.openxmlformats.org/officeDocument/2006/relationships/image" Target="../media/image-117-4.png"/><Relationship Id="rId5" Type="http://schemas.openxmlformats.org/officeDocument/2006/relationships/image" Target="../media/image-117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hero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!!logo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74520"/>
            <a:ext cx="4937760" cy="590149"/>
          </a:xfrm>
          <a:prstGeom prst="rect">
            <a:avLst/>
          </a:prstGeom>
        </p:spPr>
      </p:pic>
      <p:sp>
        <p:nvSpPr>
          <p:cNvPr id="6" name="!!uz"/>
          <p:cNvSpPr txBox="1"/>
          <p:nvPr/>
        </p:nvSpPr>
        <p:spPr>
          <a:xfrm>
            <a:off x="566928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 Z B E K I S T A N</a:t>
            </a:r>
            <a:endParaRPr lang="en-US" sz="1800" dirty="0"/>
          </a:p>
        </p:txBody>
      </p:sp>
      <p:sp>
        <p:nvSpPr>
          <p:cNvPr id="7" name="Text 1"/>
          <p:cNvSpPr txBox="1"/>
          <p:nvPr/>
        </p:nvSpPr>
        <p:spPr>
          <a:xfrm>
            <a:off x="54864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7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Corporate Vision &amp; Strategic Development</a:t>
            </a:r>
            <a:endParaRPr lang="en-US" sz="2000" dirty="0"/>
          </a:p>
        </p:txBody>
      </p:sp>
      <p:sp>
        <p:nvSpPr>
          <p:cNvPr id="8" name="Text 2"/>
          <p:cNvSpPr txBox="1"/>
          <p:nvPr/>
        </p:nvSpPr>
        <p:spPr>
          <a:xfrm>
            <a:off x="548640" y="37947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Технологическая компания, создающая экосистему цифровых продуктов, искусственного интеллекта, игр, образования, киберспорта и спорта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  ·  FootureX Uzbekistan LLC  ·  Ташкент, Республика Узбекистан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54864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Версия 1.0  ·  Октябрь 2026  ·  Проект для обсуждения  ·  Конфиденциально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hero-clo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0"/>
            <a:ext cx="12191695" cy="68580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Корпоративное видение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big"/>
          <p:cNvSpPr txBox="1"/>
          <p:nvPr/>
        </p:nvSpPr>
        <p:spPr>
          <a:xfrm>
            <a:off x="548640" y="1828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4F7FB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Creating the Future</a:t>
            </a:r>
            <a:endParaRPr lang="en-US" sz="3400" dirty="0"/>
          </a:p>
        </p:txBody>
      </p:sp>
      <p:sp>
        <p:nvSpPr>
          <p:cNvPr id="16" name="a2_lead"/>
          <p:cNvSpPr txBox="1"/>
          <p:nvPr/>
        </p:nvSpPr>
        <p:spPr>
          <a:xfrm>
            <a:off x="548640" y="26974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строим технологическую компанию, которая соединяет программное обеспечение, искусственный интеллект, игры, образование и спорт в единую экосистему — из Ташкента для региона и мира.</a:t>
            </a:r>
            <a:endParaRPr lang="en-US" sz="1550" dirty="0"/>
          </a:p>
        </p:txBody>
      </p:sp>
      <p:sp>
        <p:nvSpPr>
          <p:cNvPr id="17" name="a3_c"/>
          <p:cNvSpPr/>
          <p:nvPr/>
        </p:nvSpPr>
        <p:spPr>
          <a:xfrm>
            <a:off x="5486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521">
              <a:alpha val="90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7132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19" name="a3_d"/>
          <p:cNvSpPr txBox="1"/>
          <p:nvPr/>
        </p:nvSpPr>
        <p:spPr>
          <a:xfrm>
            <a:off x="7132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Софт, автоматизация, облако</a:t>
            </a:r>
            <a:endParaRPr lang="en-US" sz="1050" dirty="0"/>
          </a:p>
        </p:txBody>
      </p:sp>
      <p:sp>
        <p:nvSpPr>
          <p:cNvPr id="20" name="a4_c"/>
          <p:cNvSpPr/>
          <p:nvPr/>
        </p:nvSpPr>
        <p:spPr>
          <a:xfrm>
            <a:off x="23774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521">
              <a:alpha val="90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1" name="a4_t"/>
          <p:cNvSpPr txBox="1"/>
          <p:nvPr/>
        </p:nvSpPr>
        <p:spPr>
          <a:xfrm>
            <a:off x="25420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Gaming &amp; AI</a:t>
            </a:r>
            <a:endParaRPr lang="en-US" sz="1200" dirty="0"/>
          </a:p>
        </p:txBody>
      </p:sp>
      <p:sp>
        <p:nvSpPr>
          <p:cNvPr id="22" name="a4_d"/>
          <p:cNvSpPr txBox="1"/>
          <p:nvPr/>
        </p:nvSpPr>
        <p:spPr>
          <a:xfrm>
            <a:off x="25420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Игры, AI-агенты, сообщество</a:t>
            </a:r>
            <a:endParaRPr lang="en-US" sz="1050" dirty="0"/>
          </a:p>
        </p:txBody>
      </p:sp>
      <p:sp>
        <p:nvSpPr>
          <p:cNvPr id="23" name="a5_c"/>
          <p:cNvSpPr/>
          <p:nvPr/>
        </p:nvSpPr>
        <p:spPr>
          <a:xfrm>
            <a:off x="42062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521">
              <a:alpha val="90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4" name="a5_t"/>
          <p:cNvSpPr txBox="1"/>
          <p:nvPr/>
        </p:nvSpPr>
        <p:spPr>
          <a:xfrm>
            <a:off x="43708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Sports &amp; Urban</a:t>
            </a:r>
            <a:endParaRPr lang="en-US" sz="1200" dirty="0"/>
          </a:p>
        </p:txBody>
      </p:sp>
      <p:sp>
        <p:nvSpPr>
          <p:cNvPr id="25" name="a5_d"/>
          <p:cNvSpPr txBox="1"/>
          <p:nvPr/>
        </p:nvSpPr>
        <p:spPr>
          <a:xfrm>
            <a:off x="43708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Футбол, стадион, городская среда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map-m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Республика Узбекистан, Ташкент — происхождение компании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Национальный комитет по статистике РУз (01.01.2026; пресс-релиз 27.01.2026); DataReportal «Digital 2026: Uzbekistan»; invest.gov.uz / Нацкомстат (ВВП 2025).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850" dirty="0"/>
          </a:p>
        </p:txBody>
      </p:sp>
      <p:sp>
        <p:nvSpPr>
          <p:cNvPr id="16" name="Text 9"/>
          <p:cNvSpPr txBox="1"/>
          <p:nvPr/>
        </p:nvSpPr>
        <p:spPr>
          <a:xfrm>
            <a:off x="6720840" y="1828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Ташкент</a:t>
            </a:r>
            <a:endParaRPr lang="en-US" sz="3000" dirty="0"/>
          </a:p>
        </p:txBody>
      </p:sp>
      <p:sp>
        <p:nvSpPr>
          <p:cNvPr id="17" name="Text 10"/>
          <p:cNvSpPr txBox="1"/>
          <p:nvPr/>
        </p:nvSpPr>
        <p:spPr>
          <a:xfrm>
            <a:off x="6720840" y="24231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Столица и крупнейший деловой центр Центральной Азии. Отсюда FootureX планирует выход на рынки региона.</a:t>
            </a:r>
            <a:endParaRPr lang="en-US" sz="1300" dirty="0"/>
          </a:p>
        </p:txBody>
      </p:sp>
      <p:sp>
        <p:nvSpPr>
          <p:cNvPr id="18" name="a1_c"/>
          <p:cNvSpPr/>
          <p:nvPr/>
        </p:nvSpPr>
        <p:spPr>
          <a:xfrm>
            <a:off x="672084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9" name="a1_v"/>
          <p:cNvSpPr txBox="1"/>
          <p:nvPr/>
        </p:nvSpPr>
        <p:spPr>
          <a:xfrm>
            <a:off x="69037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38,24 млн</a:t>
            </a:r>
            <a:endParaRPr lang="en-US" sz="2200" dirty="0"/>
          </a:p>
        </p:txBody>
      </p:sp>
      <p:sp>
        <p:nvSpPr>
          <p:cNvPr id="20" name="a1_l"/>
          <p:cNvSpPr txBox="1"/>
          <p:nvPr/>
        </p:nvSpPr>
        <p:spPr>
          <a:xfrm>
            <a:off x="6903720" y="38679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население на 01.01.2026</a:t>
            </a:r>
            <a:endParaRPr lang="en-US" sz="1050" dirty="0"/>
          </a:p>
        </p:txBody>
      </p:sp>
      <p:sp>
        <p:nvSpPr>
          <p:cNvPr id="21" name="a2_c"/>
          <p:cNvSpPr/>
          <p:nvPr/>
        </p:nvSpPr>
        <p:spPr>
          <a:xfrm>
            <a:off x="923544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2_v"/>
          <p:cNvSpPr txBox="1"/>
          <p:nvPr/>
        </p:nvSpPr>
        <p:spPr>
          <a:xfrm>
            <a:off x="94183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29,5 года</a:t>
            </a:r>
            <a:endParaRPr lang="en-US" sz="2200" dirty="0"/>
          </a:p>
        </p:txBody>
      </p:sp>
      <p:sp>
        <p:nvSpPr>
          <p:cNvPr id="23" name="a2_l"/>
          <p:cNvSpPr txBox="1"/>
          <p:nvPr/>
        </p:nvSpPr>
        <p:spPr>
          <a:xfrm>
            <a:off x="9418320" y="38679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возраст населения</a:t>
            </a:r>
            <a:endParaRPr lang="en-US" sz="1050" dirty="0"/>
          </a:p>
        </p:txBody>
      </p:sp>
      <p:sp>
        <p:nvSpPr>
          <p:cNvPr id="24" name="a3_c"/>
          <p:cNvSpPr/>
          <p:nvPr/>
        </p:nvSpPr>
        <p:spPr>
          <a:xfrm>
            <a:off x="6720840" y="452628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3_v"/>
          <p:cNvSpPr txBox="1"/>
          <p:nvPr/>
        </p:nvSpPr>
        <p:spPr>
          <a:xfrm>
            <a:off x="6903720" y="4663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89%</a:t>
            </a:r>
            <a:endParaRPr lang="en-US" sz="2200" dirty="0"/>
          </a:p>
        </p:txBody>
      </p:sp>
      <p:sp>
        <p:nvSpPr>
          <p:cNvPr id="26" name="a3_l"/>
          <p:cNvSpPr txBox="1"/>
          <p:nvPr/>
        </p:nvSpPr>
        <p:spPr>
          <a:xfrm>
            <a:off x="6903720" y="5148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проникновение интернета (DataReportal)</a:t>
            </a:r>
            <a:endParaRPr lang="en-US" sz="1050" dirty="0"/>
          </a:p>
        </p:txBody>
      </p:sp>
      <p:sp>
        <p:nvSpPr>
          <p:cNvPr id="27" name="a4_c"/>
          <p:cNvSpPr/>
          <p:nvPr/>
        </p:nvSpPr>
        <p:spPr>
          <a:xfrm>
            <a:off x="9235440" y="452628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a4_v"/>
          <p:cNvSpPr txBox="1"/>
          <p:nvPr/>
        </p:nvSpPr>
        <p:spPr>
          <a:xfrm>
            <a:off x="9418320" y="4663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+7,7%</a:t>
            </a:r>
            <a:endParaRPr lang="en-US" sz="2200" dirty="0"/>
          </a:p>
        </p:txBody>
      </p:sp>
      <p:sp>
        <p:nvSpPr>
          <p:cNvPr id="29" name="a4_l"/>
          <p:cNvSpPr txBox="1"/>
          <p:nvPr/>
        </p:nvSpPr>
        <p:spPr>
          <a:xfrm>
            <a:off x="9418320" y="5148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рост ВВП в 2025 году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  <p:bldP spid="2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Кто мы: технологическая компания с экосистемной стратегией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a1_def"/>
          <p:cNvSpPr txBox="1"/>
          <p:nvPr/>
        </p:nvSpPr>
        <p:spPr>
          <a:xfrm>
            <a:off x="548640" y="1828800"/>
            <a:ext cx="5486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Uzbekistan — технологическая компания из Ташкента, которая разрабатывает программное обеспечение и AI-решения, создаёт игры и формирует долгосрочную экосистему образования, киберспорта и спорта.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3367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Technology, Gaming, Artificial Intelligence, Sports &amp; Urban Innovation Ecosystem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 игрового направления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3095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4F7FB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Creating a Digital Football Era</a:t>
            </a:r>
            <a:endParaRPr lang="en-US" sz="1800" dirty="0"/>
          </a:p>
        </p:txBody>
      </p:sp>
      <p:graphicFrame>
        <p:nvGraphicFramePr>
          <p:cNvPr id="5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74520"/>
          <a:ext cx="51937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62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Параметр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Юридическое наименование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MChJ «FootureX Uzbekistan»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Международное наименование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1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Uzbekistan LLC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1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Страна происхождения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Республика Узбекистан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1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Ташкент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1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Организационно-правовая форма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ООО / MChJ (планируемая)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Основной 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1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1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D5DCE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Регистрационные данные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B54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История идеи: от футбольной игры к технологической экосистеме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 квалификации: УЕФА/ФИФА, сообщения kun.uz (10.06.2025), fergana.agency. Хронология основателей — по данным компании, требует подтверждения.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14884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432304"/>
            <a:ext cx="150930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как общий язык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— самый массовый вид спорта страны. Сборная Узбекистана впервые вышла на чемпионат мира ФИФА 2026.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2807757" y="214884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2807757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3466125" y="2432304"/>
            <a:ext cx="150930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2807757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Цифровое поколение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2807757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Молодое население, 89% интернет-проникновения и Telegram как ежедневная платформа общения.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5066873" y="214884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5066873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5725241" y="2432304"/>
            <a:ext cx="150930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5066873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Идея FootureX Game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5066873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менеджер в Telegram Web App: команда, развитие игроков, PvP и сезоны без установки приложения.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7325990" y="214884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732599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ln"/>
          <p:cNvSpPr/>
          <p:nvPr/>
        </p:nvSpPr>
        <p:spPr>
          <a:xfrm>
            <a:off x="7984358" y="2432304"/>
            <a:ext cx="150930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8" name="a4_t"/>
          <p:cNvSpPr txBox="1"/>
          <p:nvPr/>
        </p:nvSpPr>
        <p:spPr>
          <a:xfrm>
            <a:off x="7325990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 игры к компании</a:t>
            </a:r>
            <a:endParaRPr lang="en-US" sz="1450" dirty="0"/>
          </a:p>
        </p:txBody>
      </p:sp>
      <p:sp>
        <p:nvSpPr>
          <p:cNvPr id="29" name="a4_d"/>
          <p:cNvSpPr txBox="1"/>
          <p:nvPr/>
        </p:nvSpPr>
        <p:spPr>
          <a:xfrm>
            <a:off x="7325990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Игре нужны собственные технологии, AI, аналитика и сообщество — так появилась технологическая основа.</a:t>
            </a:r>
            <a:endParaRPr lang="en-US" sz="1250" dirty="0"/>
          </a:p>
        </p:txBody>
      </p:sp>
      <p:sp>
        <p:nvSpPr>
          <p:cNvPr id="30" name="a5_dot"/>
          <p:cNvSpPr/>
          <p:nvPr/>
        </p:nvSpPr>
        <p:spPr>
          <a:xfrm>
            <a:off x="9585107" y="214884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1" name="a5_num"/>
          <p:cNvSpPr txBox="1"/>
          <p:nvPr/>
        </p:nvSpPr>
        <p:spPr>
          <a:xfrm>
            <a:off x="9585107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a5_t"/>
          <p:cNvSpPr txBox="1"/>
          <p:nvPr/>
        </p:nvSpPr>
        <p:spPr>
          <a:xfrm>
            <a:off x="9585107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Экосистема</a:t>
            </a:r>
            <a:endParaRPr lang="en-US" sz="1450" dirty="0"/>
          </a:p>
        </p:txBody>
      </p:sp>
      <p:sp>
        <p:nvSpPr>
          <p:cNvPr id="33" name="a5_d"/>
          <p:cNvSpPr txBox="1"/>
          <p:nvPr/>
        </p:nvSpPr>
        <p:spPr>
          <a:xfrm>
            <a:off x="9585107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и AI-услуги дают выручку и компетенции; игры, образование и спорт формируют долгосрочную ценность бренда.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hero-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703" y="-514350"/>
            <a:ext cx="14020449" cy="78867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Миссия компании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миссия · проект формулировки</a:t>
            </a:r>
            <a:endParaRPr lang="en-US" sz="1200" dirty="0"/>
          </a:p>
        </p:txBody>
      </p:sp>
      <p:sp>
        <p:nvSpPr>
          <p:cNvPr id="16" name="a1_m"/>
          <p:cNvSpPr txBox="1"/>
          <p:nvPr/>
        </p:nvSpPr>
        <p:spPr>
          <a:xfrm>
            <a:off x="548640" y="21945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Создавать технологии и цифровые продукты, которые объединяют людей вокруг спорта, знаний и инноваций — и раскрывают таланты Узбекистана для мировой индустрии.</a:t>
            </a:r>
            <a:endParaRPr lang="en-US" sz="19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 игрового направления</a:t>
            </a:r>
            <a:endParaRPr lang="en-US" sz="1200" dirty="0"/>
          </a:p>
        </p:txBody>
      </p:sp>
      <p:sp>
        <p:nvSpPr>
          <p:cNvPr id="18" name="a2_g"/>
          <p:cNvSpPr txBox="1"/>
          <p:nvPr/>
        </p:nvSpPr>
        <p:spPr>
          <a:xfrm>
            <a:off x="548640" y="45262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Creating a Digital Football Era</a:t>
            </a:r>
            <a:endParaRPr lang="en-US" sz="2100" dirty="0"/>
          </a:p>
        </p:txBody>
      </p:sp>
      <p:sp>
        <p:nvSpPr>
          <p:cNvPr id="19" name="a3_g"/>
          <p:cNvSpPr txBox="1"/>
          <p:nvPr/>
        </p:nvSpPr>
        <p:spPr>
          <a:xfrm>
            <a:off x="548640" y="51206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Сделать футбол цифровым опытом, доступным каждому — в Telegram, на турнирах и на стадионе.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Видение на 10–20 лет: четыре горизонта развития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11094415" cy="0"/>
          </a:xfrm>
          <a:prstGeom prst="line">
            <a:avLst/>
          </a:prstGeom>
          <a:noFill/>
          <a:ln w="19050">
            <a:solidFill>
              <a:srgbClr val="2E3B55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8712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4048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1–3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32278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Фундамент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675888"/>
            <a:ext cx="25907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 и AI-услуги как источник выручки. Запуск FootureX Game в Telegram. Пилот Game Dev Academy.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871216"/>
            <a:ext cx="201168" cy="201168"/>
          </a:xfrm>
          <a:prstGeom prst="ellipse">
            <a:avLst/>
          </a:prstGeom>
          <a:solidFill>
            <a:srgbClr val="3D8BFF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4048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8B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4–6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32278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675888"/>
            <a:ext cx="25907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SaaS-продукты, киберспорт и сообщество, рост академии, выход на рынки Центральной Азии.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871216"/>
            <a:ext cx="201168" cy="201168"/>
          </a:xfrm>
          <a:prstGeom prst="ellipse">
            <a:avLst/>
          </a:prstGeom>
          <a:solidFill>
            <a:srgbClr val="FFB547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4048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B54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7–10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32278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675888"/>
            <a:ext cx="25907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Academy, формирование FC FootureX, ТЭО стадиона и поиск партнёров.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871216"/>
            <a:ext cx="201168" cy="201168"/>
          </a:xfrm>
          <a:prstGeom prst="ellipse">
            <a:avLst/>
          </a:prstGeom>
          <a:solidFill>
            <a:srgbClr val="C9D3E3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4048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3E3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11–20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32278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675888"/>
            <a:ext cx="25907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 и FootureX City — при наличии земли, разрешений и проектного финансирования.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846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источник финансирования горизонта</a:t>
            </a:r>
            <a:endParaRPr lang="en-US" sz="1100" dirty="0"/>
          </a:p>
        </p:txBody>
      </p:sp>
      <p:sp>
        <p:nvSpPr>
          <p:cNvPr id="27" name="a5_f"/>
          <p:cNvSpPr/>
          <p:nvPr/>
        </p:nvSpPr>
        <p:spPr>
          <a:xfrm>
            <a:off x="548640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a5_ft"/>
          <p:cNvSpPr txBox="1"/>
          <p:nvPr/>
        </p:nvSpPr>
        <p:spPr>
          <a:xfrm>
            <a:off x="73152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IT/AI + посевные инвестиции</a:t>
            </a:r>
            <a:endParaRPr lang="en-US" sz="1200" dirty="0"/>
          </a:p>
        </p:txBody>
      </p:sp>
      <p:sp>
        <p:nvSpPr>
          <p:cNvPr id="29" name="a6_f"/>
          <p:cNvSpPr/>
          <p:nvPr/>
        </p:nvSpPr>
        <p:spPr>
          <a:xfrm>
            <a:off x="3352190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6_ft"/>
          <p:cNvSpPr txBox="1"/>
          <p:nvPr/>
        </p:nvSpPr>
        <p:spPr>
          <a:xfrm>
            <a:off x="353507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Раунд роста + выручка SaaS и игры</a:t>
            </a:r>
            <a:endParaRPr lang="en-US" sz="1200" dirty="0"/>
          </a:p>
        </p:txBody>
      </p:sp>
      <p:sp>
        <p:nvSpPr>
          <p:cNvPr id="31" name="a7_f"/>
          <p:cNvSpPr/>
          <p:nvPr/>
        </p:nvSpPr>
        <p:spPr>
          <a:xfrm>
            <a:off x="6155741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2" name="a7_ft"/>
          <p:cNvSpPr txBox="1"/>
          <p:nvPr/>
        </p:nvSpPr>
        <p:spPr>
          <a:xfrm>
            <a:off x="6338621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и спортивные партнёры</a:t>
            </a:r>
            <a:endParaRPr lang="en-US" sz="1200" dirty="0"/>
          </a:p>
        </p:txBody>
      </p:sp>
      <p:sp>
        <p:nvSpPr>
          <p:cNvPr id="33" name="a8_f"/>
          <p:cNvSpPr/>
          <p:nvPr/>
        </p:nvSpPr>
        <p:spPr>
          <a:xfrm>
            <a:off x="8959291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4" name="a8_ft"/>
          <p:cNvSpPr txBox="1"/>
          <p:nvPr/>
        </p:nvSpPr>
        <p:spPr>
          <a:xfrm>
            <a:off x="9142171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Проектное финансирование, ГЧП, девелоперы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направления финансируют и усиливают физические — не наоборот.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Корпоративные ценности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Инновации с ответственностью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Используем новые технологии там, где они создают измеримую пользу, а не ради моды.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Честность цифр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Отделяем факты от планов, а планы — от амбиций. Публикуем только проверенные показатели.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Командная игра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в футболе: результат создаёт команда, а не один игрок или одно направление.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 в центре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Продукты строятся вокруг игрока, клиента и студента — их опыт важнее внутренних процессов.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1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Таланты Узбекистана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Инвестируем в людей: обучение, практика и карьера в индустрии внутри страны.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Долгосрочность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Принимаем решения на горизонте десятилетий и строим устойчивую экономику каждого направления.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Десять направлений деятельности и их текущий статус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bg"/>
          <p:cNvSpPr/>
          <p:nvPr/>
        </p:nvSpPr>
        <p:spPr>
          <a:xfrm>
            <a:off x="731520" y="2011680"/>
            <a:ext cx="420624" cy="420624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470" y="2112630"/>
            <a:ext cx="218724" cy="21872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731520" y="25420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150" dirty="0"/>
          </a:p>
        </p:txBody>
      </p:sp>
      <p:sp>
        <p:nvSpPr>
          <p:cNvPr id="13" name="a1_s"/>
          <p:cNvSpPr txBox="1"/>
          <p:nvPr/>
        </p:nvSpPr>
        <p:spPr>
          <a:xfrm>
            <a:off x="731520" y="301752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ПО, ERP/CRM/POS, веб и мобайл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31520" y="3410712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41071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00" dirty="0"/>
          </a:p>
        </p:txBody>
      </p:sp>
      <p:sp>
        <p:nvSpPr>
          <p:cNvPr id="16" name="a2_c"/>
          <p:cNvSpPr/>
          <p:nvPr/>
        </p:nvSpPr>
        <p:spPr>
          <a:xfrm>
            <a:off x="2798064" y="1828800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2_ibg"/>
          <p:cNvSpPr/>
          <p:nvPr/>
        </p:nvSpPr>
        <p:spPr>
          <a:xfrm>
            <a:off x="2980944" y="2011680"/>
            <a:ext cx="420624" cy="420624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8" name="a2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894" y="2112630"/>
            <a:ext cx="218724" cy="21872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2980944" y="25420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150" dirty="0"/>
          </a:p>
        </p:txBody>
      </p:sp>
      <p:sp>
        <p:nvSpPr>
          <p:cNvPr id="20" name="a2_s"/>
          <p:cNvSpPr txBox="1"/>
          <p:nvPr/>
        </p:nvSpPr>
        <p:spPr>
          <a:xfrm>
            <a:off x="2980944" y="301752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 и автоматизация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2980944" y="3410712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0944" y="341071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00" dirty="0"/>
          </a:p>
        </p:txBody>
      </p:sp>
      <p:sp>
        <p:nvSpPr>
          <p:cNvPr id="23" name="a3_c"/>
          <p:cNvSpPr/>
          <p:nvPr/>
        </p:nvSpPr>
        <p:spPr>
          <a:xfrm>
            <a:off x="5047488" y="1828800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4" name="a3_ibg"/>
          <p:cNvSpPr/>
          <p:nvPr/>
        </p:nvSpPr>
        <p:spPr>
          <a:xfrm>
            <a:off x="5230368" y="2011680"/>
            <a:ext cx="420624" cy="420624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3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318" y="2112630"/>
            <a:ext cx="218724" cy="21872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5230368" y="25420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Development</a:t>
            </a:r>
            <a:endParaRPr lang="en-US" sz="1150" dirty="0"/>
          </a:p>
        </p:txBody>
      </p:sp>
      <p:sp>
        <p:nvSpPr>
          <p:cNvPr id="27" name="a3_s"/>
          <p:cNvSpPr txBox="1"/>
          <p:nvPr/>
        </p:nvSpPr>
        <p:spPr>
          <a:xfrm>
            <a:off x="5230368" y="301752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Студия: свои и заказные игры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230368" y="3410712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230368" y="341071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00" dirty="0"/>
          </a:p>
        </p:txBody>
      </p:sp>
      <p:sp>
        <p:nvSpPr>
          <p:cNvPr id="30" name="a4_c"/>
          <p:cNvSpPr/>
          <p:nvPr/>
        </p:nvSpPr>
        <p:spPr>
          <a:xfrm>
            <a:off x="7296912" y="1828800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a4_ibg"/>
          <p:cNvSpPr/>
          <p:nvPr/>
        </p:nvSpPr>
        <p:spPr>
          <a:xfrm>
            <a:off x="7479792" y="2011680"/>
            <a:ext cx="420624" cy="420624"/>
          </a:xfrm>
          <a:prstGeom prst="ellipse">
            <a:avLst/>
          </a:prstGeom>
          <a:solidFill>
            <a:srgbClr val="13253A"/>
          </a:solidFill>
          <a:ln w="12700">
            <a:solidFill>
              <a:srgbClr val="13253A"/>
            </a:solidFill>
            <a:prstDash val="solid"/>
          </a:ln>
        </p:spPr>
      </p:sp>
      <p:pic>
        <p:nvPicPr>
          <p:cNvPr id="32" name="a4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742" y="2112630"/>
            <a:ext cx="218724" cy="21872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7479792" y="25420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150" dirty="0"/>
          </a:p>
        </p:txBody>
      </p:sp>
      <p:sp>
        <p:nvSpPr>
          <p:cNvPr id="34" name="a4_s"/>
          <p:cNvSpPr txBox="1"/>
          <p:nvPr/>
        </p:nvSpPr>
        <p:spPr>
          <a:xfrm>
            <a:off x="7479792" y="301752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менеджер в Telegram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7479792" y="3410712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3D8B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479792" y="341071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</a:t>
            </a:r>
            <a:endParaRPr lang="en-US" sz="800" dirty="0"/>
          </a:p>
        </p:txBody>
      </p:sp>
      <p:sp>
        <p:nvSpPr>
          <p:cNvPr id="37" name="a5_c"/>
          <p:cNvSpPr/>
          <p:nvPr/>
        </p:nvSpPr>
        <p:spPr>
          <a:xfrm>
            <a:off x="9546336" y="1828800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8" name="a5_ibg"/>
          <p:cNvSpPr/>
          <p:nvPr/>
        </p:nvSpPr>
        <p:spPr>
          <a:xfrm>
            <a:off x="9729216" y="2011680"/>
            <a:ext cx="420624" cy="420624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9" name="a5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166" y="2112630"/>
            <a:ext cx="218724" cy="218724"/>
          </a:xfrm>
          <a:prstGeom prst="rect">
            <a:avLst/>
          </a:prstGeom>
        </p:spPr>
      </p:pic>
      <p:sp>
        <p:nvSpPr>
          <p:cNvPr id="40" name="a5_t"/>
          <p:cNvSpPr txBox="1"/>
          <p:nvPr/>
        </p:nvSpPr>
        <p:spPr>
          <a:xfrm>
            <a:off x="9729216" y="25420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 Academy</a:t>
            </a:r>
            <a:endParaRPr lang="en-US" sz="1150" dirty="0"/>
          </a:p>
        </p:txBody>
      </p:sp>
      <p:sp>
        <p:nvSpPr>
          <p:cNvPr id="41" name="a5_s"/>
          <p:cNvSpPr txBox="1"/>
          <p:nvPr/>
        </p:nvSpPr>
        <p:spPr>
          <a:xfrm>
            <a:off x="9729216" y="301752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кадров индустрии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9729216" y="3410712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9729216" y="341071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пилот</a:t>
            </a:r>
            <a:endParaRPr lang="en-US" sz="800" dirty="0"/>
          </a:p>
        </p:txBody>
      </p:sp>
      <p:sp>
        <p:nvSpPr>
          <p:cNvPr id="44" name="a6_c"/>
          <p:cNvSpPr/>
          <p:nvPr/>
        </p:nvSpPr>
        <p:spPr>
          <a:xfrm>
            <a:off x="548640" y="3968496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45" name="a6_ibg"/>
          <p:cNvSpPr/>
          <p:nvPr/>
        </p:nvSpPr>
        <p:spPr>
          <a:xfrm>
            <a:off x="731520" y="4151376"/>
            <a:ext cx="420624" cy="420624"/>
          </a:xfrm>
          <a:prstGeom prst="ellipse">
            <a:avLst/>
          </a:prstGeom>
          <a:solidFill>
            <a:srgbClr val="33280F"/>
          </a:solidFill>
          <a:ln w="12700">
            <a:solidFill>
              <a:srgbClr val="33280F"/>
            </a:solidFill>
            <a:prstDash val="solid"/>
          </a:ln>
        </p:spPr>
      </p:sp>
      <p:pic>
        <p:nvPicPr>
          <p:cNvPr id="46" name="a6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70" y="4252326"/>
            <a:ext cx="218724" cy="218724"/>
          </a:xfrm>
          <a:prstGeom prst="rect">
            <a:avLst/>
          </a:prstGeom>
        </p:spPr>
      </p:pic>
      <p:sp>
        <p:nvSpPr>
          <p:cNvPr id="47" name="a6_t"/>
          <p:cNvSpPr txBox="1"/>
          <p:nvPr/>
        </p:nvSpPr>
        <p:spPr>
          <a:xfrm>
            <a:off x="731520" y="468172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Community &amp; Esports</a:t>
            </a:r>
            <a:endParaRPr lang="en-US" sz="1150" dirty="0"/>
          </a:p>
        </p:txBody>
      </p:sp>
      <p:sp>
        <p:nvSpPr>
          <p:cNvPr id="48" name="a6_s"/>
          <p:cNvSpPr txBox="1"/>
          <p:nvPr/>
        </p:nvSpPr>
        <p:spPr>
          <a:xfrm>
            <a:off x="731520" y="5157216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Сообщество, турниры, медиа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731520" y="555040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FFB547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731520" y="55504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800" dirty="0"/>
          </a:p>
        </p:txBody>
      </p:sp>
      <p:sp>
        <p:nvSpPr>
          <p:cNvPr id="51" name="a7_c"/>
          <p:cNvSpPr/>
          <p:nvPr/>
        </p:nvSpPr>
        <p:spPr>
          <a:xfrm>
            <a:off x="2798064" y="3968496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52" name="a7_ibg"/>
          <p:cNvSpPr/>
          <p:nvPr/>
        </p:nvSpPr>
        <p:spPr>
          <a:xfrm>
            <a:off x="2980944" y="4151376"/>
            <a:ext cx="420624" cy="420624"/>
          </a:xfrm>
          <a:prstGeom prst="ellipse">
            <a:avLst/>
          </a:prstGeom>
          <a:solidFill>
            <a:srgbClr val="33280F"/>
          </a:solidFill>
          <a:ln w="12700">
            <a:solidFill>
              <a:srgbClr val="33280F"/>
            </a:solidFill>
            <a:prstDash val="solid"/>
          </a:ln>
        </p:spPr>
      </p:sp>
      <p:pic>
        <p:nvPicPr>
          <p:cNvPr id="53" name="a7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1894" y="4252326"/>
            <a:ext cx="218724" cy="218724"/>
          </a:xfrm>
          <a:prstGeom prst="rect">
            <a:avLst/>
          </a:prstGeom>
        </p:spPr>
      </p:pic>
      <p:sp>
        <p:nvSpPr>
          <p:cNvPr id="54" name="a7_t"/>
          <p:cNvSpPr txBox="1"/>
          <p:nvPr/>
        </p:nvSpPr>
        <p:spPr>
          <a:xfrm>
            <a:off x="2980944" y="468172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150" dirty="0"/>
          </a:p>
        </p:txBody>
      </p:sp>
      <p:sp>
        <p:nvSpPr>
          <p:cNvPr id="55" name="a7_s"/>
          <p:cNvSpPr txBox="1"/>
          <p:nvPr/>
        </p:nvSpPr>
        <p:spPr>
          <a:xfrm>
            <a:off x="2980944" y="5157216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клуб</a:t>
            </a:r>
            <a:endParaRPr lang="en-US" sz="1000" dirty="0"/>
          </a:p>
        </p:txBody>
      </p:sp>
      <p:sp>
        <p:nvSpPr>
          <p:cNvPr id="56" name="Shape 46"/>
          <p:cNvSpPr/>
          <p:nvPr/>
        </p:nvSpPr>
        <p:spPr>
          <a:xfrm>
            <a:off x="2980944" y="555040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FFB547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2980944" y="55504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800" dirty="0"/>
          </a:p>
        </p:txBody>
      </p:sp>
      <p:sp>
        <p:nvSpPr>
          <p:cNvPr id="58" name="a8_c"/>
          <p:cNvSpPr/>
          <p:nvPr/>
        </p:nvSpPr>
        <p:spPr>
          <a:xfrm>
            <a:off x="5047488" y="3968496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59" name="a8_ibg"/>
          <p:cNvSpPr/>
          <p:nvPr/>
        </p:nvSpPr>
        <p:spPr>
          <a:xfrm>
            <a:off x="5230368" y="4151376"/>
            <a:ext cx="420624" cy="420624"/>
          </a:xfrm>
          <a:prstGeom prst="ellipse">
            <a:avLst/>
          </a:prstGeom>
          <a:solidFill>
            <a:srgbClr val="33280F"/>
          </a:solidFill>
          <a:ln w="12700">
            <a:solidFill>
              <a:srgbClr val="33280F"/>
            </a:solidFill>
            <a:prstDash val="solid"/>
          </a:ln>
        </p:spPr>
      </p:sp>
      <p:pic>
        <p:nvPicPr>
          <p:cNvPr id="60" name="a8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1318" y="4252326"/>
            <a:ext cx="218724" cy="218724"/>
          </a:xfrm>
          <a:prstGeom prst="rect">
            <a:avLst/>
          </a:prstGeom>
        </p:spPr>
      </p:pic>
      <p:sp>
        <p:nvSpPr>
          <p:cNvPr id="61" name="a8_t"/>
          <p:cNvSpPr txBox="1"/>
          <p:nvPr/>
        </p:nvSpPr>
        <p:spPr>
          <a:xfrm>
            <a:off x="5230368" y="468172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</a:t>
            </a:r>
            <a:endParaRPr lang="en-US" sz="1150" dirty="0"/>
          </a:p>
        </p:txBody>
      </p:sp>
      <p:sp>
        <p:nvSpPr>
          <p:cNvPr id="62" name="a8_s"/>
          <p:cNvSpPr txBox="1"/>
          <p:nvPr/>
        </p:nvSpPr>
        <p:spPr>
          <a:xfrm>
            <a:off x="5230368" y="5157216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Детско-юношеский футбол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5230368" y="555040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FFB547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5230368" y="55504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800" dirty="0"/>
          </a:p>
        </p:txBody>
      </p:sp>
      <p:sp>
        <p:nvSpPr>
          <p:cNvPr id="65" name="a9_c"/>
          <p:cNvSpPr/>
          <p:nvPr/>
        </p:nvSpPr>
        <p:spPr>
          <a:xfrm>
            <a:off x="7296912" y="3968496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66" name="a9_ibg"/>
          <p:cNvSpPr/>
          <p:nvPr/>
        </p:nvSpPr>
        <p:spPr>
          <a:xfrm>
            <a:off x="7479792" y="4151376"/>
            <a:ext cx="420624" cy="420624"/>
          </a:xfrm>
          <a:prstGeom prst="ellipse">
            <a:avLst/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</p:spPr>
      </p:sp>
      <p:pic>
        <p:nvPicPr>
          <p:cNvPr id="67" name="a9_i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0742" y="4252326"/>
            <a:ext cx="218724" cy="218724"/>
          </a:xfrm>
          <a:prstGeom prst="rect">
            <a:avLst/>
          </a:prstGeom>
        </p:spPr>
      </p:pic>
      <p:sp>
        <p:nvSpPr>
          <p:cNvPr id="68" name="a9_t"/>
          <p:cNvSpPr txBox="1"/>
          <p:nvPr/>
        </p:nvSpPr>
        <p:spPr>
          <a:xfrm>
            <a:off x="7479792" y="468172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150" dirty="0"/>
          </a:p>
        </p:txBody>
      </p:sp>
      <p:sp>
        <p:nvSpPr>
          <p:cNvPr id="69" name="a9_s"/>
          <p:cNvSpPr txBox="1"/>
          <p:nvPr/>
        </p:nvSpPr>
        <p:spPr>
          <a:xfrm>
            <a:off x="7479792" y="5157216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esports-арена</a:t>
            </a:r>
            <a:endParaRPr lang="en-US" sz="1000" dirty="0"/>
          </a:p>
        </p:txBody>
      </p:sp>
      <p:sp>
        <p:nvSpPr>
          <p:cNvPr id="70" name="Shape 58"/>
          <p:cNvSpPr/>
          <p:nvPr/>
        </p:nvSpPr>
        <p:spPr>
          <a:xfrm>
            <a:off x="7479792" y="555040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C9D3E3"/>
            </a:solidFill>
            <a:prstDash val="solid"/>
          </a:ln>
        </p:spPr>
      </p:sp>
      <p:sp>
        <p:nvSpPr>
          <p:cNvPr id="71" name="Text 59"/>
          <p:cNvSpPr txBox="1"/>
          <p:nvPr/>
        </p:nvSpPr>
        <p:spPr>
          <a:xfrm>
            <a:off x="7479792" y="55504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800" dirty="0"/>
          </a:p>
        </p:txBody>
      </p:sp>
      <p:sp>
        <p:nvSpPr>
          <p:cNvPr id="72" name="a10_c"/>
          <p:cNvSpPr/>
          <p:nvPr/>
        </p:nvSpPr>
        <p:spPr>
          <a:xfrm>
            <a:off x="9546336" y="3968496"/>
            <a:ext cx="207568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73" name="a10_ibg"/>
          <p:cNvSpPr/>
          <p:nvPr/>
        </p:nvSpPr>
        <p:spPr>
          <a:xfrm>
            <a:off x="9729216" y="4151376"/>
            <a:ext cx="420624" cy="420624"/>
          </a:xfrm>
          <a:prstGeom prst="ellipse">
            <a:avLst/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</p:spPr>
      </p:sp>
      <p:pic>
        <p:nvPicPr>
          <p:cNvPr id="74" name="a10_i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30166" y="4252326"/>
            <a:ext cx="218724" cy="218724"/>
          </a:xfrm>
          <a:prstGeom prst="rect">
            <a:avLst/>
          </a:prstGeom>
        </p:spPr>
      </p:pic>
      <p:sp>
        <p:nvSpPr>
          <p:cNvPr id="75" name="a10_t"/>
          <p:cNvSpPr txBox="1"/>
          <p:nvPr/>
        </p:nvSpPr>
        <p:spPr>
          <a:xfrm>
            <a:off x="9729216" y="468172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150" dirty="0"/>
          </a:p>
        </p:txBody>
      </p:sp>
      <p:sp>
        <p:nvSpPr>
          <p:cNvPr id="76" name="a10_s"/>
          <p:cNvSpPr txBox="1"/>
          <p:nvPr/>
        </p:nvSpPr>
        <p:spPr>
          <a:xfrm>
            <a:off x="9729216" y="5157216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Многофункциональный квартал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9729216" y="555040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C9D3E3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9729216" y="55504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  <p:bldP spid="37" grpId="0" animBg="1"/>
      <p:bldP spid="38" grpId="0" animBg="1"/>
      <p:bldP spid="40" grpId="0"/>
      <p:bldP spid="41" grpId="0"/>
      <p:bldP spid="44" grpId="0" animBg="1"/>
      <p:bldP spid="45" grpId="0" animBg="1"/>
      <p:bldP spid="47" grpId="0"/>
      <p:bldP spid="48" grpId="0"/>
      <p:bldP spid="51" grpId="0" animBg="1"/>
      <p:bldP spid="52" grpId="0" animBg="1"/>
      <p:bldP spid="54" grpId="0"/>
      <p:bldP spid="55" grpId="0"/>
      <p:bldP spid="58" grpId="0" animBg="1"/>
      <p:bldP spid="59" grpId="0" animBg="1"/>
      <p:bldP spid="61" grpId="0"/>
      <p:bldP spid="62" grpId="0"/>
      <p:bldP spid="65" grpId="0" animBg="1"/>
      <p:bldP spid="66" grpId="0" animBg="1"/>
      <p:bldP spid="68" grpId="0"/>
      <p:bldP spid="69" grpId="0"/>
      <p:bldP spid="72" grpId="0" animBg="1"/>
      <p:bldP spid="73" grpId="0" animBg="1"/>
      <p:bldP spid="75" grpId="0"/>
      <p:bldP spid="7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Ecosystem: как направления усиливают друг друга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 · CORPORATE IDENTITY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61008" y="2057400"/>
            <a:ext cx="8869680" cy="3749040"/>
          </a:xfrm>
          <a:prstGeom prst="ellipse">
            <a:avLst/>
          </a:prstGeom>
          <a:ln w="12700">
            <a:solidFill>
              <a:srgbClr val="22304A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56686" y="2900934"/>
            <a:ext cx="4878324" cy="2061972"/>
          </a:xfrm>
          <a:prstGeom prst="ellipse">
            <a:avLst/>
          </a:prstGeom>
          <a:ln w="9525">
            <a:solidFill>
              <a:srgbClr val="1A26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6095848" y="2057400"/>
            <a:ext cx="914" cy="1874520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6095848" y="2415401"/>
            <a:ext cx="2606734" cy="151651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6095848" y="3352661"/>
            <a:ext cx="4217783" cy="57925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95848" y="3931920"/>
            <a:ext cx="4217783" cy="57925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95848" y="3931920"/>
            <a:ext cx="2606734" cy="151651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95848" y="3931920"/>
            <a:ext cx="914" cy="1874520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3489114" y="3931920"/>
            <a:ext cx="2606734" cy="151651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878064" y="3931920"/>
            <a:ext cx="4217783" cy="57925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878064" y="3352661"/>
            <a:ext cx="4217783" cy="57925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3489114" y="2415401"/>
            <a:ext cx="2606734" cy="1516519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21" name="!!hubcore"/>
          <p:cNvSpPr/>
          <p:nvPr/>
        </p:nvSpPr>
        <p:spPr>
          <a:xfrm>
            <a:off x="4907128" y="3474720"/>
            <a:ext cx="2377440" cy="914400"/>
          </a:xfrm>
          <a:prstGeom prst="roundRect">
            <a:avLst>
              <a:gd name="adj" fmla="val 50000"/>
            </a:avLst>
          </a:prstGeom>
          <a:solidFill>
            <a:srgbClr val="0F2E22"/>
          </a:solidFill>
          <a:ln w="19050">
            <a:solidFill>
              <a:srgbClr val="1ED68A"/>
            </a:solidFill>
            <a:prstDash val="solid"/>
          </a:ln>
        </p:spPr>
      </p:sp>
      <p:pic>
        <p:nvPicPr>
          <p:cNvPr id="22" name="!!hublogo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3694176"/>
            <a:ext cx="1737360" cy="20764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9071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 CORE</a:t>
            </a:r>
            <a:endParaRPr lang="en-US" sz="950" dirty="0"/>
          </a:p>
        </p:txBody>
      </p:sp>
      <p:sp>
        <p:nvSpPr>
          <p:cNvPr id="24" name="a1_n"/>
          <p:cNvSpPr/>
          <p:nvPr/>
        </p:nvSpPr>
        <p:spPr>
          <a:xfrm>
            <a:off x="4998568" y="1737360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25" name="a1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584" y="1911096"/>
            <a:ext cx="292608" cy="292608"/>
          </a:xfrm>
          <a:prstGeom prst="rect">
            <a:avLst/>
          </a:prstGeom>
        </p:spPr>
      </p:pic>
      <p:sp>
        <p:nvSpPr>
          <p:cNvPr id="26" name="a1_t"/>
          <p:cNvSpPr txBox="1"/>
          <p:nvPr/>
        </p:nvSpPr>
        <p:spPr>
          <a:xfrm>
            <a:off x="5492344" y="1792224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Technologies</a:t>
            </a:r>
            <a:endParaRPr lang="en-US" sz="1050" dirty="0"/>
          </a:p>
        </p:txBody>
      </p:sp>
      <p:sp>
        <p:nvSpPr>
          <p:cNvPr id="27" name="a1_s"/>
          <p:cNvSpPr txBox="1"/>
          <p:nvPr/>
        </p:nvSpPr>
        <p:spPr>
          <a:xfrm>
            <a:off x="5492344" y="205740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и выручка</a:t>
            </a:r>
            <a:endParaRPr lang="en-US" sz="900" dirty="0"/>
          </a:p>
        </p:txBody>
      </p:sp>
      <p:sp>
        <p:nvSpPr>
          <p:cNvPr id="28" name="a2_n"/>
          <p:cNvSpPr/>
          <p:nvPr/>
        </p:nvSpPr>
        <p:spPr>
          <a:xfrm>
            <a:off x="7605301" y="2095361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29" name="a2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317" y="2269097"/>
            <a:ext cx="292608" cy="292608"/>
          </a:xfrm>
          <a:prstGeom prst="rect">
            <a:avLst/>
          </a:prstGeom>
        </p:spPr>
      </p:pic>
      <p:sp>
        <p:nvSpPr>
          <p:cNvPr id="30" name="a2_t"/>
          <p:cNvSpPr txBox="1"/>
          <p:nvPr/>
        </p:nvSpPr>
        <p:spPr>
          <a:xfrm>
            <a:off x="8099077" y="215022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050" dirty="0"/>
          </a:p>
        </p:txBody>
      </p:sp>
      <p:sp>
        <p:nvSpPr>
          <p:cNvPr id="31" name="a2_s"/>
          <p:cNvSpPr txBox="1"/>
          <p:nvPr/>
        </p:nvSpPr>
        <p:spPr>
          <a:xfrm>
            <a:off x="8099077" y="241540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 и аналитика</a:t>
            </a:r>
            <a:endParaRPr lang="en-US" sz="900" dirty="0"/>
          </a:p>
        </p:txBody>
      </p:sp>
      <p:sp>
        <p:nvSpPr>
          <p:cNvPr id="32" name="a3_n"/>
          <p:cNvSpPr/>
          <p:nvPr/>
        </p:nvSpPr>
        <p:spPr>
          <a:xfrm>
            <a:off x="9216351" y="3032621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33" name="a3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4367" y="3206357"/>
            <a:ext cx="292608" cy="292608"/>
          </a:xfrm>
          <a:prstGeom prst="rect">
            <a:avLst/>
          </a:prstGeom>
        </p:spPr>
      </p:pic>
      <p:sp>
        <p:nvSpPr>
          <p:cNvPr id="34" name="a3_t"/>
          <p:cNvSpPr txBox="1"/>
          <p:nvPr/>
        </p:nvSpPr>
        <p:spPr>
          <a:xfrm>
            <a:off x="9710127" y="308748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</a:t>
            </a:r>
            <a:endParaRPr lang="en-US" sz="1050" dirty="0"/>
          </a:p>
        </p:txBody>
      </p:sp>
      <p:sp>
        <p:nvSpPr>
          <p:cNvPr id="35" name="a3_s"/>
          <p:cNvSpPr txBox="1"/>
          <p:nvPr/>
        </p:nvSpPr>
        <p:spPr>
          <a:xfrm>
            <a:off x="9710127" y="335266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</a:t>
            </a:r>
            <a:endParaRPr lang="en-US" sz="900" dirty="0"/>
          </a:p>
        </p:txBody>
      </p:sp>
      <p:sp>
        <p:nvSpPr>
          <p:cNvPr id="36" name="a4_n"/>
          <p:cNvSpPr/>
          <p:nvPr/>
        </p:nvSpPr>
        <p:spPr>
          <a:xfrm>
            <a:off x="9216351" y="4191139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3D8BFF"/>
            </a:solidFill>
            <a:prstDash val="solid"/>
          </a:ln>
        </p:spPr>
      </p:sp>
      <p:pic>
        <p:nvPicPr>
          <p:cNvPr id="37" name="a4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4367" y="4364875"/>
            <a:ext cx="292608" cy="292608"/>
          </a:xfrm>
          <a:prstGeom prst="rect">
            <a:avLst/>
          </a:prstGeom>
        </p:spPr>
      </p:pic>
      <p:sp>
        <p:nvSpPr>
          <p:cNvPr id="38" name="a4_t"/>
          <p:cNvSpPr txBox="1"/>
          <p:nvPr/>
        </p:nvSpPr>
        <p:spPr>
          <a:xfrm>
            <a:off x="9710127" y="4246003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050" dirty="0"/>
          </a:p>
        </p:txBody>
      </p:sp>
      <p:sp>
        <p:nvSpPr>
          <p:cNvPr id="39" name="a4_s"/>
          <p:cNvSpPr txBox="1"/>
          <p:nvPr/>
        </p:nvSpPr>
        <p:spPr>
          <a:xfrm>
            <a:off x="9710127" y="451117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</a:t>
            </a:r>
            <a:endParaRPr lang="en-US" sz="900" dirty="0"/>
          </a:p>
        </p:txBody>
      </p:sp>
      <p:sp>
        <p:nvSpPr>
          <p:cNvPr id="40" name="a5_n"/>
          <p:cNvSpPr/>
          <p:nvPr/>
        </p:nvSpPr>
        <p:spPr>
          <a:xfrm>
            <a:off x="7605301" y="5128399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FFB547"/>
            </a:solidFill>
            <a:prstDash val="solid"/>
          </a:ln>
        </p:spPr>
      </p:sp>
      <p:pic>
        <p:nvPicPr>
          <p:cNvPr id="41" name="a5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3317" y="5302135"/>
            <a:ext cx="292608" cy="292608"/>
          </a:xfrm>
          <a:prstGeom prst="rect">
            <a:avLst/>
          </a:prstGeom>
        </p:spPr>
      </p:pic>
      <p:sp>
        <p:nvSpPr>
          <p:cNvPr id="42" name="a5_t"/>
          <p:cNvSpPr txBox="1"/>
          <p:nvPr/>
        </p:nvSpPr>
        <p:spPr>
          <a:xfrm>
            <a:off x="8099077" y="5183263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&amp; Esports</a:t>
            </a:r>
            <a:endParaRPr lang="en-US" sz="1050" dirty="0"/>
          </a:p>
        </p:txBody>
      </p:sp>
      <p:sp>
        <p:nvSpPr>
          <p:cNvPr id="43" name="a5_s"/>
          <p:cNvSpPr txBox="1"/>
          <p:nvPr/>
        </p:nvSpPr>
        <p:spPr>
          <a:xfrm>
            <a:off x="8099077" y="544843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аудитория</a:t>
            </a:r>
            <a:endParaRPr lang="en-US" sz="900" dirty="0"/>
          </a:p>
        </p:txBody>
      </p:sp>
      <p:sp>
        <p:nvSpPr>
          <p:cNvPr id="44" name="a6_n"/>
          <p:cNvSpPr/>
          <p:nvPr/>
        </p:nvSpPr>
        <p:spPr>
          <a:xfrm>
            <a:off x="4998568" y="5486400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45" name="a6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6584" y="5660136"/>
            <a:ext cx="292608" cy="292608"/>
          </a:xfrm>
          <a:prstGeom prst="rect">
            <a:avLst/>
          </a:prstGeom>
        </p:spPr>
      </p:pic>
      <p:sp>
        <p:nvSpPr>
          <p:cNvPr id="46" name="a6_t"/>
          <p:cNvSpPr txBox="1"/>
          <p:nvPr/>
        </p:nvSpPr>
        <p:spPr>
          <a:xfrm>
            <a:off x="5492344" y="5541264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 Academy</a:t>
            </a:r>
            <a:endParaRPr lang="en-US" sz="1050" dirty="0"/>
          </a:p>
        </p:txBody>
      </p:sp>
      <p:sp>
        <p:nvSpPr>
          <p:cNvPr id="47" name="a6_s"/>
          <p:cNvSpPr txBox="1"/>
          <p:nvPr/>
        </p:nvSpPr>
        <p:spPr>
          <a:xfrm>
            <a:off x="5492344" y="58064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кадры</a:t>
            </a:r>
            <a:endParaRPr lang="en-US" sz="900" dirty="0"/>
          </a:p>
        </p:txBody>
      </p:sp>
      <p:sp>
        <p:nvSpPr>
          <p:cNvPr id="48" name="a7_n"/>
          <p:cNvSpPr/>
          <p:nvPr/>
        </p:nvSpPr>
        <p:spPr>
          <a:xfrm>
            <a:off x="2391834" y="5128399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FFB547"/>
            </a:solidFill>
            <a:prstDash val="solid"/>
          </a:ln>
        </p:spPr>
      </p:sp>
      <p:pic>
        <p:nvPicPr>
          <p:cNvPr id="49" name="a7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9850" y="5302135"/>
            <a:ext cx="292608" cy="292608"/>
          </a:xfrm>
          <a:prstGeom prst="rect">
            <a:avLst/>
          </a:prstGeom>
        </p:spPr>
      </p:pic>
      <p:sp>
        <p:nvSpPr>
          <p:cNvPr id="50" name="a7_t"/>
          <p:cNvSpPr txBox="1"/>
          <p:nvPr/>
        </p:nvSpPr>
        <p:spPr>
          <a:xfrm>
            <a:off x="2885610" y="5183263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050" dirty="0"/>
          </a:p>
        </p:txBody>
      </p:sp>
      <p:sp>
        <p:nvSpPr>
          <p:cNvPr id="51" name="a7_s"/>
          <p:cNvSpPr txBox="1"/>
          <p:nvPr/>
        </p:nvSpPr>
        <p:spPr>
          <a:xfrm>
            <a:off x="2885610" y="544843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</a:t>
            </a:r>
            <a:endParaRPr lang="en-US" sz="900" dirty="0"/>
          </a:p>
        </p:txBody>
      </p:sp>
      <p:sp>
        <p:nvSpPr>
          <p:cNvPr id="52" name="a8_n"/>
          <p:cNvSpPr/>
          <p:nvPr/>
        </p:nvSpPr>
        <p:spPr>
          <a:xfrm>
            <a:off x="780784" y="4191139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FFB547"/>
            </a:solidFill>
            <a:prstDash val="solid"/>
          </a:ln>
        </p:spPr>
      </p:sp>
      <p:pic>
        <p:nvPicPr>
          <p:cNvPr id="53" name="a8_i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800" y="4364875"/>
            <a:ext cx="292608" cy="292608"/>
          </a:xfrm>
          <a:prstGeom prst="rect">
            <a:avLst/>
          </a:prstGeom>
        </p:spPr>
      </p:pic>
      <p:sp>
        <p:nvSpPr>
          <p:cNvPr id="54" name="a8_t"/>
          <p:cNvSpPr txBox="1"/>
          <p:nvPr/>
        </p:nvSpPr>
        <p:spPr>
          <a:xfrm>
            <a:off x="1274560" y="4246003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Academy</a:t>
            </a:r>
            <a:endParaRPr lang="en-US" sz="1050" dirty="0"/>
          </a:p>
        </p:txBody>
      </p:sp>
      <p:sp>
        <p:nvSpPr>
          <p:cNvPr id="55" name="a8_s"/>
          <p:cNvSpPr txBox="1"/>
          <p:nvPr/>
        </p:nvSpPr>
        <p:spPr>
          <a:xfrm>
            <a:off x="1274560" y="451117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таланты</a:t>
            </a:r>
            <a:endParaRPr lang="en-US" sz="900" dirty="0"/>
          </a:p>
        </p:txBody>
      </p:sp>
      <p:sp>
        <p:nvSpPr>
          <p:cNvPr id="56" name="a9_n"/>
          <p:cNvSpPr/>
          <p:nvPr/>
        </p:nvSpPr>
        <p:spPr>
          <a:xfrm>
            <a:off x="780784" y="3032621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C9D3E3"/>
            </a:solidFill>
            <a:prstDash val="solid"/>
          </a:ln>
        </p:spPr>
      </p:sp>
      <p:pic>
        <p:nvPicPr>
          <p:cNvPr id="57" name="a9_i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800" y="3206357"/>
            <a:ext cx="292608" cy="292608"/>
          </a:xfrm>
          <a:prstGeom prst="rect">
            <a:avLst/>
          </a:prstGeom>
        </p:spPr>
      </p:pic>
      <p:sp>
        <p:nvSpPr>
          <p:cNvPr id="58" name="a9_t"/>
          <p:cNvSpPr txBox="1"/>
          <p:nvPr/>
        </p:nvSpPr>
        <p:spPr>
          <a:xfrm>
            <a:off x="1274560" y="308748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050" dirty="0"/>
          </a:p>
        </p:txBody>
      </p:sp>
      <p:sp>
        <p:nvSpPr>
          <p:cNvPr id="59" name="a9_s"/>
          <p:cNvSpPr txBox="1"/>
          <p:nvPr/>
        </p:nvSpPr>
        <p:spPr>
          <a:xfrm>
            <a:off x="1274560" y="335266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офлайн-арена</a:t>
            </a:r>
            <a:endParaRPr lang="en-US" sz="900" dirty="0"/>
          </a:p>
        </p:txBody>
      </p:sp>
      <p:sp>
        <p:nvSpPr>
          <p:cNvPr id="60" name="a10_n"/>
          <p:cNvSpPr/>
          <p:nvPr/>
        </p:nvSpPr>
        <p:spPr>
          <a:xfrm>
            <a:off x="2391834" y="2095361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521"/>
          </a:solidFill>
          <a:ln w="12700">
            <a:solidFill>
              <a:srgbClr val="C9D3E3"/>
            </a:solidFill>
            <a:prstDash val="solid"/>
          </a:ln>
        </p:spPr>
      </p:sp>
      <p:pic>
        <p:nvPicPr>
          <p:cNvPr id="61" name="a10_i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19850" y="2269097"/>
            <a:ext cx="292608" cy="292608"/>
          </a:xfrm>
          <a:prstGeom prst="rect">
            <a:avLst/>
          </a:prstGeom>
        </p:spPr>
      </p:pic>
      <p:sp>
        <p:nvSpPr>
          <p:cNvPr id="62" name="a10_t"/>
          <p:cNvSpPr txBox="1"/>
          <p:nvPr/>
        </p:nvSpPr>
        <p:spPr>
          <a:xfrm>
            <a:off x="2885610" y="215022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050" dirty="0"/>
          </a:p>
        </p:txBody>
      </p:sp>
      <p:sp>
        <p:nvSpPr>
          <p:cNvPr id="63" name="a10_s"/>
          <p:cNvSpPr txBox="1"/>
          <p:nvPr/>
        </p:nvSpPr>
        <p:spPr>
          <a:xfrm>
            <a:off x="2885610" y="241540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городская среда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  <p:bldP spid="36" grpId="0" animBg="1"/>
      <p:bldP spid="38" grpId="0"/>
      <p:bldP spid="39" grpId="0"/>
      <p:bldP spid="40" grpId="0" animBg="1"/>
      <p:bldP spid="42" grpId="0"/>
      <p:bldP spid="43" grpId="0"/>
      <p:bldP spid="44" grpId="0" animBg="1"/>
      <p:bldP spid="46" grpId="0"/>
      <p:bldP spid="47" grpId="0"/>
      <p:bldP spid="48" grpId="0" animBg="1"/>
      <p:bldP spid="50" grpId="0"/>
      <p:bldP spid="51" grpId="0"/>
      <p:bldP spid="52" grpId="0" animBg="1"/>
      <p:bldP spid="54" grpId="0"/>
      <p:bldP spid="55" grpId="0"/>
      <p:bldP spid="56" grpId="0" animBg="1"/>
      <p:bldP spid="58" grpId="0"/>
      <p:bldP spid="59" grpId="0"/>
      <p:bldP spid="60" grpId="0" animBg="1"/>
      <p:bldP spid="62" grpId="0"/>
      <p:bldP spid="6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ai-clo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88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Трансформация мировой цифровой экономики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Gartner, пресс-релизы 27.07.2026 (IT) и 16.09.2026 (AI); Newzoo Global Games Market Report (оценка 2025 г., опубл. 2026).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</a:t>
            </a:r>
            <a:endParaRPr lang="en-US" sz="88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РЫНКИ И СТРАТЕГИЯ</a:t>
            </a:r>
            <a:endParaRPr lang="en-US" sz="1300" dirty="0"/>
          </a:p>
        </p:txBody>
      </p:sp>
      <p:sp>
        <p:nvSpPr>
          <p:cNvPr id="17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Технологии, AI и интерактивные развлечения растут быстрее мировой экономики. Центр спроса смещается к платформам, данным и автоматизации.</a:t>
            </a:r>
            <a:endParaRPr lang="en-US" sz="1500" dirty="0"/>
          </a:p>
        </p:txBody>
      </p:sp>
      <p:sp>
        <p:nvSpPr>
          <p:cNvPr id="18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$6,37 трлн</a:t>
            </a:r>
            <a:endParaRPr lang="en-US" sz="1600" dirty="0"/>
          </a:p>
        </p:txBody>
      </p:sp>
      <p:sp>
        <p:nvSpPr>
          <p:cNvPr id="19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IT-расходы в 2026 г., +14,2%</a:t>
            </a:r>
            <a:endParaRPr lang="en-US" sz="1050" dirty="0"/>
          </a:p>
        </p:txBody>
      </p:sp>
      <p:sp>
        <p:nvSpPr>
          <p:cNvPr id="20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$2,7 трлн</a:t>
            </a:r>
            <a:endParaRPr lang="en-US" sz="1600" dirty="0"/>
          </a:p>
        </p:txBody>
      </p:sp>
      <p:sp>
        <p:nvSpPr>
          <p:cNvPr id="21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расходы на AI в 2026 г., +49,5%</a:t>
            </a:r>
            <a:endParaRPr lang="en-US" sz="1050" dirty="0"/>
          </a:p>
        </p:txBody>
      </p:sp>
      <p:sp>
        <p:nvSpPr>
          <p:cNvPr id="22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$201,6 млрд</a:t>
            </a:r>
            <a:endParaRPr lang="en-US" sz="1600" dirty="0"/>
          </a:p>
        </p:txBody>
      </p:sp>
      <p:sp>
        <p:nvSpPr>
          <p:cNvPr id="23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игрового рынка в 2025 г., +9,1%</a:t>
            </a:r>
            <a:endParaRPr lang="en-US" sz="1050" dirty="0"/>
          </a:p>
        </p:txBody>
      </p:sp>
      <p:sp>
        <p:nvSpPr>
          <p:cNvPr id="24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Абстрактная 3D-визуализация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 информационных технологий: глобальный рост и экспорт Узбекистана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 (27.07.2026; 2025 г. рассчитан из темпа роста +14,2%); IT Park / Dunyo IA (21.08.2026) — экспорт резидентов IT Park; первое полугодие 2025 г. рассчитано как $392,5 млн − $90,3 млн.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745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a1_chart" descr=""/>
          <p:cNvGraphicFramePr/>
          <p:nvPr/>
        </p:nvGraphicFramePr>
        <p:xfrm>
          <a:off x="6263640" y="1874520"/>
          <a:ext cx="3108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a2_ins"/>
          <p:cNvSpPr/>
          <p:nvPr/>
        </p:nvSpPr>
        <p:spPr>
          <a:xfrm>
            <a:off x="9555480" y="1874520"/>
            <a:ext cx="2084832" cy="4023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9784080" y="207568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784080" y="2478024"/>
            <a:ext cx="16276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IT-экспорт Узбекистана: ≈ +30% год к году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смещается к облаку, AI и автоматизации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Окно для экспортно-ориентированной IT-компании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Graphic spid="11" grpId="0">
        <p:bldAsOne/>
      </p:bldGraphic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Международная игровая индустрия: $201,6 млрд и рост в мобильном сегменте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Newzoo, Global Games Market Report — оценка 2025 г. и прогноз 2026–2028 гг. (по данным GamesBeat и GameDevReports, 2026).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7452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a1_chart" descr=""/>
          <p:cNvGraphicFramePr/>
          <p:nvPr/>
        </p:nvGraphicFramePr>
        <p:xfrm>
          <a:off x="4983480" y="1874520"/>
          <a:ext cx="40233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a2_ins"/>
          <p:cNvSpPr/>
          <p:nvPr/>
        </p:nvSpPr>
        <p:spPr>
          <a:xfrm>
            <a:off x="9189720" y="1874520"/>
            <a:ext cx="2450592" cy="4023360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9418320" y="20756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важно для FootureX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418320" y="2478024"/>
            <a:ext cx="19933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56% рынка — мобильные игры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Рост за счёт расходов на игрока, а не числа загрузок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Мини-игры без установки — драйвер роста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 — нативный формат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Graphic spid="11" grpId="0">
        <p:bldAsOne/>
      </p:bldGraphic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искусственного интеллекта: от экспериментов к эффекту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 (16.09.2026); McKinsey «The State of AI in 2025»; Постановление Президента РУз ПП-358 от 14.10.2024 «Стратегия развития технологий ИИ до 2030 года».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1" name="a1_v"/>
          <p:cNvSpPr txBox="1"/>
          <p:nvPr/>
        </p:nvSpPr>
        <p:spPr>
          <a:xfrm>
            <a:off x="777240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$2,7 трлн</a:t>
            </a:r>
            <a:endParaRPr lang="en-US" sz="2200" dirty="0"/>
          </a:p>
        </p:txBody>
      </p:sp>
      <p:sp>
        <p:nvSpPr>
          <p:cNvPr id="12" name="a1_l"/>
          <p:cNvSpPr txBox="1"/>
          <p:nvPr/>
        </p:nvSpPr>
        <p:spPr>
          <a:xfrm>
            <a:off x="777240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расходы на AI в 2026 г., рост +49,5% год к году</a:t>
            </a:r>
            <a:endParaRPr lang="en-US" sz="1250" dirty="0"/>
          </a:p>
        </p:txBody>
      </p:sp>
      <p:sp>
        <p:nvSpPr>
          <p:cNvPr id="13" name="a1_s"/>
          <p:cNvSpPr txBox="1"/>
          <p:nvPr/>
        </p:nvSpPr>
        <p:spPr>
          <a:xfrm>
            <a:off x="777240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Gartner, сентябрь 2026</a:t>
            </a:r>
            <a:endParaRPr lang="en-US" sz="850" dirty="0"/>
          </a:p>
        </p:txBody>
      </p:sp>
      <p:sp>
        <p:nvSpPr>
          <p:cNvPr id="14" name="a2_card"/>
          <p:cNvSpPr/>
          <p:nvPr/>
        </p:nvSpPr>
        <p:spPr>
          <a:xfrm>
            <a:off x="3390824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v"/>
          <p:cNvSpPr txBox="1"/>
          <p:nvPr/>
        </p:nvSpPr>
        <p:spPr>
          <a:xfrm>
            <a:off x="3619424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62%</a:t>
            </a:r>
            <a:endParaRPr lang="en-US" sz="3800" dirty="0"/>
          </a:p>
        </p:txBody>
      </p:sp>
      <p:sp>
        <p:nvSpPr>
          <p:cNvPr id="16" name="a2_l"/>
          <p:cNvSpPr txBox="1"/>
          <p:nvPr/>
        </p:nvSpPr>
        <p:spPr>
          <a:xfrm>
            <a:off x="3619424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организаций как минимум экспериментируют с AI-агентами</a:t>
            </a:r>
            <a:endParaRPr lang="en-US" sz="1250" dirty="0"/>
          </a:p>
        </p:txBody>
      </p:sp>
      <p:sp>
        <p:nvSpPr>
          <p:cNvPr id="17" name="a2_s"/>
          <p:cNvSpPr txBox="1"/>
          <p:nvPr/>
        </p:nvSpPr>
        <p:spPr>
          <a:xfrm>
            <a:off x="3619424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McKinsey, State of AI 2025</a:t>
            </a:r>
            <a:endParaRPr lang="en-US" sz="850" dirty="0"/>
          </a:p>
        </p:txBody>
      </p:sp>
      <p:sp>
        <p:nvSpPr>
          <p:cNvPr id="18" name="a3_card"/>
          <p:cNvSpPr/>
          <p:nvPr/>
        </p:nvSpPr>
        <p:spPr>
          <a:xfrm>
            <a:off x="6233008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9" name="a3_v"/>
          <p:cNvSpPr txBox="1"/>
          <p:nvPr/>
        </p:nvSpPr>
        <p:spPr>
          <a:xfrm>
            <a:off x="6461608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39%</a:t>
            </a:r>
            <a:endParaRPr lang="en-US" sz="3800" dirty="0"/>
          </a:p>
        </p:txBody>
      </p:sp>
      <p:sp>
        <p:nvSpPr>
          <p:cNvPr id="20" name="a3_l"/>
          <p:cNvSpPr txBox="1"/>
          <p:nvPr/>
        </p:nvSpPr>
        <p:spPr>
          <a:xfrm>
            <a:off x="6461608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отмечают влияние AI на EBIT на уровне всей компании</a:t>
            </a:r>
            <a:endParaRPr lang="en-US" sz="1250" dirty="0"/>
          </a:p>
        </p:txBody>
      </p:sp>
      <p:sp>
        <p:nvSpPr>
          <p:cNvPr id="21" name="a3_s"/>
          <p:cNvSpPr txBox="1"/>
          <p:nvPr/>
        </p:nvSpPr>
        <p:spPr>
          <a:xfrm>
            <a:off x="6461608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McKinsey, State of AI 2025</a:t>
            </a:r>
            <a:endParaRPr lang="en-US" sz="850" dirty="0"/>
          </a:p>
        </p:txBody>
      </p:sp>
      <p:sp>
        <p:nvSpPr>
          <p:cNvPr id="22" name="a4_card"/>
          <p:cNvSpPr/>
          <p:nvPr/>
        </p:nvSpPr>
        <p:spPr>
          <a:xfrm>
            <a:off x="9075191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3" name="a4_v"/>
          <p:cNvSpPr txBox="1"/>
          <p:nvPr/>
        </p:nvSpPr>
        <p:spPr>
          <a:xfrm>
            <a:off x="9303791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$1,5 млрд</a:t>
            </a:r>
            <a:endParaRPr lang="en-US" sz="2200" dirty="0"/>
          </a:p>
        </p:txBody>
      </p:sp>
      <p:sp>
        <p:nvSpPr>
          <p:cNvPr id="24" name="a4_l"/>
          <p:cNvSpPr txBox="1"/>
          <p:nvPr/>
        </p:nvSpPr>
        <p:spPr>
          <a:xfrm>
            <a:off x="9303791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Узбекистана по AI-продуктам и услугам к 2030 г.</a:t>
            </a:r>
            <a:endParaRPr lang="en-US" sz="1250" dirty="0"/>
          </a:p>
        </p:txBody>
      </p:sp>
      <p:sp>
        <p:nvSpPr>
          <p:cNvPr id="25" name="a4_s"/>
          <p:cNvSpPr txBox="1"/>
          <p:nvPr/>
        </p:nvSpPr>
        <p:spPr>
          <a:xfrm>
            <a:off x="9303791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ПП-358 от 14.10.2024</a:t>
            </a:r>
            <a:endParaRPr lang="en-US" sz="850" dirty="0"/>
          </a:p>
        </p:txBody>
      </p:sp>
      <p:sp>
        <p:nvSpPr>
          <p:cNvPr id="26" name="a5_gap"/>
          <p:cNvSpPr/>
          <p:nvPr/>
        </p:nvSpPr>
        <p:spPr>
          <a:xfrm>
            <a:off x="548640" y="4343400"/>
            <a:ext cx="11094415" cy="1554480"/>
          </a:xfrm>
          <a:prstGeom prst="roundRect">
            <a:avLst>
              <a:gd name="adj" fmla="val 7059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Разрыв между экспериментом и результатом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491947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Бизнесу нужны не модели, а работающие процессы: интеграция с ERP/CRM, данные, контроль качества и ответственность. Именно это FootureX AI предлагает рынку Узбекистана и Центральной Азии.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arena-st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 киберспорта: глобальная аудитория и развитие в Узбекистане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Newzoo (аудитория 2025 г., в пересказе Quantumrun/Bitcoin.com); Ken Research, Statista (выручка 2025, разные методики); Постановление Президента РУз от 16.11.2022; AESF; gov.uz (12.2025).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6" name="pnl"/>
          <p:cNvSpPr/>
          <p:nvPr/>
        </p:nvSpPr>
        <p:spPr>
          <a:xfrm>
            <a:off x="411480" y="1737360"/>
            <a:ext cx="5943600" cy="4343400"/>
          </a:xfrm>
          <a:prstGeom prst="roundRect">
            <a:avLst>
              <a:gd name="adj" fmla="val 2526"/>
            </a:avLst>
          </a:prstGeom>
          <a:solidFill>
            <a:srgbClr val="070B12">
              <a:alpha val="85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1_card"/>
          <p:cNvSpPr/>
          <p:nvPr/>
        </p:nvSpPr>
        <p:spPr>
          <a:xfrm>
            <a:off x="548640" y="1874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8" name="a1_v"/>
          <p:cNvSpPr txBox="1"/>
          <p:nvPr/>
        </p:nvSpPr>
        <p:spPr>
          <a:xfrm>
            <a:off x="777240" y="20756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640,8 млн</a:t>
            </a:r>
            <a:endParaRPr lang="en-US" sz="2400" dirty="0"/>
          </a:p>
        </p:txBody>
      </p:sp>
      <p:sp>
        <p:nvSpPr>
          <p:cNvPr id="19" name="a1_l"/>
          <p:cNvSpPr txBox="1"/>
          <p:nvPr/>
        </p:nvSpPr>
        <p:spPr>
          <a:xfrm>
            <a:off x="777240" y="28072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зрителей киберспорта в мире, 2025</a:t>
            </a:r>
            <a:endParaRPr lang="en-US" sz="1250" dirty="0"/>
          </a:p>
        </p:txBody>
      </p:sp>
      <p:sp>
        <p:nvSpPr>
          <p:cNvPr id="20" name="a1_s"/>
          <p:cNvSpPr txBox="1"/>
          <p:nvPr/>
        </p:nvSpPr>
        <p:spPr>
          <a:xfrm>
            <a:off x="77724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Newzoo</a:t>
            </a:r>
            <a:endParaRPr lang="en-US" sz="850" dirty="0"/>
          </a:p>
        </p:txBody>
      </p:sp>
      <p:sp>
        <p:nvSpPr>
          <p:cNvPr id="21" name="a2_card"/>
          <p:cNvSpPr/>
          <p:nvPr/>
        </p:nvSpPr>
        <p:spPr>
          <a:xfrm>
            <a:off x="3520440" y="1874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2_v"/>
          <p:cNvSpPr txBox="1"/>
          <p:nvPr/>
        </p:nvSpPr>
        <p:spPr>
          <a:xfrm>
            <a:off x="3749040" y="20756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$2,6–4,8 млрд</a:t>
            </a:r>
            <a:endParaRPr lang="en-US" sz="1600" dirty="0"/>
          </a:p>
        </p:txBody>
      </p:sp>
      <p:sp>
        <p:nvSpPr>
          <p:cNvPr id="23" name="a2_l"/>
          <p:cNvSpPr txBox="1"/>
          <p:nvPr/>
        </p:nvSpPr>
        <p:spPr>
          <a:xfrm>
            <a:off x="3749040" y="28072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оценки выручки 2025 по разным методикам</a:t>
            </a:r>
            <a:endParaRPr lang="en-US" sz="1250" dirty="0"/>
          </a:p>
        </p:txBody>
      </p:sp>
      <p:sp>
        <p:nvSpPr>
          <p:cNvPr id="24" name="a2_s"/>
          <p:cNvSpPr txBox="1"/>
          <p:nvPr/>
        </p:nvSpPr>
        <p:spPr>
          <a:xfrm>
            <a:off x="374904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 Research · Statista</a:t>
            </a:r>
            <a:endParaRPr lang="en-US" sz="8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Узбекистан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42519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поддержка: постановление о развитии и популяризации киберспорта (16.11.2022)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Национальная ассоциация — полноправный член Азиатской федерации киберспорта (AESF)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Регулярные национальные турниры: Кубок Кабинета Министров (декабрь 2025)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map-tashk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04792" y="240030"/>
            <a:ext cx="12801280" cy="720090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Цифровизация Узбекистана: инфраструктура, люди и государственная повестка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DataReportal «Digital 2026: Uzbekistan»; Нацкомстат РУз; IT Park (01–07.2025); Указ УП-6079 от 05.10.2020 «Цифровой Узбекистан — 2030»; gov.uz (07.2026).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850" dirty="0"/>
          </a:p>
        </p:txBody>
      </p:sp>
      <p:sp>
        <p:nvSpPr>
          <p:cNvPr id="16" name="a1_c"/>
          <p:cNvSpPr/>
          <p:nvPr/>
        </p:nvSpPr>
        <p:spPr>
          <a:xfrm>
            <a:off x="6720840" y="182880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1_v"/>
          <p:cNvSpPr txBox="1"/>
          <p:nvPr/>
        </p:nvSpPr>
        <p:spPr>
          <a:xfrm>
            <a:off x="69037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33,1 млн</a:t>
            </a:r>
            <a:endParaRPr lang="en-US" sz="2200" dirty="0"/>
          </a:p>
        </p:txBody>
      </p:sp>
      <p:sp>
        <p:nvSpPr>
          <p:cNvPr id="18" name="a1_l"/>
          <p:cNvSpPr txBox="1"/>
          <p:nvPr/>
        </p:nvSpPr>
        <p:spPr>
          <a:xfrm>
            <a:off x="690372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интернет-пользователей (89%, DataReportal)</a:t>
            </a:r>
            <a:endParaRPr lang="en-US" sz="1050" dirty="0"/>
          </a:p>
        </p:txBody>
      </p:sp>
      <p:sp>
        <p:nvSpPr>
          <p:cNvPr id="19" name="a2_c"/>
          <p:cNvSpPr/>
          <p:nvPr/>
        </p:nvSpPr>
        <p:spPr>
          <a:xfrm>
            <a:off x="9235440" y="182880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2_v"/>
          <p:cNvSpPr txBox="1"/>
          <p:nvPr/>
        </p:nvSpPr>
        <p:spPr>
          <a:xfrm>
            <a:off x="94183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33,9 млн</a:t>
            </a:r>
            <a:endParaRPr lang="en-US" sz="2200" dirty="0"/>
          </a:p>
        </p:txBody>
      </p:sp>
      <p:sp>
        <p:nvSpPr>
          <p:cNvPr id="21" name="a2_l"/>
          <p:cNvSpPr txBox="1"/>
          <p:nvPr/>
        </p:nvSpPr>
        <p:spPr>
          <a:xfrm>
            <a:off x="941832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мобильных подключений</a:t>
            </a:r>
            <a:endParaRPr lang="en-US" sz="1050" dirty="0"/>
          </a:p>
        </p:txBody>
      </p:sp>
      <p:sp>
        <p:nvSpPr>
          <p:cNvPr id="22" name="a3_c"/>
          <p:cNvSpPr/>
          <p:nvPr/>
        </p:nvSpPr>
        <p:spPr>
          <a:xfrm>
            <a:off x="6720840" y="315468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3" name="a3_v"/>
          <p:cNvSpPr txBox="1"/>
          <p:nvPr/>
        </p:nvSpPr>
        <p:spPr>
          <a:xfrm>
            <a:off x="690372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481</a:t>
            </a:r>
            <a:endParaRPr lang="en-US" sz="2200" dirty="0"/>
          </a:p>
        </p:txBody>
      </p:sp>
      <p:sp>
        <p:nvSpPr>
          <p:cNvPr id="24" name="a3_l"/>
          <p:cNvSpPr txBox="1"/>
          <p:nvPr/>
        </p:nvSpPr>
        <p:spPr>
          <a:xfrm>
            <a:off x="6903720" y="3776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новая экспортная компания в IT Park, янв.–июль 2025</a:t>
            </a:r>
            <a:endParaRPr lang="en-US" sz="1050" dirty="0"/>
          </a:p>
        </p:txBody>
      </p:sp>
      <p:sp>
        <p:nvSpPr>
          <p:cNvPr id="25" name="a4_c"/>
          <p:cNvSpPr/>
          <p:nvPr/>
        </p:nvSpPr>
        <p:spPr>
          <a:xfrm>
            <a:off x="9235440" y="315468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6" name="a4_v"/>
          <p:cNvSpPr txBox="1"/>
          <p:nvPr/>
        </p:nvSpPr>
        <p:spPr>
          <a:xfrm>
            <a:off x="941832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$145+ млрд</a:t>
            </a:r>
            <a:endParaRPr lang="en-US" sz="1800" dirty="0"/>
          </a:p>
        </p:txBody>
      </p:sp>
      <p:sp>
        <p:nvSpPr>
          <p:cNvPr id="27" name="a4_l"/>
          <p:cNvSpPr txBox="1"/>
          <p:nvPr/>
        </p:nvSpPr>
        <p:spPr>
          <a:xfrm>
            <a:off x="9418320" y="3776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ВВП Узбекистана в 2025 г.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6720840" y="4572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повестка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720840" y="4919472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«Цифровой Узбекистан — 2030»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развития ИИ до 2030 г.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Льготный режим IT Park для экспортёров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Проблемы и потребности целевых рынков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80360"/>
                <a:gridCol w="3063240"/>
                <a:gridCol w="281635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Сегмент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Ключевая потребность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Типичная проблема сегодня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Ответ FootureX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Малый и средний бизнес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Учёт, продажи и касса в одной системе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Разрозненные таблицы и несвязанные программы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ERP/CRM/POS-пакеты Technologies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Средние и крупные компании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Автоматизация и AI в процессах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Пилоты AI без интеграции и эффекта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AI-агенты и мультиагентные системы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Игроки и болельщики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Футбольный опыт в смартфоне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Тяжёлые приложения, слабая локализация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 в Telegram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Молодёжь и студенты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Профессия в цифровой индустрии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Мало практики на реальных проектах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 Academy + студия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Юные футболисты и семьи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Путь в профессиональный футбол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Нехватка системной подготовки и данных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 + AI-аналитика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Город и девелопмент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Современная спортивно-деловая среда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Разрыв между спортом, IT и городом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Концепции Stadium и City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FootureX Uzbekistan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см. слайды 12–16; ФИФА (решение Совета 02.10.2025 о проведении U-20 World Cup 2027 в Узбекистане и Азербайджане); gov.uz (Новый Ташкент).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1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2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на цифровизацию</a:t>
            </a:r>
            <a:endParaRPr lang="en-US" sz="1400" dirty="0"/>
          </a:p>
        </p:txBody>
      </p:sp>
      <p:sp>
        <p:nvSpPr>
          <p:cNvPr id="14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 IT-услуг растёт ≈30% в год; бизнес переходит от таблиц к системам.</a:t>
            </a:r>
            <a:endParaRPr lang="en-US" sz="1250" dirty="0"/>
          </a:p>
        </p:txBody>
      </p:sp>
      <p:sp>
        <p:nvSpPr>
          <p:cNvPr id="15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AI-повестка</a:t>
            </a:r>
            <a:endParaRPr lang="en-US" sz="1400" dirty="0"/>
          </a:p>
        </p:txBody>
      </p:sp>
      <p:sp>
        <p:nvSpPr>
          <p:cNvPr id="19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ИИ до 2030 г. формирует спрос на AI-решения и кадры.</a:t>
            </a:r>
            <a:endParaRPr lang="en-US" sz="1250" dirty="0"/>
          </a:p>
        </p:txBody>
      </p:sp>
      <p:sp>
        <p:nvSpPr>
          <p:cNvPr id="20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1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2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3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Telegram-first аудитория</a:t>
            </a:r>
            <a:endParaRPr lang="en-US" sz="1400" dirty="0"/>
          </a:p>
        </p:txBody>
      </p:sp>
      <p:sp>
        <p:nvSpPr>
          <p:cNvPr id="24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— ежедневная платформа; мини-приложения не требуют установки.</a:t>
            </a:r>
            <a:endParaRPr lang="en-US" sz="1250" dirty="0"/>
          </a:p>
        </p:txBody>
      </p:sp>
      <p:sp>
        <p:nvSpPr>
          <p:cNvPr id="25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6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7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8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Молодое население</a:t>
            </a:r>
            <a:endParaRPr lang="en-US" sz="1400" dirty="0"/>
          </a:p>
        </p:txBody>
      </p:sp>
      <p:sp>
        <p:nvSpPr>
          <p:cNvPr id="29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возраст 29,5 года — большая аудитория игр, обучения и спорта.</a:t>
            </a:r>
            <a:endParaRPr lang="en-US" sz="1250" dirty="0"/>
          </a:p>
        </p:txBody>
      </p:sp>
      <p:sp>
        <p:nvSpPr>
          <p:cNvPr id="30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2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3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подъём</a:t>
            </a:r>
            <a:endParaRPr lang="en-US" sz="1400" dirty="0"/>
          </a:p>
        </p:txBody>
      </p:sp>
      <p:sp>
        <p:nvSpPr>
          <p:cNvPr id="34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в истории выход сборной на ЧМ-2026 и проведение U-20 World Cup 2027.</a:t>
            </a:r>
            <a:endParaRPr lang="en-US" sz="1250" dirty="0"/>
          </a:p>
        </p:txBody>
      </p:sp>
      <p:sp>
        <p:nvSpPr>
          <p:cNvPr id="35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6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7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8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Новый Ташкент</a:t>
            </a:r>
            <a:endParaRPr lang="en-US" sz="1400" dirty="0"/>
          </a:p>
        </p:txBody>
      </p:sp>
      <p:sp>
        <p:nvSpPr>
          <p:cNvPr id="39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Строительство нового города создаёт спрос на современную инфраструктуру.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1" grpId="0" animBg="1"/>
      <p:bldP spid="33" grpId="0"/>
      <p:bldP spid="34" grpId="0"/>
      <p:bldP spid="35" grpId="0" animBg="1"/>
      <p:bldP spid="36" grpId="0" animBg="1"/>
      <p:bldP spid="38" grpId="0"/>
      <p:bldP spid="3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Конкурентная среда: сильные игроки в каждом сегменте, но нет экосистемы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2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097280"/>
                <a:gridCol w="1234440"/>
                <a:gridCol w="1097280"/>
                <a:gridCol w="868680"/>
                <a:gridCol w="29535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Категория конкурентов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Локальный рынок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Игры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Обучение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Спорт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Где FootureX сильнее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Локальные IT-интеграторы и аутсорс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AI-продукты, продуктовая культура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Международные ERP/CRM-платформы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Внедрение, локализация, сопровождение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Глобальные футбольные игры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Telegram-формат, локальное сообщество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Мини-игры в Telegram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Глубина геймплея, спортивный 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IT-школы и курсы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Практика в действующей студии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Футбольные клубы и академии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3B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Данные, AI-аналитика, цифровая аудитория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(целевая модель)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9F6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◐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Экосистема направлений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E9F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●</a:t>
            </a:r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сильная позиция   </a:t>
            </a:r>
            <a:pPr indent="0" marL="0">
              <a:buNone/>
            </a:pPr>
            <a:r>
              <a:rPr lang="en-US" sz="95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◐</a:t>
            </a:r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частичная   </a:t>
            </a:r>
            <a:pPr indent="0" marL="0">
              <a:buNone/>
            </a:pPr>
            <a:r>
              <a:rPr lang="en-US" sz="950" dirty="0">
                <a:solidFill>
                  <a:srgbClr val="9AA3B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○</a:t>
            </a:r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отсутствует  ·  оценка экспертная, требует подтверждения исследованием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Стратегические преимущества компании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 · MARKET &amp; STRATEGY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a1_t"/>
          <p:cNvSpPr txBox="1"/>
          <p:nvPr/>
        </p:nvSpPr>
        <p:spPr>
          <a:xfrm>
            <a:off x="777240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Экосистемный эффект</a:t>
            </a:r>
            <a:endParaRPr lang="en-US" sz="1500" dirty="0"/>
          </a:p>
        </p:txBody>
      </p:sp>
      <p:sp>
        <p:nvSpPr>
          <p:cNvPr id="12" name="a1_d"/>
          <p:cNvSpPr txBox="1"/>
          <p:nvPr/>
        </p:nvSpPr>
        <p:spPr>
          <a:xfrm>
            <a:off x="777240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Клиенты, технологии и таланты переходят между направлениями — ниже стоимость роста каждого.</a:t>
            </a:r>
            <a:endParaRPr lang="en-US" sz="1250" dirty="0"/>
          </a:p>
        </p:txBody>
      </p:sp>
      <p:sp>
        <p:nvSpPr>
          <p:cNvPr id="13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4" name="a2_num"/>
          <p:cNvSpPr txBox="1"/>
          <p:nvPr/>
        </p:nvSpPr>
        <p:spPr>
          <a:xfrm>
            <a:off x="455157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a2_t"/>
          <p:cNvSpPr txBox="1"/>
          <p:nvPr/>
        </p:nvSpPr>
        <p:spPr>
          <a:xfrm>
            <a:off x="4551578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Telegram-first продукты</a:t>
            </a:r>
            <a:endParaRPr lang="en-US" sz="1500" dirty="0"/>
          </a:p>
        </p:txBody>
      </p:sp>
      <p:sp>
        <p:nvSpPr>
          <p:cNvPr id="16" name="a2_d"/>
          <p:cNvSpPr txBox="1"/>
          <p:nvPr/>
        </p:nvSpPr>
        <p:spPr>
          <a:xfrm>
            <a:off x="4551578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Игра и сервисы там, где уже находится аудитория, без барьера установки.</a:t>
            </a:r>
            <a:endParaRPr lang="en-US" sz="1250" dirty="0"/>
          </a:p>
        </p:txBody>
      </p:sp>
      <p:sp>
        <p:nvSpPr>
          <p:cNvPr id="17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8" name="a3_num"/>
          <p:cNvSpPr txBox="1"/>
          <p:nvPr/>
        </p:nvSpPr>
        <p:spPr>
          <a:xfrm>
            <a:off x="8325917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a3_t"/>
          <p:cNvSpPr txBox="1"/>
          <p:nvPr/>
        </p:nvSpPr>
        <p:spPr>
          <a:xfrm>
            <a:off x="8325917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Локальная экспертиза</a:t>
            </a:r>
            <a:endParaRPr lang="en-US" sz="1500" dirty="0"/>
          </a:p>
        </p:txBody>
      </p:sp>
      <p:sp>
        <p:nvSpPr>
          <p:cNvPr id="20" name="a3_d"/>
          <p:cNvSpPr txBox="1"/>
          <p:nvPr/>
        </p:nvSpPr>
        <p:spPr>
          <a:xfrm>
            <a:off x="8325917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Язык, регулирование, платёжная инфраструктура и деловая культура Узбекистана.</a:t>
            </a:r>
            <a:endParaRPr lang="en-US" sz="1250" dirty="0"/>
          </a:p>
        </p:txBody>
      </p:sp>
      <p:sp>
        <p:nvSpPr>
          <p:cNvPr id="21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4_num"/>
          <p:cNvSpPr txBox="1"/>
          <p:nvPr/>
        </p:nvSpPr>
        <p:spPr>
          <a:xfrm>
            <a:off x="77724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a4_t"/>
          <p:cNvSpPr txBox="1"/>
          <p:nvPr/>
        </p:nvSpPr>
        <p:spPr>
          <a:xfrm>
            <a:off x="777240" y="470916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Собственный кадровый конвейер</a:t>
            </a:r>
            <a:endParaRPr lang="en-US" sz="1500" dirty="0"/>
          </a:p>
        </p:txBody>
      </p:sp>
      <p:sp>
        <p:nvSpPr>
          <p:cNvPr id="24" name="a4_d"/>
          <p:cNvSpPr txBox="1"/>
          <p:nvPr/>
        </p:nvSpPr>
        <p:spPr>
          <a:xfrm>
            <a:off x="777240" y="5312664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готовит специалистов для студии, AI и клиентов.</a:t>
            </a:r>
            <a:endParaRPr lang="en-US" sz="1250" dirty="0"/>
          </a:p>
        </p:txBody>
      </p:sp>
      <p:sp>
        <p:nvSpPr>
          <p:cNvPr id="25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6" name="a5_num"/>
          <p:cNvSpPr txBox="1"/>
          <p:nvPr/>
        </p:nvSpPr>
        <p:spPr>
          <a:xfrm>
            <a:off x="4551578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a5_t"/>
          <p:cNvSpPr txBox="1"/>
          <p:nvPr/>
        </p:nvSpPr>
        <p:spPr>
          <a:xfrm>
            <a:off x="4551578" y="470916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Сильный футбольный нарратив</a:t>
            </a:r>
            <a:endParaRPr lang="en-US" sz="1500" dirty="0"/>
          </a:p>
        </p:txBody>
      </p:sp>
      <p:sp>
        <p:nvSpPr>
          <p:cNvPr id="28" name="a5_d"/>
          <p:cNvSpPr txBox="1"/>
          <p:nvPr/>
        </p:nvSpPr>
        <p:spPr>
          <a:xfrm>
            <a:off x="4551578" y="5312664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 связывает цифровой и реальный футбол.</a:t>
            </a:r>
            <a:endParaRPr lang="en-US" sz="1250" dirty="0"/>
          </a:p>
        </p:txBody>
      </p:sp>
      <p:sp>
        <p:nvSpPr>
          <p:cNvPr id="29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6_num"/>
          <p:cNvSpPr txBox="1"/>
          <p:nvPr/>
        </p:nvSpPr>
        <p:spPr>
          <a:xfrm>
            <a:off x="8325917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2000" dirty="0"/>
          </a:p>
        </p:txBody>
      </p:sp>
      <p:sp>
        <p:nvSpPr>
          <p:cNvPr id="31" name="a6_t"/>
          <p:cNvSpPr txBox="1"/>
          <p:nvPr/>
        </p:nvSpPr>
        <p:spPr>
          <a:xfrm>
            <a:off x="8325917" y="470916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Капиталоэффективная последовательность</a:t>
            </a:r>
            <a:endParaRPr lang="en-US" sz="1500" dirty="0"/>
          </a:p>
        </p:txBody>
      </p:sp>
      <p:sp>
        <p:nvSpPr>
          <p:cNvPr id="32" name="a6_d"/>
          <p:cNvSpPr txBox="1"/>
          <p:nvPr/>
        </p:nvSpPr>
        <p:spPr>
          <a:xfrm>
            <a:off x="8325917" y="5312664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 и AI-услуги генерируют выручку до запуска капиталоёмких проектов.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0" grpId="0"/>
      <p:bldP spid="31" grpId="0"/>
      <p:bldP spid="3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datacenter-ais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24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Technologies — обзор направления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IT-УСЛУГИ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программного обеспечения и автоматизация бизнеса — первый источник выручки и технологический фундамент всей группы.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ERP·CRM</a:t>
            </a:r>
            <a:endParaRPr lang="en-US" sz="17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бизнесом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POS</a:t>
            </a:r>
            <a:endParaRPr lang="en-US" sz="22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кассы и продажи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Web·Mobile</a:t>
            </a:r>
            <a:endParaRPr lang="en-US" sz="17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приложения и Telegram Mini Apps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Корпоративная разработка ПО: от обследования до сопровождения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a1_ln"/>
          <p:cNvSpPr/>
          <p:nvPr/>
        </p:nvSpPr>
        <p:spPr>
          <a:xfrm>
            <a:off x="1207008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2" name="a1_t"/>
          <p:cNvSpPr txBox="1"/>
          <p:nvPr/>
        </p:nvSpPr>
        <p:spPr>
          <a:xfrm>
            <a:off x="548640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Обследование</a:t>
            </a:r>
            <a:endParaRPr lang="en-US" sz="1250" dirty="0"/>
          </a:p>
        </p:txBody>
      </p:sp>
      <p:sp>
        <p:nvSpPr>
          <p:cNvPr id="13" name="a1_d"/>
          <p:cNvSpPr txBox="1"/>
          <p:nvPr/>
        </p:nvSpPr>
        <p:spPr>
          <a:xfrm>
            <a:off x="548640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Интервью, карта процессов, требования и критерии успеха.</a:t>
            </a:r>
            <a:endParaRPr lang="en-US" sz="1250" dirty="0"/>
          </a:p>
        </p:txBody>
      </p:sp>
      <p:sp>
        <p:nvSpPr>
          <p:cNvPr id="14" name="a2_dot"/>
          <p:cNvSpPr/>
          <p:nvPr/>
        </p:nvSpPr>
        <p:spPr>
          <a:xfrm>
            <a:off x="2431237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243123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a2_ln"/>
          <p:cNvSpPr/>
          <p:nvPr/>
        </p:nvSpPr>
        <p:spPr>
          <a:xfrm>
            <a:off x="3089605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7" name="a2_t"/>
          <p:cNvSpPr txBox="1"/>
          <p:nvPr/>
        </p:nvSpPr>
        <p:spPr>
          <a:xfrm>
            <a:off x="2431237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18" name="a2_d"/>
          <p:cNvSpPr txBox="1"/>
          <p:nvPr/>
        </p:nvSpPr>
        <p:spPr>
          <a:xfrm>
            <a:off x="2431237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Решение, стек, интеграции, оценка сроков и бюджета.</a:t>
            </a:r>
            <a:endParaRPr lang="en-US" sz="1250" dirty="0"/>
          </a:p>
        </p:txBody>
      </p:sp>
      <p:sp>
        <p:nvSpPr>
          <p:cNvPr id="19" name="a3_dot"/>
          <p:cNvSpPr/>
          <p:nvPr/>
        </p:nvSpPr>
        <p:spPr>
          <a:xfrm>
            <a:off x="4313834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0" name="a3_num"/>
          <p:cNvSpPr txBox="1"/>
          <p:nvPr/>
        </p:nvSpPr>
        <p:spPr>
          <a:xfrm>
            <a:off x="431383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a3_ln"/>
          <p:cNvSpPr/>
          <p:nvPr/>
        </p:nvSpPr>
        <p:spPr>
          <a:xfrm>
            <a:off x="4972202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2" name="a3_t"/>
          <p:cNvSpPr txBox="1"/>
          <p:nvPr/>
        </p:nvSpPr>
        <p:spPr>
          <a:xfrm>
            <a:off x="4313834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</a:t>
            </a:r>
            <a:endParaRPr lang="en-US" sz="1250" dirty="0"/>
          </a:p>
        </p:txBody>
      </p:sp>
      <p:sp>
        <p:nvSpPr>
          <p:cNvPr id="23" name="a3_d"/>
          <p:cNvSpPr txBox="1"/>
          <p:nvPr/>
        </p:nvSpPr>
        <p:spPr>
          <a:xfrm>
            <a:off x="4313834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Спринты по 2 недели, демо каждого инкремента клиенту.</a:t>
            </a:r>
            <a:endParaRPr lang="en-US" sz="1250" dirty="0"/>
          </a:p>
        </p:txBody>
      </p:sp>
      <p:sp>
        <p:nvSpPr>
          <p:cNvPr id="24" name="a4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5" name="a4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a4_ln"/>
          <p:cNvSpPr/>
          <p:nvPr/>
        </p:nvSpPr>
        <p:spPr>
          <a:xfrm>
            <a:off x="6854800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7" name="a4_t"/>
          <p:cNvSpPr txBox="1"/>
          <p:nvPr/>
        </p:nvSpPr>
        <p:spPr>
          <a:xfrm>
            <a:off x="6196432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 и безопасность</a:t>
            </a:r>
            <a:endParaRPr lang="en-US" sz="1250" dirty="0"/>
          </a:p>
        </p:txBody>
      </p:sp>
      <p:sp>
        <p:nvSpPr>
          <p:cNvPr id="28" name="a4_d"/>
          <p:cNvSpPr txBox="1"/>
          <p:nvPr/>
        </p:nvSpPr>
        <p:spPr>
          <a:xfrm>
            <a:off x="6196432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Автотесты, код-ревью, нагрузочные тесты, проверка по OWASP.</a:t>
            </a:r>
            <a:endParaRPr lang="en-US" sz="1250" dirty="0"/>
          </a:p>
        </p:txBody>
      </p:sp>
      <p:sp>
        <p:nvSpPr>
          <p:cNvPr id="29" name="a5_dot"/>
          <p:cNvSpPr/>
          <p:nvPr/>
        </p:nvSpPr>
        <p:spPr>
          <a:xfrm>
            <a:off x="8079029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0" name="a5_num"/>
          <p:cNvSpPr txBox="1"/>
          <p:nvPr/>
        </p:nvSpPr>
        <p:spPr>
          <a:xfrm>
            <a:off x="8079029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a5_ln"/>
          <p:cNvSpPr/>
          <p:nvPr/>
        </p:nvSpPr>
        <p:spPr>
          <a:xfrm>
            <a:off x="8737397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32" name="a5_t"/>
          <p:cNvSpPr txBox="1"/>
          <p:nvPr/>
        </p:nvSpPr>
        <p:spPr>
          <a:xfrm>
            <a:off x="8079029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1250" dirty="0"/>
          </a:p>
        </p:txBody>
      </p:sp>
      <p:sp>
        <p:nvSpPr>
          <p:cNvPr id="33" name="a5_d"/>
          <p:cNvSpPr txBox="1"/>
          <p:nvPr/>
        </p:nvSpPr>
        <p:spPr>
          <a:xfrm>
            <a:off x="8079029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Миграция данных, обучение пользователей, запуск.</a:t>
            </a:r>
            <a:endParaRPr lang="en-US" sz="1250" dirty="0"/>
          </a:p>
        </p:txBody>
      </p:sp>
      <p:sp>
        <p:nvSpPr>
          <p:cNvPr id="34" name="a6_dot"/>
          <p:cNvSpPr/>
          <p:nvPr/>
        </p:nvSpPr>
        <p:spPr>
          <a:xfrm>
            <a:off x="9961626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5" name="a6_num"/>
          <p:cNvSpPr txBox="1"/>
          <p:nvPr/>
        </p:nvSpPr>
        <p:spPr>
          <a:xfrm>
            <a:off x="996162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a6_t"/>
          <p:cNvSpPr txBox="1"/>
          <p:nvPr/>
        </p:nvSpPr>
        <p:spPr>
          <a:xfrm>
            <a:off x="9961626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Сопровождение</a:t>
            </a:r>
            <a:endParaRPr lang="en-US" sz="1250" dirty="0"/>
          </a:p>
        </p:txBody>
      </p:sp>
      <p:sp>
        <p:nvSpPr>
          <p:cNvPr id="37" name="a6_d"/>
          <p:cNvSpPr txBox="1"/>
          <p:nvPr/>
        </p:nvSpPr>
        <p:spPr>
          <a:xfrm>
            <a:off x="9961626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SLA, мониторинг, развитие функциональности.</a:t>
            </a:r>
            <a:endParaRPr lang="en-US" sz="1250" dirty="0"/>
          </a:p>
        </p:txBody>
      </p:sp>
      <p:sp>
        <p:nvSpPr>
          <p:cNvPr id="38" name="a7_q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10909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4892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</a:t>
            </a:r>
            <a:pPr indent="0" marL="0">
              <a:buNone/>
            </a:pPr>
            <a:r>
              <a:rPr lang="en-US" sz="14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этап заканчивается артефактом, который клиент видит и подписывает — требования, архитектура, демо, отчёт о тестировании, акт внедрения.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14" grpId="0" animBg="1"/>
      <p:bldP spid="15" grpId="0"/>
      <p:bldP spid="16" grpId="0" animBg="1"/>
      <p:bldP spid="17" grpId="0"/>
      <p:bldP spid="18" grpId="0"/>
      <p:bldP spid="19" grpId="0" animBg="1"/>
      <p:bldP spid="20" grpId="0"/>
      <p:bldP spid="21" grpId="0" animBg="1"/>
      <p:bldP spid="22" grpId="0"/>
      <p:bldP spid="23" grpId="0"/>
      <p:bldP spid="24" grpId="0" animBg="1"/>
      <p:bldP spid="25" grpId="0"/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/>
      <p:bldP spid="33" grpId="0"/>
      <p:bldP spid="34" grpId="0" animBg="1"/>
      <p:bldP spid="35" grpId="0"/>
      <p:bldP spid="36" grpId="0"/>
      <p:bldP spid="37" grpId="0"/>
      <p:bldP spid="3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ERP и CRM-системы: единый контур управления бизнесом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pic>
        <p:nvPicPr>
          <p:cNvPr id="9" name="a1_ui" descr="/home/user/footurex-main/presentation/assets/ui/erp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766560" cy="42291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61081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850" dirty="0"/>
          </a:p>
        </p:txBody>
      </p:sp>
      <p:sp>
        <p:nvSpPr>
          <p:cNvPr id="11" name="a2_ibg"/>
          <p:cNvSpPr/>
          <p:nvPr/>
        </p:nvSpPr>
        <p:spPr>
          <a:xfrm>
            <a:off x="7635240" y="18288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2" name="a2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938528"/>
            <a:ext cx="237744" cy="237744"/>
          </a:xfrm>
          <a:prstGeom prst="rect">
            <a:avLst/>
          </a:prstGeom>
        </p:spPr>
      </p:pic>
      <p:sp>
        <p:nvSpPr>
          <p:cNvPr id="13" name="a2_t"/>
          <p:cNvSpPr txBox="1"/>
          <p:nvPr/>
        </p:nvSpPr>
        <p:spPr>
          <a:xfrm>
            <a:off x="8229600" y="1810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 и CRM</a:t>
            </a:r>
            <a:endParaRPr lang="en-US" sz="1300" dirty="0"/>
          </a:p>
        </p:txBody>
      </p:sp>
      <p:sp>
        <p:nvSpPr>
          <p:cNvPr id="14" name="a2_d"/>
          <p:cNvSpPr txBox="1"/>
          <p:nvPr/>
        </p:nvSpPr>
        <p:spPr>
          <a:xfrm>
            <a:off x="8229600" y="2075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воронка, сделки, клиенты</a:t>
            </a:r>
            <a:endParaRPr lang="en-US" sz="1100" dirty="0"/>
          </a:p>
        </p:txBody>
      </p:sp>
      <p:sp>
        <p:nvSpPr>
          <p:cNvPr id="15" name="a3_ibg"/>
          <p:cNvSpPr/>
          <p:nvPr/>
        </p:nvSpPr>
        <p:spPr>
          <a:xfrm>
            <a:off x="7635240" y="25146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3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624328"/>
            <a:ext cx="237744" cy="237744"/>
          </a:xfrm>
          <a:prstGeom prst="rect">
            <a:avLst/>
          </a:prstGeom>
        </p:spPr>
      </p:pic>
      <p:sp>
        <p:nvSpPr>
          <p:cNvPr id="17" name="a3_t"/>
          <p:cNvSpPr txBox="1"/>
          <p:nvPr/>
        </p:nvSpPr>
        <p:spPr>
          <a:xfrm>
            <a:off x="8229600" y="24963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</a:t>
            </a:r>
            <a:endParaRPr lang="en-US" sz="1300" dirty="0"/>
          </a:p>
        </p:txBody>
      </p:sp>
      <p:sp>
        <p:nvSpPr>
          <p:cNvPr id="18" name="a3_d"/>
          <p:cNvSpPr txBox="1"/>
          <p:nvPr/>
        </p:nvSpPr>
        <p:spPr>
          <a:xfrm>
            <a:off x="8229600" y="2761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остатки, движение, инвентаризация</a:t>
            </a:r>
            <a:endParaRPr lang="en-US" sz="1100" dirty="0"/>
          </a:p>
        </p:txBody>
      </p:sp>
      <p:sp>
        <p:nvSpPr>
          <p:cNvPr id="19" name="a4_ibg"/>
          <p:cNvSpPr/>
          <p:nvPr/>
        </p:nvSpPr>
        <p:spPr>
          <a:xfrm>
            <a:off x="7635240" y="3200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0" name="a4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3310128"/>
            <a:ext cx="237744" cy="237744"/>
          </a:xfrm>
          <a:prstGeom prst="rect">
            <a:avLst/>
          </a:prstGeom>
        </p:spPr>
      </p:pic>
      <p:sp>
        <p:nvSpPr>
          <p:cNvPr id="21" name="a4_t"/>
          <p:cNvSpPr txBox="1"/>
          <p:nvPr/>
        </p:nvSpPr>
        <p:spPr>
          <a:xfrm>
            <a:off x="8229600" y="31821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Закупки и SRM</a:t>
            </a:r>
            <a:endParaRPr lang="en-US" sz="1300" dirty="0"/>
          </a:p>
        </p:txBody>
      </p:sp>
      <p:sp>
        <p:nvSpPr>
          <p:cNvPr id="22" name="a4_d"/>
          <p:cNvSpPr txBox="1"/>
          <p:nvPr/>
        </p:nvSpPr>
        <p:spPr>
          <a:xfrm>
            <a:off x="8229600" y="34472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поставщики, заказы, оценка</a:t>
            </a:r>
            <a:endParaRPr lang="en-US" sz="1100" dirty="0"/>
          </a:p>
        </p:txBody>
      </p:sp>
      <p:sp>
        <p:nvSpPr>
          <p:cNvPr id="23" name="a5_ibg"/>
          <p:cNvSpPr/>
          <p:nvPr/>
        </p:nvSpPr>
        <p:spPr>
          <a:xfrm>
            <a:off x="7635240" y="38862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4" name="a5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4968" y="3995928"/>
            <a:ext cx="237744" cy="237744"/>
          </a:xfrm>
          <a:prstGeom prst="rect">
            <a:avLst/>
          </a:prstGeom>
        </p:spPr>
      </p:pic>
      <p:sp>
        <p:nvSpPr>
          <p:cNvPr id="25" name="a5_t"/>
          <p:cNvSpPr txBox="1"/>
          <p:nvPr/>
        </p:nvSpPr>
        <p:spPr>
          <a:xfrm>
            <a:off x="8229600" y="38679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</a:t>
            </a:r>
            <a:endParaRPr lang="en-US" sz="1300" dirty="0"/>
          </a:p>
        </p:txBody>
      </p:sp>
      <p:sp>
        <p:nvSpPr>
          <p:cNvPr id="26" name="a5_d"/>
          <p:cNvSpPr txBox="1"/>
          <p:nvPr/>
        </p:nvSpPr>
        <p:spPr>
          <a:xfrm>
            <a:off x="8229600" y="41330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платежи, долги, бюджеты</a:t>
            </a:r>
            <a:endParaRPr lang="en-US" sz="1100" dirty="0"/>
          </a:p>
        </p:txBody>
      </p:sp>
      <p:sp>
        <p:nvSpPr>
          <p:cNvPr id="27" name="a6_ibg"/>
          <p:cNvSpPr/>
          <p:nvPr/>
        </p:nvSpPr>
        <p:spPr>
          <a:xfrm>
            <a:off x="7635240" y="45720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8" name="a6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968" y="4681728"/>
            <a:ext cx="237744" cy="237744"/>
          </a:xfrm>
          <a:prstGeom prst="rect">
            <a:avLst/>
          </a:prstGeom>
        </p:spPr>
      </p:pic>
      <p:sp>
        <p:nvSpPr>
          <p:cNvPr id="29" name="a6_t"/>
          <p:cNvSpPr txBox="1"/>
          <p:nvPr/>
        </p:nvSpPr>
        <p:spPr>
          <a:xfrm>
            <a:off x="8229600" y="45537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</a:t>
            </a:r>
            <a:endParaRPr lang="en-US" sz="1300" dirty="0"/>
          </a:p>
        </p:txBody>
      </p:sp>
      <p:sp>
        <p:nvSpPr>
          <p:cNvPr id="30" name="a6_d"/>
          <p:cNvSpPr txBox="1"/>
          <p:nvPr/>
        </p:nvSpPr>
        <p:spPr>
          <a:xfrm>
            <a:off x="8229600" y="48188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штат, графики, KPI</a:t>
            </a:r>
            <a:endParaRPr lang="en-US" sz="1100" dirty="0"/>
          </a:p>
        </p:txBody>
      </p:sp>
      <p:sp>
        <p:nvSpPr>
          <p:cNvPr id="31" name="a7_ibg"/>
          <p:cNvSpPr/>
          <p:nvPr/>
        </p:nvSpPr>
        <p:spPr>
          <a:xfrm>
            <a:off x="7635240" y="52578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2" name="a7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4968" y="5367528"/>
            <a:ext cx="237744" cy="237744"/>
          </a:xfrm>
          <a:prstGeom prst="rect">
            <a:avLst/>
          </a:prstGeom>
        </p:spPr>
      </p:pic>
      <p:sp>
        <p:nvSpPr>
          <p:cNvPr id="33" name="a7_t"/>
          <p:cNvSpPr txBox="1"/>
          <p:nvPr/>
        </p:nvSpPr>
        <p:spPr>
          <a:xfrm>
            <a:off x="8229600" y="5239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</a:t>
            </a:r>
            <a:endParaRPr lang="en-US" sz="1300" dirty="0"/>
          </a:p>
        </p:txBody>
      </p:sp>
      <p:sp>
        <p:nvSpPr>
          <p:cNvPr id="34" name="a7_d"/>
          <p:cNvSpPr txBox="1"/>
          <p:nvPr/>
        </p:nvSpPr>
        <p:spPr>
          <a:xfrm>
            <a:off x="8229600" y="5504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ответы и отчёты по запросу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Автоматизация малого и среднего бизнеса: отраслевые пакеты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Розница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Касса, склад, программа лояльности, аналитика продаж по точкам.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 + ERP</a:t>
            </a:r>
            <a:endParaRPr lang="en-US" sz="850" dirty="0"/>
          </a:p>
        </p:txBody>
      </p:sp>
      <p:sp>
        <p:nvSpPr>
          <p:cNvPr id="16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8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HoReCa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4551578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Заказы, кухня, доставка, учёт продуктов и себестоимости блюд.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51578" y="3355848"/>
            <a:ext cx="102870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51578" y="3355848"/>
            <a:ext cx="10287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 + склад</a:t>
            </a:r>
            <a:endParaRPr lang="en-US" sz="850" dirty="0"/>
          </a:p>
        </p:txBody>
      </p:sp>
      <p:sp>
        <p:nvSpPr>
          <p:cNvPr id="23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Дистрибуция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8325917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 агентов, маршруты, дебиторка.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325917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325917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 + CRM</a:t>
            </a:r>
            <a:endParaRPr lang="en-US" sz="850" dirty="0"/>
          </a:p>
        </p:txBody>
      </p:sp>
      <p:sp>
        <p:nvSpPr>
          <p:cNvPr id="30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2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Клиники и сервисы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777240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Онлайн-запись, карточка клиента, напоминания, оплата.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777240" y="5550408"/>
            <a:ext cx="12344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77240" y="5550408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CRM + Telegram</a:t>
            </a:r>
            <a:endParaRPr lang="en-US" sz="850" dirty="0"/>
          </a:p>
        </p:txBody>
      </p:sp>
      <p:sp>
        <p:nvSpPr>
          <p:cNvPr id="37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8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9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40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</a:t>
            </a:r>
            <a:endParaRPr lang="en-US" sz="1400" dirty="0"/>
          </a:p>
        </p:txBody>
      </p:sp>
      <p:sp>
        <p:nvSpPr>
          <p:cNvPr id="41" name="a5_d"/>
          <p:cNvSpPr txBox="1"/>
          <p:nvPr/>
        </p:nvSpPr>
        <p:spPr>
          <a:xfrm>
            <a:off x="4551578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Расписание, оплата обучения, успеваемость, связь с родителями.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4551578" y="555040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51578" y="555040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CRM + LMS</a:t>
            </a:r>
            <a:endParaRPr lang="en-US" sz="850" dirty="0"/>
          </a:p>
        </p:txBody>
      </p:sp>
      <p:sp>
        <p:nvSpPr>
          <p:cNvPr id="4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4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4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4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Производство</a:t>
            </a:r>
            <a:endParaRPr lang="en-US" sz="1400" dirty="0"/>
          </a:p>
        </p:txBody>
      </p:sp>
      <p:sp>
        <p:nvSpPr>
          <p:cNvPr id="48" name="a6_d"/>
          <p:cNvSpPr txBox="1"/>
          <p:nvPr/>
        </p:nvSpPr>
        <p:spPr>
          <a:xfrm>
            <a:off x="8325917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Заказы, сырьё, производственные этапы, качество.</a:t>
            </a:r>
            <a:endParaRPr lang="en-US" sz="1250" dirty="0"/>
          </a:p>
        </p:txBody>
      </p:sp>
      <p:sp>
        <p:nvSpPr>
          <p:cNvPr id="49" name="Shape 40"/>
          <p:cNvSpPr/>
          <p:nvPr/>
        </p:nvSpPr>
        <p:spPr>
          <a:xfrm>
            <a:off x="8325917" y="5550408"/>
            <a:ext cx="48006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1ED68A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8325917" y="5550408"/>
            <a:ext cx="4800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  <p:bldP spid="37" grpId="0" animBg="1"/>
      <p:bldP spid="38" grpId="0" animBg="1"/>
      <p:bldP spid="40" grpId="0"/>
      <p:bldP spid="41" grpId="0"/>
      <p:bldP spid="44" grpId="0" animBg="1"/>
      <p:bldP spid="45" grpId="0" animBg="1"/>
      <p:bldP spid="47" grpId="0"/>
      <p:bldP spid="4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POS и кассовые решения: от кассы до аналитики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0" name="a1_lb"/>
          <p:cNvSpPr/>
          <p:nvPr/>
        </p:nvSpPr>
        <p:spPr>
          <a:xfrm>
            <a:off x="640080" y="1920240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Точки продаж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200400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73552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Касса на планшете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15636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88788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Мобильный терминал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30872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04024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Самообслуживание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546107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19259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Онлайн-заказы</a:t>
            </a:r>
            <a:endParaRPr lang="en-US" sz="1100" dirty="0"/>
          </a:p>
        </p:txBody>
      </p:sp>
      <p:sp>
        <p:nvSpPr>
          <p:cNvPr id="20" name="a2_bg"/>
          <p:cNvSpPr/>
          <p:nvPr/>
        </p:nvSpPr>
        <p:spPr>
          <a:xfrm>
            <a:off x="548640" y="2660904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1" name="a2_lb"/>
          <p:cNvSpPr/>
          <p:nvPr/>
        </p:nvSpPr>
        <p:spPr>
          <a:xfrm>
            <a:off x="640080" y="2752344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22" name="a2_lt"/>
          <p:cNvSpPr txBox="1"/>
          <p:nvPr/>
        </p:nvSpPr>
        <p:spPr>
          <a:xfrm>
            <a:off x="749808" y="2752344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200400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73552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Банковские карты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315636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88788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QR-оплата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430872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504024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Локальные платёжные системы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546107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19259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Наличные</a:t>
            </a:r>
            <a:endParaRPr lang="en-US" sz="1100" dirty="0"/>
          </a:p>
        </p:txBody>
      </p:sp>
      <p:sp>
        <p:nvSpPr>
          <p:cNvPr id="31" name="a3_bg"/>
          <p:cNvSpPr/>
          <p:nvPr/>
        </p:nvSpPr>
        <p:spPr>
          <a:xfrm>
            <a:off x="548640" y="3493008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32" name="a3_lb"/>
          <p:cNvSpPr/>
          <p:nvPr/>
        </p:nvSpPr>
        <p:spPr>
          <a:xfrm>
            <a:off x="640080" y="3584448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33" name="a3_lt"/>
          <p:cNvSpPr txBox="1"/>
          <p:nvPr/>
        </p:nvSpPr>
        <p:spPr>
          <a:xfrm>
            <a:off x="749808" y="3584448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Фискализация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3200400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73552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Онлайн-ККТ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315636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388788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Электронные чеки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430872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04024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Налоговая отчётность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546107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619259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Сертификация*</a:t>
            </a:r>
            <a:endParaRPr lang="en-US" sz="1100" dirty="0"/>
          </a:p>
        </p:txBody>
      </p:sp>
      <p:sp>
        <p:nvSpPr>
          <p:cNvPr id="42" name="a4_bg"/>
          <p:cNvSpPr/>
          <p:nvPr/>
        </p:nvSpPr>
        <p:spPr>
          <a:xfrm>
            <a:off x="548640" y="4325112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43" name="a4_lb"/>
          <p:cNvSpPr/>
          <p:nvPr/>
        </p:nvSpPr>
        <p:spPr>
          <a:xfrm>
            <a:off x="640080" y="4416552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44" name="a4_lt"/>
          <p:cNvSpPr txBox="1"/>
          <p:nvPr/>
        </p:nvSpPr>
        <p:spPr>
          <a:xfrm>
            <a:off x="749808" y="4416552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3200400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73552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и остатки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5315636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388788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430872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504024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Лояльность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46107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19259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</a:t>
            </a:r>
            <a:endParaRPr lang="en-US" sz="1100" dirty="0"/>
          </a:p>
        </p:txBody>
      </p:sp>
      <p:sp>
        <p:nvSpPr>
          <p:cNvPr id="53" name="a5_bg"/>
          <p:cNvSpPr/>
          <p:nvPr/>
        </p:nvSpPr>
        <p:spPr>
          <a:xfrm>
            <a:off x="548640" y="5157216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54" name="a5_lb"/>
          <p:cNvSpPr/>
          <p:nvPr/>
        </p:nvSpPr>
        <p:spPr>
          <a:xfrm>
            <a:off x="640080" y="5248656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55" name="a5_lt"/>
          <p:cNvSpPr txBox="1"/>
          <p:nvPr/>
        </p:nvSpPr>
        <p:spPr>
          <a:xfrm>
            <a:off x="749808" y="5248656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AI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3200400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73552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Дашборды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5315636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388788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спроса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7430872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7504024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9546107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619259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Отчёты владельцу</a:t>
            </a:r>
            <a:endParaRPr lang="en-US" sz="1100" dirty="0"/>
          </a:p>
        </p:txBody>
      </p:sp>
      <p:sp>
        <p:nvSpPr>
          <p:cNvPr id="64" name="Text 61"/>
          <p:cNvSpPr txBox="1"/>
          <p:nvPr/>
        </p:nvSpPr>
        <p:spPr>
          <a:xfrm>
            <a:off x="548640" y="601675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Соответствие фискальным требованиям РУз и сертификация решения — обязательное условие запуска, требует подтверждения.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20" grpId="0" animBg="1"/>
      <p:bldP spid="21" grpId="0" animBg="1"/>
      <p:bldP spid="22" grpId="0"/>
      <p:bldP spid="31" grpId="0" animBg="1"/>
      <p:bldP spid="32" grpId="0" animBg="1"/>
      <p:bldP spid="33" grpId="0"/>
      <p:bldP spid="42" grpId="0" animBg="1"/>
      <p:bldP spid="43" grpId="0" animBg="1"/>
      <p:bldP spid="44" grpId="0"/>
      <p:bldP spid="53" grpId="0" animBg="1"/>
      <p:bldP spid="54" grpId="0" animBg="1"/>
      <p:bldP spid="5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Разработка веб- и мобильных приложений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777240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Веб-платформы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Корпоративные порталы, личные кабинеты, маркетплейсы и B2B-сервисы.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3379394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3607994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722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3607994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приложения</a:t>
            </a:r>
            <a:endParaRPr lang="en-US" sz="1500" dirty="0"/>
          </a:p>
        </p:txBody>
      </p:sp>
      <p:sp>
        <p:nvSpPr>
          <p:cNvPr id="18" name="a2_d"/>
          <p:cNvSpPr txBox="1"/>
          <p:nvPr/>
        </p:nvSpPr>
        <p:spPr>
          <a:xfrm>
            <a:off x="3607994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iOS и Android: нативно и кроссплатформенно, с публикацией в сторах.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6210148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6438748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Mini Apps</a:t>
            </a:r>
            <a:endParaRPr lang="en-US" sz="1500" dirty="0"/>
          </a:p>
        </p:txBody>
      </p:sp>
      <p:sp>
        <p:nvSpPr>
          <p:cNvPr id="23" name="a3_d"/>
          <p:cNvSpPr txBox="1"/>
          <p:nvPr/>
        </p:nvSpPr>
        <p:spPr>
          <a:xfrm>
            <a:off x="6438748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Сервисы и игры внутри Telegram: оплата, авторизация, уведомления.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9040901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9269501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229" y="216712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9269501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PWA и лендинги</a:t>
            </a:r>
            <a:endParaRPr lang="en-US" sz="1500" dirty="0"/>
          </a:p>
        </p:txBody>
      </p:sp>
      <p:sp>
        <p:nvSpPr>
          <p:cNvPr id="28" name="a4_d"/>
          <p:cNvSpPr txBox="1"/>
          <p:nvPr/>
        </p:nvSpPr>
        <p:spPr>
          <a:xfrm>
            <a:off x="9269501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Быстрые веб-приложения для маркетинга и офлайн-сценариев.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стек (типовой)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48640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TypeScript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1618488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618488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React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2345436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2345436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Next.js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209544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3209544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Node.js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4073652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073652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869180" y="5120640"/>
            <a:ext cx="41148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869180" y="512064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5390388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5390388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Flutter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254496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6254496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Kotlin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7050024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050024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Swift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7776972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7776972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8846820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8846820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9573768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9573768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</a:t>
            </a:r>
            <a:endParaRPr lang="en-US" sz="950" dirty="0"/>
          </a:p>
        </p:txBody>
      </p:sp>
      <p:sp>
        <p:nvSpPr>
          <p:cNvPr id="54" name="Shape 47"/>
          <p:cNvSpPr/>
          <p:nvPr/>
        </p:nvSpPr>
        <p:spPr>
          <a:xfrm>
            <a:off x="10369296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10369296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56" name="Text 49"/>
          <p:cNvSpPr txBox="1"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выбирается под задачу клиента и требования к поддержке; перечень — ориентир, не ограничение.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datacenter-ais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Облачная инфраструктура: надёжность, безопасность, локализация данных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pnl"/>
          <p:cNvSpPr/>
          <p:nvPr/>
        </p:nvSpPr>
        <p:spPr>
          <a:xfrm>
            <a:off x="411480" y="1737360"/>
            <a:ext cx="5852160" cy="4251960"/>
          </a:xfrm>
          <a:prstGeom prst="roundRect">
            <a:avLst>
              <a:gd name="adj" fmla="val 2581"/>
            </a:avLst>
          </a:prstGeom>
          <a:solidFill>
            <a:srgbClr val="070B12">
              <a:alpha val="85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1_ibg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1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1995221"/>
            <a:ext cx="261518" cy="261518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234440" y="1856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Гибридное облако</a:t>
            </a:r>
            <a:endParaRPr lang="en-US" sz="1400" dirty="0"/>
          </a:p>
        </p:txBody>
      </p:sp>
      <p:sp>
        <p:nvSpPr>
          <p:cNvPr id="19" name="a1_d"/>
          <p:cNvSpPr txBox="1"/>
          <p:nvPr/>
        </p:nvSpPr>
        <p:spPr>
          <a:xfrm>
            <a:off x="1234440" y="216712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Локальные дата-центры для персональных данных + международные облака для глобальных сервисов</a:t>
            </a:r>
            <a:endParaRPr lang="en-US" sz="1150" dirty="0"/>
          </a:p>
        </p:txBody>
      </p:sp>
      <p:sp>
        <p:nvSpPr>
          <p:cNvPr id="20" name="a2_ibg"/>
          <p:cNvSpPr/>
          <p:nvPr/>
        </p:nvSpPr>
        <p:spPr>
          <a:xfrm>
            <a:off x="548640" y="2898648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2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3019349"/>
            <a:ext cx="261518" cy="261518"/>
          </a:xfrm>
          <a:prstGeom prst="rect">
            <a:avLst/>
          </a:prstGeom>
        </p:spPr>
      </p:pic>
      <p:sp>
        <p:nvSpPr>
          <p:cNvPr id="22" name="a2_t"/>
          <p:cNvSpPr txBox="1"/>
          <p:nvPr/>
        </p:nvSpPr>
        <p:spPr>
          <a:xfrm>
            <a:off x="1234440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DevOps и CI/CD</a:t>
            </a:r>
            <a:endParaRPr lang="en-US" sz="1400" dirty="0"/>
          </a:p>
        </p:txBody>
      </p:sp>
      <p:sp>
        <p:nvSpPr>
          <p:cNvPr id="23" name="a2_d"/>
          <p:cNvSpPr txBox="1"/>
          <p:nvPr/>
        </p:nvSpPr>
        <p:spPr>
          <a:xfrm>
            <a:off x="1234440" y="31912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сборка, тесты и выкладка; инфраструктура как код</a:t>
            </a:r>
            <a:endParaRPr lang="en-US" sz="1150" dirty="0"/>
          </a:p>
        </p:txBody>
      </p:sp>
      <p:sp>
        <p:nvSpPr>
          <p:cNvPr id="24" name="a3_ibg"/>
          <p:cNvSpPr/>
          <p:nvPr/>
        </p:nvSpPr>
        <p:spPr>
          <a:xfrm>
            <a:off x="548640" y="3922776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3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1" y="4043477"/>
            <a:ext cx="261518" cy="261518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234440" y="39044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Мониторинг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1234440" y="421538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Метрики, логи, алерты, дежурства по SLA</a:t>
            </a:r>
            <a:endParaRPr lang="en-US" sz="1150" dirty="0"/>
          </a:p>
        </p:txBody>
      </p:sp>
      <p:sp>
        <p:nvSpPr>
          <p:cNvPr id="28" name="a4_ibg"/>
          <p:cNvSpPr/>
          <p:nvPr/>
        </p:nvSpPr>
        <p:spPr>
          <a:xfrm>
            <a:off x="548640" y="4946904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9" name="a4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5067605"/>
            <a:ext cx="261518" cy="261518"/>
          </a:xfrm>
          <a:prstGeom prst="rect">
            <a:avLst/>
          </a:prstGeom>
        </p:spPr>
      </p:pic>
      <p:sp>
        <p:nvSpPr>
          <p:cNvPr id="30" name="a4_t"/>
          <p:cNvSpPr txBox="1"/>
          <p:nvPr/>
        </p:nvSpPr>
        <p:spPr>
          <a:xfrm>
            <a:off x="1234440" y="49286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400" dirty="0"/>
          </a:p>
        </p:txBody>
      </p:sp>
      <p:sp>
        <p:nvSpPr>
          <p:cNvPr id="31" name="a4_d"/>
          <p:cNvSpPr txBox="1"/>
          <p:nvPr/>
        </p:nvSpPr>
        <p:spPr>
          <a:xfrm>
            <a:off x="1234440" y="52395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Шифрование, управление доступом, резервные копии и аварийное восстановление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Интеграционные решения и API: связываем бизнес с экосистемой страны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981048" y="2103120"/>
            <a:ext cx="8229600" cy="3657600"/>
          </a:xfrm>
          <a:prstGeom prst="ellipse">
            <a:avLst/>
          </a:prstGeom>
          <a:ln w="12700">
            <a:solidFill>
              <a:srgbClr val="22304A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832708" y="2926080"/>
            <a:ext cx="4526280" cy="2011680"/>
          </a:xfrm>
          <a:prstGeom prst="ellipse">
            <a:avLst/>
          </a:prstGeom>
          <a:ln w="9525">
            <a:solidFill>
              <a:srgbClr val="1A26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6095848" y="2103120"/>
            <a:ext cx="914" cy="1828800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6095848" y="2638763"/>
            <a:ext cx="2909603" cy="1293157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95848" y="3931920"/>
            <a:ext cx="4114800" cy="914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95848" y="3931920"/>
            <a:ext cx="2909603" cy="1293157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95848" y="3931920"/>
            <a:ext cx="914" cy="1828800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3186245" y="3931920"/>
            <a:ext cx="2909603" cy="1293157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981048" y="3931920"/>
            <a:ext cx="4114800" cy="914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3186245" y="2638763"/>
            <a:ext cx="2909603" cy="1293157"/>
          </a:xfrm>
          <a:prstGeom prst="line">
            <a:avLst/>
          </a:prstGeom>
          <a:noFill/>
          <a:ln w="9525">
            <a:solidFill>
              <a:srgbClr val="26324A"/>
            </a:solidFill>
            <a:prstDash val="solid"/>
          </a:ln>
        </p:spPr>
      </p:sp>
      <p:sp>
        <p:nvSpPr>
          <p:cNvPr id="19" name="!!hubcore"/>
          <p:cNvSpPr/>
          <p:nvPr/>
        </p:nvSpPr>
        <p:spPr>
          <a:xfrm>
            <a:off x="4907128" y="3474720"/>
            <a:ext cx="2377440" cy="914400"/>
          </a:xfrm>
          <a:prstGeom prst="roundRect">
            <a:avLst>
              <a:gd name="adj" fmla="val 50000"/>
            </a:avLst>
          </a:prstGeom>
          <a:solidFill>
            <a:srgbClr val="0F2E22"/>
          </a:solidFill>
          <a:ln w="19050">
            <a:solidFill>
              <a:srgbClr val="1ED68A"/>
            </a:solidFill>
            <a:prstDash val="solid"/>
          </a:ln>
        </p:spPr>
      </p:sp>
      <p:pic>
        <p:nvPicPr>
          <p:cNvPr id="20" name="!!hublogo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3694176"/>
            <a:ext cx="1737360" cy="20764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9071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GATEWAY</a:t>
            </a:r>
            <a:endParaRPr lang="en-US" sz="950" dirty="0"/>
          </a:p>
        </p:txBody>
      </p:sp>
      <p:sp>
        <p:nvSpPr>
          <p:cNvPr id="22" name="a1_n"/>
          <p:cNvSpPr/>
          <p:nvPr/>
        </p:nvSpPr>
        <p:spPr>
          <a:xfrm>
            <a:off x="4975708" y="18013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23" name="a1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724" y="1956816"/>
            <a:ext cx="292608" cy="292608"/>
          </a:xfrm>
          <a:prstGeom prst="rect">
            <a:avLst/>
          </a:prstGeom>
        </p:spPr>
      </p:pic>
      <p:sp>
        <p:nvSpPr>
          <p:cNvPr id="24" name="a1_t"/>
          <p:cNvSpPr txBox="1"/>
          <p:nvPr/>
        </p:nvSpPr>
        <p:spPr>
          <a:xfrm>
            <a:off x="5469484" y="18562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Платёжные системы</a:t>
            </a:r>
            <a:endParaRPr lang="en-US" sz="1100" dirty="0"/>
          </a:p>
        </p:txBody>
      </p:sp>
      <p:sp>
        <p:nvSpPr>
          <p:cNvPr id="25" name="a1_s"/>
          <p:cNvSpPr txBox="1"/>
          <p:nvPr/>
        </p:nvSpPr>
        <p:spPr>
          <a:xfrm>
            <a:off x="5469484" y="21031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карты, QR, кошельки</a:t>
            </a:r>
            <a:endParaRPr lang="en-US" sz="900" dirty="0"/>
          </a:p>
        </p:txBody>
      </p:sp>
      <p:sp>
        <p:nvSpPr>
          <p:cNvPr id="26" name="a2_n"/>
          <p:cNvSpPr/>
          <p:nvPr/>
        </p:nvSpPr>
        <p:spPr>
          <a:xfrm>
            <a:off x="7885311" y="2337011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27" name="a2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327" y="2492459"/>
            <a:ext cx="292608" cy="292608"/>
          </a:xfrm>
          <a:prstGeom prst="rect">
            <a:avLst/>
          </a:prstGeom>
        </p:spPr>
      </p:pic>
      <p:sp>
        <p:nvSpPr>
          <p:cNvPr id="28" name="a2_t"/>
          <p:cNvSpPr txBox="1"/>
          <p:nvPr/>
        </p:nvSpPr>
        <p:spPr>
          <a:xfrm>
            <a:off x="8379087" y="2391875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Банки</a:t>
            </a:r>
            <a:endParaRPr lang="en-US" sz="1100" dirty="0"/>
          </a:p>
        </p:txBody>
      </p:sp>
      <p:sp>
        <p:nvSpPr>
          <p:cNvPr id="29" name="a2_s"/>
          <p:cNvSpPr txBox="1"/>
          <p:nvPr/>
        </p:nvSpPr>
        <p:spPr>
          <a:xfrm>
            <a:off x="8379087" y="2638763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выписки, эквайринг</a:t>
            </a:r>
            <a:endParaRPr lang="en-US" sz="900" dirty="0"/>
          </a:p>
        </p:txBody>
      </p:sp>
      <p:sp>
        <p:nvSpPr>
          <p:cNvPr id="30" name="a3_n"/>
          <p:cNvSpPr/>
          <p:nvPr/>
        </p:nvSpPr>
        <p:spPr>
          <a:xfrm>
            <a:off x="9090508" y="36301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31" name="a3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524" y="3785616"/>
            <a:ext cx="292608" cy="292608"/>
          </a:xfrm>
          <a:prstGeom prst="rect">
            <a:avLst/>
          </a:prstGeom>
        </p:spPr>
      </p:pic>
      <p:sp>
        <p:nvSpPr>
          <p:cNvPr id="32" name="a3_t"/>
          <p:cNvSpPr txBox="1"/>
          <p:nvPr/>
        </p:nvSpPr>
        <p:spPr>
          <a:xfrm>
            <a:off x="9584284" y="36850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Налоговые сервисы</a:t>
            </a:r>
            <a:endParaRPr lang="en-US" sz="1100" dirty="0"/>
          </a:p>
        </p:txBody>
      </p:sp>
      <p:sp>
        <p:nvSpPr>
          <p:cNvPr id="33" name="a3_s"/>
          <p:cNvSpPr txBox="1"/>
          <p:nvPr/>
        </p:nvSpPr>
        <p:spPr>
          <a:xfrm>
            <a:off x="9584284" y="39319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фискализация, отчёты</a:t>
            </a:r>
            <a:endParaRPr lang="en-US" sz="900" dirty="0"/>
          </a:p>
        </p:txBody>
      </p:sp>
      <p:sp>
        <p:nvSpPr>
          <p:cNvPr id="34" name="a4_n"/>
          <p:cNvSpPr/>
          <p:nvPr/>
        </p:nvSpPr>
        <p:spPr>
          <a:xfrm>
            <a:off x="7885311" y="4923325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35" name="a4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327" y="5078773"/>
            <a:ext cx="292608" cy="292608"/>
          </a:xfrm>
          <a:prstGeom prst="rect">
            <a:avLst/>
          </a:prstGeom>
        </p:spPr>
      </p:pic>
      <p:sp>
        <p:nvSpPr>
          <p:cNvPr id="36" name="a4_t"/>
          <p:cNvSpPr txBox="1"/>
          <p:nvPr/>
        </p:nvSpPr>
        <p:spPr>
          <a:xfrm>
            <a:off x="8379087" y="4978189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Маркетплейсы</a:t>
            </a:r>
            <a:endParaRPr lang="en-US" sz="1100" dirty="0"/>
          </a:p>
        </p:txBody>
      </p:sp>
      <p:sp>
        <p:nvSpPr>
          <p:cNvPr id="37" name="a4_s"/>
          <p:cNvSpPr txBox="1"/>
          <p:nvPr/>
        </p:nvSpPr>
        <p:spPr>
          <a:xfrm>
            <a:off x="8379087" y="5225077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 и остатки</a:t>
            </a:r>
            <a:endParaRPr lang="en-US" sz="900" dirty="0"/>
          </a:p>
        </p:txBody>
      </p:sp>
      <p:sp>
        <p:nvSpPr>
          <p:cNvPr id="38" name="a5_n"/>
          <p:cNvSpPr/>
          <p:nvPr/>
        </p:nvSpPr>
        <p:spPr>
          <a:xfrm>
            <a:off x="4975708" y="54589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3D8BFF"/>
            </a:solidFill>
            <a:prstDash val="solid"/>
          </a:ln>
        </p:spPr>
      </p:sp>
      <p:pic>
        <p:nvPicPr>
          <p:cNvPr id="39" name="a5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3724" y="5614416"/>
            <a:ext cx="292608" cy="292608"/>
          </a:xfrm>
          <a:prstGeom prst="rect">
            <a:avLst/>
          </a:prstGeom>
        </p:spPr>
      </p:pic>
      <p:sp>
        <p:nvSpPr>
          <p:cNvPr id="40" name="a5_t"/>
          <p:cNvSpPr txBox="1"/>
          <p:nvPr/>
        </p:nvSpPr>
        <p:spPr>
          <a:xfrm>
            <a:off x="5469484" y="55138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Bot API</a:t>
            </a:r>
            <a:endParaRPr lang="en-US" sz="1100" dirty="0"/>
          </a:p>
        </p:txBody>
      </p:sp>
      <p:sp>
        <p:nvSpPr>
          <p:cNvPr id="41" name="a5_s"/>
          <p:cNvSpPr txBox="1"/>
          <p:nvPr/>
        </p:nvSpPr>
        <p:spPr>
          <a:xfrm>
            <a:off x="5469484" y="57607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уведомления, Mini Apps</a:t>
            </a:r>
            <a:endParaRPr lang="en-US" sz="900" dirty="0"/>
          </a:p>
        </p:txBody>
      </p:sp>
      <p:sp>
        <p:nvSpPr>
          <p:cNvPr id="42" name="a6_n"/>
          <p:cNvSpPr/>
          <p:nvPr/>
        </p:nvSpPr>
        <p:spPr>
          <a:xfrm>
            <a:off x="2066105" y="4923325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43" name="a6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4121" y="5078773"/>
            <a:ext cx="292608" cy="292608"/>
          </a:xfrm>
          <a:prstGeom prst="rect">
            <a:avLst/>
          </a:prstGeom>
        </p:spPr>
      </p:pic>
      <p:sp>
        <p:nvSpPr>
          <p:cNvPr id="44" name="a6_t"/>
          <p:cNvSpPr txBox="1"/>
          <p:nvPr/>
        </p:nvSpPr>
        <p:spPr>
          <a:xfrm>
            <a:off x="2559881" y="4978189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Учётные системы</a:t>
            </a:r>
            <a:endParaRPr lang="en-US" sz="1100" dirty="0"/>
          </a:p>
        </p:txBody>
      </p:sp>
      <p:sp>
        <p:nvSpPr>
          <p:cNvPr id="45" name="a6_s"/>
          <p:cNvSpPr txBox="1"/>
          <p:nvPr/>
        </p:nvSpPr>
        <p:spPr>
          <a:xfrm>
            <a:off x="2559881" y="5225077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бухгалтерия, 1С и др.</a:t>
            </a:r>
            <a:endParaRPr lang="en-US" sz="900" dirty="0"/>
          </a:p>
        </p:txBody>
      </p:sp>
      <p:sp>
        <p:nvSpPr>
          <p:cNvPr id="46" name="a7_n"/>
          <p:cNvSpPr/>
          <p:nvPr/>
        </p:nvSpPr>
        <p:spPr>
          <a:xfrm>
            <a:off x="860908" y="36301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47" name="a7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8924" y="3785616"/>
            <a:ext cx="292608" cy="292608"/>
          </a:xfrm>
          <a:prstGeom prst="rect">
            <a:avLst/>
          </a:prstGeom>
        </p:spPr>
      </p:pic>
      <p:sp>
        <p:nvSpPr>
          <p:cNvPr id="48" name="a7_t"/>
          <p:cNvSpPr txBox="1"/>
          <p:nvPr/>
        </p:nvSpPr>
        <p:spPr>
          <a:xfrm>
            <a:off x="1354684" y="36850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Логистика</a:t>
            </a:r>
            <a:endParaRPr lang="en-US" sz="1100" dirty="0"/>
          </a:p>
        </p:txBody>
      </p:sp>
      <p:sp>
        <p:nvSpPr>
          <p:cNvPr id="49" name="a7_s"/>
          <p:cNvSpPr txBox="1"/>
          <p:nvPr/>
        </p:nvSpPr>
        <p:spPr>
          <a:xfrm>
            <a:off x="1354684" y="39319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доставка, трекинг</a:t>
            </a:r>
            <a:endParaRPr lang="en-US" sz="900" dirty="0"/>
          </a:p>
        </p:txBody>
      </p:sp>
      <p:sp>
        <p:nvSpPr>
          <p:cNvPr id="50" name="a8_n"/>
          <p:cNvSpPr/>
          <p:nvPr/>
        </p:nvSpPr>
        <p:spPr>
          <a:xfrm>
            <a:off x="2066105" y="2337011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pic>
        <p:nvPicPr>
          <p:cNvPr id="51" name="a8_i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4121" y="2492459"/>
            <a:ext cx="292608" cy="292608"/>
          </a:xfrm>
          <a:prstGeom prst="rect">
            <a:avLst/>
          </a:prstGeom>
        </p:spPr>
      </p:pic>
      <p:sp>
        <p:nvSpPr>
          <p:cNvPr id="52" name="a8_t"/>
          <p:cNvSpPr txBox="1"/>
          <p:nvPr/>
        </p:nvSpPr>
        <p:spPr>
          <a:xfrm>
            <a:off x="2559881" y="2391875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AI-сервисы</a:t>
            </a:r>
            <a:endParaRPr lang="en-US" sz="1100" dirty="0"/>
          </a:p>
        </p:txBody>
      </p:sp>
      <p:sp>
        <p:nvSpPr>
          <p:cNvPr id="53" name="a8_s"/>
          <p:cNvSpPr txBox="1"/>
          <p:nvPr/>
        </p:nvSpPr>
        <p:spPr>
          <a:xfrm>
            <a:off x="2559881" y="2638763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 и агенты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4" grpId="0"/>
      <p:bldP spid="25" grpId="0"/>
      <p:bldP spid="26" grpId="0" animBg="1"/>
      <p:bldP spid="28" grpId="0"/>
      <p:bldP spid="29" grpId="0"/>
      <p:bldP spid="30" grpId="0" animBg="1"/>
      <p:bldP spid="32" grpId="0"/>
      <p:bldP spid="33" grpId="0"/>
      <p:bldP spid="34" grpId="0" animBg="1"/>
      <p:bldP spid="36" grpId="0"/>
      <p:bldP spid="37" grpId="0"/>
      <p:bldP spid="38" grpId="0" animBg="1"/>
      <p:bldP spid="40" grpId="0"/>
      <p:bldP spid="41" grpId="0"/>
      <p:bldP spid="42" grpId="0" animBg="1"/>
      <p:bldP spid="44" grpId="0"/>
      <p:bldP spid="45" grpId="0"/>
      <p:bldP spid="46" grpId="0" animBg="1"/>
      <p:bldP spid="48" grpId="0"/>
      <p:bldP spid="49" grpId="0"/>
      <p:bldP spid="50" grpId="0" animBg="1"/>
      <p:bldP spid="52" grpId="0"/>
      <p:bldP spid="5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 коммерциализации IT-услуг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модель FootureX (Год 3): ставка $26/ч, полная стоимость FTE $16,5 тыс./год, загрузка 78%. Требует подтверждения финансовой моделью.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graphicFrame>
        <p:nvGraphicFramePr>
          <p:cNvPr id="3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645920"/>
                <a:gridCol w="123444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Логика цены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Маржинальность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Риск для компании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Применение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 &amp; Materials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Часы × ставка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Средняя, стабильная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Развитие систем, аутсорс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Фиксированная цена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Объём × оценка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 при точной оценке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с ясным ТЗ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Выделенная команда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FTE × месяц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Средняя, предсказуемая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Долгие продукты клиентов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Подписка (SaaS)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Тариф × месяц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 при масштабе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Пакеты для МСБ, AI-продукты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Сопровождение (SLA)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Абонентская плата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После внедрения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a2_ue"/>
          <p:cNvSpPr/>
          <p:nvPr/>
        </p:nvSpPr>
        <p:spPr>
          <a:xfrm>
            <a:off x="8412480" y="1828800"/>
            <a:ext cx="3227832" cy="406908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613648" y="19933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часа · Год 3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613648" y="2423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241280" y="2423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$26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613648" y="29900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 часа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241280" y="29900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8613648" y="3557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прибыль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0241280" y="35570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613648" y="412394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0241280" y="412394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9F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54%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8613648" y="4800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Чувствительность: −5 п.п. загрузки ≈ −4 п.п. маржи. Все значения — допущения.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 развития IT-направления: пять лет роста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 · IT SERVICES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Численность и выручка — допущения иллюстративной модели FootureX (см. главу X); требуют подтверждения бизнес-планом.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E3B55"/>
            </a:solidFill>
            <a:prstDash val="solid"/>
          </a:ln>
        </p:spPr>
      </p:sp>
      <p:sp>
        <p:nvSpPr>
          <p:cNvPr id="11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2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 1</a:t>
            </a:r>
            <a:endParaRPr lang="en-US" sz="1500" dirty="0"/>
          </a:p>
        </p:txBody>
      </p:sp>
      <p:sp>
        <p:nvSpPr>
          <p:cNvPr id="13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Ядро команды</a:t>
            </a:r>
            <a:endParaRPr lang="en-US" sz="1350" dirty="0"/>
          </a:p>
        </p:txBody>
      </p:sp>
      <p:sp>
        <p:nvSpPr>
          <p:cNvPr id="14" name="a1_x"/>
          <p:cNvSpPr txBox="1"/>
          <p:nvPr/>
        </p:nvSpPr>
        <p:spPr>
          <a:xfrm>
            <a:off x="548640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специалистов, 3–5 якорных клиентов в Ташкенте, первые ERP/CRM-внедрения.</a:t>
            </a:r>
            <a:endParaRPr lang="en-US" sz="1250" dirty="0"/>
          </a:p>
        </p:txBody>
      </p:sp>
      <p:sp>
        <p:nvSpPr>
          <p:cNvPr id="15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6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 2</a:t>
            </a:r>
            <a:endParaRPr lang="en-US" sz="1500" dirty="0"/>
          </a:p>
        </p:txBody>
      </p:sp>
      <p:sp>
        <p:nvSpPr>
          <p:cNvPr id="17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Пакеты для МСБ</a:t>
            </a:r>
            <a:endParaRPr lang="en-US" sz="1350" dirty="0"/>
          </a:p>
        </p:txBody>
      </p:sp>
      <p:sp>
        <p:nvSpPr>
          <p:cNvPr id="18" name="a2_x"/>
          <p:cNvSpPr txBox="1"/>
          <p:nvPr/>
        </p:nvSpPr>
        <p:spPr>
          <a:xfrm>
            <a:off x="3322244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 специалистов, отраслевые пакеты, POS-решение после сертификации.</a:t>
            </a:r>
            <a:endParaRPr lang="en-US" sz="1250" dirty="0"/>
          </a:p>
        </p:txBody>
      </p:sp>
      <p:sp>
        <p:nvSpPr>
          <p:cNvPr id="19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0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 3</a:t>
            </a:r>
            <a:endParaRPr lang="en-US" sz="1500" dirty="0"/>
          </a:p>
        </p:txBody>
      </p:sp>
      <p:sp>
        <p:nvSpPr>
          <p:cNvPr id="21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</a:t>
            </a:r>
            <a:endParaRPr lang="en-US" sz="1350" dirty="0"/>
          </a:p>
        </p:txBody>
      </p:sp>
      <p:sp>
        <p:nvSpPr>
          <p:cNvPr id="22" name="a3_x"/>
          <p:cNvSpPr txBox="1"/>
          <p:nvPr/>
        </p:nvSpPr>
        <p:spPr>
          <a:xfrm>
            <a:off x="6095848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 специалистов, клиенты в Центральной Азии и СНГ, статус экспортёра.</a:t>
            </a:r>
            <a:endParaRPr lang="en-US" sz="1250" dirty="0"/>
          </a:p>
        </p:txBody>
      </p:sp>
      <p:sp>
        <p:nvSpPr>
          <p:cNvPr id="23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4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4–5</a:t>
            </a:r>
            <a:endParaRPr lang="en-US" sz="1500" dirty="0"/>
          </a:p>
        </p:txBody>
      </p:sp>
      <p:sp>
        <p:nvSpPr>
          <p:cNvPr id="25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Продуктовая компания</a:t>
            </a:r>
            <a:endParaRPr lang="en-US" sz="1350" dirty="0"/>
          </a:p>
        </p:txBody>
      </p:sp>
      <p:sp>
        <p:nvSpPr>
          <p:cNvPr id="26" name="a4_x"/>
          <p:cNvSpPr txBox="1"/>
          <p:nvPr/>
        </p:nvSpPr>
        <p:spPr>
          <a:xfrm>
            <a:off x="8869451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40–55 специалистов, доля подписки и SLA растёт, вертикальные продукты.</a:t>
            </a:r>
            <a:endParaRPr lang="en-US" sz="1250" dirty="0"/>
          </a:p>
        </p:txBody>
      </p:sp>
      <p:sp>
        <p:nvSpPr>
          <p:cNvPr id="27" name="a1_card"/>
          <p:cNvSpPr/>
          <p:nvPr/>
        </p:nvSpPr>
        <p:spPr>
          <a:xfrm>
            <a:off x="548640" y="45720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a1_v"/>
          <p:cNvSpPr txBox="1"/>
          <p:nvPr/>
        </p:nvSpPr>
        <p:spPr>
          <a:xfrm>
            <a:off x="777240" y="477316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$0,22 млн</a:t>
            </a:r>
            <a:endParaRPr lang="en-US" sz="2200" dirty="0"/>
          </a:p>
        </p:txBody>
      </p:sp>
      <p:sp>
        <p:nvSpPr>
          <p:cNvPr id="29" name="a1_l"/>
          <p:cNvSpPr txBox="1"/>
          <p:nvPr/>
        </p:nvSpPr>
        <p:spPr>
          <a:xfrm>
            <a:off x="777240" y="5504688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IT-услуг, Год 1 (модель)</a:t>
            </a:r>
            <a:endParaRPr lang="en-US" sz="1250" dirty="0"/>
          </a:p>
        </p:txBody>
      </p:sp>
      <p:sp>
        <p:nvSpPr>
          <p:cNvPr id="30" name="a2_card"/>
          <p:cNvSpPr/>
          <p:nvPr/>
        </p:nvSpPr>
        <p:spPr>
          <a:xfrm>
            <a:off x="4338218" y="45720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a2_v"/>
          <p:cNvSpPr txBox="1"/>
          <p:nvPr/>
        </p:nvSpPr>
        <p:spPr>
          <a:xfrm>
            <a:off x="4566818" y="477316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$2,32 млн</a:t>
            </a:r>
            <a:endParaRPr lang="en-US" sz="2200" dirty="0"/>
          </a:p>
        </p:txBody>
      </p:sp>
      <p:sp>
        <p:nvSpPr>
          <p:cNvPr id="32" name="a2_l"/>
          <p:cNvSpPr txBox="1"/>
          <p:nvPr/>
        </p:nvSpPr>
        <p:spPr>
          <a:xfrm>
            <a:off x="4566818" y="5504688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IT-услуг, Год 5 (модель)</a:t>
            </a:r>
            <a:endParaRPr lang="en-US" sz="1250" dirty="0"/>
          </a:p>
        </p:txBody>
      </p:sp>
      <p:sp>
        <p:nvSpPr>
          <p:cNvPr id="33" name="a3_card"/>
          <p:cNvSpPr/>
          <p:nvPr/>
        </p:nvSpPr>
        <p:spPr>
          <a:xfrm>
            <a:off x="8127797" y="45720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4" name="a3_v"/>
          <p:cNvSpPr txBox="1"/>
          <p:nvPr/>
        </p:nvSpPr>
        <p:spPr>
          <a:xfrm>
            <a:off x="8356397" y="477316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55 FTE</a:t>
            </a:r>
            <a:endParaRPr lang="en-US" sz="2200" dirty="0"/>
          </a:p>
        </p:txBody>
      </p:sp>
      <p:sp>
        <p:nvSpPr>
          <p:cNvPr id="35" name="a3_l"/>
          <p:cNvSpPr txBox="1"/>
          <p:nvPr/>
        </p:nvSpPr>
        <p:spPr>
          <a:xfrm>
            <a:off x="8356397" y="5504688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IT-специалистов к Году 5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/>
      <p:bldP spid="14" grpId="0"/>
      <p:bldP spid="27" grpId="0" animBg="1"/>
      <p:bldP spid="28" grpId="0"/>
      <p:bldP spid="29" grpId="0"/>
      <p:bldP spid="15" grpId="0" animBg="1"/>
      <p:bldP spid="16" grpId="0"/>
      <p:bldP spid="17" grpId="0"/>
      <p:bldP spid="18" grpId="0"/>
      <p:bldP spid="30" grpId="0" animBg="1"/>
      <p:bldP spid="31" grpId="0"/>
      <p:bldP spid="32" grpId="0"/>
      <p:bldP spid="19" grpId="0" animBg="1"/>
      <p:bldP spid="20" grpId="0"/>
      <p:bldP spid="21" grpId="0"/>
      <p:bldP spid="22" grpId="0"/>
      <p:bldP spid="33" grpId="0" animBg="1"/>
      <p:bldP spid="34" grpId="0"/>
      <p:bldP spid="35" grpId="0"/>
      <p:bldP spid="23" grpId="0" animBg="1"/>
      <p:bldP spid="24" grpId="0"/>
      <p:bldP spid="25" grpId="0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ai-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0"/>
            <a:ext cx="12191695" cy="68580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AI — обзор направления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ИСКУССТВЕННЫЙ ИНТЕЛЛЕКТ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AI-агенты, интеллектуальная автоматизация и аналитика для бизнеса, игр, образования и спорта с ответственностью за результат.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Агенты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ассистенты и мультиагентные системы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ML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прогнозы и аналитика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SaaS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AI-продукты по подписке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Абстрактная 3D-визуализация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Роль искусственного интеллекта в бизнесе: где AI создаёт стоимость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 количественных оценок: McKinsey «The State of AI in 2025». Классификация функций — экспертная оценка FootureX.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1" name="a1_ibg"/>
          <p:cNvSpPr/>
          <p:nvPr/>
        </p:nvSpPr>
        <p:spPr>
          <a:xfrm>
            <a:off x="777240" y="2176272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2" name="a1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296973"/>
            <a:ext cx="261518" cy="261518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1463040" y="20299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Клиентский сервис</a:t>
            </a:r>
            <a:endParaRPr lang="en-US" sz="1400" dirty="0"/>
          </a:p>
        </p:txBody>
      </p:sp>
      <p:sp>
        <p:nvSpPr>
          <p:cNvPr id="14" name="a1_d"/>
          <p:cNvSpPr txBox="1"/>
          <p:nvPr/>
        </p:nvSpPr>
        <p:spPr>
          <a:xfrm>
            <a:off x="146304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Ответы 24/7, маршрутизация обращений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663440" y="20848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ответа</a:t>
            </a:r>
            <a:endParaRPr lang="en-US" sz="1300" dirty="0"/>
          </a:p>
        </p:txBody>
      </p:sp>
      <p:sp>
        <p:nvSpPr>
          <p:cNvPr id="17" name="a2_c"/>
          <p:cNvSpPr/>
          <p:nvPr/>
        </p:nvSpPr>
        <p:spPr>
          <a:xfrm>
            <a:off x="6185916" y="18288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8" name="a2_ibg"/>
          <p:cNvSpPr/>
          <p:nvPr/>
        </p:nvSpPr>
        <p:spPr>
          <a:xfrm>
            <a:off x="6414516" y="2176272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9" name="a2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217" y="2296973"/>
            <a:ext cx="261518" cy="261518"/>
          </a:xfrm>
          <a:prstGeom prst="rect">
            <a:avLst/>
          </a:prstGeom>
        </p:spPr>
      </p:pic>
      <p:sp>
        <p:nvSpPr>
          <p:cNvPr id="20" name="a2_t"/>
          <p:cNvSpPr txBox="1"/>
          <p:nvPr/>
        </p:nvSpPr>
        <p:spPr>
          <a:xfrm>
            <a:off x="7100316" y="20299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 и маркетинг</a:t>
            </a:r>
            <a:endParaRPr lang="en-US" sz="1400" dirty="0"/>
          </a:p>
        </p:txBody>
      </p:sp>
      <p:sp>
        <p:nvSpPr>
          <p:cNvPr id="21" name="a2_d"/>
          <p:cNvSpPr txBox="1"/>
          <p:nvPr/>
        </p:nvSpPr>
        <p:spPr>
          <a:xfrm>
            <a:off x="7100316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Квалификация лидов, персональные предложения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300716" y="20848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0026396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конверсия</a:t>
            </a:r>
            <a:endParaRPr lang="en-US" sz="1300" dirty="0"/>
          </a:p>
        </p:txBody>
      </p:sp>
      <p:sp>
        <p:nvSpPr>
          <p:cNvPr id="24" name="a3_c"/>
          <p:cNvSpPr/>
          <p:nvPr/>
        </p:nvSpPr>
        <p:spPr>
          <a:xfrm>
            <a:off x="548640" y="32004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3_ibg"/>
          <p:cNvSpPr/>
          <p:nvPr/>
        </p:nvSpPr>
        <p:spPr>
          <a:xfrm>
            <a:off x="777240" y="3547872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3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668573"/>
            <a:ext cx="261518" cy="261518"/>
          </a:xfrm>
          <a:prstGeom prst="rect">
            <a:avLst/>
          </a:prstGeom>
        </p:spPr>
      </p:pic>
      <p:sp>
        <p:nvSpPr>
          <p:cNvPr id="27" name="a3_t"/>
          <p:cNvSpPr txBox="1"/>
          <p:nvPr/>
        </p:nvSpPr>
        <p:spPr>
          <a:xfrm>
            <a:off x="1463040" y="34015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Документооборот</a:t>
            </a:r>
            <a:endParaRPr lang="en-US" sz="1400" dirty="0"/>
          </a:p>
        </p:txBody>
      </p:sp>
      <p:sp>
        <p:nvSpPr>
          <p:cNvPr id="28" name="a3_d"/>
          <p:cNvSpPr txBox="1"/>
          <p:nvPr/>
        </p:nvSpPr>
        <p:spPr>
          <a:xfrm>
            <a:off x="146304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Извлечение данных, проверка, шаблоны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4663440" y="3456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4389120" y="3703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трудозатраты</a:t>
            </a:r>
            <a:endParaRPr lang="en-US" sz="1300" dirty="0"/>
          </a:p>
        </p:txBody>
      </p:sp>
      <p:sp>
        <p:nvSpPr>
          <p:cNvPr id="31" name="a4_c"/>
          <p:cNvSpPr/>
          <p:nvPr/>
        </p:nvSpPr>
        <p:spPr>
          <a:xfrm>
            <a:off x="6185916" y="32004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2" name="a4_ibg"/>
          <p:cNvSpPr/>
          <p:nvPr/>
        </p:nvSpPr>
        <p:spPr>
          <a:xfrm>
            <a:off x="6414516" y="3547872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3" name="a4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217" y="3668573"/>
            <a:ext cx="261518" cy="261518"/>
          </a:xfrm>
          <a:prstGeom prst="rect">
            <a:avLst/>
          </a:prstGeom>
        </p:spPr>
      </p:pic>
      <p:sp>
        <p:nvSpPr>
          <p:cNvPr id="34" name="a4_t"/>
          <p:cNvSpPr txBox="1"/>
          <p:nvPr/>
        </p:nvSpPr>
        <p:spPr>
          <a:xfrm>
            <a:off x="7100316" y="34015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 и аналитика</a:t>
            </a:r>
            <a:endParaRPr lang="en-US" sz="1400" dirty="0"/>
          </a:p>
        </p:txBody>
      </p:sp>
      <p:sp>
        <p:nvSpPr>
          <p:cNvPr id="35" name="a4_d"/>
          <p:cNvSpPr txBox="1"/>
          <p:nvPr/>
        </p:nvSpPr>
        <p:spPr>
          <a:xfrm>
            <a:off x="7100316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Прогнозы, отчёты по запросу, аномалии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10300716" y="3456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10026396" y="3703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</a:t>
            </a:r>
            <a:endParaRPr lang="en-US" sz="1300" dirty="0"/>
          </a:p>
        </p:txBody>
      </p:sp>
      <p:sp>
        <p:nvSpPr>
          <p:cNvPr id="38" name="a5_c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9" name="a5_ibg"/>
          <p:cNvSpPr/>
          <p:nvPr/>
        </p:nvSpPr>
        <p:spPr>
          <a:xfrm>
            <a:off x="777240" y="4919472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40" name="a5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5040173"/>
            <a:ext cx="261518" cy="261518"/>
          </a:xfrm>
          <a:prstGeom prst="rect">
            <a:avLst/>
          </a:prstGeom>
        </p:spPr>
      </p:pic>
      <p:sp>
        <p:nvSpPr>
          <p:cNvPr id="41" name="a5_t"/>
          <p:cNvSpPr txBox="1"/>
          <p:nvPr/>
        </p:nvSpPr>
        <p:spPr>
          <a:xfrm>
            <a:off x="1463040" y="4773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Операции и склад</a:t>
            </a:r>
            <a:endParaRPr lang="en-US" sz="1400" dirty="0"/>
          </a:p>
        </p:txBody>
      </p:sp>
      <p:sp>
        <p:nvSpPr>
          <p:cNvPr id="42" name="a5_d"/>
          <p:cNvSpPr txBox="1"/>
          <p:nvPr/>
        </p:nvSpPr>
        <p:spPr>
          <a:xfrm>
            <a:off x="1463040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спроса, закупки, логистика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4663440" y="48280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4389120" y="5074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остатки</a:t>
            </a:r>
            <a:endParaRPr lang="en-US" sz="1300" dirty="0"/>
          </a:p>
        </p:txBody>
      </p:sp>
      <p:sp>
        <p:nvSpPr>
          <p:cNvPr id="45" name="a6_c"/>
          <p:cNvSpPr/>
          <p:nvPr/>
        </p:nvSpPr>
        <p:spPr>
          <a:xfrm>
            <a:off x="6185916" y="45720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46" name="a6_ibg"/>
          <p:cNvSpPr/>
          <p:nvPr/>
        </p:nvSpPr>
        <p:spPr>
          <a:xfrm>
            <a:off x="6414516" y="4919472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47" name="a6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5217" y="5040173"/>
            <a:ext cx="261518" cy="261518"/>
          </a:xfrm>
          <a:prstGeom prst="rect">
            <a:avLst/>
          </a:prstGeom>
        </p:spPr>
      </p:pic>
      <p:sp>
        <p:nvSpPr>
          <p:cNvPr id="48" name="a6_t"/>
          <p:cNvSpPr txBox="1"/>
          <p:nvPr/>
        </p:nvSpPr>
        <p:spPr>
          <a:xfrm>
            <a:off x="7100316" y="4773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 и обучение</a:t>
            </a:r>
            <a:endParaRPr lang="en-US" sz="1400" dirty="0"/>
          </a:p>
        </p:txBody>
      </p:sp>
      <p:sp>
        <p:nvSpPr>
          <p:cNvPr id="49" name="a6_d"/>
          <p:cNvSpPr txBox="1"/>
          <p:nvPr/>
        </p:nvSpPr>
        <p:spPr>
          <a:xfrm>
            <a:off x="7100316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Подбор, адаптация, базы знаний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10300716" y="48280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51" name="Text 42"/>
          <p:cNvSpPr txBox="1"/>
          <p:nvPr/>
        </p:nvSpPr>
        <p:spPr>
          <a:xfrm>
            <a:off x="10026396" y="5074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7" grpId="0" animBg="1"/>
      <p:bldP spid="18" grpId="0" animBg="1"/>
      <p:bldP spid="20" grpId="0"/>
      <p:bldP spid="21" grpId="0"/>
      <p:bldP spid="24" grpId="0" animBg="1"/>
      <p:bldP spid="25" grpId="0" animBg="1"/>
      <p:bldP spid="27" grpId="0"/>
      <p:bldP spid="28" grpId="0"/>
      <p:bldP spid="31" grpId="0" animBg="1"/>
      <p:bldP spid="32" grpId="0" animBg="1"/>
      <p:bldP spid="34" grpId="0"/>
      <p:bldP spid="35" grpId="0"/>
      <p:bldP spid="38" grpId="0" animBg="1"/>
      <p:bldP spid="39" grpId="0" animBg="1"/>
      <p:bldP spid="41" grpId="0"/>
      <p:bldP spid="42" grpId="0"/>
      <p:bldP spid="45" grpId="0" animBg="1"/>
      <p:bldP spid="46" grpId="0" animBg="1"/>
      <p:bldP spid="48" grpId="0"/>
      <p:bldP spid="4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AI-агенты и интеллектуальные ассистенты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поддержки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Отвечает клиентам в Telegram и на сайте, создаёт заявки, передаёт сложные случаи человеку.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продаж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Квалифицирует лиды, готовит КП, ведёт сделки в CRM и напоминает менеджерам.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документов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Читает договоры и счета, извлекает данные, проверяет по правилам.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аналитики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Отвечает на вопросы о бизнесе по данным ERP: продажи, остатки, долги.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1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HR-ассистент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 резюме, адаптация новых сотрудников, ответы по внутренним правилам.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Операционный агент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закупок, контроль сроков, уведомления о рисках в процессах.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Мультиагентная архитектура: оркестратор, агенты, инструменты, контроль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0" name="a1_lb"/>
          <p:cNvSpPr/>
          <p:nvPr/>
        </p:nvSpPr>
        <p:spPr>
          <a:xfrm>
            <a:off x="640080" y="192024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926080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109896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83048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Веб-кабинет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93712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66864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477527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50679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</a:t>
            </a:r>
            <a:endParaRPr lang="en-US" sz="1100" dirty="0"/>
          </a:p>
        </p:txBody>
      </p:sp>
      <p:sp>
        <p:nvSpPr>
          <p:cNvPr id="20" name="a2_bg"/>
          <p:cNvSpPr/>
          <p:nvPr/>
        </p:nvSpPr>
        <p:spPr>
          <a:xfrm>
            <a:off x="548640" y="2542032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1" name="a2_lb"/>
          <p:cNvSpPr/>
          <p:nvPr/>
        </p:nvSpPr>
        <p:spPr>
          <a:xfrm>
            <a:off x="640080" y="2633472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22" name="a2_lt"/>
          <p:cNvSpPr txBox="1"/>
          <p:nvPr/>
        </p:nvSpPr>
        <p:spPr>
          <a:xfrm>
            <a:off x="749808" y="2633472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2926080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99232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Планирование задач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09896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83048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Маршрутизация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293712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66864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Память контекста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477527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50679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Эскалация человеку</a:t>
            </a:r>
            <a:endParaRPr lang="en-US" sz="1100" dirty="0"/>
          </a:p>
        </p:txBody>
      </p:sp>
      <p:sp>
        <p:nvSpPr>
          <p:cNvPr id="31" name="a3_bg"/>
          <p:cNvSpPr/>
          <p:nvPr/>
        </p:nvSpPr>
        <p:spPr>
          <a:xfrm>
            <a:off x="548640" y="3255264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32" name="a3_lb"/>
          <p:cNvSpPr/>
          <p:nvPr/>
        </p:nvSpPr>
        <p:spPr>
          <a:xfrm>
            <a:off x="640080" y="3346704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33" name="a3_lt"/>
          <p:cNvSpPr txBox="1"/>
          <p:nvPr/>
        </p:nvSpPr>
        <p:spPr>
          <a:xfrm>
            <a:off x="749808" y="3346704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2926080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999232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673133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46285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Поддержка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20185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93337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167238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0390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914291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87443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Операции</a:t>
            </a:r>
            <a:endParaRPr lang="en-US" sz="1100" dirty="0"/>
          </a:p>
        </p:txBody>
      </p:sp>
      <p:sp>
        <p:nvSpPr>
          <p:cNvPr id="44" name="a4_bg"/>
          <p:cNvSpPr/>
          <p:nvPr/>
        </p:nvSpPr>
        <p:spPr>
          <a:xfrm>
            <a:off x="548640" y="3968496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45" name="a4_lb"/>
          <p:cNvSpPr/>
          <p:nvPr/>
        </p:nvSpPr>
        <p:spPr>
          <a:xfrm>
            <a:off x="640080" y="4059936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46" name="a4_lt"/>
          <p:cNvSpPr txBox="1"/>
          <p:nvPr/>
        </p:nvSpPr>
        <p:spPr>
          <a:xfrm>
            <a:off x="749808" y="4059936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Инструменты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2926080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99232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 / CRM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109896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183048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7293712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366864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Почта и календарь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9477527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550679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1100" dirty="0"/>
          </a:p>
        </p:txBody>
      </p:sp>
      <p:sp>
        <p:nvSpPr>
          <p:cNvPr id="55" name="a5_bg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56" name="a5_lb"/>
          <p:cNvSpPr/>
          <p:nvPr/>
        </p:nvSpPr>
        <p:spPr>
          <a:xfrm>
            <a:off x="640080" y="4773168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57" name="a5_lt"/>
          <p:cNvSpPr txBox="1"/>
          <p:nvPr/>
        </p:nvSpPr>
        <p:spPr>
          <a:xfrm>
            <a:off x="749808" y="4773168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Знания и данные</a:t>
            </a:r>
            <a:endParaRPr lang="en-US" sz="1250" dirty="0"/>
          </a:p>
        </p:txBody>
      </p:sp>
      <p:sp>
        <p:nvSpPr>
          <p:cNvPr id="58" name="Shape 55"/>
          <p:cNvSpPr/>
          <p:nvPr/>
        </p:nvSpPr>
        <p:spPr>
          <a:xfrm>
            <a:off x="2926080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999232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и поиск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109896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183048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Векторная БД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293712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366864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Хранилище данных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9477527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550679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Политики доступа</a:t>
            </a:r>
            <a:endParaRPr lang="en-US" sz="1100" dirty="0"/>
          </a:p>
        </p:txBody>
      </p:sp>
      <p:sp>
        <p:nvSpPr>
          <p:cNvPr id="66" name="a6_bg"/>
          <p:cNvSpPr/>
          <p:nvPr/>
        </p:nvSpPr>
        <p:spPr>
          <a:xfrm>
            <a:off x="548640" y="539496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67" name="a6_lb"/>
          <p:cNvSpPr/>
          <p:nvPr/>
        </p:nvSpPr>
        <p:spPr>
          <a:xfrm>
            <a:off x="640080" y="548640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FFF1D9"/>
          </a:solidFill>
          <a:ln w="12700">
            <a:solidFill>
              <a:srgbClr val="FFF1D9"/>
            </a:solidFill>
            <a:prstDash val="solid"/>
          </a:ln>
        </p:spPr>
      </p:sp>
      <p:sp>
        <p:nvSpPr>
          <p:cNvPr id="68" name="a6_lt"/>
          <p:cNvSpPr txBox="1"/>
          <p:nvPr/>
        </p:nvSpPr>
        <p:spPr>
          <a:xfrm>
            <a:off x="749808" y="548640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2926080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999232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действий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5109896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183048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 в контуре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293712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366864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 качества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9477527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550679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20" grpId="0" animBg="1"/>
      <p:bldP spid="21" grpId="0" animBg="1"/>
      <p:bldP spid="22" grpId="0"/>
      <p:bldP spid="31" grpId="0" animBg="1"/>
      <p:bldP spid="32" grpId="0" animBg="1"/>
      <p:bldP spid="33" grpId="0"/>
      <p:bldP spid="44" grpId="0" animBg="1"/>
      <p:bldP spid="45" grpId="0" animBg="1"/>
      <p:bldP spid="46" grpId="0"/>
      <p:bldP spid="55" grpId="0" animBg="1"/>
      <p:bldP spid="56" grpId="0" animBg="1"/>
      <p:bldP spid="57" grpId="0"/>
      <p:bldP spid="66" grpId="0" animBg="1"/>
      <p:bldP spid="67" grpId="0" animBg="1"/>
      <p:bldP spid="6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корпоративной автоматизации: пример мультиагентного контура продаж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pic>
        <p:nvPicPr>
          <p:cNvPr id="9" name="a1_ui" descr="/home/user/footurex-main/presentation/assets/ui/ai-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949440" cy="3378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321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850" dirty="0"/>
          </a:p>
        </p:txBody>
      </p:sp>
      <p:sp>
        <p:nvSpPr>
          <p:cNvPr id="11" name="a2_ins"/>
          <p:cNvSpPr/>
          <p:nvPr/>
        </p:nvSpPr>
        <p:spPr>
          <a:xfrm>
            <a:off x="7772400" y="1828800"/>
            <a:ext cx="3867912" cy="4069080"/>
          </a:xfrm>
          <a:prstGeom prst="roundRect">
            <a:avLst>
              <a:gd name="adj" fmla="val 283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01000" y="2029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работает контур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2432304"/>
            <a:ext cx="341071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Запрос менеджера в Telegram или веб-кабинете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 делит задачу между агентами склада, финансов и продаж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 работают через API ERP и CRM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Скидки и отправку КП подтверждает человек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Каждое действие фиксируется в журнале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игровой индустрии: от симуляции матча до LiveOps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Движок симуляции матча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Вероятностная модель матча на основе характеристик игроков, тактики и формы.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AI-соперники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Адаптивные соперники для одиночных режимов и тренировок с учётом уровня игрока.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Персонализация и LiveOps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Предложения, задания и события под сегмент игрока; A/B-тесты.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Античит и антифрод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Поиск аномалий в поведении, мультиаккаунтов и злоупотреблений на рынке.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1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Генерация контента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Описания игроков, новости лиги, комментарии к матчам — с проверкой редактором.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Поддержка игроков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 отвечает на вопросы в Telegram на узбекском, русском и английском.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stadium-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76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спортивной аналитики: данные вместо интуиции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dot"/>
          <p:cNvSpPr/>
          <p:nvPr/>
        </p:nvSpPr>
        <p:spPr>
          <a:xfrm>
            <a:off x="548640" y="205740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6" name="a1_num"/>
          <p:cNvSpPr txBox="1"/>
          <p:nvPr/>
        </p:nvSpPr>
        <p:spPr>
          <a:xfrm>
            <a:off x="5486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7" name="a1_ln"/>
          <p:cNvSpPr/>
          <p:nvPr/>
        </p:nvSpPr>
        <p:spPr>
          <a:xfrm>
            <a:off x="1207008" y="2340864"/>
            <a:ext cx="809244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8" name="a1_t"/>
          <p:cNvSpPr txBox="1"/>
          <p:nvPr/>
        </p:nvSpPr>
        <p:spPr>
          <a:xfrm>
            <a:off x="548640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Сбор данных</a:t>
            </a:r>
            <a:endParaRPr lang="en-US" sz="1300" dirty="0"/>
          </a:p>
        </p:txBody>
      </p:sp>
      <p:sp>
        <p:nvSpPr>
          <p:cNvPr id="19" name="a1_d"/>
          <p:cNvSpPr txBox="1"/>
          <p:nvPr/>
        </p:nvSpPr>
        <p:spPr>
          <a:xfrm>
            <a:off x="548640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Видео, события матча, GPS и пульс</a:t>
            </a:r>
            <a:endParaRPr lang="en-US" sz="1150" dirty="0"/>
          </a:p>
        </p:txBody>
      </p:sp>
      <p:sp>
        <p:nvSpPr>
          <p:cNvPr id="20" name="a2_dot"/>
          <p:cNvSpPr/>
          <p:nvPr/>
        </p:nvSpPr>
        <p:spPr>
          <a:xfrm>
            <a:off x="2107692" y="205740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1" name="a2_num"/>
          <p:cNvSpPr txBox="1"/>
          <p:nvPr/>
        </p:nvSpPr>
        <p:spPr>
          <a:xfrm>
            <a:off x="2107692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a2_ln"/>
          <p:cNvSpPr/>
          <p:nvPr/>
        </p:nvSpPr>
        <p:spPr>
          <a:xfrm>
            <a:off x="2766060" y="2340864"/>
            <a:ext cx="809244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3" name="a2_t"/>
          <p:cNvSpPr txBox="1"/>
          <p:nvPr/>
        </p:nvSpPr>
        <p:spPr>
          <a:xfrm>
            <a:off x="2107692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</a:t>
            </a:r>
            <a:endParaRPr lang="en-US" sz="1300" dirty="0"/>
          </a:p>
        </p:txBody>
      </p:sp>
      <p:sp>
        <p:nvSpPr>
          <p:cNvPr id="24" name="a2_d"/>
          <p:cNvSpPr txBox="1"/>
          <p:nvPr/>
        </p:nvSpPr>
        <p:spPr>
          <a:xfrm>
            <a:off x="2107692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Ожидаемые голы, нагрузка, риск травм</a:t>
            </a:r>
            <a:endParaRPr lang="en-US" sz="1150" dirty="0"/>
          </a:p>
        </p:txBody>
      </p:sp>
      <p:sp>
        <p:nvSpPr>
          <p:cNvPr id="25" name="a3_dot"/>
          <p:cNvSpPr/>
          <p:nvPr/>
        </p:nvSpPr>
        <p:spPr>
          <a:xfrm>
            <a:off x="3666744" y="205740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6" name="a3_num"/>
          <p:cNvSpPr txBox="1"/>
          <p:nvPr/>
        </p:nvSpPr>
        <p:spPr>
          <a:xfrm>
            <a:off x="366674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a3_ln"/>
          <p:cNvSpPr/>
          <p:nvPr/>
        </p:nvSpPr>
        <p:spPr>
          <a:xfrm>
            <a:off x="4325112" y="2340864"/>
            <a:ext cx="809244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8" name="a3_t"/>
          <p:cNvSpPr txBox="1"/>
          <p:nvPr/>
        </p:nvSpPr>
        <p:spPr>
          <a:xfrm>
            <a:off x="3666744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300" dirty="0"/>
          </a:p>
        </p:txBody>
      </p:sp>
      <p:sp>
        <p:nvSpPr>
          <p:cNvPr id="29" name="a3_d"/>
          <p:cNvSpPr txBox="1"/>
          <p:nvPr/>
        </p:nvSpPr>
        <p:spPr>
          <a:xfrm>
            <a:off x="3666744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Сравнение и поиск талантов</a:t>
            </a:r>
            <a:endParaRPr lang="en-US" sz="1150" dirty="0"/>
          </a:p>
        </p:txBody>
      </p:sp>
      <p:sp>
        <p:nvSpPr>
          <p:cNvPr id="30" name="a4_dot"/>
          <p:cNvSpPr/>
          <p:nvPr/>
        </p:nvSpPr>
        <p:spPr>
          <a:xfrm>
            <a:off x="5225796" y="205740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1" name="a4_num"/>
          <p:cNvSpPr txBox="1"/>
          <p:nvPr/>
        </p:nvSpPr>
        <p:spPr>
          <a:xfrm>
            <a:off x="522579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32" name="a4_t"/>
          <p:cNvSpPr txBox="1"/>
          <p:nvPr/>
        </p:nvSpPr>
        <p:spPr>
          <a:xfrm>
            <a:off x="5225796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Решения</a:t>
            </a:r>
            <a:endParaRPr lang="en-US" sz="1300" dirty="0"/>
          </a:p>
        </p:txBody>
      </p:sp>
      <p:sp>
        <p:nvSpPr>
          <p:cNvPr id="33" name="a4_d"/>
          <p:cNvSpPr txBox="1"/>
          <p:nvPr/>
        </p:nvSpPr>
        <p:spPr>
          <a:xfrm>
            <a:off x="5225796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Тренер получает рекомендации</a:t>
            </a:r>
            <a:endParaRPr lang="en-US" sz="1150" dirty="0"/>
          </a:p>
        </p:txBody>
      </p:sp>
      <p:sp>
        <p:nvSpPr>
          <p:cNvPr id="34" name="a5_p"/>
          <p:cNvSpPr/>
          <p:nvPr/>
        </p:nvSpPr>
        <p:spPr>
          <a:xfrm>
            <a:off x="548640" y="4206240"/>
            <a:ext cx="6035040" cy="1600200"/>
          </a:xfrm>
          <a:prstGeom prst="roundRect">
            <a:avLst>
              <a:gd name="adj" fmla="val 685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77724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 работы с данными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77240" y="470916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спортсменов, особенно несовершеннолетних, обрабатываются только с согласия родителей и в соответствии с законодательством о персональных данных. Модели помогают тренеру, но не заменяют его решение.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  <p:bldP spid="3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AI-продукты и SaaS-модель: повторяющаяся выручка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модель FootureX, Год 3. LTV = ARPA × валовая маржа / месячный отток; окупаемость CAC = CAC / (ARPA × маржа). Требует подтверждения.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49808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6B45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Start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468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$60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месяц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" y="3429000"/>
            <a:ext cx="1874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AI-ассистент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+ веб-виджет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 знаний до 500 документов</a:t>
            </a:r>
            <a:endParaRPr lang="en-US" sz="1150" dirty="0"/>
          </a:p>
        </p:txBody>
      </p:sp>
      <p:sp>
        <p:nvSpPr>
          <p:cNvPr id="15" name="a2_c"/>
          <p:cNvSpPr/>
          <p:nvPr/>
        </p:nvSpPr>
        <p:spPr>
          <a:xfrm>
            <a:off x="2944368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145536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Business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145536" y="2468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$180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3145536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месяц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3429000"/>
            <a:ext cx="1874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5 агентов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с CRM/ERP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отчёты</a:t>
            </a:r>
            <a:endParaRPr lang="en-US" sz="1150" dirty="0"/>
          </a:p>
        </p:txBody>
      </p:sp>
      <p:sp>
        <p:nvSpPr>
          <p:cNvPr id="20" name="a3_c"/>
          <p:cNvSpPr/>
          <p:nvPr/>
        </p:nvSpPr>
        <p:spPr>
          <a:xfrm>
            <a:off x="5340096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541264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6B45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541264" y="2468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 $1 000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5541264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месяц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541264" y="3429000"/>
            <a:ext cx="1874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Мультиагентный контур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Выделенная среда и SLA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и контроль доступа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925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Тарифы иллюстративны</a:t>
            </a:r>
            <a:endParaRPr lang="en-US" sz="950" dirty="0"/>
          </a:p>
        </p:txBody>
      </p:sp>
      <p:sp>
        <p:nvSpPr>
          <p:cNvPr id="26" name="a4_ue"/>
          <p:cNvSpPr/>
          <p:nvPr/>
        </p:nvSpPr>
        <p:spPr>
          <a:xfrm>
            <a:off x="7863840" y="1828800"/>
            <a:ext cx="3776472" cy="40690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092440" y="19933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SaaS · Год 3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8092440" y="24505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$4 608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784080" y="24505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 клиента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92440" y="327355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9F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5,1×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9784080" y="32735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 / CAC при CAC $900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092440" y="40965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7,8 мес.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784080" y="409651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окупаемость CAC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092440" y="491947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72%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9784080" y="4919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 SaaS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20" grpId="0" animBg="1"/>
      <p:bldP spid="2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Безопасность, управление данными и AI Governance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данных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Шифрование, разграничение доступа, хранение персональных данных граждан РУз в соответствии с законом.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 в контуре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Критичные решения агентов подтверждает ответственный сотрудник.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 качества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Тестовые наборы, метрики точности и регрессионные проверки перед выпуском.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и аудит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Каждое действие агента записывается и доступно для проверки.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1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 и прозрачность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 знает, что общается с AI; запрет на манипулятивные сценарии.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Ориентир — NIST AI RMF, ISO/IEC 42001 и 27001; сертификация — цель, не текущий статус.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Долгосрочная AI-стратегия: от услуг к платформе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 · ARTIFICIAL INTELLIGENCE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E3B55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1–2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AI-услуги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 внедрения агентов для клиентов IT-направления; накопление отраслевых решений.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3D8BFF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8B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2–4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AI-продукты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Тиражируемые SaaS-ассистенты для МСБ, образования и ритейла.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FFB547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B54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4–6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AI-платформа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Единая платформа агентов FootureX для игры, академии, клиентов и партнёров.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C9D3E3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3E3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6+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для спорта и города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Спортивная аналитика, цифровые сервисы стадиона, управление Smart City.</a:t>
            </a:r>
            <a:endParaRPr lang="en-US" sz="1250" dirty="0"/>
          </a:p>
        </p:txBody>
      </p:sp>
      <p:sp>
        <p:nvSpPr>
          <p:cNvPr id="26" name="a5_k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463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к Году 5 (модель): </a:t>
            </a:r>
            <a:pPr indent="0" marL="0">
              <a:buNone/>
            </a:pPr>
            <a:r>
              <a:rPr lang="en-US" sz="14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400 платящих SaaS-клиентов и 18 AI-проектов в год; выручка AI-направления ≈ $1,4 млн. Расчётный сценарий, требует подтверждения.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Development Studio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9" name="!!roman"/>
          <p:cNvSpPr txBox="1"/>
          <p:nvPr/>
        </p:nvSpPr>
        <p:spPr>
          <a:xfrm>
            <a:off x="5029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ИГР</a:t>
            </a:r>
            <a:endParaRPr lang="en-US" sz="1300" dirty="0"/>
          </a:p>
        </p:txBody>
      </p:sp>
      <p:sp>
        <p:nvSpPr>
          <p:cNvPr id="11" name="a1_lead"/>
          <p:cNvSpPr txBox="1"/>
          <p:nvPr/>
        </p:nvSpPr>
        <p:spPr>
          <a:xfrm>
            <a:off x="548640" y="36118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 создаёт собственные игры и выполняет разработку для сторонних заказчиков. Флагманский продукт — футбольный менеджер FootureX Game в Telegram.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Creating a Digital Football Era</a:t>
            </a:r>
            <a:endParaRPr lang="en-US" sz="1500" dirty="0"/>
          </a:p>
        </p:txBody>
      </p:sp>
      <p:pic>
        <p:nvPicPr>
          <p:cNvPr id="13" name="!!phoneA" descr="/home/user/footurex-main/presentation/assets/ui/game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783080"/>
            <a:ext cx="1987804" cy="4160520"/>
          </a:xfrm>
          <a:prstGeom prst="rect">
            <a:avLst/>
          </a:prstGeom>
        </p:spPr>
      </p:pic>
      <p:pic>
        <p:nvPicPr>
          <p:cNvPr id="14" name="!!phoneB" descr="/home/user/footurex-main/presentation/assets/ui/game-squ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2184400" cy="4572000"/>
          </a:xfrm>
          <a:prstGeom prst="rect">
            <a:avLst/>
          </a:prstGeom>
        </p:spPr>
      </p:pic>
      <p:pic>
        <p:nvPicPr>
          <p:cNvPr id="15" name="!!phoneC" descr="/home/user/footurex-main/presentation/assets/ui/game-play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1783080"/>
            <a:ext cx="1987804" cy="41605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Концепция игровой студии: четыре источника ценности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5440680" cy="1938528"/>
          </a:xfrm>
          <a:prstGeom prst="roundRect">
            <a:avLst>
              <a:gd name="adj" fmla="val 566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bg"/>
          <p:cNvSpPr/>
          <p:nvPr/>
        </p:nvSpPr>
        <p:spPr>
          <a:xfrm>
            <a:off x="804672" y="2103120"/>
            <a:ext cx="548640" cy="54864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234794"/>
            <a:ext cx="285293" cy="285293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554480" y="21214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Собственные игры (IP)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1554480" y="25146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и будущие проекты: капитализация бренда и повторяющаяся выручка.</a:t>
            </a:r>
            <a:endParaRPr lang="en-US" sz="1250" dirty="0"/>
          </a:p>
        </p:txBody>
      </p:sp>
      <p:sp>
        <p:nvSpPr>
          <p:cNvPr id="14" name="a1_v"/>
          <p:cNvSpPr txBox="1"/>
          <p:nvPr/>
        </p:nvSpPr>
        <p:spPr>
          <a:xfrm>
            <a:off x="155448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Ценность: капитализация</a:t>
            </a:r>
            <a:endParaRPr lang="en-US" sz="1150" dirty="0"/>
          </a:p>
        </p:txBody>
      </p:sp>
      <p:sp>
        <p:nvSpPr>
          <p:cNvPr id="15" name="a2_c"/>
          <p:cNvSpPr/>
          <p:nvPr/>
        </p:nvSpPr>
        <p:spPr>
          <a:xfrm>
            <a:off x="6185916" y="1828800"/>
            <a:ext cx="5440680" cy="1938528"/>
          </a:xfrm>
          <a:prstGeom prst="roundRect">
            <a:avLst>
              <a:gd name="adj" fmla="val 566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6441948" y="2103120"/>
            <a:ext cx="548640" cy="54864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2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622" y="2234794"/>
            <a:ext cx="285293" cy="285293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7191756" y="21214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на заказ</a:t>
            </a:r>
            <a:endParaRPr lang="en-US" sz="1500" dirty="0"/>
          </a:p>
        </p:txBody>
      </p:sp>
      <p:sp>
        <p:nvSpPr>
          <p:cNvPr id="19" name="a2_d"/>
          <p:cNvSpPr txBox="1"/>
          <p:nvPr/>
        </p:nvSpPr>
        <p:spPr>
          <a:xfrm>
            <a:off x="7191756" y="25146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 и игровые механики для брендов, банков, телекома и студий.</a:t>
            </a:r>
            <a:endParaRPr lang="en-US" sz="1250" dirty="0"/>
          </a:p>
        </p:txBody>
      </p:sp>
      <p:sp>
        <p:nvSpPr>
          <p:cNvPr id="20" name="a2_v"/>
          <p:cNvSpPr txBox="1"/>
          <p:nvPr/>
        </p:nvSpPr>
        <p:spPr>
          <a:xfrm>
            <a:off x="7191756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Ценность: денежный поток</a:t>
            </a:r>
            <a:endParaRPr lang="en-US" sz="1150" dirty="0"/>
          </a:p>
        </p:txBody>
      </p:sp>
      <p:sp>
        <p:nvSpPr>
          <p:cNvPr id="21" name="a3_c"/>
          <p:cNvSpPr/>
          <p:nvPr/>
        </p:nvSpPr>
        <p:spPr>
          <a:xfrm>
            <a:off x="548640" y="3950208"/>
            <a:ext cx="5440680" cy="1938528"/>
          </a:xfrm>
          <a:prstGeom prst="roundRect">
            <a:avLst>
              <a:gd name="adj" fmla="val 566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3_ibg"/>
          <p:cNvSpPr/>
          <p:nvPr/>
        </p:nvSpPr>
        <p:spPr>
          <a:xfrm>
            <a:off x="804672" y="4224528"/>
            <a:ext cx="548640" cy="54864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3" name="a3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6" y="4356202"/>
            <a:ext cx="285293" cy="285293"/>
          </a:xfrm>
          <a:prstGeom prst="rect">
            <a:avLst/>
          </a:prstGeom>
        </p:spPr>
      </p:pic>
      <p:sp>
        <p:nvSpPr>
          <p:cNvPr id="24" name="a3_t"/>
          <p:cNvSpPr txBox="1"/>
          <p:nvPr/>
        </p:nvSpPr>
        <p:spPr>
          <a:xfrm>
            <a:off x="1554480" y="42428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LiveOps как услуга</a:t>
            </a:r>
            <a:endParaRPr lang="en-US" sz="1500" dirty="0"/>
          </a:p>
        </p:txBody>
      </p:sp>
      <p:sp>
        <p:nvSpPr>
          <p:cNvPr id="25" name="a3_d"/>
          <p:cNvSpPr txBox="1"/>
          <p:nvPr/>
        </p:nvSpPr>
        <p:spPr>
          <a:xfrm>
            <a:off x="1554480" y="46360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Сопровождение, сезоны, аналитика и экономика для чужих проектов.</a:t>
            </a:r>
            <a:endParaRPr lang="en-US" sz="1250" dirty="0"/>
          </a:p>
        </p:txBody>
      </p:sp>
      <p:sp>
        <p:nvSpPr>
          <p:cNvPr id="26" name="a3_v"/>
          <p:cNvSpPr txBox="1"/>
          <p:nvPr/>
        </p:nvSpPr>
        <p:spPr>
          <a:xfrm>
            <a:off x="1554480" y="5367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Ценность: повторяющаяся выручка</a:t>
            </a:r>
            <a:endParaRPr lang="en-US" sz="1150" dirty="0"/>
          </a:p>
        </p:txBody>
      </p:sp>
      <p:sp>
        <p:nvSpPr>
          <p:cNvPr id="27" name="a4_c"/>
          <p:cNvSpPr/>
          <p:nvPr/>
        </p:nvSpPr>
        <p:spPr>
          <a:xfrm>
            <a:off x="6185916" y="3950208"/>
            <a:ext cx="5440680" cy="1938528"/>
          </a:xfrm>
          <a:prstGeom prst="roundRect">
            <a:avLst>
              <a:gd name="adj" fmla="val 566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a4_ibg"/>
          <p:cNvSpPr/>
          <p:nvPr/>
        </p:nvSpPr>
        <p:spPr>
          <a:xfrm>
            <a:off x="6441948" y="4224528"/>
            <a:ext cx="548640" cy="54864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9" name="a4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622" y="4356202"/>
            <a:ext cx="285293" cy="285293"/>
          </a:xfrm>
          <a:prstGeom prst="rect">
            <a:avLst/>
          </a:prstGeom>
        </p:spPr>
      </p:pic>
      <p:sp>
        <p:nvSpPr>
          <p:cNvPr id="30" name="a4_t"/>
          <p:cNvSpPr txBox="1"/>
          <p:nvPr/>
        </p:nvSpPr>
        <p:spPr>
          <a:xfrm>
            <a:off x="7191756" y="42428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Технологическая платформа</a:t>
            </a:r>
            <a:endParaRPr lang="en-US" sz="1500" dirty="0"/>
          </a:p>
        </p:txBody>
      </p:sp>
      <p:sp>
        <p:nvSpPr>
          <p:cNvPr id="31" name="a4_d"/>
          <p:cNvSpPr txBox="1"/>
          <p:nvPr/>
        </p:nvSpPr>
        <p:spPr>
          <a:xfrm>
            <a:off x="7191756" y="46360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Переиспользуемые модули: авторизация, платежи, рейтинги, турниры.</a:t>
            </a:r>
            <a:endParaRPr lang="en-US" sz="1250" dirty="0"/>
          </a:p>
        </p:txBody>
      </p:sp>
      <p:sp>
        <p:nvSpPr>
          <p:cNvPr id="32" name="a4_v"/>
          <p:cNvSpPr txBox="1"/>
          <p:nvPr/>
        </p:nvSpPr>
        <p:spPr>
          <a:xfrm>
            <a:off x="7191756" y="5367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Ценность: скорость и маржа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/>
      <p:bldP spid="15" grpId="0" animBg="1"/>
      <p:bldP spid="16" grpId="0" animBg="1"/>
      <p:bldP spid="18" grpId="0"/>
      <p:bldP spid="19" grpId="0"/>
      <p:bldP spid="20" grpId="0"/>
      <p:bldP spid="21" grpId="0" animBg="1"/>
      <p:bldP spid="22" grpId="0" animBg="1"/>
      <p:bldP spid="24" grpId="0"/>
      <p:bldP spid="25" grpId="0"/>
      <p:bldP spid="26" grpId="0"/>
      <p:bldP spid="27" grpId="0" animBg="1"/>
      <p:bldP spid="28" grpId="0" animBg="1"/>
      <p:bldP spid="30" grpId="0"/>
      <p:bldP spid="31" grpId="0"/>
      <p:bldP spid="3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Продуктовая стратегия GameDev: фокус, затем расширение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graphicFrame>
        <p:nvGraphicFramePr>
          <p:cNvPr id="44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2926080"/>
                <a:gridCol w="313639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Портфель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Условие перехода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1. Фокус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 (Telegram Web App)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Product-market fit в Узбекистане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Целевое удержание и платящие игроки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2. Регион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Локализация на языки Центральной Азии и СНГ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Рост аудитории и выручки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Окупаемость привлечения игроков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3. Портфель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Мини-игры и спин-оффы во вселенной FootureX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Перекрёстный трафик, ниже CAC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Платформа модулей готова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4. Сервис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Заказная разработка и LiveOps для партнёров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Стабильный денежный поток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Свободная мощность команды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5. Платформа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Лицензирование модулей турниров и экономики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Масштабируемая B2B-выручка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Подтверждённый спрос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Game: футбольный менеджер — основной игровой продукт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9" name="!!phoneA" descr="/home/user/footurex-main/presentation/assets/ui/game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2009648" cy="4206240"/>
          </a:xfrm>
          <a:prstGeom prst="rect">
            <a:avLst/>
          </a:prstGeom>
        </p:spPr>
      </p:pic>
      <p:pic>
        <p:nvPicPr>
          <p:cNvPr id="10" name="!!phoneB" descr="/home/user/footurex-main/presentation/assets/ui/game-leag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83080"/>
            <a:ext cx="2009648" cy="4206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6035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850" dirty="0"/>
          </a:p>
        </p:txBody>
      </p:sp>
      <p:sp>
        <p:nvSpPr>
          <p:cNvPr id="12" name="a1_ibg"/>
          <p:cNvSpPr/>
          <p:nvPr/>
        </p:nvSpPr>
        <p:spPr>
          <a:xfrm>
            <a:off x="5486400" y="1828800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3" name="a1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7101" y="1949501"/>
            <a:ext cx="261518" cy="261518"/>
          </a:xfrm>
          <a:prstGeom prst="rect">
            <a:avLst/>
          </a:prstGeom>
        </p:spPr>
      </p:pic>
      <p:sp>
        <p:nvSpPr>
          <p:cNvPr id="14" name="a1_t"/>
          <p:cNvSpPr txBox="1"/>
          <p:nvPr/>
        </p:nvSpPr>
        <p:spPr>
          <a:xfrm>
            <a:off x="6172200" y="181051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из Telegram</a:t>
            </a:r>
            <a:endParaRPr lang="en-US" sz="1450" dirty="0"/>
          </a:p>
        </p:txBody>
      </p:sp>
      <p:sp>
        <p:nvSpPr>
          <p:cNvPr id="15" name="a1_d"/>
          <p:cNvSpPr txBox="1"/>
          <p:nvPr/>
        </p:nvSpPr>
        <p:spPr>
          <a:xfrm>
            <a:off x="6172200" y="2130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установки и регистрации: аккаунт Telegram = аккаунт игрока.</a:t>
            </a:r>
            <a:endParaRPr lang="en-US" sz="1250" dirty="0"/>
          </a:p>
        </p:txBody>
      </p:sp>
      <p:sp>
        <p:nvSpPr>
          <p:cNvPr id="16" name="a2_ibg"/>
          <p:cNvSpPr/>
          <p:nvPr/>
        </p:nvSpPr>
        <p:spPr>
          <a:xfrm>
            <a:off x="5486400" y="2852928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2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7101" y="2973629"/>
            <a:ext cx="261518" cy="261518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6172200" y="2834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Свой клуб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6172200" y="31546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Название, состав, тактика, стадион и прогресс в лигах.</a:t>
            </a:r>
            <a:endParaRPr lang="en-US" sz="1250" dirty="0"/>
          </a:p>
        </p:txBody>
      </p:sp>
      <p:sp>
        <p:nvSpPr>
          <p:cNvPr id="20" name="a3_ibg"/>
          <p:cNvSpPr/>
          <p:nvPr/>
        </p:nvSpPr>
        <p:spPr>
          <a:xfrm>
            <a:off x="5486400" y="3877056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101" y="3997757"/>
            <a:ext cx="261518" cy="261518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6172200" y="38587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PvP и турниры</a:t>
            </a:r>
            <a:endParaRPr lang="en-US" sz="1450" dirty="0"/>
          </a:p>
        </p:txBody>
      </p:sp>
      <p:sp>
        <p:nvSpPr>
          <p:cNvPr id="23" name="a3_d"/>
          <p:cNvSpPr txBox="1"/>
          <p:nvPr/>
        </p:nvSpPr>
        <p:spPr>
          <a:xfrm>
            <a:off x="6172200" y="41788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Матчи против реальных соперников, недельные кубки и сезоны.</a:t>
            </a:r>
            <a:endParaRPr lang="en-US" sz="1250" dirty="0"/>
          </a:p>
        </p:txBody>
      </p:sp>
      <p:sp>
        <p:nvSpPr>
          <p:cNvPr id="24" name="a4_ibg"/>
          <p:cNvSpPr/>
          <p:nvPr/>
        </p:nvSpPr>
        <p:spPr>
          <a:xfrm>
            <a:off x="5486400" y="4901184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4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7101" y="5021885"/>
            <a:ext cx="261518" cy="261518"/>
          </a:xfrm>
          <a:prstGeom prst="rect">
            <a:avLst/>
          </a:prstGeom>
        </p:spPr>
      </p:pic>
      <p:sp>
        <p:nvSpPr>
          <p:cNvPr id="26" name="a4_t"/>
          <p:cNvSpPr txBox="1"/>
          <p:nvPr/>
        </p:nvSpPr>
        <p:spPr>
          <a:xfrm>
            <a:off x="6172200" y="48828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Честная экономика</a:t>
            </a:r>
            <a:endParaRPr lang="en-US" sz="1450" dirty="0"/>
          </a:p>
        </p:txBody>
      </p:sp>
      <p:sp>
        <p:nvSpPr>
          <p:cNvPr id="27" name="a4_d"/>
          <p:cNvSpPr txBox="1"/>
          <p:nvPr/>
        </p:nvSpPr>
        <p:spPr>
          <a:xfrm>
            <a:off x="6172200" y="520293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Прогресс за игру, покупки — ускорение и косметика, без вывода денег.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/>
      <p:bldP spid="15" grpId="0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 игрового приложения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0" name="a1_lb"/>
          <p:cNvSpPr/>
          <p:nvPr/>
        </p:nvSpPr>
        <p:spPr>
          <a:xfrm>
            <a:off x="640080" y="192024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926080" y="1956816"/>
            <a:ext cx="2802026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1956816"/>
            <a:ext cx="26557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37834" y="1956816"/>
            <a:ext cx="2802026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10986" y="1956816"/>
            <a:ext cx="26557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HTML5 / WebGL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49589" y="1956816"/>
            <a:ext cx="2802026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822741" y="1956816"/>
            <a:ext cx="26557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Локализация UZ / RU / EN</a:t>
            </a:r>
            <a:endParaRPr lang="en-US" sz="1100" dirty="0"/>
          </a:p>
        </p:txBody>
      </p:sp>
      <p:sp>
        <p:nvSpPr>
          <p:cNvPr id="18" name="a2_bg"/>
          <p:cNvSpPr/>
          <p:nvPr/>
        </p:nvSpPr>
        <p:spPr>
          <a:xfrm>
            <a:off x="548640" y="2542032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9" name="a2_lb"/>
          <p:cNvSpPr/>
          <p:nvPr/>
        </p:nvSpPr>
        <p:spPr>
          <a:xfrm>
            <a:off x="640080" y="2633472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20" name="a2_lt"/>
          <p:cNvSpPr txBox="1"/>
          <p:nvPr/>
        </p:nvSpPr>
        <p:spPr>
          <a:xfrm>
            <a:off x="749808" y="2633472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Шлюз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2926080" y="2670048"/>
            <a:ext cx="2802026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99232" y="2670048"/>
            <a:ext cx="26557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837834" y="2670048"/>
            <a:ext cx="2802026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10986" y="2670048"/>
            <a:ext cx="26557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Авторизация Telegram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49589" y="2670048"/>
            <a:ext cx="2802026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822741" y="2670048"/>
            <a:ext cx="26557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Лимиты и защита</a:t>
            </a:r>
            <a:endParaRPr lang="en-US" sz="1100" dirty="0"/>
          </a:p>
        </p:txBody>
      </p:sp>
      <p:sp>
        <p:nvSpPr>
          <p:cNvPr id="27" name="a3_bg"/>
          <p:cNvSpPr/>
          <p:nvPr/>
        </p:nvSpPr>
        <p:spPr>
          <a:xfrm>
            <a:off x="548640" y="3255264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8" name="a3_lb"/>
          <p:cNvSpPr/>
          <p:nvPr/>
        </p:nvSpPr>
        <p:spPr>
          <a:xfrm>
            <a:off x="640080" y="3346704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29" name="a3_lt"/>
          <p:cNvSpPr txBox="1"/>
          <p:nvPr/>
        </p:nvSpPr>
        <p:spPr>
          <a:xfrm>
            <a:off x="749808" y="3346704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Игровые сервисы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2926080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99232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Движок матча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673133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46285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Прогрессия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20185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93337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Экономика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167238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40390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Матчмейкинг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914291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987443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</a:t>
            </a:r>
            <a:endParaRPr lang="en-US" sz="1100" dirty="0"/>
          </a:p>
        </p:txBody>
      </p:sp>
      <p:sp>
        <p:nvSpPr>
          <p:cNvPr id="40" name="a4_bg"/>
          <p:cNvSpPr/>
          <p:nvPr/>
        </p:nvSpPr>
        <p:spPr>
          <a:xfrm>
            <a:off x="548640" y="3968496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41" name="a4_lb"/>
          <p:cNvSpPr/>
          <p:nvPr/>
        </p:nvSpPr>
        <p:spPr>
          <a:xfrm>
            <a:off x="640080" y="4059936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42" name="a4_lt"/>
          <p:cNvSpPr txBox="1"/>
          <p:nvPr/>
        </p:nvSpPr>
        <p:spPr>
          <a:xfrm>
            <a:off x="749808" y="4059936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2926080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99232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Транзакционная БД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109896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83048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Кэш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7293712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366864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События и аналитика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477527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50679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Хранилище</a:t>
            </a:r>
            <a:endParaRPr lang="en-US" sz="1100" dirty="0"/>
          </a:p>
        </p:txBody>
      </p:sp>
      <p:sp>
        <p:nvSpPr>
          <p:cNvPr id="51" name="a5_bg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52" name="a5_lb"/>
          <p:cNvSpPr/>
          <p:nvPr/>
        </p:nvSpPr>
        <p:spPr>
          <a:xfrm>
            <a:off x="640080" y="4773168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3F8EE"/>
          </a:solidFill>
          <a:ln w="12700">
            <a:solidFill>
              <a:srgbClr val="E3F8EE"/>
            </a:solidFill>
            <a:prstDash val="solid"/>
          </a:ln>
        </p:spPr>
      </p:sp>
      <p:sp>
        <p:nvSpPr>
          <p:cNvPr id="53" name="a5_lt"/>
          <p:cNvSpPr txBox="1"/>
          <p:nvPr/>
        </p:nvSpPr>
        <p:spPr>
          <a:xfrm>
            <a:off x="749808" y="4773168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</a:t>
            </a:r>
            <a:endParaRPr lang="en-US" sz="1250" dirty="0"/>
          </a:p>
        </p:txBody>
      </p:sp>
      <p:sp>
        <p:nvSpPr>
          <p:cNvPr id="54" name="Shape 51"/>
          <p:cNvSpPr/>
          <p:nvPr/>
        </p:nvSpPr>
        <p:spPr>
          <a:xfrm>
            <a:off x="2926080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99232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Bot API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5109896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183048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 Apps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7293712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366864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 в Telegram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9477527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550679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</a:t>
            </a:r>
            <a:endParaRPr lang="en-US" sz="1100" dirty="0"/>
          </a:p>
        </p:txBody>
      </p:sp>
      <p:sp>
        <p:nvSpPr>
          <p:cNvPr id="62" name="a6_bg"/>
          <p:cNvSpPr/>
          <p:nvPr/>
        </p:nvSpPr>
        <p:spPr>
          <a:xfrm>
            <a:off x="548640" y="539496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63" name="a6_lb"/>
          <p:cNvSpPr/>
          <p:nvPr/>
        </p:nvSpPr>
        <p:spPr>
          <a:xfrm>
            <a:off x="640080" y="548640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E7EEFB"/>
          </a:solidFill>
          <a:ln w="12700">
            <a:solidFill>
              <a:srgbClr val="E7EEFB"/>
            </a:solidFill>
            <a:prstDash val="solid"/>
          </a:ln>
        </p:spPr>
      </p:sp>
      <p:sp>
        <p:nvSpPr>
          <p:cNvPr id="64" name="a6_lt"/>
          <p:cNvSpPr txBox="1"/>
          <p:nvPr/>
        </p:nvSpPr>
        <p:spPr>
          <a:xfrm>
            <a:off x="749808" y="548640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F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Эксплуатация</a:t>
            </a:r>
            <a:endParaRPr lang="en-US" sz="1250" dirty="0"/>
          </a:p>
        </p:txBody>
      </p:sp>
      <p:sp>
        <p:nvSpPr>
          <p:cNvPr id="65" name="Shape 62"/>
          <p:cNvSpPr/>
          <p:nvPr/>
        </p:nvSpPr>
        <p:spPr>
          <a:xfrm>
            <a:off x="2926080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999232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Мониторинг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5109896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5183048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Античит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7293712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366864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9477527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F4F6FA"/>
          </a:solidFill>
          <a:ln w="6350">
            <a:solidFill>
              <a:srgbClr val="E1E6E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550679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Резервирование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8" grpId="0" animBg="1"/>
      <p:bldP spid="19" grpId="0" animBg="1"/>
      <p:bldP spid="20" grpId="0"/>
      <p:bldP spid="27" grpId="0" animBg="1"/>
      <p:bldP spid="28" grpId="0" animBg="1"/>
      <p:bldP spid="29" grpId="0"/>
      <p:bldP spid="40" grpId="0" animBg="1"/>
      <p:bldP spid="41" grpId="0" animBg="1"/>
      <p:bldP spid="42" grpId="0"/>
      <p:bldP spid="51" grpId="0" animBg="1"/>
      <p:bldP spid="52" grpId="0" animBg="1"/>
      <p:bldP spid="53" grpId="0"/>
      <p:bldP spid="62" grpId="0" animBg="1"/>
      <p:bldP spid="63" grpId="0" animBg="1"/>
      <p:bldP spid="6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Создание команды и управление составом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9" name="!!phoneA" descr="/home/user/footurex-main/presentation/assets/ui/game-squ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00200"/>
            <a:ext cx="2097024" cy="4389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0" y="6035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имена вымышлены</a:t>
            </a:r>
            <a:endParaRPr lang="en-US" sz="850" dirty="0"/>
          </a:p>
        </p:txBody>
      </p:sp>
      <p:sp>
        <p:nvSpPr>
          <p:cNvPr id="11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2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a1_ln"/>
          <p:cNvSpPr/>
          <p:nvPr/>
        </p:nvSpPr>
        <p:spPr>
          <a:xfrm>
            <a:off x="1207008" y="2386584"/>
            <a:ext cx="992124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4" name="a1_t"/>
          <p:cNvSpPr txBox="1"/>
          <p:nvPr/>
        </p:nvSpPr>
        <p:spPr>
          <a:xfrm>
            <a:off x="548640" y="2880360"/>
            <a:ext cx="14950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Стартовый клуб</a:t>
            </a:r>
            <a:endParaRPr lang="en-US" sz="1450" dirty="0"/>
          </a:p>
        </p:txBody>
      </p:sp>
      <p:sp>
        <p:nvSpPr>
          <p:cNvPr id="15" name="a1_d"/>
          <p:cNvSpPr txBox="1"/>
          <p:nvPr/>
        </p:nvSpPr>
        <p:spPr>
          <a:xfrm>
            <a:off x="548640" y="3493008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Название, эмблема, стартовый состав.</a:t>
            </a:r>
            <a:endParaRPr lang="en-US" sz="1200" dirty="0"/>
          </a:p>
        </p:txBody>
      </p:sp>
      <p:sp>
        <p:nvSpPr>
          <p:cNvPr id="16" name="a2_dot"/>
          <p:cNvSpPr/>
          <p:nvPr/>
        </p:nvSpPr>
        <p:spPr>
          <a:xfrm>
            <a:off x="2290572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7" name="a2_num"/>
          <p:cNvSpPr txBox="1"/>
          <p:nvPr/>
        </p:nvSpPr>
        <p:spPr>
          <a:xfrm>
            <a:off x="229057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a2_ln"/>
          <p:cNvSpPr/>
          <p:nvPr/>
        </p:nvSpPr>
        <p:spPr>
          <a:xfrm>
            <a:off x="2948940" y="2386584"/>
            <a:ext cx="992124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9" name="a2_t"/>
          <p:cNvSpPr txBox="1"/>
          <p:nvPr/>
        </p:nvSpPr>
        <p:spPr>
          <a:xfrm>
            <a:off x="2290572" y="2880360"/>
            <a:ext cx="14950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</a:t>
            </a:r>
            <a:endParaRPr lang="en-US" sz="1450" dirty="0"/>
          </a:p>
        </p:txBody>
      </p:sp>
      <p:sp>
        <p:nvSpPr>
          <p:cNvPr id="20" name="a2_d"/>
          <p:cNvSpPr txBox="1"/>
          <p:nvPr/>
        </p:nvSpPr>
        <p:spPr>
          <a:xfrm>
            <a:off x="2290572" y="3493008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Выбор расстановки и ролей.</a:t>
            </a:r>
            <a:endParaRPr lang="en-US" sz="1200" dirty="0"/>
          </a:p>
        </p:txBody>
      </p:sp>
      <p:sp>
        <p:nvSpPr>
          <p:cNvPr id="21" name="a3_dot"/>
          <p:cNvSpPr/>
          <p:nvPr/>
        </p:nvSpPr>
        <p:spPr>
          <a:xfrm>
            <a:off x="4032504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2" name="a3_num"/>
          <p:cNvSpPr txBox="1"/>
          <p:nvPr/>
        </p:nvSpPr>
        <p:spPr>
          <a:xfrm>
            <a:off x="403250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a3_ln"/>
          <p:cNvSpPr/>
          <p:nvPr/>
        </p:nvSpPr>
        <p:spPr>
          <a:xfrm>
            <a:off x="4690872" y="2386584"/>
            <a:ext cx="992124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4" name="a3_t"/>
          <p:cNvSpPr txBox="1"/>
          <p:nvPr/>
        </p:nvSpPr>
        <p:spPr>
          <a:xfrm>
            <a:off x="4032504" y="2880360"/>
            <a:ext cx="14950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Химия</a:t>
            </a:r>
            <a:endParaRPr lang="en-US" sz="1450" dirty="0"/>
          </a:p>
        </p:txBody>
      </p:sp>
      <p:sp>
        <p:nvSpPr>
          <p:cNvPr id="25" name="a3_d"/>
          <p:cNvSpPr txBox="1"/>
          <p:nvPr/>
        </p:nvSpPr>
        <p:spPr>
          <a:xfrm>
            <a:off x="4032504" y="3493008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Бонус за сыгранные сочетания.</a:t>
            </a:r>
            <a:endParaRPr lang="en-US" sz="1200" dirty="0"/>
          </a:p>
        </p:txBody>
      </p:sp>
      <p:sp>
        <p:nvSpPr>
          <p:cNvPr id="26" name="a4_dot"/>
          <p:cNvSpPr/>
          <p:nvPr/>
        </p:nvSpPr>
        <p:spPr>
          <a:xfrm>
            <a:off x="5774436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7" name="a4_num"/>
          <p:cNvSpPr txBox="1"/>
          <p:nvPr/>
        </p:nvSpPr>
        <p:spPr>
          <a:xfrm>
            <a:off x="57744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a4_t"/>
          <p:cNvSpPr txBox="1"/>
          <p:nvPr/>
        </p:nvSpPr>
        <p:spPr>
          <a:xfrm>
            <a:off x="5774436" y="2880360"/>
            <a:ext cx="14950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Ротация</a:t>
            </a:r>
            <a:endParaRPr lang="en-US" sz="1450" dirty="0"/>
          </a:p>
        </p:txBody>
      </p:sp>
      <p:sp>
        <p:nvSpPr>
          <p:cNvPr id="29" name="a4_d"/>
          <p:cNvSpPr txBox="1"/>
          <p:nvPr/>
        </p:nvSpPr>
        <p:spPr>
          <a:xfrm>
            <a:off x="5774436" y="3493008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Усталость и форма игроков.</a:t>
            </a:r>
            <a:endParaRPr lang="en-US" sz="1200" dirty="0"/>
          </a:p>
        </p:txBody>
      </p:sp>
      <p:sp>
        <p:nvSpPr>
          <p:cNvPr id="30" name="a5_c"/>
          <p:cNvSpPr/>
          <p:nvPr/>
        </p:nvSpPr>
        <p:spPr>
          <a:xfrm>
            <a:off x="548640" y="4206240"/>
            <a:ext cx="6766560" cy="1691640"/>
          </a:xfrm>
          <a:prstGeom prst="roundRect">
            <a:avLst>
              <a:gd name="adj" fmla="val 64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2960" y="43891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Решения игрока важнее «силы» состава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822960" y="4773168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построен так, чтобы правильная тактика и ротация позволяли обыгрывать более «дорогие» составы — это ключ к честному PvP.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/>
      <p:bldP spid="18" grpId="0" animBg="1"/>
      <p:bldP spid="19" grpId="0"/>
      <p:bldP spid="20" grpId="0"/>
      <p:bldP spid="21" grpId="0" animBg="1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/>
      <p:bldP spid="3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футболистов и игровые характеристики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9" name="!!phoneA" descr="/home/user/footurex-main/presentation/assets/ui/game-p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2097024" cy="4389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6035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имена вымышлены</a:t>
            </a:r>
            <a:endParaRPr lang="en-US" sz="85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3108960" y="1783080"/>
          <a:ext cx="42062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a2_ins"/>
          <p:cNvSpPr/>
          <p:nvPr/>
        </p:nvSpPr>
        <p:spPr>
          <a:xfrm>
            <a:off x="7589520" y="1783080"/>
            <a:ext cx="4050792" cy="4114800"/>
          </a:xfrm>
          <a:prstGeom prst="roundRect">
            <a:avLst>
              <a:gd name="adj" fmla="val 2709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818120" y="1984248"/>
            <a:ext cx="3593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 роста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818120" y="2386584"/>
            <a:ext cx="359359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Тренировки с выбором фокуса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Опыт официальных матчей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Возраст: пик формы 24–29 лет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Потенциал ограничивает максимальный рост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Воспитанники академии клуба — редкие таланты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  <p:bldP spid="1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Лиги, PvP и турниры: соревновательная структура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9" name="!!phoneA" descr="/home/user/footurex-main/presentation/assets/ui/game-lea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600200"/>
            <a:ext cx="2097024" cy="4389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6035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названия вымышлены</a:t>
            </a:r>
            <a:endParaRPr lang="en-US" sz="850" dirty="0"/>
          </a:p>
        </p:txBody>
      </p:sp>
      <p:sp>
        <p:nvSpPr>
          <p:cNvPr id="11" name="a1_d"/>
          <p:cNvSpPr/>
          <p:nvPr/>
        </p:nvSpPr>
        <p:spPr>
          <a:xfrm>
            <a:off x="2560320" y="1828800"/>
            <a:ext cx="3657600" cy="658368"/>
          </a:xfrm>
          <a:prstGeom prst="roundRect">
            <a:avLst>
              <a:gd name="adj" fmla="val 13889"/>
            </a:avLst>
          </a:prstGeom>
          <a:solidFill>
            <a:srgbClr val="0E1521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2" name="a1_t"/>
          <p:cNvSpPr txBox="1"/>
          <p:nvPr/>
        </p:nvSpPr>
        <p:spPr>
          <a:xfrm>
            <a:off x="278892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Элита</a:t>
            </a:r>
            <a:endParaRPr lang="en-US" sz="1400" dirty="0"/>
          </a:p>
        </p:txBody>
      </p:sp>
      <p:sp>
        <p:nvSpPr>
          <p:cNvPr id="13" name="a1_x"/>
          <p:cNvSpPr txBox="1"/>
          <p:nvPr/>
        </p:nvSpPr>
        <p:spPr>
          <a:xfrm>
            <a:off x="4297680" y="18288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киберспорт</a:t>
            </a:r>
            <a:endParaRPr lang="en-US" sz="1150" dirty="0"/>
          </a:p>
        </p:txBody>
      </p:sp>
      <p:sp>
        <p:nvSpPr>
          <p:cNvPr id="14" name="a2_d"/>
          <p:cNvSpPr/>
          <p:nvPr/>
        </p:nvSpPr>
        <p:spPr>
          <a:xfrm>
            <a:off x="2286000" y="2615184"/>
            <a:ext cx="4206240" cy="658368"/>
          </a:xfrm>
          <a:prstGeom prst="roundRect">
            <a:avLst>
              <a:gd name="adj" fmla="val 13889"/>
            </a:avLst>
          </a:prstGeom>
          <a:solidFill>
            <a:srgbClr val="0E1521"/>
          </a:solidFill>
          <a:ln w="15875">
            <a:solidFill>
              <a:srgbClr val="7FE3B5"/>
            </a:solidFill>
            <a:prstDash val="solid"/>
          </a:ln>
        </p:spPr>
      </p:sp>
      <p:sp>
        <p:nvSpPr>
          <p:cNvPr id="15" name="a2_t"/>
          <p:cNvSpPr txBox="1"/>
          <p:nvPr/>
        </p:nvSpPr>
        <p:spPr>
          <a:xfrm>
            <a:off x="2514600" y="2615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E3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Платина</a:t>
            </a:r>
            <a:endParaRPr lang="en-US" sz="1400" dirty="0"/>
          </a:p>
        </p:txBody>
      </p:sp>
      <p:sp>
        <p:nvSpPr>
          <p:cNvPr id="16" name="a2_x"/>
          <p:cNvSpPr txBox="1"/>
          <p:nvPr/>
        </p:nvSpPr>
        <p:spPr>
          <a:xfrm>
            <a:off x="4023360" y="26151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Повышение: топ-3</a:t>
            </a:r>
            <a:endParaRPr lang="en-US" sz="1150" dirty="0"/>
          </a:p>
        </p:txBody>
      </p:sp>
      <p:sp>
        <p:nvSpPr>
          <p:cNvPr id="17" name="a3_d"/>
          <p:cNvSpPr/>
          <p:nvPr/>
        </p:nvSpPr>
        <p:spPr>
          <a:xfrm>
            <a:off x="2011680" y="3401568"/>
            <a:ext cx="4754880" cy="658368"/>
          </a:xfrm>
          <a:prstGeom prst="roundRect">
            <a:avLst>
              <a:gd name="adj" fmla="val 13889"/>
            </a:avLst>
          </a:prstGeom>
          <a:solidFill>
            <a:srgbClr val="0E1521"/>
          </a:solidFill>
          <a:ln w="15875">
            <a:solidFill>
              <a:srgbClr val="3D8BFF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2240280" y="340156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Золото</a:t>
            </a:r>
            <a:endParaRPr lang="en-US" sz="1400" dirty="0"/>
          </a:p>
        </p:txBody>
      </p:sp>
      <p:sp>
        <p:nvSpPr>
          <p:cNvPr id="19" name="a3_x"/>
          <p:cNvSpPr txBox="1"/>
          <p:nvPr/>
        </p:nvSpPr>
        <p:spPr>
          <a:xfrm>
            <a:off x="3749040" y="340156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Повышение: топ-3</a:t>
            </a:r>
            <a:endParaRPr lang="en-US" sz="1150" dirty="0"/>
          </a:p>
        </p:txBody>
      </p:sp>
      <p:sp>
        <p:nvSpPr>
          <p:cNvPr id="20" name="a4_d"/>
          <p:cNvSpPr/>
          <p:nvPr/>
        </p:nvSpPr>
        <p:spPr>
          <a:xfrm>
            <a:off x="1737360" y="4187952"/>
            <a:ext cx="5303520" cy="658368"/>
          </a:xfrm>
          <a:prstGeom prst="roundRect">
            <a:avLst>
              <a:gd name="adj" fmla="val 13889"/>
            </a:avLst>
          </a:prstGeom>
          <a:solidFill>
            <a:srgbClr val="0E1521"/>
          </a:solidFill>
          <a:ln w="15875">
            <a:solidFill>
              <a:srgbClr val="7FB2FF"/>
            </a:solidFill>
            <a:prstDash val="solid"/>
          </a:ln>
        </p:spPr>
      </p:sp>
      <p:sp>
        <p:nvSpPr>
          <p:cNvPr id="21" name="a4_t"/>
          <p:cNvSpPr txBox="1"/>
          <p:nvPr/>
        </p:nvSpPr>
        <p:spPr>
          <a:xfrm>
            <a:off x="1965960" y="418795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B2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Серебро</a:t>
            </a:r>
            <a:endParaRPr lang="en-US" sz="1400" dirty="0"/>
          </a:p>
        </p:txBody>
      </p:sp>
      <p:sp>
        <p:nvSpPr>
          <p:cNvPr id="22" name="a4_x"/>
          <p:cNvSpPr txBox="1"/>
          <p:nvPr/>
        </p:nvSpPr>
        <p:spPr>
          <a:xfrm>
            <a:off x="3474720" y="418795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Повышение: топ-3</a:t>
            </a:r>
            <a:endParaRPr lang="en-US" sz="1150" dirty="0"/>
          </a:p>
        </p:txBody>
      </p:sp>
      <p:sp>
        <p:nvSpPr>
          <p:cNvPr id="23" name="a5_d"/>
          <p:cNvSpPr/>
          <p:nvPr/>
        </p:nvSpPr>
        <p:spPr>
          <a:xfrm>
            <a:off x="1463040" y="4974336"/>
            <a:ext cx="5852160" cy="658368"/>
          </a:xfrm>
          <a:prstGeom prst="roundRect">
            <a:avLst>
              <a:gd name="adj" fmla="val 13889"/>
            </a:avLst>
          </a:prstGeom>
          <a:solidFill>
            <a:srgbClr val="0E1521"/>
          </a:solidFill>
          <a:ln w="15875">
            <a:solidFill>
              <a:srgbClr val="C9D3E3"/>
            </a:solidFill>
            <a:prstDash val="solid"/>
          </a:ln>
        </p:spPr>
      </p:sp>
      <p:sp>
        <p:nvSpPr>
          <p:cNvPr id="24" name="a5_t"/>
          <p:cNvSpPr txBox="1"/>
          <p:nvPr/>
        </p:nvSpPr>
        <p:spPr>
          <a:xfrm>
            <a:off x="1691640" y="497433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Бронза</a:t>
            </a:r>
            <a:endParaRPr lang="en-US" sz="1400" dirty="0"/>
          </a:p>
        </p:txBody>
      </p:sp>
      <p:sp>
        <p:nvSpPr>
          <p:cNvPr id="25" name="a5_x"/>
          <p:cNvSpPr txBox="1"/>
          <p:nvPr/>
        </p:nvSpPr>
        <p:spPr>
          <a:xfrm>
            <a:off x="3200400" y="497433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 нового клуба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 — 6 недель · еженедельные кубки · рейтинг PvP · параметры проектные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Внутриигровая экономика: источники, стоки и строгое разделение валют и выручки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9" name="a1_src"/>
          <p:cNvSpPr/>
          <p:nvPr/>
        </p:nvSpPr>
        <p:spPr>
          <a:xfrm>
            <a:off x="548640" y="182880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9F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 FX Coins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4231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Победы в матчах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Задания дня и сезона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Призы турниров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Продажа игроков на рынке</a:t>
            </a:r>
            <a:endParaRPr lang="en-US" sz="1200" dirty="0"/>
          </a:p>
        </p:txBody>
      </p:sp>
      <p:sp>
        <p:nvSpPr>
          <p:cNvPr id="12" name="a2_core"/>
          <p:cNvSpPr/>
          <p:nvPr/>
        </p:nvSpPr>
        <p:spPr>
          <a:xfrm>
            <a:off x="4343400" y="2606040"/>
            <a:ext cx="3502152" cy="1188720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43400" y="269748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FX Coins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343400" y="320040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внутриигровая валюта · не деньги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977640" y="3200400"/>
            <a:ext cx="347472" cy="0"/>
          </a:xfrm>
          <a:prstGeom prst="line">
            <a:avLst/>
          </a:prstGeom>
          <a:noFill/>
          <a:ln w="25400">
            <a:solidFill>
              <a:srgbClr val="0E9F64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863840" y="3200400"/>
            <a:ext cx="347472" cy="0"/>
          </a:xfrm>
          <a:prstGeom prst="line">
            <a:avLst/>
          </a:prstGeom>
          <a:noFill/>
          <a:ln w="25400">
            <a:solidFill>
              <a:srgbClr val="C98A16"/>
            </a:solidFill>
            <a:prstDash val="solid"/>
            <a:tailEnd type="triangle"/>
          </a:ln>
        </p:spPr>
      </p:sp>
      <p:sp>
        <p:nvSpPr>
          <p:cNvPr id="17" name="a3_snk"/>
          <p:cNvSpPr/>
          <p:nvPr/>
        </p:nvSpPr>
        <p:spPr>
          <a:xfrm>
            <a:off x="8257032" y="182880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485632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Стоки FX Coins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85632" y="24231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Трансферы и комиссия рынка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Тренировки и восстановление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 стадиона и базы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Вступительные взносы турниров</a:t>
            </a:r>
            <a:endParaRPr lang="en-US" sz="1200" dirty="0"/>
          </a:p>
        </p:txBody>
      </p:sp>
      <p:sp>
        <p:nvSpPr>
          <p:cNvPr id="20" name="a4_rev"/>
          <p:cNvSpPr/>
          <p:nvPr/>
        </p:nvSpPr>
        <p:spPr>
          <a:xfrm>
            <a:off x="548640" y="480060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FFF8EA"/>
          </a:solidFill>
          <a:ln w="9525">
            <a:solidFill>
              <a:srgbClr val="F2C46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2960" y="480060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компании ≠ внутриигровая валюта. </a:t>
            </a:r>
            <a:pPr indent="0" marL="0">
              <a:buNone/>
            </a:pPr>
            <a:r>
              <a:rPr lang="en-US" sz="130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— только реальные платежи игроков за премиальные покупки и рекламные доходы. Обмен FX Coins на деньги не предусмотрен. Модель требует юридической проверки.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7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Marketplace и цифровые активы: торговля внутри игры по правилам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9" name="!!phoneA" descr="/home/user/footurex-main/presentation/assets/ui/game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2097024" cy="4389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6035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имена вымышлены</a:t>
            </a:r>
            <a:endParaRPr lang="en-US" sz="850" dirty="0"/>
          </a:p>
        </p:txBody>
      </p:sp>
      <p:sp>
        <p:nvSpPr>
          <p:cNvPr id="11" name="a1_card"/>
          <p:cNvSpPr/>
          <p:nvPr/>
        </p:nvSpPr>
        <p:spPr>
          <a:xfrm>
            <a:off x="3108960" y="1783080"/>
            <a:ext cx="4151376" cy="1943100"/>
          </a:xfrm>
          <a:prstGeom prst="roundRect">
            <a:avLst>
              <a:gd name="adj" fmla="val 564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2" name="a1_iconbg"/>
          <p:cNvSpPr/>
          <p:nvPr/>
        </p:nvSpPr>
        <p:spPr>
          <a:xfrm>
            <a:off x="3337560" y="201168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3" name="a1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121408"/>
            <a:ext cx="237744" cy="237744"/>
          </a:xfrm>
          <a:prstGeom prst="rect">
            <a:avLst/>
          </a:prstGeom>
        </p:spPr>
      </p:pic>
      <p:sp>
        <p:nvSpPr>
          <p:cNvPr id="14" name="a1_t"/>
          <p:cNvSpPr txBox="1"/>
          <p:nvPr/>
        </p:nvSpPr>
        <p:spPr>
          <a:xfrm>
            <a:off x="3931920" y="199339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FX Coins</a:t>
            </a:r>
            <a:endParaRPr lang="en-US" sz="1400" dirty="0"/>
          </a:p>
        </p:txBody>
      </p:sp>
      <p:sp>
        <p:nvSpPr>
          <p:cNvPr id="15" name="a1_d"/>
          <p:cNvSpPr txBox="1"/>
          <p:nvPr/>
        </p:nvSpPr>
        <p:spPr>
          <a:xfrm>
            <a:off x="3337560" y="2633472"/>
            <a:ext cx="3694176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Покупка и продажа игроков, экипировки и элементов стадиона — за внутриигровую валюту.</a:t>
            </a:r>
            <a:endParaRPr lang="en-US" sz="1250" dirty="0"/>
          </a:p>
        </p:txBody>
      </p:sp>
      <p:sp>
        <p:nvSpPr>
          <p:cNvPr id="16" name="a2_card"/>
          <p:cNvSpPr/>
          <p:nvPr/>
        </p:nvSpPr>
        <p:spPr>
          <a:xfrm>
            <a:off x="7488936" y="1783080"/>
            <a:ext cx="4151376" cy="1943100"/>
          </a:xfrm>
          <a:prstGeom prst="roundRect">
            <a:avLst>
              <a:gd name="adj" fmla="val 564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7717536" y="201168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8" name="a2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4" y="212140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8311896" y="199339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Комиссия рынка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7717536" y="2633472"/>
            <a:ext cx="3694176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Часть каждой сделки выводится из экономики — защита от инфляции.</a:t>
            </a:r>
            <a:endParaRPr lang="en-US" sz="1250" dirty="0"/>
          </a:p>
        </p:txBody>
      </p:sp>
      <p:sp>
        <p:nvSpPr>
          <p:cNvPr id="21" name="a3_card"/>
          <p:cNvSpPr/>
          <p:nvPr/>
        </p:nvSpPr>
        <p:spPr>
          <a:xfrm>
            <a:off x="3108960" y="3954780"/>
            <a:ext cx="4151376" cy="1943100"/>
          </a:xfrm>
          <a:prstGeom prst="roundRect">
            <a:avLst>
              <a:gd name="adj" fmla="val 564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3_iconbg"/>
          <p:cNvSpPr/>
          <p:nvPr/>
        </p:nvSpPr>
        <p:spPr>
          <a:xfrm>
            <a:off x="3337560" y="418338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3" name="a3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293108"/>
            <a:ext cx="237744" cy="237744"/>
          </a:xfrm>
          <a:prstGeom prst="rect">
            <a:avLst/>
          </a:prstGeom>
        </p:spPr>
      </p:pic>
      <p:sp>
        <p:nvSpPr>
          <p:cNvPr id="24" name="a3_t"/>
          <p:cNvSpPr txBox="1"/>
          <p:nvPr/>
        </p:nvSpPr>
        <p:spPr>
          <a:xfrm>
            <a:off x="3931920" y="416509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Антифрод</a:t>
            </a:r>
            <a:endParaRPr lang="en-US" sz="1400" dirty="0"/>
          </a:p>
        </p:txBody>
      </p:sp>
      <p:sp>
        <p:nvSpPr>
          <p:cNvPr id="25" name="a3_d"/>
          <p:cNvSpPr txBox="1"/>
          <p:nvPr/>
        </p:nvSpPr>
        <p:spPr>
          <a:xfrm>
            <a:off x="3337560" y="4805172"/>
            <a:ext cx="3694176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Ценовые коридоры, лимиты, поиск связанных аккаунтов.</a:t>
            </a:r>
            <a:endParaRPr lang="en-US" sz="1250" dirty="0"/>
          </a:p>
        </p:txBody>
      </p:sp>
      <p:sp>
        <p:nvSpPr>
          <p:cNvPr id="26" name="a4_card"/>
          <p:cNvSpPr/>
          <p:nvPr/>
        </p:nvSpPr>
        <p:spPr>
          <a:xfrm>
            <a:off x="7488936" y="3954780"/>
            <a:ext cx="4151376" cy="1943100"/>
          </a:xfrm>
          <a:prstGeom prst="roundRect">
            <a:avLst>
              <a:gd name="adj" fmla="val 564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a4_iconbg"/>
          <p:cNvSpPr/>
          <p:nvPr/>
        </p:nvSpPr>
        <p:spPr>
          <a:xfrm>
            <a:off x="7717536" y="418338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8" name="a4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4293108"/>
            <a:ext cx="237744" cy="237744"/>
          </a:xfrm>
          <a:prstGeom prst="rect">
            <a:avLst/>
          </a:prstGeom>
        </p:spPr>
      </p:pic>
      <p:sp>
        <p:nvSpPr>
          <p:cNvPr id="29" name="a4_t"/>
          <p:cNvSpPr txBox="1"/>
          <p:nvPr/>
        </p:nvSpPr>
        <p:spPr>
          <a:xfrm>
            <a:off x="8311896" y="416509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Правовой режим</a:t>
            </a:r>
            <a:endParaRPr lang="en-US" sz="1400" dirty="0"/>
          </a:p>
        </p:txBody>
      </p:sp>
      <p:sp>
        <p:nvSpPr>
          <p:cNvPr id="30" name="a4_d"/>
          <p:cNvSpPr txBox="1"/>
          <p:nvPr/>
        </p:nvSpPr>
        <p:spPr>
          <a:xfrm>
            <a:off x="7717536" y="4805172"/>
            <a:ext cx="3694176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предметы — лицензия на использование в игре. Требует юридического заключения.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/>
      <p:bldP spid="15" grpId="0"/>
      <p:bldP spid="16" grpId="0" animBg="1"/>
      <p:bldP spid="17" grpId="0" animBg="1"/>
      <p:bldP spid="19" grpId="0"/>
      <p:bldP spid="20" grpId="0"/>
      <p:bldP spid="21" grpId="0" animBg="1"/>
      <p:bldP spid="22" grpId="0" animBg="1"/>
      <p:bldP spid="24" grpId="0"/>
      <p:bldP spid="25" grpId="0"/>
      <p:bldP spid="26" grpId="0" animBg="1"/>
      <p:bldP spid="27" grpId="0" animBg="1"/>
      <p:bldP spid="29" grpId="0"/>
      <p:bldP spid="3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LiveOps, сезоны и удержание игроков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3D8B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9" name="!!phoneA" descr="/home/user/footurex-main/presentation/assets/ui/game-sea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600200"/>
            <a:ext cx="2097024" cy="4389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6035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850" dirty="0"/>
          </a:p>
        </p:txBody>
      </p:sp>
      <p:sp>
        <p:nvSpPr>
          <p:cNvPr id="11" name="a1_c"/>
          <p:cNvSpPr/>
          <p:nvPr/>
        </p:nvSpPr>
        <p:spPr>
          <a:xfrm>
            <a:off x="548640" y="1828800"/>
            <a:ext cx="7315200" cy="868680"/>
          </a:xfrm>
          <a:prstGeom prst="roundRect">
            <a:avLst>
              <a:gd name="adj" fmla="val 1263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2" name="a1_t"/>
          <p:cNvSpPr txBox="1"/>
          <p:nvPr/>
        </p:nvSpPr>
        <p:spPr>
          <a:xfrm>
            <a:off x="82296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День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3291840" y="182880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Задания дня, награды за вход, тренировка</a:t>
            </a:r>
            <a:endParaRPr lang="en-US" sz="1300" dirty="0"/>
          </a:p>
        </p:txBody>
      </p:sp>
      <p:sp>
        <p:nvSpPr>
          <p:cNvPr id="14" name="a2_c"/>
          <p:cNvSpPr/>
          <p:nvPr/>
        </p:nvSpPr>
        <p:spPr>
          <a:xfrm>
            <a:off x="548640" y="2852928"/>
            <a:ext cx="7315200" cy="868680"/>
          </a:xfrm>
          <a:prstGeom prst="roundRect">
            <a:avLst>
              <a:gd name="adj" fmla="val 1263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t"/>
          <p:cNvSpPr txBox="1"/>
          <p:nvPr/>
        </p:nvSpPr>
        <p:spPr>
          <a:xfrm>
            <a:off x="822960" y="285292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Неделя</a:t>
            </a:r>
            <a:endParaRPr lang="en-US" sz="1500" dirty="0"/>
          </a:p>
        </p:txBody>
      </p:sp>
      <p:sp>
        <p:nvSpPr>
          <p:cNvPr id="16" name="a2_d"/>
          <p:cNvSpPr txBox="1"/>
          <p:nvPr/>
        </p:nvSpPr>
        <p:spPr>
          <a:xfrm>
            <a:off x="3291840" y="2852928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Кубок выходного дня, рейтинг недели</a:t>
            </a:r>
            <a:endParaRPr lang="en-US" sz="1300" dirty="0"/>
          </a:p>
        </p:txBody>
      </p:sp>
      <p:sp>
        <p:nvSpPr>
          <p:cNvPr id="17" name="a3_c"/>
          <p:cNvSpPr/>
          <p:nvPr/>
        </p:nvSpPr>
        <p:spPr>
          <a:xfrm>
            <a:off x="548640" y="3877056"/>
            <a:ext cx="7315200" cy="868680"/>
          </a:xfrm>
          <a:prstGeom prst="roundRect">
            <a:avLst>
              <a:gd name="adj" fmla="val 1263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822960" y="3877056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 · 6 недель</a:t>
            </a:r>
            <a:endParaRPr lang="en-US" sz="1500" dirty="0"/>
          </a:p>
        </p:txBody>
      </p:sp>
      <p:sp>
        <p:nvSpPr>
          <p:cNvPr id="19" name="a3_d"/>
          <p:cNvSpPr txBox="1"/>
          <p:nvPr/>
        </p:nvSpPr>
        <p:spPr>
          <a:xfrm>
            <a:off x="3291840" y="3877056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Пропуск сезона, повышение и понижение в лигах</a:t>
            </a:r>
            <a:endParaRPr lang="en-US" sz="1300" dirty="0"/>
          </a:p>
        </p:txBody>
      </p:sp>
      <p:sp>
        <p:nvSpPr>
          <p:cNvPr id="20" name="a4_c"/>
          <p:cNvSpPr/>
          <p:nvPr/>
        </p:nvSpPr>
        <p:spPr>
          <a:xfrm>
            <a:off x="548640" y="4901184"/>
            <a:ext cx="7315200" cy="868680"/>
          </a:xfrm>
          <a:prstGeom prst="roundRect">
            <a:avLst>
              <a:gd name="adj" fmla="val 1263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1" name="a4_t"/>
          <p:cNvSpPr txBox="1"/>
          <p:nvPr/>
        </p:nvSpPr>
        <p:spPr>
          <a:xfrm>
            <a:off x="822960" y="490118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События</a:t>
            </a:r>
            <a:endParaRPr lang="en-US" sz="1500" dirty="0"/>
          </a:p>
        </p:txBody>
      </p:sp>
      <p:sp>
        <p:nvSpPr>
          <p:cNvPr id="22" name="a4_d"/>
          <p:cNvSpPr txBox="1"/>
          <p:nvPr/>
        </p:nvSpPr>
        <p:spPr>
          <a:xfrm>
            <a:off x="3291840" y="4901184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Дерби, праздники, реальные футбольные события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5925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метрики: D1 / D7 / D30 retention · DAU/MAU · доля платящих · ARPPU — цели утверждаются после soft launch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развития и выпуска игрового продукта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 · GAME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9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1ED68A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4130C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a1_ln"/>
          <p:cNvSpPr/>
          <p:nvPr/>
        </p:nvSpPr>
        <p:spPr>
          <a:xfrm>
            <a:off x="1207008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2" name="a1_t"/>
          <p:cNvSpPr txBox="1"/>
          <p:nvPr/>
        </p:nvSpPr>
        <p:spPr>
          <a:xfrm>
            <a:off x="548640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Прототип</a:t>
            </a:r>
            <a:endParaRPr lang="en-US" sz="1250" dirty="0"/>
          </a:p>
        </p:txBody>
      </p:sp>
      <p:sp>
        <p:nvSpPr>
          <p:cNvPr id="13" name="a1_d"/>
          <p:cNvSpPr txBox="1"/>
          <p:nvPr/>
        </p:nvSpPr>
        <p:spPr>
          <a:xfrm>
            <a:off x="548640" y="3493008"/>
            <a:ext cx="16357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Ядро: состав, матч, прогресс. Проверка интереса.</a:t>
            </a:r>
            <a:endParaRPr lang="en-US" sz="1250" dirty="0"/>
          </a:p>
        </p:txBody>
      </p:sp>
      <p:sp>
        <p:nvSpPr>
          <p:cNvPr id="14" name="a2_dot"/>
          <p:cNvSpPr/>
          <p:nvPr/>
        </p:nvSpPr>
        <p:spPr>
          <a:xfrm>
            <a:off x="2431237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243123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a2_ln"/>
          <p:cNvSpPr/>
          <p:nvPr/>
        </p:nvSpPr>
        <p:spPr>
          <a:xfrm>
            <a:off x="3089605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7" name="a2_t"/>
          <p:cNvSpPr txBox="1"/>
          <p:nvPr/>
        </p:nvSpPr>
        <p:spPr>
          <a:xfrm>
            <a:off x="2431237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Закрытая альфа</a:t>
            </a:r>
            <a:endParaRPr lang="en-US" sz="1250" dirty="0"/>
          </a:p>
        </p:txBody>
      </p:sp>
      <p:sp>
        <p:nvSpPr>
          <p:cNvPr id="18" name="a2_d"/>
          <p:cNvSpPr txBox="1"/>
          <p:nvPr/>
        </p:nvSpPr>
        <p:spPr>
          <a:xfrm>
            <a:off x="2431237" y="3493008"/>
            <a:ext cx="16357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Ограниченная группа, баланс экономики, стабильность.</a:t>
            </a:r>
            <a:endParaRPr lang="en-US" sz="1250" dirty="0"/>
          </a:p>
        </p:txBody>
      </p:sp>
      <p:sp>
        <p:nvSpPr>
          <p:cNvPr id="19" name="a3_dot"/>
          <p:cNvSpPr/>
          <p:nvPr/>
        </p:nvSpPr>
        <p:spPr>
          <a:xfrm>
            <a:off x="4313834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0" name="a3_num"/>
          <p:cNvSpPr txBox="1"/>
          <p:nvPr/>
        </p:nvSpPr>
        <p:spPr>
          <a:xfrm>
            <a:off x="431383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a3_ln"/>
          <p:cNvSpPr/>
          <p:nvPr/>
        </p:nvSpPr>
        <p:spPr>
          <a:xfrm>
            <a:off x="4972202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2" name="a3_t"/>
          <p:cNvSpPr txBox="1"/>
          <p:nvPr/>
        </p:nvSpPr>
        <p:spPr>
          <a:xfrm>
            <a:off x="4313834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launch · UZ</a:t>
            </a:r>
            <a:endParaRPr lang="en-US" sz="1250" dirty="0"/>
          </a:p>
        </p:txBody>
      </p:sp>
      <p:sp>
        <p:nvSpPr>
          <p:cNvPr id="23" name="a3_d"/>
          <p:cNvSpPr txBox="1"/>
          <p:nvPr/>
        </p:nvSpPr>
        <p:spPr>
          <a:xfrm>
            <a:off x="4313834" y="3493008"/>
            <a:ext cx="16357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Открытый запуск в Узбекистане, метрики удержания.</a:t>
            </a:r>
            <a:endParaRPr lang="en-US" sz="1250" dirty="0"/>
          </a:p>
        </p:txBody>
      </p:sp>
      <p:sp>
        <p:nvSpPr>
          <p:cNvPr id="24" name="a4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5" name="a4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a4_ln"/>
          <p:cNvSpPr/>
          <p:nvPr/>
        </p:nvSpPr>
        <p:spPr>
          <a:xfrm>
            <a:off x="6854800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7" name="a4_t"/>
          <p:cNvSpPr txBox="1"/>
          <p:nvPr/>
        </p:nvSpPr>
        <p:spPr>
          <a:xfrm>
            <a:off x="6196432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Центральная Азия</a:t>
            </a:r>
            <a:endParaRPr lang="en-US" sz="1250" dirty="0"/>
          </a:p>
        </p:txBody>
      </p:sp>
      <p:sp>
        <p:nvSpPr>
          <p:cNvPr id="28" name="a4_d"/>
          <p:cNvSpPr txBox="1"/>
          <p:nvPr/>
        </p:nvSpPr>
        <p:spPr>
          <a:xfrm>
            <a:off x="6196432" y="3493008"/>
            <a:ext cx="16357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Локализация, платежи, маркетинг в регионе.</a:t>
            </a:r>
            <a:endParaRPr lang="en-US" sz="1250" dirty="0"/>
          </a:p>
        </p:txBody>
      </p:sp>
      <p:sp>
        <p:nvSpPr>
          <p:cNvPr id="29" name="a5_dot"/>
          <p:cNvSpPr/>
          <p:nvPr/>
        </p:nvSpPr>
        <p:spPr>
          <a:xfrm>
            <a:off x="8079029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0" name="a5_num"/>
          <p:cNvSpPr txBox="1"/>
          <p:nvPr/>
        </p:nvSpPr>
        <p:spPr>
          <a:xfrm>
            <a:off x="8079029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a5_ln"/>
          <p:cNvSpPr/>
          <p:nvPr/>
        </p:nvSpPr>
        <p:spPr>
          <a:xfrm>
            <a:off x="8737397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32" name="a5_t"/>
          <p:cNvSpPr txBox="1"/>
          <p:nvPr/>
        </p:nvSpPr>
        <p:spPr>
          <a:xfrm>
            <a:off x="8079029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Сезоны и киберспорт</a:t>
            </a:r>
            <a:endParaRPr lang="en-US" sz="1250" dirty="0"/>
          </a:p>
        </p:txBody>
      </p:sp>
      <p:sp>
        <p:nvSpPr>
          <p:cNvPr id="33" name="a5_d"/>
          <p:cNvSpPr txBox="1"/>
          <p:nvPr/>
        </p:nvSpPr>
        <p:spPr>
          <a:xfrm>
            <a:off x="8079029" y="3493008"/>
            <a:ext cx="16357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 LiveOps-цикл и турниры с призами.</a:t>
            </a:r>
            <a:endParaRPr lang="en-US" sz="1250" dirty="0"/>
          </a:p>
        </p:txBody>
      </p:sp>
      <p:sp>
        <p:nvSpPr>
          <p:cNvPr id="34" name="a6_dot"/>
          <p:cNvSpPr/>
          <p:nvPr/>
        </p:nvSpPr>
        <p:spPr>
          <a:xfrm>
            <a:off x="9961626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5" name="a6_num"/>
          <p:cNvSpPr txBox="1"/>
          <p:nvPr/>
        </p:nvSpPr>
        <p:spPr>
          <a:xfrm>
            <a:off x="996162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a6_t"/>
          <p:cNvSpPr txBox="1"/>
          <p:nvPr/>
        </p:nvSpPr>
        <p:spPr>
          <a:xfrm>
            <a:off x="9961626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СНГ и далее</a:t>
            </a:r>
            <a:endParaRPr lang="en-US" sz="1250" dirty="0"/>
          </a:p>
        </p:txBody>
      </p:sp>
      <p:sp>
        <p:nvSpPr>
          <p:cNvPr id="37" name="a6_d"/>
          <p:cNvSpPr txBox="1"/>
          <p:nvPr/>
        </p:nvSpPr>
        <p:spPr>
          <a:xfrm>
            <a:off x="9961626" y="3493008"/>
            <a:ext cx="16357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Новые рынки при подтверждённой экономике.</a:t>
            </a:r>
            <a:endParaRPr lang="en-US" sz="1250" dirty="0"/>
          </a:p>
        </p:txBody>
      </p:sp>
      <p:sp>
        <p:nvSpPr>
          <p:cNvPr id="38" name="a7_g"/>
          <p:cNvSpPr/>
          <p:nvPr/>
        </p:nvSpPr>
        <p:spPr>
          <a:xfrm>
            <a:off x="548640" y="4709160"/>
            <a:ext cx="11094415" cy="1188720"/>
          </a:xfrm>
          <a:prstGeom prst="roundRect">
            <a:avLst>
              <a:gd name="adj" fmla="val 923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Ворота качества: </a:t>
            </a:r>
            <a:pPr indent="0" marL="0">
              <a:buNone/>
            </a:pPr>
            <a:r>
              <a:rPr lang="en-US" sz="13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этап открывается только после достижения целевых метрик предыдущего — удержания, стабильности, платящей доли и окупаемости привлечения игроков. Текущий этап и даты подтверждает команда продукта.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14" grpId="0" animBg="1"/>
      <p:bldP spid="15" grpId="0"/>
      <p:bldP spid="16" grpId="0" animBg="1"/>
      <p:bldP spid="17" grpId="0"/>
      <p:bldP spid="18" grpId="0"/>
      <p:bldP spid="19" grpId="0" animBg="1"/>
      <p:bldP spid="20" grpId="0"/>
      <p:bldP spid="21" grpId="0" animBg="1"/>
      <p:bldP spid="22" grpId="0"/>
      <p:bldP spid="23" grpId="0"/>
      <p:bldP spid="24" grpId="0" animBg="1"/>
      <p:bldP spid="25" grpId="0"/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/>
      <p:bldP spid="33" grpId="0"/>
      <p:bldP spid="34" grpId="0" animBg="1"/>
      <p:bldP spid="35" grpId="0"/>
      <p:bldP spid="36" grpId="0"/>
      <p:bldP spid="37" grpId="0"/>
      <p:bldP spid="3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arena-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0"/>
            <a:ext cx="12191695" cy="68580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Community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 КИБЕРСПОРТ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— главный актив игры: игроки становятся клубами, клубы — соперниками, соперники — зрителями и авторами контента.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Telegram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 и чаты клубов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Турниры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 недельных кубков до чемпионатов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Медиа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стримы, обзоры, авторы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Формирование игрового сообщества: от знакомства до амбассадоров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f"/>
          <p:cNvSpPr/>
          <p:nvPr/>
        </p:nvSpPr>
        <p:spPr>
          <a:xfrm>
            <a:off x="548640" y="1828800"/>
            <a:ext cx="6949440" cy="694944"/>
          </a:xfrm>
          <a:prstGeom prst="roundRect">
            <a:avLst>
              <a:gd name="adj" fmla="val 13158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548640" y="1828800"/>
            <a:ext cx="6949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Охват</a:t>
            </a:r>
            <a:endParaRPr lang="en-US" sz="1400" dirty="0"/>
          </a:p>
        </p:txBody>
      </p:sp>
      <p:sp>
        <p:nvSpPr>
          <p:cNvPr id="11" name="a1_d"/>
          <p:cNvSpPr txBox="1"/>
          <p:nvPr/>
        </p:nvSpPr>
        <p:spPr>
          <a:xfrm>
            <a:off x="781812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Telegram-каналы, медиа, авторы</a:t>
            </a:r>
            <a:endParaRPr lang="en-US" sz="1200" dirty="0"/>
          </a:p>
        </p:txBody>
      </p:sp>
      <p:sp>
        <p:nvSpPr>
          <p:cNvPr id="12" name="a1_k"/>
          <p:cNvSpPr txBox="1"/>
          <p:nvPr/>
        </p:nvSpPr>
        <p:spPr>
          <a:xfrm>
            <a:off x="7818120" y="2212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охват и переходы</a:t>
            </a:r>
            <a:endParaRPr lang="en-US" sz="1050" dirty="0"/>
          </a:p>
        </p:txBody>
      </p:sp>
      <p:sp>
        <p:nvSpPr>
          <p:cNvPr id="13" name="a2_f"/>
          <p:cNvSpPr/>
          <p:nvPr/>
        </p:nvSpPr>
        <p:spPr>
          <a:xfrm>
            <a:off x="1005840" y="2651760"/>
            <a:ext cx="6035040" cy="694944"/>
          </a:xfrm>
          <a:prstGeom prst="roundRect">
            <a:avLst>
              <a:gd name="adj" fmla="val 13158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4" name="a2_t"/>
          <p:cNvSpPr txBox="1"/>
          <p:nvPr/>
        </p:nvSpPr>
        <p:spPr>
          <a:xfrm>
            <a:off x="1005840" y="2651760"/>
            <a:ext cx="603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</a:t>
            </a:r>
            <a:endParaRPr lang="en-US" sz="1400" dirty="0"/>
          </a:p>
        </p:txBody>
      </p:sp>
      <p:sp>
        <p:nvSpPr>
          <p:cNvPr id="15" name="a2_d"/>
          <p:cNvSpPr txBox="1"/>
          <p:nvPr/>
        </p:nvSpPr>
        <p:spPr>
          <a:xfrm>
            <a:off x="7818120" y="2724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игры из Telegram в один клик</a:t>
            </a:r>
            <a:endParaRPr lang="en-US" sz="1200" dirty="0"/>
          </a:p>
        </p:txBody>
      </p:sp>
      <p:sp>
        <p:nvSpPr>
          <p:cNvPr id="16" name="a2_k"/>
          <p:cNvSpPr txBox="1"/>
          <p:nvPr/>
        </p:nvSpPr>
        <p:spPr>
          <a:xfrm>
            <a:off x="7818120" y="3035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установки → активные</a:t>
            </a:r>
            <a:endParaRPr lang="en-US" sz="1050" dirty="0"/>
          </a:p>
        </p:txBody>
      </p:sp>
      <p:sp>
        <p:nvSpPr>
          <p:cNvPr id="17" name="a3_f"/>
          <p:cNvSpPr/>
          <p:nvPr/>
        </p:nvSpPr>
        <p:spPr>
          <a:xfrm>
            <a:off x="1463040" y="3474720"/>
            <a:ext cx="5120640" cy="694944"/>
          </a:xfrm>
          <a:prstGeom prst="roundRect">
            <a:avLst>
              <a:gd name="adj" fmla="val 13158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1463040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Активное ядро</a:t>
            </a:r>
            <a:endParaRPr lang="en-US" sz="1400" dirty="0"/>
          </a:p>
        </p:txBody>
      </p:sp>
      <p:sp>
        <p:nvSpPr>
          <p:cNvPr id="19" name="a3_d"/>
          <p:cNvSpPr txBox="1"/>
          <p:nvPr/>
        </p:nvSpPr>
        <p:spPr>
          <a:xfrm>
            <a:off x="7818120" y="3547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Клубы, чаты, совместные цели и события</a:t>
            </a:r>
            <a:endParaRPr lang="en-US" sz="1200" dirty="0"/>
          </a:p>
        </p:txBody>
      </p:sp>
      <p:sp>
        <p:nvSpPr>
          <p:cNvPr id="20" name="a3_k"/>
          <p:cNvSpPr txBox="1"/>
          <p:nvPr/>
        </p:nvSpPr>
        <p:spPr>
          <a:xfrm>
            <a:off x="7818120" y="3858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DAU/MAU</a:t>
            </a:r>
            <a:endParaRPr lang="en-US" sz="1050" dirty="0"/>
          </a:p>
        </p:txBody>
      </p:sp>
      <p:sp>
        <p:nvSpPr>
          <p:cNvPr id="21" name="a4_f"/>
          <p:cNvSpPr/>
          <p:nvPr/>
        </p:nvSpPr>
        <p:spPr>
          <a:xfrm>
            <a:off x="1920240" y="4297680"/>
            <a:ext cx="4206240" cy="694944"/>
          </a:xfrm>
          <a:prstGeom prst="roundRect">
            <a:avLst>
              <a:gd name="adj" fmla="val 13158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22" name="a4_t"/>
          <p:cNvSpPr txBox="1"/>
          <p:nvPr/>
        </p:nvSpPr>
        <p:spPr>
          <a:xfrm>
            <a:off x="1920240" y="429768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Соревнующиеся</a:t>
            </a:r>
            <a:endParaRPr lang="en-US" sz="1400" dirty="0"/>
          </a:p>
        </p:txBody>
      </p:sp>
      <p:sp>
        <p:nvSpPr>
          <p:cNvPr id="23" name="a4_d"/>
          <p:cNvSpPr txBox="1"/>
          <p:nvPr/>
        </p:nvSpPr>
        <p:spPr>
          <a:xfrm>
            <a:off x="7818120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Недельные кубки, лиги, рейтинги</a:t>
            </a:r>
            <a:endParaRPr lang="en-US" sz="1200" dirty="0"/>
          </a:p>
        </p:txBody>
      </p:sp>
      <p:sp>
        <p:nvSpPr>
          <p:cNvPr id="24" name="a4_k"/>
          <p:cNvSpPr txBox="1"/>
          <p:nvPr/>
        </p:nvSpPr>
        <p:spPr>
          <a:xfrm>
            <a:off x="781812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участники турниров</a:t>
            </a:r>
            <a:endParaRPr lang="en-US" sz="1050" dirty="0"/>
          </a:p>
        </p:txBody>
      </p:sp>
      <p:sp>
        <p:nvSpPr>
          <p:cNvPr id="25" name="a5_f"/>
          <p:cNvSpPr/>
          <p:nvPr/>
        </p:nvSpPr>
        <p:spPr>
          <a:xfrm>
            <a:off x="2377440" y="5120640"/>
            <a:ext cx="3291840" cy="694944"/>
          </a:xfrm>
          <a:prstGeom prst="roundRect">
            <a:avLst>
              <a:gd name="adj" fmla="val 13158"/>
            </a:avLst>
          </a:prstGeom>
          <a:solidFill>
            <a:srgbClr val="0F2E22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26" name="a5_t"/>
          <p:cNvSpPr txBox="1"/>
          <p:nvPr/>
        </p:nvSpPr>
        <p:spPr>
          <a:xfrm>
            <a:off x="2377440" y="512064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Амбассадоры</a:t>
            </a:r>
            <a:endParaRPr lang="en-US" sz="1400" dirty="0"/>
          </a:p>
        </p:txBody>
      </p:sp>
      <p:sp>
        <p:nvSpPr>
          <p:cNvPr id="27" name="a5_d"/>
          <p:cNvSpPr txBox="1"/>
          <p:nvPr/>
        </p:nvSpPr>
        <p:spPr>
          <a:xfrm>
            <a:off x="7818120" y="5193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Авторы, капитаны клубов, модераторы</a:t>
            </a:r>
            <a:endParaRPr lang="en-US" sz="1200" dirty="0"/>
          </a:p>
        </p:txBody>
      </p:sp>
      <p:sp>
        <p:nvSpPr>
          <p:cNvPr id="28" name="a5_k"/>
          <p:cNvSpPr txBox="1"/>
          <p:nvPr/>
        </p:nvSpPr>
        <p:spPr>
          <a:xfrm>
            <a:off x="7818120" y="55046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контент и рефералы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киберспортивного направления: четыре ступени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E3B55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 в игре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Недельные кубки и сезонные финалы FootureX Game с внутриигровыми призами.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3D8BFF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8B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2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Любительские лиги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Лиги университетов, школ и компаний; онлайн-квалификации, офлайн-финалы.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FFB547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B54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3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Региональные чемпионаты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Regional Cup по регионам Узбекистана с финалом в Ташкенте.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C9D3E3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3E3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4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и международные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турниры с федерацией, площадками и брендами; Центральная Азия.</a:t>
            </a:r>
            <a:endParaRPr lang="en-US" sz="1250" dirty="0"/>
          </a:p>
        </p:txBody>
      </p:sp>
      <p:sp>
        <p:nvSpPr>
          <p:cNvPr id="26" name="a5_n"/>
          <p:cNvSpPr/>
          <p:nvPr/>
        </p:nvSpPr>
        <p:spPr>
          <a:xfrm>
            <a:off x="548640" y="4800600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Дисциплины: </a:t>
            </a:r>
            <a:pPr indent="0" marL="0">
              <a:buNone/>
            </a:pPr>
            <a:r>
              <a:rPr lang="en-US" sz="13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— собственная дисциплина; дополнительно — популярные в регионе футбольные симуляторы и мобильные тайтлы по лицензиям их правообладателей.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Форматы киберспортивных турниров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graphicFrame>
        <p:nvGraphicFramePr>
          <p:cNvPr id="57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1417320"/>
                <a:gridCol w="1965960"/>
                <a:gridCol w="1828800"/>
                <a:gridCol w="1856232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Формат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Участники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Частота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Площадка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Призы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Монетизация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Недельный кубок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Все игроки, 64–256 клубов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Каждую неделю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Онлайн, в игре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Внутриигровые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Удержание, покупки в игре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Сезонный финал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Топ клубов Элиты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 в сезон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 + трансляция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Внутриигровые и брендовые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 финала, медиа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Лига университетов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Команды вузов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Семестр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 + офлайн-финал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Брендовые, стипендии*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Партнёры-работодатели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Regional Cup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Регионы Узбекистана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 в год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Офлайн-финал в Ташкенте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Денежные*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Титульный спонсор, билеты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Партнёрский чемпионат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Приглашённые команды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соглашению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Арена партнёра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регламенту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Спонсорство, права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4360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Денежные призы и стипендии — в соответствии с законодательством РУз; требует юридического подтверждения.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map-m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Региональные соревнования: FootureX Regional Cup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850" dirty="0"/>
          </a:p>
        </p:txBody>
      </p:sp>
      <p:sp>
        <p:nvSpPr>
          <p:cNvPr id="15" name="Text 8"/>
          <p:cNvSpPr txBox="1"/>
          <p:nvPr/>
        </p:nvSpPr>
        <p:spPr>
          <a:xfrm>
            <a:off x="672084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кубка</a:t>
            </a:r>
            <a:endParaRPr lang="en-US" sz="1500" dirty="0"/>
          </a:p>
        </p:txBody>
      </p:sp>
      <p:sp>
        <p:nvSpPr>
          <p:cNvPr id="16" name="a1_dot"/>
          <p:cNvSpPr/>
          <p:nvPr/>
        </p:nvSpPr>
        <p:spPr>
          <a:xfrm>
            <a:off x="6720840" y="228600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7" name="a1_num"/>
          <p:cNvSpPr txBox="1"/>
          <p:nvPr/>
        </p:nvSpPr>
        <p:spPr>
          <a:xfrm>
            <a:off x="67208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a1_ln"/>
          <p:cNvSpPr/>
          <p:nvPr/>
        </p:nvSpPr>
        <p:spPr>
          <a:xfrm>
            <a:off x="7379208" y="2569464"/>
            <a:ext cx="957072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9" name="a1_t"/>
          <p:cNvSpPr txBox="1"/>
          <p:nvPr/>
        </p:nvSpPr>
        <p:spPr>
          <a:xfrm>
            <a:off x="672084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</a:t>
            </a:r>
            <a:endParaRPr lang="en-US" sz="1300" dirty="0"/>
          </a:p>
        </p:txBody>
      </p:sp>
      <p:sp>
        <p:nvSpPr>
          <p:cNvPr id="20" name="a1_d"/>
          <p:cNvSpPr txBox="1"/>
          <p:nvPr/>
        </p:nvSpPr>
        <p:spPr>
          <a:xfrm>
            <a:off x="672084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квалификации</a:t>
            </a:r>
            <a:endParaRPr lang="en-US" sz="1100" dirty="0"/>
          </a:p>
        </p:txBody>
      </p:sp>
      <p:sp>
        <p:nvSpPr>
          <p:cNvPr id="21" name="a2_dot"/>
          <p:cNvSpPr/>
          <p:nvPr/>
        </p:nvSpPr>
        <p:spPr>
          <a:xfrm>
            <a:off x="8427720" y="228600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2" name="a2_num"/>
          <p:cNvSpPr txBox="1"/>
          <p:nvPr/>
        </p:nvSpPr>
        <p:spPr>
          <a:xfrm>
            <a:off x="84277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a2_ln"/>
          <p:cNvSpPr/>
          <p:nvPr/>
        </p:nvSpPr>
        <p:spPr>
          <a:xfrm>
            <a:off x="9086088" y="2569464"/>
            <a:ext cx="957072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4" name="a2_t"/>
          <p:cNvSpPr txBox="1"/>
          <p:nvPr/>
        </p:nvSpPr>
        <p:spPr>
          <a:xfrm>
            <a:off x="842772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</a:t>
            </a:r>
            <a:endParaRPr lang="en-US" sz="1300" dirty="0"/>
          </a:p>
        </p:txBody>
      </p:sp>
      <p:sp>
        <p:nvSpPr>
          <p:cNvPr id="25" name="a2_d"/>
          <p:cNvSpPr txBox="1"/>
          <p:nvPr/>
        </p:nvSpPr>
        <p:spPr>
          <a:xfrm>
            <a:off x="842772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финалы зон</a:t>
            </a:r>
            <a:endParaRPr lang="en-US" sz="1100" dirty="0"/>
          </a:p>
        </p:txBody>
      </p:sp>
      <p:sp>
        <p:nvSpPr>
          <p:cNvPr id="26" name="a3_dot"/>
          <p:cNvSpPr/>
          <p:nvPr/>
        </p:nvSpPr>
        <p:spPr>
          <a:xfrm>
            <a:off x="10134600" y="228600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7" name="a3_num"/>
          <p:cNvSpPr txBox="1"/>
          <p:nvPr/>
        </p:nvSpPr>
        <p:spPr>
          <a:xfrm>
            <a:off x="10134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a3_t"/>
          <p:cNvSpPr txBox="1"/>
          <p:nvPr/>
        </p:nvSpPr>
        <p:spPr>
          <a:xfrm>
            <a:off x="1013460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</a:t>
            </a:r>
            <a:endParaRPr lang="en-US" sz="1300" dirty="0"/>
          </a:p>
        </p:txBody>
      </p:sp>
      <p:sp>
        <p:nvSpPr>
          <p:cNvPr id="29" name="a3_d"/>
          <p:cNvSpPr txBox="1"/>
          <p:nvPr/>
        </p:nvSpPr>
        <p:spPr>
          <a:xfrm>
            <a:off x="1013460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гранд-финал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672084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квалификаций (проект)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720840" y="43434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720840" y="4343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 и Ташкентская обл.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208008" y="43434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208008" y="4343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Самарканд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6720840" y="48463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720840" y="4846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Бухара и Навои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9208008" y="48463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208008" y="4846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Ферганская долина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720840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720840" y="5349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Кашкадарья и Сурхандарья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9208008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26324A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9208008" y="5349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Хорезм и Каракалпакстан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 animBg="1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Международные киберспортивные мероприятия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Asia Cup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 FootureX Game для игроков Узбекистана, Казахстана, Кыргызстана, Таджикистана и Туркменистана.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75438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C9D3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7543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850" dirty="0"/>
          </a:p>
        </p:txBody>
      </p:sp>
      <p:sp>
        <p:nvSpPr>
          <p:cNvPr id="16" name="a2_card"/>
          <p:cNvSpPr/>
          <p:nvPr/>
        </p:nvSpPr>
        <p:spPr>
          <a:xfrm>
            <a:off x="6210148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8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7033108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Онлайн-турниры для диаспоры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6438748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Сезонные кубки для узбекоязычной и русскоязычной аудитории за рубежом.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38748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FFB54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38748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850" dirty="0"/>
          </a:p>
        </p:txBody>
      </p:sp>
      <p:sp>
        <p:nvSpPr>
          <p:cNvPr id="23" name="a3_card"/>
          <p:cNvSpPr/>
          <p:nvPr/>
        </p:nvSpPr>
        <p:spPr>
          <a:xfrm>
            <a:off x="548640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371600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национальную ассоциацию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777240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Участие в азиатских турнирах — по правилам национальной ассоциации и AESF.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77240" y="5550408"/>
            <a:ext cx="164592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FFB547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555040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согласования</a:t>
            </a:r>
            <a:endParaRPr lang="en-US" sz="850" dirty="0"/>
          </a:p>
        </p:txBody>
      </p:sp>
      <p:sp>
        <p:nvSpPr>
          <p:cNvPr id="30" name="a4_card"/>
          <p:cNvSpPr/>
          <p:nvPr/>
        </p:nvSpPr>
        <p:spPr>
          <a:xfrm>
            <a:off x="6210148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643874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2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76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7033108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Шоу-матчи и партнёрства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6438748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события с футбольными клубами, блогерами и брендами.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38748" y="555040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FFB547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38748" y="555040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arena-st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Esports-команда FootureX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ibg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1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1995221"/>
            <a:ext cx="261518" cy="261518"/>
          </a:xfrm>
          <a:prstGeom prst="rect">
            <a:avLst/>
          </a:prstGeom>
        </p:spPr>
      </p:pic>
      <p:sp>
        <p:nvSpPr>
          <p:cNvPr id="17" name="a1_t"/>
          <p:cNvSpPr txBox="1"/>
          <p:nvPr/>
        </p:nvSpPr>
        <p:spPr>
          <a:xfrm>
            <a:off x="1234440" y="18562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состав</a:t>
            </a:r>
            <a:endParaRPr lang="en-US" sz="1400" dirty="0"/>
          </a:p>
        </p:txBody>
      </p:sp>
      <p:sp>
        <p:nvSpPr>
          <p:cNvPr id="18" name="a1_d"/>
          <p:cNvSpPr txBox="1"/>
          <p:nvPr/>
        </p:nvSpPr>
        <p:spPr>
          <a:xfrm>
            <a:off x="1234440" y="21671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Футбольные симуляторы — ядро бренда FootureX</a:t>
            </a:r>
            <a:endParaRPr lang="en-US" sz="1200" dirty="0"/>
          </a:p>
        </p:txBody>
      </p:sp>
      <p:sp>
        <p:nvSpPr>
          <p:cNvPr id="19" name="a2_ibg"/>
          <p:cNvSpPr/>
          <p:nvPr/>
        </p:nvSpPr>
        <p:spPr>
          <a:xfrm>
            <a:off x="548640" y="2862072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0" name="a2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2982773"/>
            <a:ext cx="261518" cy="261518"/>
          </a:xfrm>
          <a:prstGeom prst="rect">
            <a:avLst/>
          </a:prstGeom>
        </p:spPr>
      </p:pic>
      <p:sp>
        <p:nvSpPr>
          <p:cNvPr id="21" name="a2_t"/>
          <p:cNvSpPr txBox="1"/>
          <p:nvPr/>
        </p:nvSpPr>
        <p:spPr>
          <a:xfrm>
            <a:off x="1234440" y="2843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дисциплины</a:t>
            </a:r>
            <a:endParaRPr lang="en-US" sz="1400" dirty="0"/>
          </a:p>
        </p:txBody>
      </p:sp>
      <p:sp>
        <p:nvSpPr>
          <p:cNvPr id="22" name="a2_d"/>
          <p:cNvSpPr txBox="1"/>
          <p:nvPr/>
        </p:nvSpPr>
        <p:spPr>
          <a:xfrm>
            <a:off x="1234440" y="3154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Популярные в регионе тайтлы — по анализу аудитории</a:t>
            </a:r>
            <a:endParaRPr lang="en-US" sz="1200" dirty="0"/>
          </a:p>
        </p:txBody>
      </p:sp>
      <p:sp>
        <p:nvSpPr>
          <p:cNvPr id="23" name="a3_ibg"/>
          <p:cNvSpPr/>
          <p:nvPr/>
        </p:nvSpPr>
        <p:spPr>
          <a:xfrm>
            <a:off x="548640" y="3849624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4" name="a3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1" y="3970325"/>
            <a:ext cx="261518" cy="261518"/>
          </a:xfrm>
          <a:prstGeom prst="rect">
            <a:avLst/>
          </a:prstGeom>
        </p:spPr>
      </p:pic>
      <p:sp>
        <p:nvSpPr>
          <p:cNvPr id="25" name="a3_t"/>
          <p:cNvSpPr txBox="1"/>
          <p:nvPr/>
        </p:nvSpPr>
        <p:spPr>
          <a:xfrm>
            <a:off x="1234440" y="38313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игроков</a:t>
            </a:r>
            <a:endParaRPr lang="en-US" sz="1400" dirty="0"/>
          </a:p>
        </p:txBody>
      </p:sp>
      <p:sp>
        <p:nvSpPr>
          <p:cNvPr id="26" name="a3_d"/>
          <p:cNvSpPr txBox="1"/>
          <p:nvPr/>
        </p:nvSpPr>
        <p:spPr>
          <a:xfrm>
            <a:off x="1234440" y="4142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Лучшие игроки FootureX Game и вузовских лиг</a:t>
            </a:r>
            <a:endParaRPr lang="en-US" sz="1200" dirty="0"/>
          </a:p>
        </p:txBody>
      </p:sp>
      <p:sp>
        <p:nvSpPr>
          <p:cNvPr id="27" name="a4_ibg"/>
          <p:cNvSpPr/>
          <p:nvPr/>
        </p:nvSpPr>
        <p:spPr>
          <a:xfrm>
            <a:off x="548640" y="4837176"/>
            <a:ext cx="502920" cy="50292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8" name="a4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4957877"/>
            <a:ext cx="261518" cy="261518"/>
          </a:xfrm>
          <a:prstGeom prst="rect">
            <a:avLst/>
          </a:prstGeom>
        </p:spPr>
      </p:pic>
      <p:sp>
        <p:nvSpPr>
          <p:cNvPr id="29" name="a4_t"/>
          <p:cNvSpPr txBox="1"/>
          <p:nvPr/>
        </p:nvSpPr>
        <p:spPr>
          <a:xfrm>
            <a:off x="1234440" y="4818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Контент-команда</a:t>
            </a:r>
            <a:endParaRPr lang="en-US" sz="1400" dirty="0"/>
          </a:p>
        </p:txBody>
      </p:sp>
      <p:sp>
        <p:nvSpPr>
          <p:cNvPr id="30" name="a4_d"/>
          <p:cNvSpPr txBox="1"/>
          <p:nvPr/>
        </p:nvSpPr>
        <p:spPr>
          <a:xfrm>
            <a:off x="1234440" y="5129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Стримеры, аналитики, видеопродакшн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Стриминг, медиа и контент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Новости, результаты, мемы, анонсы — основной канал аудитории.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Трансляции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Финалы и топ-матчи с комментаторами и аналитикой.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Короткие видео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Лучшие моменты, голы, реакции — вертикальный формат.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Подкасты и разборы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Тактика, трансферы, интервью с капитанами клубов.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1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Собственная студия трансляций — после запуска лиг.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Авторы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Партнёрская программа для блогеров и стримеров.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Спонсорство и коммерческие партнёрства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121408"/>
            <a:ext cx="274320" cy="27432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1" name="a1_t"/>
          <p:cNvSpPr txBox="1"/>
          <p:nvPr/>
        </p:nvSpPr>
        <p:spPr>
          <a:xfrm>
            <a:off x="123444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Титульный партнёр</a:t>
            </a:r>
            <a:endParaRPr lang="en-US" sz="1400" dirty="0"/>
          </a:p>
        </p:txBody>
      </p:sp>
      <p:sp>
        <p:nvSpPr>
          <p:cNvPr id="12" name="a1_d"/>
          <p:cNvSpPr txBox="1"/>
          <p:nvPr/>
        </p:nvSpPr>
        <p:spPr>
          <a:xfrm>
            <a:off x="3657600" y="18288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Название турнира, главный экран, интеграция в игру, права на контент</a:t>
            </a:r>
            <a:endParaRPr lang="en-US" sz="1150" dirty="0"/>
          </a:p>
        </p:txBody>
      </p:sp>
      <p:sp>
        <p:nvSpPr>
          <p:cNvPr id="13" name="a2_c"/>
          <p:cNvSpPr/>
          <p:nvPr/>
        </p:nvSpPr>
        <p:spPr>
          <a:xfrm>
            <a:off x="548640" y="283464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7240" y="3127248"/>
            <a:ext cx="274320" cy="274320"/>
          </a:xfrm>
          <a:prstGeom prst="ellipse">
            <a:avLst/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15" name="a2_t"/>
          <p:cNvSpPr txBox="1"/>
          <p:nvPr/>
        </p:nvSpPr>
        <p:spPr>
          <a:xfrm>
            <a:off x="1234440" y="28346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Официальные партнёры</a:t>
            </a:r>
            <a:endParaRPr lang="en-US" sz="1400" dirty="0"/>
          </a:p>
        </p:txBody>
      </p:sp>
      <p:sp>
        <p:nvSpPr>
          <p:cNvPr id="16" name="a2_d"/>
          <p:cNvSpPr txBox="1"/>
          <p:nvPr/>
        </p:nvSpPr>
        <p:spPr>
          <a:xfrm>
            <a:off x="3657600" y="28346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Логотип в трансляциях, активации на площадке, призы</a:t>
            </a:r>
            <a:endParaRPr lang="en-US" sz="1150" dirty="0"/>
          </a:p>
        </p:txBody>
      </p:sp>
      <p:sp>
        <p:nvSpPr>
          <p:cNvPr id="17" name="a3_c"/>
          <p:cNvSpPr/>
          <p:nvPr/>
        </p:nvSpPr>
        <p:spPr>
          <a:xfrm>
            <a:off x="548640" y="384048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77240" y="4133088"/>
            <a:ext cx="274320" cy="27432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9" name="a3_t"/>
          <p:cNvSpPr txBox="1"/>
          <p:nvPr/>
        </p:nvSpPr>
        <p:spPr>
          <a:xfrm>
            <a:off x="1234440" y="3840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партнёры</a:t>
            </a:r>
            <a:endParaRPr lang="en-US" sz="1400" dirty="0"/>
          </a:p>
        </p:txBody>
      </p:sp>
      <p:sp>
        <p:nvSpPr>
          <p:cNvPr id="20" name="a3_d"/>
          <p:cNvSpPr txBox="1"/>
          <p:nvPr/>
        </p:nvSpPr>
        <p:spPr>
          <a:xfrm>
            <a:off x="3657600" y="38404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Железо, связь, облако — в обмен на демонстрацию</a:t>
            </a:r>
            <a:endParaRPr lang="en-US" sz="1150" dirty="0"/>
          </a:p>
        </p:txBody>
      </p:sp>
      <p:sp>
        <p:nvSpPr>
          <p:cNvPr id="21" name="a4_c"/>
          <p:cNvSpPr/>
          <p:nvPr/>
        </p:nvSpPr>
        <p:spPr>
          <a:xfrm>
            <a:off x="548640" y="484632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77240" y="5138928"/>
            <a:ext cx="274320" cy="27432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23" name="a4_t"/>
          <p:cNvSpPr txBox="1"/>
          <p:nvPr/>
        </p:nvSpPr>
        <p:spPr>
          <a:xfrm>
            <a:off x="1234440" y="48463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Медиапартнёры</a:t>
            </a:r>
            <a:endParaRPr lang="en-US" sz="1400" dirty="0"/>
          </a:p>
        </p:txBody>
      </p:sp>
      <p:sp>
        <p:nvSpPr>
          <p:cNvPr id="24" name="a4_d"/>
          <p:cNvSpPr txBox="1"/>
          <p:nvPr/>
        </p:nvSpPr>
        <p:spPr>
          <a:xfrm>
            <a:off x="3657600" y="48463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Охват и распространение контента</a:t>
            </a:r>
            <a:endParaRPr lang="en-US" sz="1150" dirty="0"/>
          </a:p>
        </p:txBody>
      </p:sp>
      <p:sp>
        <p:nvSpPr>
          <p:cNvPr id="25" name="a2_ins"/>
          <p:cNvSpPr/>
          <p:nvPr/>
        </p:nvSpPr>
        <p:spPr>
          <a:xfrm>
            <a:off x="7589520" y="1828800"/>
            <a:ext cx="4050792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818120" y="2029968"/>
            <a:ext cx="3593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получает партнёр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18120" y="2432304"/>
            <a:ext cx="35935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Молодая цифровая аудитория Узбекистана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в игру, а не только логотип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Измеримые показатели: просмотры, участники, клики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 с футбольным брендом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принимаются: ставки и азартные игры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  <p:bldP spid="15" grpId="0"/>
      <p:bldP spid="16" grpId="0"/>
      <p:bldP spid="25" grpId="0" animBg="1"/>
      <p:bldP spid="17" grpId="0" animBg="1"/>
      <p:bldP spid="19" grpId="0"/>
      <p:bldP spid="20" grpId="0"/>
      <p:bldP spid="21" grpId="0" animBg="1"/>
      <p:bldP spid="23" grpId="0"/>
      <p:bldP spid="2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Экономическая модель Esports: двигатель аудитории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 · GAME COMMUNITY &amp; ESPORTS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модель FootureX (выручка esports и прямые затраты мероприятий). Требует подтверждения.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288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a2_ins"/>
          <p:cNvSpPr/>
          <p:nvPr/>
        </p:nvSpPr>
        <p:spPr>
          <a:xfrm>
            <a:off x="7772400" y="1828800"/>
            <a:ext cx="3867912" cy="411480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01000" y="2029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Логика модели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2432304"/>
            <a:ext cx="341071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спонсорство, билеты, медиаправа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Прямые затраты: площадки, продакшн, призы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 растёт с 35% до 42%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Главная ценность — аудитория и удержание игроков FootureX Game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1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Dev Academy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!!roman"/>
          <p:cNvSpPr txBox="1"/>
          <p:nvPr/>
        </p:nvSpPr>
        <p:spPr>
          <a:xfrm>
            <a:off x="502920" y="178308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АКАДЕМИЯ</a:t>
            </a:r>
            <a:endParaRPr lang="en-US" sz="1300" dirty="0"/>
          </a:p>
        </p:txBody>
      </p:sp>
      <p:sp>
        <p:nvSpPr>
          <p:cNvPr id="11" name="a1_lead"/>
          <p:cNvSpPr txBox="1"/>
          <p:nvPr/>
        </p:nvSpPr>
        <p:spPr>
          <a:xfrm>
            <a:off x="548640" y="36118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 разработке игр, программированию, game design, 3D, UI/UX и искусственному интеллекту — на реальных проектах студии.</a:t>
            </a:r>
            <a:endParaRPr lang="en-US" sz="1500" dirty="0"/>
          </a:p>
        </p:txBody>
      </p:sp>
      <p:sp>
        <p:nvSpPr>
          <p:cNvPr id="12" name="a2_v"/>
          <p:cNvSpPr txBox="1"/>
          <p:nvPr/>
        </p:nvSpPr>
        <p:spPr>
          <a:xfrm>
            <a:off x="54864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6</a:t>
            </a:r>
            <a:endParaRPr lang="en-US" sz="2200" dirty="0"/>
          </a:p>
        </p:txBody>
      </p:sp>
      <p:sp>
        <p:nvSpPr>
          <p:cNvPr id="13" name="a2_l"/>
          <p:cNvSpPr txBox="1"/>
          <p:nvPr/>
        </p:nvSpPr>
        <p:spPr>
          <a:xfrm>
            <a:off x="54864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</a:t>
            </a:r>
            <a:endParaRPr lang="en-US" sz="1050" dirty="0"/>
          </a:p>
        </p:txBody>
      </p:sp>
      <p:sp>
        <p:nvSpPr>
          <p:cNvPr id="14" name="a3_v"/>
          <p:cNvSpPr txBox="1"/>
          <p:nvPr/>
        </p:nvSpPr>
        <p:spPr>
          <a:xfrm>
            <a:off x="205740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1500" dirty="0"/>
          </a:p>
        </p:txBody>
      </p:sp>
      <p:sp>
        <p:nvSpPr>
          <p:cNvPr id="15" name="a3_l"/>
          <p:cNvSpPr txBox="1"/>
          <p:nvPr/>
        </p:nvSpPr>
        <p:spPr>
          <a:xfrm>
            <a:off x="205740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студии FootureX</a:t>
            </a:r>
            <a:endParaRPr lang="en-US" sz="1050" dirty="0"/>
          </a:p>
        </p:txBody>
      </p:sp>
      <p:sp>
        <p:nvSpPr>
          <p:cNvPr id="16" name="a4_v"/>
          <p:cNvSpPr txBox="1"/>
          <p:nvPr/>
        </p:nvSpPr>
        <p:spPr>
          <a:xfrm>
            <a:off x="356616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Карьера</a:t>
            </a:r>
            <a:endParaRPr lang="en-US" sz="1500" dirty="0"/>
          </a:p>
        </p:txBody>
      </p:sp>
      <p:sp>
        <p:nvSpPr>
          <p:cNvPr id="17" name="a4_l"/>
          <p:cNvSpPr txBox="1"/>
          <p:nvPr/>
        </p:nvSpPr>
        <p:spPr>
          <a:xfrm>
            <a:off x="356616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стажировки и найм</a:t>
            </a:r>
            <a:endParaRPr lang="en-US" sz="1050" dirty="0"/>
          </a:p>
        </p:txBody>
      </p:sp>
      <p:pic>
        <p:nvPicPr>
          <p:cNvPr id="18" name="!!ui" descr="/home/user/footurex-main/presentation/assets/ui/l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920240"/>
            <a:ext cx="6382512" cy="310261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716975" y="5257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Образовательная концепция: учиться, создавая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a1_en"/>
          <p:cNvSpPr txBox="1"/>
          <p:nvPr/>
        </p:nvSpPr>
        <p:spPr>
          <a:xfrm>
            <a:off x="77724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Learn</a:t>
            </a:r>
            <a:endParaRPr lang="en-US" sz="2400" dirty="0"/>
          </a:p>
        </p:txBody>
      </p:sp>
      <p:sp>
        <p:nvSpPr>
          <p:cNvPr id="12" name="a1_ru"/>
          <p:cNvSpPr txBox="1"/>
          <p:nvPr/>
        </p:nvSpPr>
        <p:spPr>
          <a:xfrm>
            <a:off x="77724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</a:t>
            </a:r>
            <a:endParaRPr lang="en-US" sz="1500" dirty="0"/>
          </a:p>
        </p:txBody>
      </p:sp>
      <p:sp>
        <p:nvSpPr>
          <p:cNvPr id="13" name="a1_t"/>
          <p:cNvSpPr txBox="1"/>
          <p:nvPr/>
        </p:nvSpPr>
        <p:spPr>
          <a:xfrm>
            <a:off x="777240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Программирование, математика игр, инструменты, теория дизайна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82112" y="3429000"/>
            <a:ext cx="146304" cy="0"/>
          </a:xfrm>
          <a:prstGeom prst="line">
            <a:avLst/>
          </a:prstGeom>
          <a:noFill/>
          <a:ln w="19050">
            <a:solidFill>
              <a:srgbClr val="1ED68A"/>
            </a:solidFill>
            <a:prstDash val="solid"/>
            <a:tailEnd type="triangle"/>
          </a:ln>
        </p:spPr>
      </p:sp>
      <p:sp>
        <p:nvSpPr>
          <p:cNvPr id="15" name="a2_c"/>
          <p:cNvSpPr/>
          <p:nvPr/>
        </p:nvSpPr>
        <p:spPr>
          <a:xfrm>
            <a:off x="3355848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84448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a2_en"/>
          <p:cNvSpPr txBox="1"/>
          <p:nvPr/>
        </p:nvSpPr>
        <p:spPr>
          <a:xfrm>
            <a:off x="3584448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Build</a:t>
            </a:r>
            <a:endParaRPr lang="en-US" sz="2400" dirty="0"/>
          </a:p>
        </p:txBody>
      </p:sp>
      <p:sp>
        <p:nvSpPr>
          <p:cNvPr id="18" name="a2_ru"/>
          <p:cNvSpPr txBox="1"/>
          <p:nvPr/>
        </p:nvSpPr>
        <p:spPr>
          <a:xfrm>
            <a:off x="3584448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</a:t>
            </a:r>
            <a:endParaRPr lang="en-US" sz="1500" dirty="0"/>
          </a:p>
        </p:txBody>
      </p:sp>
      <p:sp>
        <p:nvSpPr>
          <p:cNvPr id="19" name="a2_t"/>
          <p:cNvSpPr txBox="1"/>
          <p:nvPr/>
        </p:nvSpPr>
        <p:spPr>
          <a:xfrm>
            <a:off x="3584448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Индивидуальные проекты с код-ревью наставников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89320" y="3429000"/>
            <a:ext cx="146304" cy="0"/>
          </a:xfrm>
          <a:prstGeom prst="line">
            <a:avLst/>
          </a:prstGeom>
          <a:noFill/>
          <a:ln w="19050">
            <a:solidFill>
              <a:srgbClr val="1ED68A"/>
            </a:solidFill>
            <a:prstDash val="solid"/>
            <a:tailEnd type="triangle"/>
          </a:ln>
        </p:spPr>
      </p:sp>
      <p:sp>
        <p:nvSpPr>
          <p:cNvPr id="21" name="a3_c"/>
          <p:cNvSpPr/>
          <p:nvPr/>
        </p:nvSpPr>
        <p:spPr>
          <a:xfrm>
            <a:off x="6163056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91656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a3_en"/>
          <p:cNvSpPr txBox="1"/>
          <p:nvPr/>
        </p:nvSpPr>
        <p:spPr>
          <a:xfrm>
            <a:off x="6391656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Ship</a:t>
            </a:r>
            <a:endParaRPr lang="en-US" sz="2400" dirty="0"/>
          </a:p>
        </p:txBody>
      </p:sp>
      <p:sp>
        <p:nvSpPr>
          <p:cNvPr id="24" name="a3_ru"/>
          <p:cNvSpPr txBox="1"/>
          <p:nvPr/>
        </p:nvSpPr>
        <p:spPr>
          <a:xfrm>
            <a:off x="6391656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Релиз</a:t>
            </a:r>
            <a:endParaRPr lang="en-US" sz="1500" dirty="0"/>
          </a:p>
        </p:txBody>
      </p:sp>
      <p:sp>
        <p:nvSpPr>
          <p:cNvPr id="25" name="a3_t"/>
          <p:cNvSpPr txBox="1"/>
          <p:nvPr/>
        </p:nvSpPr>
        <p:spPr>
          <a:xfrm>
            <a:off x="6391656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Командный проект в формате студии: спринты, тесты, выпуск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796528" y="3429000"/>
            <a:ext cx="146304" cy="0"/>
          </a:xfrm>
          <a:prstGeom prst="line">
            <a:avLst/>
          </a:prstGeom>
          <a:noFill/>
          <a:ln w="19050">
            <a:solidFill>
              <a:srgbClr val="1ED68A"/>
            </a:solidFill>
            <a:prstDash val="solid"/>
            <a:tailEnd type="triangle"/>
          </a:ln>
        </p:spPr>
      </p:sp>
      <p:sp>
        <p:nvSpPr>
          <p:cNvPr id="27" name="a4_c"/>
          <p:cNvSpPr/>
          <p:nvPr/>
        </p:nvSpPr>
        <p:spPr>
          <a:xfrm>
            <a:off x="8970264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F2E22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98864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400" dirty="0"/>
          </a:p>
        </p:txBody>
      </p:sp>
      <p:sp>
        <p:nvSpPr>
          <p:cNvPr id="29" name="a4_en"/>
          <p:cNvSpPr txBox="1"/>
          <p:nvPr/>
        </p:nvSpPr>
        <p:spPr>
          <a:xfrm>
            <a:off x="9198864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Hire</a:t>
            </a:r>
            <a:endParaRPr lang="en-US" sz="2400" dirty="0"/>
          </a:p>
        </p:txBody>
      </p:sp>
      <p:sp>
        <p:nvSpPr>
          <p:cNvPr id="30" name="a4_ru"/>
          <p:cNvSpPr txBox="1"/>
          <p:nvPr/>
        </p:nvSpPr>
        <p:spPr>
          <a:xfrm>
            <a:off x="9198864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Карьера</a:t>
            </a:r>
            <a:endParaRPr lang="en-US" sz="1500" dirty="0"/>
          </a:p>
        </p:txBody>
      </p:sp>
      <p:sp>
        <p:nvSpPr>
          <p:cNvPr id="31" name="a4_t"/>
          <p:cNvSpPr txBox="1"/>
          <p:nvPr/>
        </p:nvSpPr>
        <p:spPr>
          <a:xfrm>
            <a:off x="9198864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Стажировка в FootureX или у партнёров, портфолио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Преподают практики индустрии; каждый модуль заканчивается работающим результатом в портфолио.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/>
      <p:bldP spid="15" grpId="0" animBg="1"/>
      <p:bldP spid="17" grpId="0"/>
      <p:bldP spid="18" grpId="0"/>
      <p:bldP spid="19" grpId="0"/>
      <p:bldP spid="21" grpId="0" animBg="1"/>
      <p:bldP spid="23" grpId="0"/>
      <p:bldP spid="24" grpId="0"/>
      <p:bldP spid="25" grpId="0"/>
      <p:bldP spid="27" grpId="0" animBg="1"/>
      <p:bldP spid="29" grpId="0"/>
      <p:bldP spid="30" grpId="0"/>
      <p:bldP spid="3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Программы подготовки разработчиков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graphicFrame>
        <p:nvGraphicFramePr>
          <p:cNvPr id="6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54480"/>
                <a:gridCol w="1920240"/>
                <a:gridCol w="45079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Программа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Длительность*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Формат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Результат выпускника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Programmer · Unity / C#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 месяцев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Кампус + онлайн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Junior-разработчик игр, 2 проекта в портфолио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Designer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 месяцев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Кампус + онлайн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Документация, баланс, прототипы механик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3D Artist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месяцев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Кампус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Модели, текстуры, оптимизация под движок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UI/UX для игр и приложений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месяцев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Интерфейсы, прототипы, юзабилити-тесты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 Engineer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 месяцев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Кампус + онлайн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ML-модели, AI-агенты, интеграции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Junior Game Lab (12–16 лет)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месяца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Кампус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Первая игра, основы логики и дизайна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253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Длительность, форматы и учебные планы — проектные, подлежат утверждению. Требования к лицензированию образовательной деятельности — требуют юридической проверки.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Game Design и 3D Development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5440680" cy="4069080"/>
          </a:xfrm>
          <a:prstGeom prst="roundRect">
            <a:avLst>
              <a:gd name="adj" fmla="val 269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82296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Game Design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Механики и системы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852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loop, прогрессия, правила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227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и экономика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34930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источники, стоки, монетизация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3867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Уровни и контент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построение опыта игрока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526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5079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Прототипирование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47731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быстрые проверки идей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166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325880" y="5148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тесты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5413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метрики, A/B, плейтесты</a:t>
            </a:r>
            <a:endParaRPr lang="en-US" sz="1100" dirty="0"/>
          </a:p>
        </p:txBody>
      </p:sp>
      <p:sp>
        <p:nvSpPr>
          <p:cNvPr id="26" name="a2_c"/>
          <p:cNvSpPr/>
          <p:nvPr/>
        </p:nvSpPr>
        <p:spPr>
          <a:xfrm>
            <a:off x="6185916" y="1828800"/>
            <a:ext cx="5440680" cy="4069080"/>
          </a:xfrm>
          <a:prstGeom prst="roundRect">
            <a:avLst>
              <a:gd name="adj" fmla="val 269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a2_t"/>
          <p:cNvSpPr txBox="1"/>
          <p:nvPr/>
        </p:nvSpPr>
        <p:spPr>
          <a:xfrm>
            <a:off x="6460236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3D Development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460236" y="2606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963156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Моделирование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963156" y="2852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персонажи, окружение, объекты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460236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963156" y="3227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Текстуры и материалы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963156" y="34930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PBR-пайплайн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460236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63156" y="3867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Риггинг и анимация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6963156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движение персонажей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60236" y="4526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963156" y="45079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Оптимизация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6963156" y="47731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устройства и WebGL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460236" y="5166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63156" y="5148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Визуализация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6963156" y="5413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рендер, презентации, архитектура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26" grpId="0" animBg="1"/>
      <p:bldP spid="2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и программирование: фундамент цифровых профессий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 программирования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Алгоритмы, структуры данных, Git, командная работа.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C# и Unity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логика, физика, UI, сеть, сборка под платформы.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 и Telegram Mini Apps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TypeScript, React, WebGL — формат FootureX Game.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Машинное обучение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Python, данные, классические модели, оценка качества.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1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Работа с языковыми моделями, RAG, инструменты, безопасность.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Ответственный AI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Этика, защита данных, тестирование и контроль.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 и подготовка кадров: путь студента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a1_ln"/>
          <p:cNvSpPr/>
          <p:nvPr/>
        </p:nvSpPr>
        <p:spPr>
          <a:xfrm>
            <a:off x="1207008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2" name="a1_t"/>
          <p:cNvSpPr txBox="1"/>
          <p:nvPr/>
        </p:nvSpPr>
        <p:spPr>
          <a:xfrm>
            <a:off x="548640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</a:t>
            </a:r>
            <a:endParaRPr lang="en-US" sz="1250" dirty="0"/>
          </a:p>
        </p:txBody>
      </p:sp>
      <p:sp>
        <p:nvSpPr>
          <p:cNvPr id="13" name="a1_d"/>
          <p:cNvSpPr txBox="1"/>
          <p:nvPr/>
        </p:nvSpPr>
        <p:spPr>
          <a:xfrm>
            <a:off x="548640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логики, мотивационное интервью.</a:t>
            </a:r>
            <a:endParaRPr lang="en-US" sz="1250" dirty="0"/>
          </a:p>
        </p:txBody>
      </p:sp>
      <p:sp>
        <p:nvSpPr>
          <p:cNvPr id="14" name="a2_dot"/>
          <p:cNvSpPr/>
          <p:nvPr/>
        </p:nvSpPr>
        <p:spPr>
          <a:xfrm>
            <a:off x="2431237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243123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a2_ln"/>
          <p:cNvSpPr/>
          <p:nvPr/>
        </p:nvSpPr>
        <p:spPr>
          <a:xfrm>
            <a:off x="3089605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17" name="a2_t"/>
          <p:cNvSpPr txBox="1"/>
          <p:nvPr/>
        </p:nvSpPr>
        <p:spPr>
          <a:xfrm>
            <a:off x="2431237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Базовый модуль</a:t>
            </a:r>
            <a:endParaRPr lang="en-US" sz="1250" dirty="0"/>
          </a:p>
        </p:txBody>
      </p:sp>
      <p:sp>
        <p:nvSpPr>
          <p:cNvPr id="18" name="a2_d"/>
          <p:cNvSpPr txBox="1"/>
          <p:nvPr/>
        </p:nvSpPr>
        <p:spPr>
          <a:xfrm>
            <a:off x="2431237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 профессии и инструменты.</a:t>
            </a:r>
            <a:endParaRPr lang="en-US" sz="1250" dirty="0"/>
          </a:p>
        </p:txBody>
      </p:sp>
      <p:sp>
        <p:nvSpPr>
          <p:cNvPr id="19" name="a3_dot"/>
          <p:cNvSpPr/>
          <p:nvPr/>
        </p:nvSpPr>
        <p:spPr>
          <a:xfrm>
            <a:off x="4313834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0" name="a3_num"/>
          <p:cNvSpPr txBox="1"/>
          <p:nvPr/>
        </p:nvSpPr>
        <p:spPr>
          <a:xfrm>
            <a:off x="431383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a3_ln"/>
          <p:cNvSpPr/>
          <p:nvPr/>
        </p:nvSpPr>
        <p:spPr>
          <a:xfrm>
            <a:off x="4972202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2" name="a3_t"/>
          <p:cNvSpPr txBox="1"/>
          <p:nvPr/>
        </p:nvSpPr>
        <p:spPr>
          <a:xfrm>
            <a:off x="4313834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</a:t>
            </a:r>
            <a:endParaRPr lang="en-US" sz="1250" dirty="0"/>
          </a:p>
        </p:txBody>
      </p:sp>
      <p:sp>
        <p:nvSpPr>
          <p:cNvPr id="23" name="a3_d"/>
          <p:cNvSpPr txBox="1"/>
          <p:nvPr/>
        </p:nvSpPr>
        <p:spPr>
          <a:xfrm>
            <a:off x="4313834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Индивидуальные работы с ревью.</a:t>
            </a:r>
            <a:endParaRPr lang="en-US" sz="1250" dirty="0"/>
          </a:p>
        </p:txBody>
      </p:sp>
      <p:sp>
        <p:nvSpPr>
          <p:cNvPr id="24" name="a4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5" name="a4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a4_ln"/>
          <p:cNvSpPr/>
          <p:nvPr/>
        </p:nvSpPr>
        <p:spPr>
          <a:xfrm>
            <a:off x="6854800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27" name="a4_t"/>
          <p:cNvSpPr txBox="1"/>
          <p:nvPr/>
        </p:nvSpPr>
        <p:spPr>
          <a:xfrm>
            <a:off x="6196432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</a:t>
            </a:r>
            <a:endParaRPr lang="en-US" sz="1250" dirty="0"/>
          </a:p>
        </p:txBody>
      </p:sp>
      <p:sp>
        <p:nvSpPr>
          <p:cNvPr id="28" name="a4_d"/>
          <p:cNvSpPr txBox="1"/>
          <p:nvPr/>
        </p:nvSpPr>
        <p:spPr>
          <a:xfrm>
            <a:off x="6196432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Командный проект по процессам FootureX.</a:t>
            </a:r>
            <a:endParaRPr lang="en-US" sz="1250" dirty="0"/>
          </a:p>
        </p:txBody>
      </p:sp>
      <p:sp>
        <p:nvSpPr>
          <p:cNvPr id="29" name="a5_dot"/>
          <p:cNvSpPr/>
          <p:nvPr/>
        </p:nvSpPr>
        <p:spPr>
          <a:xfrm>
            <a:off x="8079029" y="2103120"/>
            <a:ext cx="566928" cy="566928"/>
          </a:xfrm>
          <a:prstGeom prst="ellipse">
            <a:avLst/>
          </a:prstGeom>
          <a:solidFill>
            <a:srgbClr val="162030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0" name="a5_num"/>
          <p:cNvSpPr txBox="1"/>
          <p:nvPr/>
        </p:nvSpPr>
        <p:spPr>
          <a:xfrm>
            <a:off x="8079029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a5_ln"/>
          <p:cNvSpPr/>
          <p:nvPr/>
        </p:nvSpPr>
        <p:spPr>
          <a:xfrm>
            <a:off x="8737397" y="2386584"/>
            <a:ext cx="1132789" cy="0"/>
          </a:xfrm>
          <a:prstGeom prst="line">
            <a:avLst/>
          </a:prstGeom>
          <a:noFill/>
          <a:ln w="15875">
            <a:solidFill>
              <a:srgbClr val="2E3B55"/>
            </a:solidFill>
            <a:prstDash val="dash"/>
            <a:tailEnd type="triangle"/>
          </a:ln>
        </p:spPr>
      </p:sp>
      <p:sp>
        <p:nvSpPr>
          <p:cNvPr id="32" name="a5_t"/>
          <p:cNvSpPr txBox="1"/>
          <p:nvPr/>
        </p:nvSpPr>
        <p:spPr>
          <a:xfrm>
            <a:off x="8079029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Демо-день</a:t>
            </a:r>
            <a:endParaRPr lang="en-US" sz="1250" dirty="0"/>
          </a:p>
        </p:txBody>
      </p:sp>
      <p:sp>
        <p:nvSpPr>
          <p:cNvPr id="33" name="a5_d"/>
          <p:cNvSpPr txBox="1"/>
          <p:nvPr/>
        </p:nvSpPr>
        <p:spPr>
          <a:xfrm>
            <a:off x="8079029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перед работодателями.</a:t>
            </a:r>
            <a:endParaRPr lang="en-US" sz="1250" dirty="0"/>
          </a:p>
        </p:txBody>
      </p:sp>
      <p:sp>
        <p:nvSpPr>
          <p:cNvPr id="34" name="a6_dot"/>
          <p:cNvSpPr/>
          <p:nvPr/>
        </p:nvSpPr>
        <p:spPr>
          <a:xfrm>
            <a:off x="9961626" y="2103120"/>
            <a:ext cx="566928" cy="566928"/>
          </a:xfrm>
          <a:prstGeom prst="ellipse">
            <a:avLst/>
          </a:prstGeom>
          <a:solidFill>
            <a:srgbClr val="1ED68A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5" name="a6_num"/>
          <p:cNvSpPr txBox="1"/>
          <p:nvPr/>
        </p:nvSpPr>
        <p:spPr>
          <a:xfrm>
            <a:off x="996162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4130C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a6_t"/>
          <p:cNvSpPr txBox="1"/>
          <p:nvPr/>
        </p:nvSpPr>
        <p:spPr>
          <a:xfrm>
            <a:off x="9961626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Карьера</a:t>
            </a:r>
            <a:endParaRPr lang="en-US" sz="1250" dirty="0"/>
          </a:p>
        </p:txBody>
      </p:sp>
      <p:sp>
        <p:nvSpPr>
          <p:cNvPr id="37" name="a6_d"/>
          <p:cNvSpPr txBox="1"/>
          <p:nvPr/>
        </p:nvSpPr>
        <p:spPr>
          <a:xfrm>
            <a:off x="9961626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Стажировка и найм в FootureX или у партнёров.</a:t>
            </a:r>
            <a:endParaRPr lang="en-US" sz="1250" dirty="0"/>
          </a:p>
        </p:txBody>
      </p:sp>
      <p:sp>
        <p:nvSpPr>
          <p:cNvPr id="38" name="a1_card"/>
          <p:cNvSpPr/>
          <p:nvPr/>
        </p:nvSpPr>
        <p:spPr>
          <a:xfrm>
            <a:off x="548640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9" name="a1_v"/>
          <p:cNvSpPr txBox="1"/>
          <p:nvPr/>
        </p:nvSpPr>
        <p:spPr>
          <a:xfrm>
            <a:off x="777240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≈1 860</a:t>
            </a:r>
            <a:endParaRPr lang="en-US" sz="2400" dirty="0"/>
          </a:p>
        </p:txBody>
      </p:sp>
      <p:sp>
        <p:nvSpPr>
          <p:cNvPr id="40" name="a1_l"/>
          <p:cNvSpPr txBox="1"/>
          <p:nvPr/>
        </p:nvSpPr>
        <p:spPr>
          <a:xfrm>
            <a:off x="777240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слушателей за 5 лет по базовому сценарию модели (60 → 720 в год)</a:t>
            </a:r>
            <a:endParaRPr lang="en-US" sz="1250" dirty="0"/>
          </a:p>
        </p:txBody>
      </p:sp>
      <p:sp>
        <p:nvSpPr>
          <p:cNvPr id="41" name="a2_card"/>
          <p:cNvSpPr/>
          <p:nvPr/>
        </p:nvSpPr>
        <p:spPr>
          <a:xfrm>
            <a:off x="4338218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42" name="a2_v"/>
          <p:cNvSpPr txBox="1"/>
          <p:nvPr/>
        </p:nvSpPr>
        <p:spPr>
          <a:xfrm>
            <a:off x="4566818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Студия</a:t>
            </a:r>
            <a:endParaRPr lang="en-US" sz="2400" dirty="0"/>
          </a:p>
        </p:txBody>
      </p:sp>
      <p:sp>
        <p:nvSpPr>
          <p:cNvPr id="43" name="a2_l"/>
          <p:cNvSpPr txBox="1"/>
          <p:nvPr/>
        </p:nvSpPr>
        <p:spPr>
          <a:xfrm>
            <a:off x="4566818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практика на реальных продуктах FootureX и клиентов</a:t>
            </a:r>
            <a:endParaRPr lang="en-US" sz="1250" dirty="0"/>
          </a:p>
        </p:txBody>
      </p:sp>
      <p:sp>
        <p:nvSpPr>
          <p:cNvPr id="44" name="a3_card"/>
          <p:cNvSpPr/>
          <p:nvPr/>
        </p:nvSpPr>
        <p:spPr>
          <a:xfrm>
            <a:off x="8127797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45" name="a3_v"/>
          <p:cNvSpPr txBox="1"/>
          <p:nvPr/>
        </p:nvSpPr>
        <p:spPr>
          <a:xfrm>
            <a:off x="8356397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Партнёры</a:t>
            </a:r>
            <a:endParaRPr lang="en-US" sz="2400" dirty="0"/>
          </a:p>
        </p:txBody>
      </p:sp>
      <p:sp>
        <p:nvSpPr>
          <p:cNvPr id="46" name="a3_l"/>
          <p:cNvSpPr txBox="1"/>
          <p:nvPr/>
        </p:nvSpPr>
        <p:spPr>
          <a:xfrm>
            <a:off x="8356397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целевые работодатели: IT-компании, студии, банки, телеком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38" grpId="0" animBg="1"/>
      <p:bldP spid="39" grpId="0"/>
      <p:bldP spid="40" grpId="0"/>
      <p:bldP spid="14" grpId="0" animBg="1"/>
      <p:bldP spid="15" grpId="0"/>
      <p:bldP spid="16" grpId="0" animBg="1"/>
      <p:bldP spid="17" grpId="0"/>
      <p:bldP spid="18" grpId="0"/>
      <p:bldP spid="41" grpId="0" animBg="1"/>
      <p:bldP spid="42" grpId="0"/>
      <p:bldP spid="43" grpId="0"/>
      <p:bldP spid="19" grpId="0" animBg="1"/>
      <p:bldP spid="20" grpId="0"/>
      <p:bldP spid="21" grpId="0" animBg="1"/>
      <p:bldP spid="22" grpId="0"/>
      <p:bldP spid="23" grpId="0"/>
      <p:bldP spid="44" grpId="0" animBg="1"/>
      <p:bldP spid="45" grpId="0"/>
      <p:bldP spid="46" grpId="0"/>
      <p:bldP spid="24" grpId="0" animBg="1"/>
      <p:bldP spid="25" grpId="0"/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/>
      <p:bldP spid="33" grpId="0"/>
      <p:bldP spid="34" grpId="0" animBg="1"/>
      <p:bldP spid="35" grpId="0"/>
      <p:bldP spid="36" grpId="0"/>
      <p:bldP spid="3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Монетизация образовательного направления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модель FootureX — слушатели × средняя стоимость обучения ($700 → $900). Требует подтверждения.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28800"/>
          <a:ext cx="66751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a2_ins"/>
          <p:cNvSpPr/>
          <p:nvPr/>
        </p:nvSpPr>
        <p:spPr>
          <a:xfrm>
            <a:off x="7498080" y="1828800"/>
            <a:ext cx="4142232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726680" y="2029968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 выручки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726680" y="2432304"/>
            <a:ext cx="368503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B2C: оплата обучения (в модели)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B2B: корпоративные программы (вне модели)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Гранты и программы поддержки (вне модели, требуют подтверждения)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Сертификация и интенсивы (вне модели)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 в модели: 52% → 55%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1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Масштабирование академии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 · EDUCATION &amp; ACADEMY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E3B55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· Ташкент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2–3 программы, 60 слушателей, отработка методики.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3D8BFF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8B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2–3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программы онлайн, слушатели из регионов Узбекистана.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FFB547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B54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3–4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площадки в вузах и IT-хабах регионов.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C9D3E3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3E3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5+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Центральная Азия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Программы на русском и английском для соседних стран.</a:t>
            </a:r>
            <a:endParaRPr lang="en-US" sz="1250" dirty="0"/>
          </a:p>
        </p:txBody>
      </p:sp>
      <p:sp>
        <p:nvSpPr>
          <p:cNvPr id="26" name="a5_k"/>
          <p:cNvSpPr/>
          <p:nvPr/>
        </p:nvSpPr>
        <p:spPr>
          <a:xfrm>
            <a:off x="548640" y="475488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75488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</a:t>
            </a:r>
            <a:pPr indent="0" marL="0">
              <a:buNone/>
            </a:pPr>
            <a:r>
              <a:rPr lang="en-US" sz="14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масштабируем методику и онлайн-платформу, а не здания — капитальные затраты на учебные пространства ограничены арендой и оснащением.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stadium-interi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FC FootureX — концепция профессионального клуба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 ФУТБОЛА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футбольный клуб, который соединяет спортивный результат, данные и цифровую аудиторию бренда FootureX.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основная команда и молодёжь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AI-аналитика в каждом решении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Бренд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цифровая и реальная аудитория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 формирования команды: путь по лигам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Uzbekistan Super League — 16 клубов (сезон 2026). Требования лицензирования — по регламентам ПФЛ и АФУ, требуют подтверждения.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0" name="a4_l"/>
          <p:cNvSpPr/>
          <p:nvPr/>
        </p:nvSpPr>
        <p:spPr>
          <a:xfrm>
            <a:off x="2194560" y="1874520"/>
            <a:ext cx="3840480" cy="841248"/>
          </a:xfrm>
          <a:prstGeom prst="roundRect">
            <a:avLst>
              <a:gd name="adj" fmla="val 10870"/>
            </a:avLst>
          </a:prstGeom>
          <a:solidFill>
            <a:srgbClr val="0E1521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1" name="a4_t"/>
          <p:cNvSpPr txBox="1"/>
          <p:nvPr/>
        </p:nvSpPr>
        <p:spPr>
          <a:xfrm>
            <a:off x="242316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Суперлига · 16 клубов</a:t>
            </a:r>
            <a:endParaRPr lang="en-US" sz="1500" dirty="0"/>
          </a:p>
        </p:txBody>
      </p:sp>
      <p:sp>
        <p:nvSpPr>
          <p:cNvPr id="12" name="a4_d"/>
          <p:cNvSpPr txBox="1"/>
          <p:nvPr/>
        </p:nvSpPr>
        <p:spPr>
          <a:xfrm>
            <a:off x="242316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горизонта 10+ лет</a:t>
            </a:r>
            <a:endParaRPr lang="en-US" sz="1150" dirty="0"/>
          </a:p>
        </p:txBody>
      </p:sp>
      <p:sp>
        <p:nvSpPr>
          <p:cNvPr id="13" name="a3_l"/>
          <p:cNvSpPr/>
          <p:nvPr/>
        </p:nvSpPr>
        <p:spPr>
          <a:xfrm>
            <a:off x="1783080" y="2880360"/>
            <a:ext cx="4663440" cy="841248"/>
          </a:xfrm>
          <a:prstGeom prst="roundRect">
            <a:avLst>
              <a:gd name="adj" fmla="val 10870"/>
            </a:avLst>
          </a:prstGeom>
          <a:solidFill>
            <a:srgbClr val="0E1521"/>
          </a:solidFill>
          <a:ln w="15875">
            <a:solidFill>
              <a:srgbClr val="3D8BFF"/>
            </a:solidFill>
            <a:prstDash val="solid"/>
          </a:ln>
        </p:spPr>
      </p:sp>
      <p:sp>
        <p:nvSpPr>
          <p:cNvPr id="14" name="a3_t"/>
          <p:cNvSpPr txBox="1"/>
          <p:nvPr/>
        </p:nvSpPr>
        <p:spPr>
          <a:xfrm>
            <a:off x="2011680" y="2880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3D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Про-лига</a:t>
            </a:r>
            <a:endParaRPr lang="en-US" sz="1500" dirty="0"/>
          </a:p>
        </p:txBody>
      </p:sp>
      <p:sp>
        <p:nvSpPr>
          <p:cNvPr id="15" name="a3_d"/>
          <p:cNvSpPr txBox="1"/>
          <p:nvPr/>
        </p:nvSpPr>
        <p:spPr>
          <a:xfrm>
            <a:off x="201168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статус, лицензия</a:t>
            </a:r>
            <a:endParaRPr lang="en-US" sz="1150" dirty="0"/>
          </a:p>
        </p:txBody>
      </p:sp>
      <p:sp>
        <p:nvSpPr>
          <p:cNvPr id="16" name="a2_l"/>
          <p:cNvSpPr/>
          <p:nvPr/>
        </p:nvSpPr>
        <p:spPr>
          <a:xfrm>
            <a:off x="1371600" y="3886200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0E1521"/>
          </a:solidFill>
          <a:ln w="15875">
            <a:solidFill>
              <a:srgbClr val="FFB547"/>
            </a:solidFill>
            <a:prstDash val="solid"/>
          </a:ln>
        </p:spPr>
      </p:sp>
      <p:sp>
        <p:nvSpPr>
          <p:cNvPr id="17" name="a2_t"/>
          <p:cNvSpPr txBox="1"/>
          <p:nvPr/>
        </p:nvSpPr>
        <p:spPr>
          <a:xfrm>
            <a:off x="1600200" y="3886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B5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Низшие лиги</a:t>
            </a:r>
            <a:endParaRPr lang="en-US" sz="1500" dirty="0"/>
          </a:p>
        </p:txBody>
      </p:sp>
      <p:sp>
        <p:nvSpPr>
          <p:cNvPr id="18" name="a2_d"/>
          <p:cNvSpPr txBox="1"/>
          <p:nvPr/>
        </p:nvSpPr>
        <p:spPr>
          <a:xfrm>
            <a:off x="160020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официальный уровень</a:t>
            </a:r>
            <a:endParaRPr lang="en-US" sz="1150" dirty="0"/>
          </a:p>
        </p:txBody>
      </p:sp>
      <p:sp>
        <p:nvSpPr>
          <p:cNvPr id="19" name="a1_l"/>
          <p:cNvSpPr/>
          <p:nvPr/>
        </p:nvSpPr>
        <p:spPr>
          <a:xfrm>
            <a:off x="960120" y="4892040"/>
            <a:ext cx="6309360" cy="841248"/>
          </a:xfrm>
          <a:prstGeom prst="roundRect">
            <a:avLst>
              <a:gd name="adj" fmla="val 10870"/>
            </a:avLst>
          </a:prstGeom>
          <a:solidFill>
            <a:srgbClr val="0E1521"/>
          </a:solidFill>
          <a:ln w="15875">
            <a:solidFill>
              <a:srgbClr val="C9D3E3"/>
            </a:solidFill>
            <a:prstDash val="solid"/>
          </a:ln>
        </p:spPr>
      </p:sp>
      <p:sp>
        <p:nvSpPr>
          <p:cNvPr id="20" name="a1_t"/>
          <p:cNvSpPr txBox="1"/>
          <p:nvPr/>
        </p:nvSpPr>
        <p:spPr>
          <a:xfrm>
            <a:off x="1188720" y="4892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Любительский уровень</a:t>
            </a:r>
            <a:endParaRPr lang="en-US" sz="1500" dirty="0"/>
          </a:p>
        </p:txBody>
      </p:sp>
      <p:sp>
        <p:nvSpPr>
          <p:cNvPr id="21" name="a1_d"/>
          <p:cNvSpPr txBox="1"/>
          <p:nvPr/>
        </p:nvSpPr>
        <p:spPr>
          <a:xfrm>
            <a:off x="1188720" y="5349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Старт: команда, тренерский штаб, база</a:t>
            </a:r>
            <a:endParaRPr lang="en-US" sz="1150" dirty="0"/>
          </a:p>
        </p:txBody>
      </p:sp>
      <p:sp>
        <p:nvSpPr>
          <p:cNvPr id="22" name="a2_ins"/>
          <p:cNvSpPr/>
          <p:nvPr/>
        </p:nvSpPr>
        <p:spPr>
          <a:xfrm>
            <a:off x="8001000" y="187452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0" y="207568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Принципы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2478024"/>
            <a:ext cx="31821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растёт только вслед за результатом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 на воспитанников Football Academy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Решения по составу — с опорой на данные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Соответствие лицензионным требованиям — до заявки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16" grpId="0" animBg="1"/>
      <p:bldP spid="17" grpId="0"/>
      <p:bldP spid="18" grpId="0"/>
      <p:bldP spid="22" grpId="0" animBg="1"/>
      <p:bldP spid="13" grpId="0" animBg="1"/>
      <p:bldP spid="14" grpId="0"/>
      <p:bldP spid="15" grpId="0"/>
      <p:bldP spid="10" grpId="0" animBg="1"/>
      <p:bldP spid="11" grpId="0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Организационная структура клуба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4727448" y="18288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E1521"/>
          </a:solidFill>
          <a:ln w="12700">
            <a:solidFill>
              <a:srgbClr val="0E152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18888" y="1920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Совет клуба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18888" y="22311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и бюджет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99048" y="2514600"/>
            <a:ext cx="0" cy="22860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3" name="a2_b"/>
          <p:cNvSpPr/>
          <p:nvPr/>
        </p:nvSpPr>
        <p:spPr>
          <a:xfrm>
            <a:off x="4727448" y="27432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18888" y="2834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Генеральный директор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18888" y="31455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клубом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99048" y="3429000"/>
            <a:ext cx="0" cy="27432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11680" y="3703320"/>
            <a:ext cx="8165592" cy="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11680" y="3703320"/>
            <a:ext cx="0" cy="18288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9" name="a3_b"/>
          <p:cNvSpPr/>
          <p:nvPr/>
        </p:nvSpPr>
        <p:spPr>
          <a:xfrm>
            <a:off x="548640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директор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Главный тренер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Академия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Скаутинг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Аналитика и AI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815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Медицина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094476" y="3703320"/>
            <a:ext cx="0" cy="18288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27" name="a4_b"/>
          <p:cNvSpPr/>
          <p:nvPr/>
        </p:nvSpPr>
        <p:spPr>
          <a:xfrm>
            <a:off x="4631436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22876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Коммерческий директор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905756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Маркетинг и бренд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905756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Партнёрства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4905756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Билеты и болельщики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4905756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Медиа и digital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10177272" y="3703320"/>
            <a:ext cx="0" cy="18288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34" name="a5_b"/>
          <p:cNvSpPr/>
          <p:nvPr/>
        </p:nvSpPr>
        <p:spPr>
          <a:xfrm>
            <a:off x="8714232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805672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Операционный директор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8988552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Финансы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988552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Юридический блок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8988552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Инфраструктура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988552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Лицензирование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9" grpId="0" animBg="1"/>
      <p:bldP spid="27" grpId="0" animBg="1"/>
      <p:bldP spid="3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academy-ae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Football Academy — детско-юношеская академия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card"/>
          <p:cNvSpPr/>
          <p:nvPr/>
        </p:nvSpPr>
        <p:spPr>
          <a:xfrm>
            <a:off x="548640" y="182880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1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371600" y="203911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игроков</a:t>
            </a:r>
            <a:endParaRPr lang="en-US" sz="1400" dirty="0"/>
          </a:p>
        </p:txBody>
      </p:sp>
      <p:sp>
        <p:nvSpPr>
          <p:cNvPr id="19" name="a1_d"/>
          <p:cNvSpPr txBox="1"/>
          <p:nvPr/>
        </p:nvSpPr>
        <p:spPr>
          <a:xfrm>
            <a:off x="777240" y="267919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Возрастные группы от 8 до 19 лет, единая игровая модель.</a:t>
            </a:r>
            <a:endParaRPr lang="en-US" sz="1200" dirty="0"/>
          </a:p>
        </p:txBody>
      </p:sp>
      <p:sp>
        <p:nvSpPr>
          <p:cNvPr id="20" name="a2_card"/>
          <p:cNvSpPr/>
          <p:nvPr/>
        </p:nvSpPr>
        <p:spPr>
          <a:xfrm>
            <a:off x="3543300" y="182880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1" name="a2_iconbg"/>
          <p:cNvSpPr/>
          <p:nvPr/>
        </p:nvSpPr>
        <p:spPr>
          <a:xfrm>
            <a:off x="377190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2" name="a2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1628" y="2167128"/>
            <a:ext cx="237744" cy="237744"/>
          </a:xfrm>
          <a:prstGeom prst="rect">
            <a:avLst/>
          </a:prstGeom>
        </p:spPr>
      </p:pic>
      <p:sp>
        <p:nvSpPr>
          <p:cNvPr id="23" name="a2_t"/>
          <p:cNvSpPr txBox="1"/>
          <p:nvPr/>
        </p:nvSpPr>
        <p:spPr>
          <a:xfrm>
            <a:off x="4366260" y="203911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400" dirty="0"/>
          </a:p>
        </p:txBody>
      </p:sp>
      <p:sp>
        <p:nvSpPr>
          <p:cNvPr id="24" name="a2_d"/>
          <p:cNvSpPr txBox="1"/>
          <p:nvPr/>
        </p:nvSpPr>
        <p:spPr>
          <a:xfrm>
            <a:off x="3771900" y="267919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Фестивали в регионах и цифровой отбор.</a:t>
            </a:r>
            <a:endParaRPr lang="en-US" sz="1200" dirty="0"/>
          </a:p>
        </p:txBody>
      </p:sp>
      <p:sp>
        <p:nvSpPr>
          <p:cNvPr id="25" name="a3_card"/>
          <p:cNvSpPr/>
          <p:nvPr/>
        </p:nvSpPr>
        <p:spPr>
          <a:xfrm>
            <a:off x="548640" y="381762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6" name="a3_iconbg"/>
          <p:cNvSpPr/>
          <p:nvPr/>
        </p:nvSpPr>
        <p:spPr>
          <a:xfrm>
            <a:off x="777240" y="40462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7" name="a3_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55948"/>
            <a:ext cx="237744" cy="237744"/>
          </a:xfrm>
          <a:prstGeom prst="rect">
            <a:avLst/>
          </a:prstGeom>
        </p:spPr>
      </p:pic>
      <p:sp>
        <p:nvSpPr>
          <p:cNvPr id="28" name="a3_t"/>
          <p:cNvSpPr txBox="1"/>
          <p:nvPr/>
        </p:nvSpPr>
        <p:spPr>
          <a:xfrm>
            <a:off x="1371600" y="402793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Спортивная аналитика</a:t>
            </a:r>
            <a:endParaRPr lang="en-US" sz="1400" dirty="0"/>
          </a:p>
        </p:txBody>
      </p:sp>
      <p:sp>
        <p:nvSpPr>
          <p:cNvPr id="29" name="a3_d"/>
          <p:cNvSpPr txBox="1"/>
          <p:nvPr/>
        </p:nvSpPr>
        <p:spPr>
          <a:xfrm>
            <a:off x="777240" y="466801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о развитии каждого игрока.</a:t>
            </a:r>
            <a:endParaRPr lang="en-US" sz="1200" dirty="0"/>
          </a:p>
        </p:txBody>
      </p:sp>
      <p:sp>
        <p:nvSpPr>
          <p:cNvPr id="30" name="a4_card"/>
          <p:cNvSpPr/>
          <p:nvPr/>
        </p:nvSpPr>
        <p:spPr>
          <a:xfrm>
            <a:off x="3543300" y="381762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3771900" y="40462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2" name="a4_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1628" y="415594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4366260" y="402793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3771900" y="466801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методикой с зарубежными академиями.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1" grpId="0" animBg="1"/>
      <p:bldP spid="33" grpId="0"/>
      <p:bldP spid="3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Подготовка молодых футболистов: путь от 8 до 19 лет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548640" y="434340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0E1521"/>
          </a:solidFill>
          <a:ln w="15875">
            <a:solidFill>
              <a:srgbClr val="C9D3E3"/>
            </a:solidFill>
            <a:prstDash val="solid"/>
          </a:ln>
        </p:spPr>
      </p:sp>
      <p:sp>
        <p:nvSpPr>
          <p:cNvPr id="10" name="a1_a"/>
          <p:cNvSpPr txBox="1"/>
          <p:nvPr/>
        </p:nvSpPr>
        <p:spPr>
          <a:xfrm>
            <a:off x="749808" y="4507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U8–U10</a:t>
            </a:r>
            <a:endParaRPr lang="en-US" sz="1800" dirty="0"/>
          </a:p>
        </p:txBody>
      </p:sp>
      <p:sp>
        <p:nvSpPr>
          <p:cNvPr id="11" name="a1_t"/>
          <p:cNvSpPr txBox="1"/>
          <p:nvPr/>
        </p:nvSpPr>
        <p:spPr>
          <a:xfrm>
            <a:off x="749808" y="49377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</a:t>
            </a:r>
            <a:endParaRPr lang="en-US" sz="1400" dirty="0"/>
          </a:p>
        </p:txBody>
      </p:sp>
      <p:sp>
        <p:nvSpPr>
          <p:cNvPr id="12" name="a1_d"/>
          <p:cNvSpPr txBox="1"/>
          <p:nvPr/>
        </p:nvSpPr>
        <p:spPr>
          <a:xfrm>
            <a:off x="749808" y="5257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Любовь к игре, координация, техника владения мячом</a:t>
            </a:r>
            <a:endParaRPr lang="en-US" sz="1100" dirty="0"/>
          </a:p>
        </p:txBody>
      </p:sp>
      <p:sp>
        <p:nvSpPr>
          <p:cNvPr id="13" name="a2_b"/>
          <p:cNvSpPr/>
          <p:nvPr/>
        </p:nvSpPr>
        <p:spPr>
          <a:xfrm>
            <a:off x="3355848" y="365760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0E1521"/>
          </a:solidFill>
          <a:ln w="15875">
            <a:solidFill>
              <a:srgbClr val="3D8BFF"/>
            </a:solidFill>
            <a:prstDash val="solid"/>
          </a:ln>
        </p:spPr>
      </p:sp>
      <p:sp>
        <p:nvSpPr>
          <p:cNvPr id="14" name="a2_a"/>
          <p:cNvSpPr txBox="1"/>
          <p:nvPr/>
        </p:nvSpPr>
        <p:spPr>
          <a:xfrm>
            <a:off x="3557016" y="38221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D8B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U11–U14</a:t>
            </a:r>
            <a:endParaRPr lang="en-US" sz="1800" dirty="0"/>
          </a:p>
        </p:txBody>
      </p:sp>
      <p:sp>
        <p:nvSpPr>
          <p:cNvPr id="15" name="a2_t"/>
          <p:cNvSpPr txBox="1"/>
          <p:nvPr/>
        </p:nvSpPr>
        <p:spPr>
          <a:xfrm>
            <a:off x="3557016" y="4251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</a:t>
            </a:r>
            <a:endParaRPr lang="en-US" sz="1400" dirty="0"/>
          </a:p>
        </p:txBody>
      </p:sp>
      <p:sp>
        <p:nvSpPr>
          <p:cNvPr id="16" name="a2_d"/>
          <p:cNvSpPr txBox="1"/>
          <p:nvPr/>
        </p:nvSpPr>
        <p:spPr>
          <a:xfrm>
            <a:off x="3557016" y="4572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Техника, понимание игры, позиционные принципы</a:t>
            </a:r>
            <a:endParaRPr lang="en-US" sz="1100" dirty="0"/>
          </a:p>
        </p:txBody>
      </p:sp>
      <p:sp>
        <p:nvSpPr>
          <p:cNvPr id="17" name="a3_b"/>
          <p:cNvSpPr/>
          <p:nvPr/>
        </p:nvSpPr>
        <p:spPr>
          <a:xfrm>
            <a:off x="6163056" y="297180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E1521"/>
          </a:solidFill>
          <a:ln w="15875">
            <a:solidFill>
              <a:srgbClr val="FFB547"/>
            </a:solidFill>
            <a:prstDash val="solid"/>
          </a:ln>
        </p:spPr>
      </p:sp>
      <p:sp>
        <p:nvSpPr>
          <p:cNvPr id="18" name="a3_a"/>
          <p:cNvSpPr txBox="1"/>
          <p:nvPr/>
        </p:nvSpPr>
        <p:spPr>
          <a:xfrm>
            <a:off x="6364224" y="31363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B547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U15–U17</a:t>
            </a:r>
            <a:endParaRPr lang="en-US" sz="1800" dirty="0"/>
          </a:p>
        </p:txBody>
      </p:sp>
      <p:sp>
        <p:nvSpPr>
          <p:cNvPr id="19" name="a3_t"/>
          <p:cNvSpPr txBox="1"/>
          <p:nvPr/>
        </p:nvSpPr>
        <p:spPr>
          <a:xfrm>
            <a:off x="6364224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0" name="a3_d"/>
          <p:cNvSpPr txBox="1"/>
          <p:nvPr/>
        </p:nvSpPr>
        <p:spPr>
          <a:xfrm>
            <a:off x="6364224" y="3886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Тактика, физическая подготовка, соревнования</a:t>
            </a:r>
            <a:endParaRPr lang="en-US" sz="1100" dirty="0"/>
          </a:p>
        </p:txBody>
      </p:sp>
      <p:sp>
        <p:nvSpPr>
          <p:cNvPr id="21" name="a4_b"/>
          <p:cNvSpPr/>
          <p:nvPr/>
        </p:nvSpPr>
        <p:spPr>
          <a:xfrm>
            <a:off x="8970264" y="228600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0E1521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2" name="a4_a"/>
          <p:cNvSpPr txBox="1"/>
          <p:nvPr/>
        </p:nvSpPr>
        <p:spPr>
          <a:xfrm>
            <a:off x="9171432" y="24505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U18–U19</a:t>
            </a:r>
            <a:endParaRPr lang="en-US" sz="1800" dirty="0"/>
          </a:p>
        </p:txBody>
      </p:sp>
      <p:sp>
        <p:nvSpPr>
          <p:cNvPr id="23" name="a4_t"/>
          <p:cNvSpPr txBox="1"/>
          <p:nvPr/>
        </p:nvSpPr>
        <p:spPr>
          <a:xfrm>
            <a:off x="9171432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</a:t>
            </a:r>
            <a:endParaRPr lang="en-US" sz="1400" dirty="0"/>
          </a:p>
        </p:txBody>
      </p:sp>
      <p:sp>
        <p:nvSpPr>
          <p:cNvPr id="24" name="a4_d"/>
          <p:cNvSpPr txBox="1"/>
          <p:nvPr/>
        </p:nvSpPr>
        <p:spPr>
          <a:xfrm>
            <a:off x="9171432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практика на взрослом уровне, профессиональный быт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874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Учёба в школе и языки — обязательная часть программы на всех этапах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Система поиска талантов: охват всей страны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f"/>
          <p:cNvSpPr/>
          <p:nvPr/>
        </p:nvSpPr>
        <p:spPr>
          <a:xfrm>
            <a:off x="548640" y="1828800"/>
            <a:ext cx="6766560" cy="676656"/>
          </a:xfrm>
          <a:prstGeom prst="roundRect">
            <a:avLst>
              <a:gd name="adj" fmla="val 13514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548640" y="182880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Фестивали и школьные турниры</a:t>
            </a:r>
            <a:endParaRPr lang="en-US" sz="1300" dirty="0"/>
          </a:p>
        </p:txBody>
      </p:sp>
      <p:sp>
        <p:nvSpPr>
          <p:cNvPr id="11" name="a1_d"/>
          <p:cNvSpPr txBox="1"/>
          <p:nvPr/>
        </p:nvSpPr>
        <p:spPr>
          <a:xfrm>
            <a:off x="548640" y="221284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 Узбекистана</a:t>
            </a:r>
            <a:endParaRPr lang="en-US" sz="1000" dirty="0"/>
          </a:p>
        </p:txBody>
      </p:sp>
      <p:sp>
        <p:nvSpPr>
          <p:cNvPr id="12" name="a2_f"/>
          <p:cNvSpPr/>
          <p:nvPr/>
        </p:nvSpPr>
        <p:spPr>
          <a:xfrm>
            <a:off x="1051560" y="2633472"/>
            <a:ext cx="5760720" cy="676656"/>
          </a:xfrm>
          <a:prstGeom prst="roundRect">
            <a:avLst>
              <a:gd name="adj" fmla="val 13514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3" name="a2_t"/>
          <p:cNvSpPr txBox="1"/>
          <p:nvPr/>
        </p:nvSpPr>
        <p:spPr>
          <a:xfrm>
            <a:off x="1051560" y="263347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Видео- и цифровой отбор</a:t>
            </a:r>
            <a:endParaRPr lang="en-US" sz="1300" dirty="0"/>
          </a:p>
        </p:txBody>
      </p:sp>
      <p:sp>
        <p:nvSpPr>
          <p:cNvPr id="14" name="a2_d"/>
          <p:cNvSpPr txBox="1"/>
          <p:nvPr/>
        </p:nvSpPr>
        <p:spPr>
          <a:xfrm>
            <a:off x="1051560" y="301752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загрузка видео, тесты, данные</a:t>
            </a:r>
            <a:endParaRPr lang="en-US" sz="1000" dirty="0"/>
          </a:p>
        </p:txBody>
      </p:sp>
      <p:sp>
        <p:nvSpPr>
          <p:cNvPr id="15" name="a3_f"/>
          <p:cNvSpPr/>
          <p:nvPr/>
        </p:nvSpPr>
        <p:spPr>
          <a:xfrm>
            <a:off x="1554480" y="3438144"/>
            <a:ext cx="4754880" cy="676656"/>
          </a:xfrm>
          <a:prstGeom prst="roundRect">
            <a:avLst>
              <a:gd name="adj" fmla="val 13514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6" name="a3_t"/>
          <p:cNvSpPr txBox="1"/>
          <p:nvPr/>
        </p:nvSpPr>
        <p:spPr>
          <a:xfrm>
            <a:off x="1554480" y="34381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Просмотровые сборы</a:t>
            </a:r>
            <a:endParaRPr lang="en-US" sz="1300" dirty="0"/>
          </a:p>
        </p:txBody>
      </p:sp>
      <p:sp>
        <p:nvSpPr>
          <p:cNvPr id="17" name="a3_d"/>
          <p:cNvSpPr txBox="1"/>
          <p:nvPr/>
        </p:nvSpPr>
        <p:spPr>
          <a:xfrm>
            <a:off x="1554480" y="3822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Ташкенте и регионах</a:t>
            </a:r>
            <a:endParaRPr lang="en-US" sz="1000" dirty="0"/>
          </a:p>
        </p:txBody>
      </p:sp>
      <p:sp>
        <p:nvSpPr>
          <p:cNvPr id="18" name="a4_f"/>
          <p:cNvSpPr/>
          <p:nvPr/>
        </p:nvSpPr>
        <p:spPr>
          <a:xfrm>
            <a:off x="2057400" y="4242816"/>
            <a:ext cx="3749040" cy="676656"/>
          </a:xfrm>
          <a:prstGeom prst="roundRect">
            <a:avLst>
              <a:gd name="adj" fmla="val 13514"/>
            </a:avLst>
          </a:prstGeom>
          <a:solidFill>
            <a:srgbClr val="0E1521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9" name="a4_t"/>
          <p:cNvSpPr txBox="1"/>
          <p:nvPr/>
        </p:nvSpPr>
        <p:spPr>
          <a:xfrm>
            <a:off x="2057400" y="424281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Пробный период</a:t>
            </a:r>
            <a:endParaRPr lang="en-US" sz="1300" dirty="0"/>
          </a:p>
        </p:txBody>
      </p:sp>
      <p:sp>
        <p:nvSpPr>
          <p:cNvPr id="20" name="a4_d"/>
          <p:cNvSpPr txBox="1"/>
          <p:nvPr/>
        </p:nvSpPr>
        <p:spPr>
          <a:xfrm>
            <a:off x="2057400" y="46268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тренировки в группе</a:t>
            </a:r>
            <a:endParaRPr lang="en-US" sz="1000" dirty="0"/>
          </a:p>
        </p:txBody>
      </p:sp>
      <p:sp>
        <p:nvSpPr>
          <p:cNvPr id="21" name="a5_f"/>
          <p:cNvSpPr/>
          <p:nvPr/>
        </p:nvSpPr>
        <p:spPr>
          <a:xfrm>
            <a:off x="2560320" y="5047488"/>
            <a:ext cx="2743200" cy="676656"/>
          </a:xfrm>
          <a:prstGeom prst="roundRect">
            <a:avLst>
              <a:gd name="adj" fmla="val 13514"/>
            </a:avLst>
          </a:prstGeom>
          <a:solidFill>
            <a:srgbClr val="0F2E22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22" name="a5_t"/>
          <p:cNvSpPr txBox="1"/>
          <p:nvPr/>
        </p:nvSpPr>
        <p:spPr>
          <a:xfrm>
            <a:off x="2560320" y="50474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Зачисление</a:t>
            </a:r>
            <a:endParaRPr lang="en-US" sz="1300" dirty="0"/>
          </a:p>
        </p:txBody>
      </p:sp>
      <p:sp>
        <p:nvSpPr>
          <p:cNvPr id="23" name="a5_d"/>
          <p:cNvSpPr txBox="1"/>
          <p:nvPr/>
        </p:nvSpPr>
        <p:spPr>
          <a:xfrm>
            <a:off x="2560320" y="54315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индивидуальный план развития</a:t>
            </a:r>
            <a:endParaRPr lang="en-US" sz="1000" dirty="0"/>
          </a:p>
        </p:txBody>
      </p:sp>
      <p:sp>
        <p:nvSpPr>
          <p:cNvPr id="24" name="a2_ins"/>
          <p:cNvSpPr/>
          <p:nvPr/>
        </p:nvSpPr>
        <p:spPr>
          <a:xfrm>
            <a:off x="7680960" y="1828800"/>
            <a:ext cx="3959352" cy="4023360"/>
          </a:xfrm>
          <a:prstGeom prst="roundRect">
            <a:avLst>
              <a:gd name="adj" fmla="val 277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2029968"/>
            <a:ext cx="3502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 отбора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432304"/>
            <a:ext cx="3502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Просмотры бесплатны для семей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Согласие родителей на участие и обработку данных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персональных данных несовершеннолетних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Прозрачные критерии зачисления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24" grpId="0" animBg="1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Спортивная аналитика и AI в академии и клубе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Видеоаналитика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разметка эпизодов, разборы для тренеров и игроков.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6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Нагрузка и здоровье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и пульс: дозирование нагрузки, профилактика травм.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 развития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Динамика технических, физических и тактических показателей.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Скаутинговые модели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Сравнение игроков с эталонными профилями позиций.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1" name="a5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Тактические модели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Анализ соперников, моделирование игровых схем.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6" name="a6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данных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Согласие, обезличивание, ограниченный доступ.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Подготовка игроков к профессиональной карьере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a1_t"/>
          <p:cNvSpPr txBox="1"/>
          <p:nvPr/>
        </p:nvSpPr>
        <p:spPr>
          <a:xfrm>
            <a:off x="777240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языки</a:t>
            </a:r>
            <a:endParaRPr lang="en-US" sz="1500" dirty="0"/>
          </a:p>
        </p:txBody>
      </p:sp>
      <p:sp>
        <p:nvSpPr>
          <p:cNvPr id="12" name="a1_d"/>
          <p:cNvSpPr txBox="1"/>
          <p:nvPr/>
        </p:nvSpPr>
        <p:spPr>
          <a:xfrm>
            <a:off x="777240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Школьная программа, английский — условие международной карьеры.</a:t>
            </a:r>
            <a:endParaRPr lang="en-US" sz="1250" dirty="0"/>
          </a:p>
        </p:txBody>
      </p:sp>
      <p:sp>
        <p:nvSpPr>
          <p:cNvPr id="13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4" name="a2_num"/>
          <p:cNvSpPr txBox="1"/>
          <p:nvPr/>
        </p:nvSpPr>
        <p:spPr>
          <a:xfrm>
            <a:off x="455157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a2_t"/>
          <p:cNvSpPr txBox="1"/>
          <p:nvPr/>
        </p:nvSpPr>
        <p:spPr>
          <a:xfrm>
            <a:off x="4551578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Медицина и питание</a:t>
            </a:r>
            <a:endParaRPr lang="en-US" sz="1500" dirty="0"/>
          </a:p>
        </p:txBody>
      </p:sp>
      <p:sp>
        <p:nvSpPr>
          <p:cNvPr id="16" name="a2_d"/>
          <p:cNvSpPr txBox="1"/>
          <p:nvPr/>
        </p:nvSpPr>
        <p:spPr>
          <a:xfrm>
            <a:off x="4551578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Медицинский контроль, восстановление, спортивное питание.</a:t>
            </a:r>
            <a:endParaRPr lang="en-US" sz="1250" dirty="0"/>
          </a:p>
        </p:txBody>
      </p:sp>
      <p:sp>
        <p:nvSpPr>
          <p:cNvPr id="17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8" name="a3_num"/>
          <p:cNvSpPr txBox="1"/>
          <p:nvPr/>
        </p:nvSpPr>
        <p:spPr>
          <a:xfrm>
            <a:off x="8325917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a3_t"/>
          <p:cNvSpPr txBox="1"/>
          <p:nvPr/>
        </p:nvSpPr>
        <p:spPr>
          <a:xfrm>
            <a:off x="8325917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Психология</a:t>
            </a:r>
            <a:endParaRPr lang="en-US" sz="1500" dirty="0"/>
          </a:p>
        </p:txBody>
      </p:sp>
      <p:sp>
        <p:nvSpPr>
          <p:cNvPr id="20" name="a3_d"/>
          <p:cNvSpPr txBox="1"/>
          <p:nvPr/>
        </p:nvSpPr>
        <p:spPr>
          <a:xfrm>
            <a:off x="8325917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Устойчивость к давлению, лидерство, командная культура.</a:t>
            </a:r>
            <a:endParaRPr lang="en-US" sz="1250" dirty="0"/>
          </a:p>
        </p:txBody>
      </p:sp>
      <p:sp>
        <p:nvSpPr>
          <p:cNvPr id="21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4_num"/>
          <p:cNvSpPr txBox="1"/>
          <p:nvPr/>
        </p:nvSpPr>
        <p:spPr>
          <a:xfrm>
            <a:off x="77724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a4_t"/>
          <p:cNvSpPr txBox="1"/>
          <p:nvPr/>
        </p:nvSpPr>
        <p:spPr>
          <a:xfrm>
            <a:off x="777240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 и бренд</a:t>
            </a:r>
            <a:endParaRPr lang="en-US" sz="1500" dirty="0"/>
          </a:p>
        </p:txBody>
      </p:sp>
      <p:sp>
        <p:nvSpPr>
          <p:cNvPr id="24" name="a4_d"/>
          <p:cNvSpPr txBox="1"/>
          <p:nvPr/>
        </p:nvSpPr>
        <p:spPr>
          <a:xfrm>
            <a:off x="777240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Поведение в соцсетях и интервью, личный бренд игрока.</a:t>
            </a:r>
            <a:endParaRPr lang="en-US" sz="1250" dirty="0"/>
          </a:p>
        </p:txBody>
      </p:sp>
      <p:sp>
        <p:nvSpPr>
          <p:cNvPr id="25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6" name="a5_num"/>
          <p:cNvSpPr txBox="1"/>
          <p:nvPr/>
        </p:nvSpPr>
        <p:spPr>
          <a:xfrm>
            <a:off x="4551578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a5_t"/>
          <p:cNvSpPr txBox="1"/>
          <p:nvPr/>
        </p:nvSpPr>
        <p:spPr>
          <a:xfrm>
            <a:off x="4551578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 и право</a:t>
            </a:r>
            <a:endParaRPr lang="en-US" sz="1500" dirty="0"/>
          </a:p>
        </p:txBody>
      </p:sp>
      <p:sp>
        <p:nvSpPr>
          <p:cNvPr id="28" name="a5_d"/>
          <p:cNvSpPr txBox="1"/>
          <p:nvPr/>
        </p:nvSpPr>
        <p:spPr>
          <a:xfrm>
            <a:off x="4551578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Контракты, налоги, финансовая грамотность игрока и семьи.</a:t>
            </a:r>
            <a:endParaRPr lang="en-US" sz="1250" dirty="0"/>
          </a:p>
        </p:txBody>
      </p:sp>
      <p:sp>
        <p:nvSpPr>
          <p:cNvPr id="29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0" name="a6_num"/>
          <p:cNvSpPr txBox="1"/>
          <p:nvPr/>
        </p:nvSpPr>
        <p:spPr>
          <a:xfrm>
            <a:off x="8325917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2000" dirty="0"/>
          </a:p>
        </p:txBody>
      </p:sp>
      <p:sp>
        <p:nvSpPr>
          <p:cNvPr id="31" name="a6_t"/>
          <p:cNvSpPr txBox="1"/>
          <p:nvPr/>
        </p:nvSpPr>
        <p:spPr>
          <a:xfrm>
            <a:off x="8325917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Карьерное сопровождение</a:t>
            </a:r>
            <a:endParaRPr lang="en-US" sz="1500" dirty="0"/>
          </a:p>
        </p:txBody>
      </p:sp>
      <p:sp>
        <p:nvSpPr>
          <p:cNvPr id="32" name="a6_d"/>
          <p:cNvSpPr txBox="1"/>
          <p:nvPr/>
        </p:nvSpPr>
        <p:spPr>
          <a:xfrm>
            <a:off x="8325917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интересов игрока по правилам ФИФА о посредниках.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0" grpId="0"/>
      <p:bldP spid="31" grpId="0"/>
      <p:bldP spid="3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Международные футбольные партнёрства: целевые форматы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1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Методическое партнёрство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игровой моделью и программами с европейской или азиатской академией.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C9D3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850" dirty="0"/>
          </a:p>
        </p:txBody>
      </p:sp>
      <p:sp>
        <p:nvSpPr>
          <p:cNvPr id="16" name="a2_card"/>
          <p:cNvSpPr/>
          <p:nvPr/>
        </p:nvSpPr>
        <p:spPr>
          <a:xfrm>
            <a:off x="6210148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8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7033108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 тренеров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6438748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Стажировки и курсы для получения лицензий AFC и обмена опытом.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38748" y="335584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C9D3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38748" y="33558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850" dirty="0"/>
          </a:p>
        </p:txBody>
      </p:sp>
      <p:sp>
        <p:nvSpPr>
          <p:cNvPr id="23" name="a3_card"/>
          <p:cNvSpPr/>
          <p:nvPr/>
        </p:nvSpPr>
        <p:spPr>
          <a:xfrm>
            <a:off x="548640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371600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Сборы и турниры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777240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Международные юношеские турниры и учебно-тренировочные сборы.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77240" y="555040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C9D3E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55504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850" dirty="0"/>
          </a:p>
        </p:txBody>
      </p:sp>
      <p:sp>
        <p:nvSpPr>
          <p:cNvPr id="30" name="a4_card"/>
          <p:cNvSpPr/>
          <p:nvPr/>
        </p:nvSpPr>
        <p:spPr>
          <a:xfrm>
            <a:off x="6210148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6438748" y="42519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2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76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7033108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Скаутинговая сеть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6438748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данными о талантах и путь воспитанников в зарубежные клубы.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38748" y="555040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162030"/>
          </a:solidFill>
          <a:ln w="6350">
            <a:solidFill>
              <a:srgbClr val="C9D3E3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38748" y="55504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Трансферная стратегия: развивать, раскрывать, продавать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 механизмов: FIFA Regulations on the Status and Transfer of Players (компенсация за подготовку, механизм солидарности). Условия — по актуальной редакции.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386584"/>
            <a:ext cx="2074088" cy="0"/>
          </a:xfrm>
          <a:prstGeom prst="line">
            <a:avLst/>
          </a:prstGeom>
          <a:noFill/>
          <a:ln w="15875">
            <a:solidFill>
              <a:srgbClr val="C5CEDB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Развивать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Воспитанники академии с индивидуальным планом.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3372536" y="2103120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33725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4030904" y="2386584"/>
            <a:ext cx="2074088" cy="0"/>
          </a:xfrm>
          <a:prstGeom prst="line">
            <a:avLst/>
          </a:prstGeom>
          <a:noFill/>
          <a:ln w="15875">
            <a:solidFill>
              <a:srgbClr val="C5CEDB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3372536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Раскрывать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3372536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практика в основной команде FC FootureX.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6854800" y="2386584"/>
            <a:ext cx="2074088" cy="0"/>
          </a:xfrm>
          <a:prstGeom prst="line">
            <a:avLst/>
          </a:prstGeom>
          <a:noFill/>
          <a:ln w="15875">
            <a:solidFill>
              <a:srgbClr val="C5CEDB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6196432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Показывать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6196432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и видео — для скаутов клубов-покупателей.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9020327" y="2103120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902032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t"/>
          <p:cNvSpPr txBox="1"/>
          <p:nvPr/>
        </p:nvSpPr>
        <p:spPr>
          <a:xfrm>
            <a:off x="9020327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Продавать</a:t>
            </a:r>
            <a:endParaRPr lang="en-US" sz="1450" dirty="0"/>
          </a:p>
        </p:txBody>
      </p:sp>
      <p:sp>
        <p:nvSpPr>
          <p:cNvPr id="28" name="a4_d"/>
          <p:cNvSpPr txBox="1"/>
          <p:nvPr/>
        </p:nvSpPr>
        <p:spPr>
          <a:xfrm>
            <a:off x="9020327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Трансфер с бонусами и процентом от перепродажи.</a:t>
            </a:r>
            <a:endParaRPr lang="en-US" sz="1250" dirty="0"/>
          </a:p>
        </p:txBody>
      </p:sp>
      <p:sp>
        <p:nvSpPr>
          <p:cNvPr id="29" name="a5_c1"/>
          <p:cNvSpPr/>
          <p:nvPr/>
        </p:nvSpPr>
        <p:spPr>
          <a:xfrm>
            <a:off x="548640" y="42062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Компенсация за подготовку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468172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Выплачивается клубам, готовившим игрока в возрасте 12–21 года, при первом профессиональном контракте и последующих переходах до 23 лет (FIFA RSTP).</a:t>
            </a:r>
            <a:endParaRPr lang="en-US" sz="1200" dirty="0"/>
          </a:p>
        </p:txBody>
      </p:sp>
      <p:sp>
        <p:nvSpPr>
          <p:cNvPr id="32" name="a6_c2"/>
          <p:cNvSpPr/>
          <p:nvPr/>
        </p:nvSpPr>
        <p:spPr>
          <a:xfrm>
            <a:off x="6199632" y="42062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428232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Механизм солидарности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6428232" y="468172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5% суммы каждого международного трансфера распределяется клубам, готовившим игрока в возрасте 12–23 лет (FIFA RSTP).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Перспективная модель лиги: FootureX Phygital League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n"/>
          <p:cNvSpPr/>
          <p:nvPr/>
        </p:nvSpPr>
        <p:spPr>
          <a:xfrm>
            <a:off x="2788920" y="1901952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2926080" y="197510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матчи</a:t>
            </a:r>
            <a:endParaRPr lang="en-US" sz="1250" dirty="0"/>
          </a:p>
        </p:txBody>
      </p:sp>
      <p:sp>
        <p:nvSpPr>
          <p:cNvPr id="11" name="a1_d"/>
          <p:cNvSpPr txBox="1"/>
          <p:nvPr/>
        </p:nvSpPr>
        <p:spPr>
          <a:xfrm>
            <a:off x="2926080" y="226771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Любительские и корпоративные команды</a:t>
            </a:r>
            <a:endParaRPr lang="en-US" sz="950" dirty="0"/>
          </a:p>
        </p:txBody>
      </p:sp>
      <p:sp>
        <p:nvSpPr>
          <p:cNvPr id="12" name="a2_n"/>
          <p:cNvSpPr/>
          <p:nvPr/>
        </p:nvSpPr>
        <p:spPr>
          <a:xfrm>
            <a:off x="4843459" y="3007663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3" name="a2_t"/>
          <p:cNvSpPr txBox="1"/>
          <p:nvPr/>
        </p:nvSpPr>
        <p:spPr>
          <a:xfrm>
            <a:off x="4980619" y="3080815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матчей</a:t>
            </a:r>
            <a:endParaRPr lang="en-US" sz="1250" dirty="0"/>
          </a:p>
        </p:txBody>
      </p:sp>
      <p:sp>
        <p:nvSpPr>
          <p:cNvPr id="14" name="a2_d"/>
          <p:cNvSpPr txBox="1"/>
          <p:nvPr/>
        </p:nvSpPr>
        <p:spPr>
          <a:xfrm>
            <a:off x="4980619" y="3373423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Статистика и видео — автоматически</a:t>
            </a:r>
            <a:endParaRPr lang="en-US" sz="950" dirty="0"/>
          </a:p>
        </p:txBody>
      </p:sp>
      <p:sp>
        <p:nvSpPr>
          <p:cNvPr id="15" name="a3_n"/>
          <p:cNvSpPr/>
          <p:nvPr/>
        </p:nvSpPr>
        <p:spPr>
          <a:xfrm>
            <a:off x="4058695" y="4796741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3_t"/>
          <p:cNvSpPr txBox="1"/>
          <p:nvPr/>
        </p:nvSpPr>
        <p:spPr>
          <a:xfrm>
            <a:off x="4195855" y="4869893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</a:t>
            </a:r>
            <a:endParaRPr lang="en-US" sz="1250" dirty="0"/>
          </a:p>
        </p:txBody>
      </p:sp>
      <p:sp>
        <p:nvSpPr>
          <p:cNvPr id="17" name="a3_d"/>
          <p:cNvSpPr txBox="1"/>
          <p:nvPr/>
        </p:nvSpPr>
        <p:spPr>
          <a:xfrm>
            <a:off x="4195855" y="5162501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Команды и игроки лиги в FootureX Game</a:t>
            </a:r>
            <a:endParaRPr lang="en-US" sz="950" dirty="0"/>
          </a:p>
        </p:txBody>
      </p:sp>
      <p:sp>
        <p:nvSpPr>
          <p:cNvPr id="18" name="a4_n"/>
          <p:cNvSpPr/>
          <p:nvPr/>
        </p:nvSpPr>
        <p:spPr>
          <a:xfrm>
            <a:off x="1519145" y="4796741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9" name="a4_t"/>
          <p:cNvSpPr txBox="1"/>
          <p:nvPr/>
        </p:nvSpPr>
        <p:spPr>
          <a:xfrm>
            <a:off x="1656305" y="4869893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Болельщики</a:t>
            </a:r>
            <a:endParaRPr lang="en-US" sz="1250" dirty="0"/>
          </a:p>
        </p:txBody>
      </p:sp>
      <p:sp>
        <p:nvSpPr>
          <p:cNvPr id="20" name="a4_d"/>
          <p:cNvSpPr txBox="1"/>
          <p:nvPr/>
        </p:nvSpPr>
        <p:spPr>
          <a:xfrm>
            <a:off x="1656305" y="5162501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Трансляции, прогнозы, сообщество в Telegram</a:t>
            </a:r>
            <a:endParaRPr lang="en-US" sz="950" dirty="0"/>
          </a:p>
        </p:txBody>
      </p:sp>
      <p:sp>
        <p:nvSpPr>
          <p:cNvPr id="21" name="a5_n"/>
          <p:cNvSpPr/>
          <p:nvPr/>
        </p:nvSpPr>
        <p:spPr>
          <a:xfrm>
            <a:off x="734381" y="3007663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5_t"/>
          <p:cNvSpPr txBox="1"/>
          <p:nvPr/>
        </p:nvSpPr>
        <p:spPr>
          <a:xfrm>
            <a:off x="871541" y="3080815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250" dirty="0"/>
          </a:p>
        </p:txBody>
      </p:sp>
      <p:sp>
        <p:nvSpPr>
          <p:cNvPr id="23" name="a5_d"/>
          <p:cNvSpPr txBox="1"/>
          <p:nvPr/>
        </p:nvSpPr>
        <p:spPr>
          <a:xfrm>
            <a:off x="871541" y="3373423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Лучшие игроки — в поле зрения академии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063240" y="3291840"/>
            <a:ext cx="1645920" cy="1188720"/>
          </a:xfrm>
          <a:prstGeom prst="ellipse">
            <a:avLst/>
          </a:prstGeom>
          <a:solidFill>
            <a:srgbClr val="0F2E22"/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63240" y="3520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PHYGITAL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063240" y="3886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лига</a:t>
            </a:r>
            <a:endParaRPr lang="en-US" sz="1200" dirty="0"/>
          </a:p>
        </p:txBody>
      </p:sp>
      <p:sp>
        <p:nvSpPr>
          <p:cNvPr id="27" name="a2_ins"/>
          <p:cNvSpPr/>
          <p:nvPr/>
        </p:nvSpPr>
        <p:spPr>
          <a:xfrm>
            <a:off x="7498080" y="1828800"/>
            <a:ext cx="4142232" cy="4069080"/>
          </a:xfrm>
          <a:prstGeom prst="roundRect">
            <a:avLst>
              <a:gd name="adj" fmla="val 269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26680" y="2029968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 работает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726680" y="2432304"/>
            <a:ext cx="36850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Уникальный продукт: реальный футбол внутри игры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Контент для медиа и спонсоров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Дополнительный канал скаутинга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согласования с футбольной ассоциацией и правовой проверки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27" grpId="0" animBg="1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Долгосрочная футбольная стратегия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 · FOOTBALL DEVELOPMENT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E3B55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1ED68A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3–4</a:t>
            </a:r>
            <a:endParaRPr lang="en-US" sz="14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Лига и дети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Phygital League, детские программы, первые фестивали.</a:t>
            </a:r>
            <a:endParaRPr lang="en-US" sz="1200" dirty="0"/>
          </a:p>
        </p:txBody>
      </p:sp>
      <p:sp>
        <p:nvSpPr>
          <p:cNvPr id="14" name="a2_d"/>
          <p:cNvSpPr/>
          <p:nvPr/>
        </p:nvSpPr>
        <p:spPr>
          <a:xfrm>
            <a:off x="2785811" y="2642616"/>
            <a:ext cx="201168" cy="201168"/>
          </a:xfrm>
          <a:prstGeom prst="ellipse">
            <a:avLst/>
          </a:prstGeom>
          <a:solidFill>
            <a:srgbClr val="3D8BFF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2767523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8B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4–5</a:t>
            </a:r>
            <a:endParaRPr lang="en-US" sz="1400" dirty="0"/>
          </a:p>
        </p:txBody>
      </p:sp>
      <p:sp>
        <p:nvSpPr>
          <p:cNvPr id="16" name="a2_t"/>
          <p:cNvSpPr txBox="1"/>
          <p:nvPr/>
        </p:nvSpPr>
        <p:spPr>
          <a:xfrm>
            <a:off x="2767523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2767523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Football Academy на арендуемой базе.</a:t>
            </a:r>
            <a:endParaRPr lang="en-US" sz="1200" dirty="0"/>
          </a:p>
        </p:txBody>
      </p:sp>
      <p:sp>
        <p:nvSpPr>
          <p:cNvPr id="18" name="a3_d"/>
          <p:cNvSpPr/>
          <p:nvPr/>
        </p:nvSpPr>
        <p:spPr>
          <a:xfrm>
            <a:off x="5004694" y="2642616"/>
            <a:ext cx="201168" cy="201168"/>
          </a:xfrm>
          <a:prstGeom prst="ellipse">
            <a:avLst/>
          </a:prstGeom>
          <a:solidFill>
            <a:srgbClr val="FFB547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4986406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B54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5–7</a:t>
            </a:r>
            <a:endParaRPr lang="en-US" sz="1400" dirty="0"/>
          </a:p>
        </p:txBody>
      </p:sp>
      <p:sp>
        <p:nvSpPr>
          <p:cNvPr id="20" name="a3_t"/>
          <p:cNvSpPr txBox="1"/>
          <p:nvPr/>
        </p:nvSpPr>
        <p:spPr>
          <a:xfrm>
            <a:off x="4986406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4986406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Любительский состав FC FootureX, первый официальный уровень.</a:t>
            </a:r>
            <a:endParaRPr lang="en-US" sz="1200" dirty="0"/>
          </a:p>
        </p:txBody>
      </p:sp>
      <p:sp>
        <p:nvSpPr>
          <p:cNvPr id="22" name="a4_d"/>
          <p:cNvSpPr/>
          <p:nvPr/>
        </p:nvSpPr>
        <p:spPr>
          <a:xfrm>
            <a:off x="7223577" y="2642616"/>
            <a:ext cx="201168" cy="201168"/>
          </a:xfrm>
          <a:prstGeom prst="ellipse">
            <a:avLst/>
          </a:prstGeom>
          <a:solidFill>
            <a:srgbClr val="E07A3F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7205289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07A3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7–10</a:t>
            </a:r>
            <a:endParaRPr lang="en-US" sz="1400" dirty="0"/>
          </a:p>
        </p:txBody>
      </p:sp>
      <p:sp>
        <p:nvSpPr>
          <p:cNvPr id="24" name="a4_t"/>
          <p:cNvSpPr txBox="1"/>
          <p:nvPr/>
        </p:nvSpPr>
        <p:spPr>
          <a:xfrm>
            <a:off x="7205289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Профессионалы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7205289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Лицензия и выход в профессиональные лиги.</a:t>
            </a:r>
            <a:endParaRPr lang="en-US" sz="1200" dirty="0"/>
          </a:p>
        </p:txBody>
      </p:sp>
      <p:sp>
        <p:nvSpPr>
          <p:cNvPr id="26" name="a5_d"/>
          <p:cNvSpPr/>
          <p:nvPr/>
        </p:nvSpPr>
        <p:spPr>
          <a:xfrm>
            <a:off x="9442460" y="2642616"/>
            <a:ext cx="201168" cy="201168"/>
          </a:xfrm>
          <a:prstGeom prst="ellipse">
            <a:avLst/>
          </a:prstGeom>
          <a:solidFill>
            <a:srgbClr val="C9D3E3"/>
          </a:solidFill>
          <a:ln w="25400">
            <a:solidFill>
              <a:srgbClr val="070B12"/>
            </a:solidFill>
            <a:prstDash val="solid"/>
          </a:ln>
        </p:spPr>
      </p:sp>
      <p:sp>
        <p:nvSpPr>
          <p:cNvPr id="27" name="a5_l"/>
          <p:cNvSpPr txBox="1"/>
          <p:nvPr/>
        </p:nvSpPr>
        <p:spPr>
          <a:xfrm>
            <a:off x="9424172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3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10+</a:t>
            </a:r>
            <a:endParaRPr lang="en-US" sz="1400" dirty="0"/>
          </a:p>
        </p:txBody>
      </p:sp>
      <p:sp>
        <p:nvSpPr>
          <p:cNvPr id="28" name="a5_t"/>
          <p:cNvSpPr txBox="1"/>
          <p:nvPr/>
        </p:nvSpPr>
        <p:spPr>
          <a:xfrm>
            <a:off x="9424172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</a:t>
            </a:r>
            <a:endParaRPr lang="en-US" sz="1350" dirty="0"/>
          </a:p>
        </p:txBody>
      </p:sp>
      <p:sp>
        <p:nvSpPr>
          <p:cNvPr id="29" name="a5_x"/>
          <p:cNvSpPr txBox="1"/>
          <p:nvPr/>
        </p:nvSpPr>
        <p:spPr>
          <a:xfrm>
            <a:off x="9424172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Собственная база и стадион — по итогам ТЭО.</a:t>
            </a:r>
            <a:endParaRPr lang="en-US" sz="1200" dirty="0"/>
          </a:p>
        </p:txBody>
      </p:sp>
      <p:sp>
        <p:nvSpPr>
          <p:cNvPr id="30" name="a6_k"/>
          <p:cNvSpPr/>
          <p:nvPr/>
        </p:nvSpPr>
        <p:spPr>
          <a:xfrm>
            <a:off x="548640" y="475488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475488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Условие каждого шага: </a:t>
            </a:r>
            <a:pPr indent="0" marL="0">
              <a:buNone/>
            </a:pPr>
            <a:r>
              <a:rPr lang="en-US" sz="14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подтверждённое финансирование, выполнение лицензионных требований и устойчивость цифровых направлений группы. Сроки — ориентиры, не обязательства.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7" grpId="0"/>
      <p:bldP spid="28" grpId="0"/>
      <p:bldP spid="29" grpId="0"/>
      <p:bldP spid="3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stadium-ae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58" y="-411480"/>
            <a:ext cx="13654699" cy="768096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Stadium — стратегическая концепция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ГОРОД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Современная спортивно-развлекательная арена: футбол, киберспорт, концерты и цифровые сервисы — как долгосрочная амбиция группы.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Футбол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домашняя арена клуба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Esports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арена турниров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События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концерты и шоу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stadium-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Предварительная концепция размещения: Новый Ташкент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gov.uz (Новый Ташкент: 20 000 га, первая очередь, метро); president.uz, fergana.agency (стадион на 55 тыс. мест, ≈$100 млн); ФИФА (U-20 World Cup 2027). Данные о первой очереди в источниках расходятся.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6" name="a1_p"/>
          <p:cNvSpPr/>
          <p:nvPr/>
        </p:nvSpPr>
        <p:spPr>
          <a:xfrm>
            <a:off x="548640" y="1828800"/>
            <a:ext cx="5577840" cy="4069080"/>
          </a:xfrm>
          <a:prstGeom prst="roundRect">
            <a:avLst>
              <a:gd name="adj" fmla="val 2697"/>
            </a:avLst>
          </a:prstGeom>
          <a:solidFill>
            <a:srgbClr val="070B12">
              <a:alpha val="82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777240" y="19659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Нового Ташкента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777240" y="2331720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20 000 га выделено под новый город; первая очередь — в стадии реализации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Государственный стадион на 55 тыс. мест (≈$100 млн) строится к U-20 World Cup 2027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Запланирована линия метро к центру Ташкента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" y="39319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Позиционирование FootureX Stadium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777240" y="42976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дублировать национальную арену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Клубный стадион средней вместимости + esports-арена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Параметры — только по итогам ТЭО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Земельный участок не выделен · требуется согласование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stadium-ae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 современного стадиона: концептуальные решения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c"/>
          <p:cNvSpPr/>
          <p:nvPr/>
        </p:nvSpPr>
        <p:spPr>
          <a:xfrm>
            <a:off x="5923940" y="1836801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6" name="a1_cn"/>
          <p:cNvSpPr txBox="1"/>
          <p:nvPr/>
        </p:nvSpPr>
        <p:spPr>
          <a:xfrm>
            <a:off x="5923940" y="18368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a2_c"/>
          <p:cNvSpPr/>
          <p:nvPr/>
        </p:nvSpPr>
        <p:spPr>
          <a:xfrm>
            <a:off x="4540190" y="4051935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8" name="a2_cn"/>
          <p:cNvSpPr txBox="1"/>
          <p:nvPr/>
        </p:nvSpPr>
        <p:spPr>
          <a:xfrm>
            <a:off x="4540190" y="40519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a3_c"/>
          <p:cNvSpPr/>
          <p:nvPr/>
        </p:nvSpPr>
        <p:spPr>
          <a:xfrm>
            <a:off x="4691360" y="2642616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0" name="a3_cn"/>
          <p:cNvSpPr txBox="1"/>
          <p:nvPr/>
        </p:nvSpPr>
        <p:spPr>
          <a:xfrm>
            <a:off x="469136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a4_c"/>
          <p:cNvSpPr/>
          <p:nvPr/>
        </p:nvSpPr>
        <p:spPr>
          <a:xfrm>
            <a:off x="4714529" y="3228289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2" name="a4_cn"/>
          <p:cNvSpPr txBox="1"/>
          <p:nvPr/>
        </p:nvSpPr>
        <p:spPr>
          <a:xfrm>
            <a:off x="4714529" y="322828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a5_c"/>
          <p:cNvSpPr/>
          <p:nvPr/>
        </p:nvSpPr>
        <p:spPr>
          <a:xfrm>
            <a:off x="5912968" y="3423742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4" name="a5_cn"/>
          <p:cNvSpPr txBox="1"/>
          <p:nvPr/>
        </p:nvSpPr>
        <p:spPr>
          <a:xfrm>
            <a:off x="5912968" y="342374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138160" y="1920240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13816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8595360" y="190195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Кольцевой навес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8595360" y="216712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Лёгкая конструкция над трибунами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38160" y="2706624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13816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8595360" y="2688336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Медиа-фасад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8595360" y="295351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Ламели с динамической подсветкой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8138160" y="3493008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138160" y="3493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8595360" y="347472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LED-лента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8595360" y="373989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Брендинг и инфографика матча</a:t>
            </a:r>
            <a:endParaRPr lang="en-US" sz="1150" dirty="0"/>
          </a:p>
        </p:txBody>
      </p:sp>
      <p:sp>
        <p:nvSpPr>
          <p:cNvPr id="37" name="Shape 30"/>
          <p:cNvSpPr/>
          <p:nvPr/>
        </p:nvSpPr>
        <p:spPr>
          <a:xfrm>
            <a:off x="8138160" y="4279392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813816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Text 32"/>
          <p:cNvSpPr txBox="1"/>
          <p:nvPr/>
        </p:nvSpPr>
        <p:spPr>
          <a:xfrm>
            <a:off x="8595360" y="426110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Две трибуны-чаши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8595360" y="452628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Обзор и акустика</a:t>
            </a:r>
            <a:endParaRPr lang="en-US" sz="1150" dirty="0"/>
          </a:p>
        </p:txBody>
      </p:sp>
      <p:sp>
        <p:nvSpPr>
          <p:cNvPr id="41" name="Shape 34"/>
          <p:cNvSpPr/>
          <p:nvPr/>
        </p:nvSpPr>
        <p:spPr>
          <a:xfrm>
            <a:off x="8138160" y="5065776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138160" y="5065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8595360" y="5047488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105 × 68 м</a:t>
            </a:r>
            <a:endParaRPr lang="en-US" sz="1300" dirty="0"/>
          </a:p>
        </p:txBody>
      </p:sp>
      <p:sp>
        <p:nvSpPr>
          <p:cNvPr id="44" name="Text 37"/>
          <p:cNvSpPr txBox="1"/>
          <p:nvPr/>
        </p:nvSpPr>
        <p:spPr>
          <a:xfrm>
            <a:off x="8595360" y="5312664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 ФИФА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 animBg="1"/>
      <p:bldP spid="18" grpId="0"/>
      <p:bldP spid="19" grpId="0" animBg="1"/>
      <p:bldP spid="20" grpId="0"/>
      <p:bldP spid="21" grpId="0" animBg="1"/>
      <p:bldP spid="22" grpId="0"/>
      <p:bldP spid="23" grpId="0" animBg="1"/>
      <p:bldP spid="2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stadium-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12" y="-274320"/>
            <a:ext cx="13167031" cy="740664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Интеллектуальная спортивная инфраструктура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pic>
        <p:nvPicPr>
          <p:cNvPr id="15" name="!!phoneA" descr="/home/user/footurex-main/presentation/assets/ui/stadium-ap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1965960" cy="4114800"/>
          </a:xfrm>
          <a:prstGeom prst="rect">
            <a:avLst/>
          </a:prstGeom>
        </p:spPr>
      </p:pic>
      <p:sp>
        <p:nvSpPr>
          <p:cNvPr id="16" name="a1_ibg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1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1984248"/>
            <a:ext cx="237744" cy="237744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143000" y="18745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билет и проход</a:t>
            </a:r>
            <a:endParaRPr lang="en-US" sz="1250" dirty="0"/>
          </a:p>
        </p:txBody>
      </p:sp>
      <p:sp>
        <p:nvSpPr>
          <p:cNvPr id="19" name="a2_ibg"/>
          <p:cNvSpPr/>
          <p:nvPr/>
        </p:nvSpPr>
        <p:spPr>
          <a:xfrm>
            <a:off x="548640" y="2532888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0" name="a2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2642616"/>
            <a:ext cx="237744" cy="237744"/>
          </a:xfrm>
          <a:prstGeom prst="rect">
            <a:avLst/>
          </a:prstGeom>
        </p:spPr>
      </p:pic>
      <p:sp>
        <p:nvSpPr>
          <p:cNvPr id="21" name="a2_t"/>
          <p:cNvSpPr txBox="1"/>
          <p:nvPr/>
        </p:nvSpPr>
        <p:spPr>
          <a:xfrm>
            <a:off x="1143000" y="253288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Высокоплотная связь</a:t>
            </a:r>
            <a:endParaRPr lang="en-US" sz="1250" dirty="0"/>
          </a:p>
        </p:txBody>
      </p:sp>
      <p:sp>
        <p:nvSpPr>
          <p:cNvPr id="22" name="a3_ibg"/>
          <p:cNvSpPr/>
          <p:nvPr/>
        </p:nvSpPr>
        <p:spPr>
          <a:xfrm>
            <a:off x="548640" y="3191256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3" name="a3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3300984"/>
            <a:ext cx="237744" cy="237744"/>
          </a:xfrm>
          <a:prstGeom prst="rect">
            <a:avLst/>
          </a:prstGeom>
        </p:spPr>
      </p:pic>
      <p:sp>
        <p:nvSpPr>
          <p:cNvPr id="24" name="a3_t"/>
          <p:cNvSpPr txBox="1"/>
          <p:nvPr/>
        </p:nvSpPr>
        <p:spPr>
          <a:xfrm>
            <a:off x="1143000" y="31912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Безналичные покупки</a:t>
            </a:r>
            <a:endParaRPr lang="en-US" sz="1250" dirty="0"/>
          </a:p>
        </p:txBody>
      </p:sp>
      <p:sp>
        <p:nvSpPr>
          <p:cNvPr id="25" name="a4_ibg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6" name="a4_i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3959352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143000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 и BMS</a:t>
            </a:r>
            <a:endParaRPr lang="en-US" sz="1250" dirty="0"/>
          </a:p>
        </p:txBody>
      </p:sp>
      <p:sp>
        <p:nvSpPr>
          <p:cNvPr id="28" name="a5_ibg"/>
          <p:cNvSpPr/>
          <p:nvPr/>
        </p:nvSpPr>
        <p:spPr>
          <a:xfrm>
            <a:off x="548640" y="4507992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9" name="a5_i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617720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143000" y="45079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Видеоаналитика безопасности</a:t>
            </a:r>
            <a:endParaRPr lang="en-US" sz="1250" dirty="0"/>
          </a:p>
        </p:txBody>
      </p:sp>
      <p:sp>
        <p:nvSpPr>
          <p:cNvPr id="31" name="a6_ibg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2" name="a6_i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" y="5276088"/>
            <a:ext cx="237744" cy="237744"/>
          </a:xfrm>
          <a:prstGeom prst="rect">
            <a:avLst/>
          </a:prstGeom>
        </p:spPr>
      </p:pic>
      <p:sp>
        <p:nvSpPr>
          <p:cNvPr id="33" name="a6_t"/>
          <p:cNvSpPr txBox="1"/>
          <p:nvPr/>
        </p:nvSpPr>
        <p:spPr>
          <a:xfrm>
            <a:off x="1143000" y="5166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Энергоменеджмент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/>
      <p:bldP spid="19" grpId="0" animBg="1"/>
      <p:bldP spid="21" grpId="0"/>
      <p:bldP spid="22" grpId="0" animBg="1"/>
      <p:bldP spid="24" grpId="0"/>
      <p:bldP spid="25" grpId="0" animBg="1"/>
      <p:bldP spid="27" grpId="0"/>
      <p:bldP spid="28" grpId="0" animBg="1"/>
      <p:bldP spid="30" grpId="0"/>
      <p:bldP spid="31" grpId="0" animBg="1"/>
      <p:bldP spid="3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Коммерческая модель стадиона: стратегические опции и источники дохода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graphicFrame>
        <p:nvGraphicFramePr>
          <p:cNvPr id="8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188720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Источник дохода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Оценка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Билеты на матчи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Посещаемость × цена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Концерты и события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Число событий в год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Esports-арена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Турниры, аренда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Хоспиталити и ложи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Корпоративные клиенты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Права на название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Партнёр-бренд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Ритейл и F&amp;B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Траты на посетителя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Цифровые сервисы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Пользователи приложения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1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6294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опции: A → B → C</a:t>
            </a:r>
            <a:endParaRPr lang="en-US" sz="1250" dirty="0"/>
          </a:p>
        </p:txBody>
      </p:sp>
      <p:sp>
        <p:nvSpPr>
          <p:cNvPr id="11" name="a2_o"/>
          <p:cNvSpPr/>
          <p:nvPr/>
        </p:nvSpPr>
        <p:spPr>
          <a:xfrm>
            <a:off x="6629400" y="2212848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784848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E9F64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23225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Партнёрская модель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2615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сервисы и esports-события на существующих аренах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299923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Низкий CAPEX · первым шагом</a:t>
            </a:r>
            <a:endParaRPr lang="en-US" sz="1050" dirty="0"/>
          </a:p>
        </p:txBody>
      </p:sp>
      <p:sp>
        <p:nvSpPr>
          <p:cNvPr id="16" name="a3_o"/>
          <p:cNvSpPr/>
          <p:nvPr/>
        </p:nvSpPr>
        <p:spPr>
          <a:xfrm>
            <a:off x="6629400" y="3456432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784848" y="36210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E9F64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3566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Многофункциональная арена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36092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Esports, концерты и мини-футбол — меньший формат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360920" y="424281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CAPEX · после ТЭО</a:t>
            </a:r>
            <a:endParaRPr lang="en-US" sz="1050" dirty="0"/>
          </a:p>
        </p:txBody>
      </p:sp>
      <p:sp>
        <p:nvSpPr>
          <p:cNvPr id="21" name="a4_o"/>
          <p:cNvSpPr/>
          <p:nvPr/>
        </p:nvSpPr>
        <p:spPr>
          <a:xfrm>
            <a:off x="6629400" y="4700016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784848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E9F64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7360920" y="48097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Клубный стадион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7360920" y="5102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Домашняя арена FC FootureX средней вместимости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360920" y="5486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Высокий CAPEX · горизонт 10+ лет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63" y="-331470"/>
            <a:ext cx="14020449" cy="78867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City — генеральная концепция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70B12">
              <a:alpha val="82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777240" y="20116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Квартал, где работают, учатся, живут и болеют за свою команду</a:t>
            </a:r>
            <a:endParaRPr lang="en-US" sz="1600" dirty="0"/>
          </a:p>
        </p:txBody>
      </p:sp>
      <p:sp>
        <p:nvSpPr>
          <p:cNvPr id="17" name="Text 10"/>
          <p:cNvSpPr txBox="1"/>
          <p:nvPr/>
        </p:nvSpPr>
        <p:spPr>
          <a:xfrm>
            <a:off x="777240" y="301752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кампус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esports-арена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Жилые кварталы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Бульвар с кафе и ритейлом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академии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Спортивные центры и парк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City-инфраструктура</a:t>
            </a:r>
            <a:endParaRPr lang="en-US" sz="1250" dirty="0"/>
          </a:p>
        </p:txBody>
      </p:sp>
      <p:sp>
        <p:nvSpPr>
          <p:cNvPr id="18" name="Text 11"/>
          <p:cNvSpPr txBox="1"/>
          <p:nvPr/>
        </p:nvSpPr>
        <p:spPr>
          <a:xfrm>
            <a:off x="777240" y="5440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концепция · требует согласований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0"/>
            <a:ext cx="12191695" cy="685800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Генеральный план многофункционального квартала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c"/>
          <p:cNvSpPr/>
          <p:nvPr/>
        </p:nvSpPr>
        <p:spPr>
          <a:xfrm>
            <a:off x="1936002" y="2382012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6" name="a1_cn"/>
          <p:cNvSpPr txBox="1"/>
          <p:nvPr/>
        </p:nvSpPr>
        <p:spPr>
          <a:xfrm>
            <a:off x="1936002" y="23820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a2_c"/>
          <p:cNvSpPr/>
          <p:nvPr/>
        </p:nvSpPr>
        <p:spPr>
          <a:xfrm>
            <a:off x="3802551" y="2255139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8" name="a2_cn"/>
          <p:cNvSpPr txBox="1"/>
          <p:nvPr/>
        </p:nvSpPr>
        <p:spPr>
          <a:xfrm>
            <a:off x="3802551" y="22551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a3_c"/>
          <p:cNvSpPr/>
          <p:nvPr/>
        </p:nvSpPr>
        <p:spPr>
          <a:xfrm>
            <a:off x="6058632" y="2139239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0" name="a3_cn"/>
          <p:cNvSpPr txBox="1"/>
          <p:nvPr/>
        </p:nvSpPr>
        <p:spPr>
          <a:xfrm>
            <a:off x="6058632" y="21392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a4_c"/>
          <p:cNvSpPr/>
          <p:nvPr/>
        </p:nvSpPr>
        <p:spPr>
          <a:xfrm>
            <a:off x="3032036" y="3426257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2" name="a4_cn"/>
          <p:cNvSpPr txBox="1"/>
          <p:nvPr/>
        </p:nvSpPr>
        <p:spPr>
          <a:xfrm>
            <a:off x="3032036" y="34262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a5_c"/>
          <p:cNvSpPr/>
          <p:nvPr/>
        </p:nvSpPr>
        <p:spPr>
          <a:xfrm>
            <a:off x="2540710" y="4684928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4" name="a5_cn"/>
          <p:cNvSpPr txBox="1"/>
          <p:nvPr/>
        </p:nvSpPr>
        <p:spPr>
          <a:xfrm>
            <a:off x="2540710" y="4684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a6_c"/>
          <p:cNvSpPr/>
          <p:nvPr/>
        </p:nvSpPr>
        <p:spPr>
          <a:xfrm>
            <a:off x="3958605" y="4584116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6" name="a6_cn"/>
          <p:cNvSpPr txBox="1"/>
          <p:nvPr/>
        </p:nvSpPr>
        <p:spPr>
          <a:xfrm>
            <a:off x="3958605" y="45841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a7_c"/>
          <p:cNvSpPr/>
          <p:nvPr/>
        </p:nvSpPr>
        <p:spPr>
          <a:xfrm>
            <a:off x="7252801" y="4588231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28" name="a7_cn"/>
          <p:cNvSpPr txBox="1"/>
          <p:nvPr/>
        </p:nvSpPr>
        <p:spPr>
          <a:xfrm>
            <a:off x="7252801" y="458823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a8_c"/>
          <p:cNvSpPr/>
          <p:nvPr/>
        </p:nvSpPr>
        <p:spPr>
          <a:xfrm>
            <a:off x="1536115" y="4538167"/>
            <a:ext cx="365760" cy="365760"/>
          </a:xfrm>
          <a:prstGeom prst="ellipse">
            <a:avLst/>
          </a:prstGeom>
          <a:solidFill>
            <a:srgbClr val="070B12">
              <a:alpha val="85000"/>
            </a:srgbClr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30" name="a8_cn"/>
          <p:cNvSpPr txBox="1"/>
          <p:nvPr/>
        </p:nvSpPr>
        <p:spPr>
          <a:xfrm>
            <a:off x="1536115" y="453816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595360" y="1874520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5953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9052560" y="185623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595360" y="2350008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2350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9052560" y="233172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Esports-арена</a:t>
            </a:r>
            <a:endParaRPr lang="en-US" sz="1250" dirty="0"/>
          </a:p>
        </p:txBody>
      </p:sp>
      <p:sp>
        <p:nvSpPr>
          <p:cNvPr id="37" name="Shape 30"/>
          <p:cNvSpPr/>
          <p:nvPr/>
        </p:nvSpPr>
        <p:spPr>
          <a:xfrm>
            <a:off x="8595360" y="2825496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8595360" y="2825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2"/>
          <p:cNvSpPr txBox="1"/>
          <p:nvPr/>
        </p:nvSpPr>
        <p:spPr>
          <a:xfrm>
            <a:off x="9052560" y="280720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кампус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8595360" y="3300984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859536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9052560" y="3282696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Бульвар и ритейл</a:t>
            </a:r>
            <a:endParaRPr lang="en-US" sz="1250" dirty="0"/>
          </a:p>
        </p:txBody>
      </p:sp>
      <p:sp>
        <p:nvSpPr>
          <p:cNvPr id="43" name="Shape 36"/>
          <p:cNvSpPr/>
          <p:nvPr/>
        </p:nvSpPr>
        <p:spPr>
          <a:xfrm>
            <a:off x="8595360" y="3776472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859536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9052560" y="37581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Жилые кварталы</a:t>
            </a:r>
            <a:endParaRPr lang="en-US" sz="1250" dirty="0"/>
          </a:p>
        </p:txBody>
      </p:sp>
      <p:sp>
        <p:nvSpPr>
          <p:cNvPr id="46" name="Shape 39"/>
          <p:cNvSpPr/>
          <p:nvPr/>
        </p:nvSpPr>
        <p:spPr>
          <a:xfrm>
            <a:off x="8595360" y="4251960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85953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</a:t>
            </a:r>
            <a:endParaRPr lang="en-US" sz="1000" dirty="0"/>
          </a:p>
        </p:txBody>
      </p:sp>
      <p:sp>
        <p:nvSpPr>
          <p:cNvPr id="48" name="Text 41"/>
          <p:cNvSpPr txBox="1"/>
          <p:nvPr/>
        </p:nvSpPr>
        <p:spPr>
          <a:xfrm>
            <a:off x="9052560" y="423367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Центральный парк</a:t>
            </a:r>
            <a:endParaRPr lang="en-US" sz="1250" dirty="0"/>
          </a:p>
        </p:txBody>
      </p:sp>
      <p:sp>
        <p:nvSpPr>
          <p:cNvPr id="49" name="Shape 42"/>
          <p:cNvSpPr/>
          <p:nvPr/>
        </p:nvSpPr>
        <p:spPr>
          <a:xfrm>
            <a:off x="8595360" y="4727448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8595360" y="4727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7</a:t>
            </a:r>
            <a:endParaRPr lang="en-US" sz="1000" dirty="0"/>
          </a:p>
        </p:txBody>
      </p:sp>
      <p:sp>
        <p:nvSpPr>
          <p:cNvPr id="51" name="Text 44"/>
          <p:cNvSpPr txBox="1"/>
          <p:nvPr/>
        </p:nvSpPr>
        <p:spPr>
          <a:xfrm>
            <a:off x="9052560" y="470916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Образовательный кампус</a:t>
            </a:r>
            <a:endParaRPr lang="en-US" sz="1250" dirty="0"/>
          </a:p>
        </p:txBody>
      </p:sp>
      <p:sp>
        <p:nvSpPr>
          <p:cNvPr id="52" name="Shape 45"/>
          <p:cNvSpPr/>
          <p:nvPr/>
        </p:nvSpPr>
        <p:spPr>
          <a:xfrm>
            <a:off x="8595360" y="5202936"/>
            <a:ext cx="329184" cy="329184"/>
          </a:xfrm>
          <a:prstGeom prst="ellipse">
            <a:avLst/>
          </a:prstGeom>
          <a:solidFill>
            <a:srgbClr val="070B12"/>
          </a:solidFill>
          <a:ln w="15875">
            <a:solidFill>
              <a:srgbClr val="1ED68A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859536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</a:t>
            </a:r>
            <a:endParaRPr lang="en-US" sz="1000" dirty="0"/>
          </a:p>
        </p:txBody>
      </p:sp>
      <p:sp>
        <p:nvSpPr>
          <p:cNvPr id="54" name="Text 47"/>
          <p:cNvSpPr txBox="1"/>
          <p:nvPr/>
        </p:nvSpPr>
        <p:spPr>
          <a:xfrm>
            <a:off x="9052560" y="518464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центр</a:t>
            </a:r>
            <a:endParaRPr lang="en-US" sz="1250" dirty="0"/>
          </a:p>
        </p:txBody>
      </p:sp>
      <p:sp>
        <p:nvSpPr>
          <p:cNvPr id="55" name="Text 48"/>
          <p:cNvSpPr txBox="1"/>
          <p:nvPr/>
        </p:nvSpPr>
        <p:spPr>
          <a:xfrm>
            <a:off x="8595360" y="5760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без масштаба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 animBg="1"/>
      <p:bldP spid="18" grpId="0"/>
      <p:bldP spid="19" grpId="0" animBg="1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 animBg="1"/>
      <p:bldP spid="3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camp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Корпоративный технологический кампус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70B12">
              <a:alpha val="82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2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137160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Штаб-квартира FootureX</a:t>
            </a:r>
            <a:endParaRPr lang="en-US" sz="1300" dirty="0"/>
          </a:p>
        </p:txBody>
      </p:sp>
      <p:sp>
        <p:nvSpPr>
          <p:cNvPr id="19" name="a2_d"/>
          <p:cNvSpPr txBox="1"/>
          <p:nvPr/>
        </p:nvSpPr>
        <p:spPr>
          <a:xfrm>
            <a:off x="1371600" y="22585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Офисы всех направлений группы</a:t>
            </a:r>
            <a:endParaRPr lang="en-US" sz="1100" dirty="0"/>
          </a:p>
        </p:txBody>
      </p:sp>
      <p:sp>
        <p:nvSpPr>
          <p:cNvPr id="20" name="a3_ibg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28529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137160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AI-лаборатории</a:t>
            </a:r>
            <a:endParaRPr lang="en-US" sz="1300" dirty="0"/>
          </a:p>
        </p:txBody>
      </p:sp>
      <p:sp>
        <p:nvSpPr>
          <p:cNvPr id="23" name="a3_d"/>
          <p:cNvSpPr txBox="1"/>
          <p:nvPr/>
        </p:nvSpPr>
        <p:spPr>
          <a:xfrm>
            <a:off x="1371600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R&amp;D, вычислительные мощности</a:t>
            </a:r>
            <a:endParaRPr lang="en-US" sz="1100" dirty="0"/>
          </a:p>
        </p:txBody>
      </p:sp>
      <p:sp>
        <p:nvSpPr>
          <p:cNvPr id="24" name="a4_ibg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4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3584448"/>
            <a:ext cx="237744" cy="237744"/>
          </a:xfrm>
          <a:prstGeom prst="rect">
            <a:avLst/>
          </a:prstGeom>
        </p:spPr>
      </p:pic>
      <p:sp>
        <p:nvSpPr>
          <p:cNvPr id="26" name="a4_t"/>
          <p:cNvSpPr txBox="1"/>
          <p:nvPr/>
        </p:nvSpPr>
        <p:spPr>
          <a:xfrm>
            <a:off x="1371600" y="3447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Игровые студии</a:t>
            </a:r>
            <a:endParaRPr lang="en-US" sz="1300" dirty="0"/>
          </a:p>
        </p:txBody>
      </p:sp>
      <p:sp>
        <p:nvSpPr>
          <p:cNvPr id="27" name="a4_d"/>
          <p:cNvSpPr txBox="1"/>
          <p:nvPr/>
        </p:nvSpPr>
        <p:spPr>
          <a:xfrm>
            <a:off x="1371600" y="37216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Разработка, тестирование, трансляции</a:t>
            </a:r>
            <a:endParaRPr lang="en-US" sz="1100" dirty="0"/>
          </a:p>
        </p:txBody>
      </p:sp>
      <p:sp>
        <p:nvSpPr>
          <p:cNvPr id="28" name="a5_ibg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9" name="a5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315968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37160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Пространства партнёров</a:t>
            </a:r>
            <a:endParaRPr lang="en-US" sz="1300" dirty="0"/>
          </a:p>
        </p:txBody>
      </p:sp>
      <p:sp>
        <p:nvSpPr>
          <p:cNvPr id="31" name="a5_d"/>
          <p:cNvSpPr txBox="1"/>
          <p:nvPr/>
        </p:nvSpPr>
        <p:spPr>
          <a:xfrm>
            <a:off x="1371600" y="4453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компании и стартапы</a:t>
            </a:r>
            <a:endParaRPr lang="en-US" sz="1100" dirty="0"/>
          </a:p>
        </p:txBody>
      </p:sp>
      <p:sp>
        <p:nvSpPr>
          <p:cNvPr id="32" name="a6_ibg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3" name="a6_i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047488"/>
            <a:ext cx="237744" cy="237744"/>
          </a:xfrm>
          <a:prstGeom prst="rect">
            <a:avLst/>
          </a:prstGeom>
        </p:spPr>
      </p:pic>
      <p:sp>
        <p:nvSpPr>
          <p:cNvPr id="34" name="a6_t"/>
          <p:cNvSpPr txBox="1"/>
          <p:nvPr/>
        </p:nvSpPr>
        <p:spPr>
          <a:xfrm>
            <a:off x="1371600" y="4910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Конференц-центр</a:t>
            </a:r>
            <a:endParaRPr lang="en-US" sz="1300" dirty="0"/>
          </a:p>
        </p:txBody>
      </p:sp>
      <p:sp>
        <p:nvSpPr>
          <p:cNvPr id="35" name="a6_d"/>
          <p:cNvSpPr txBox="1"/>
          <p:nvPr/>
        </p:nvSpPr>
        <p:spPr>
          <a:xfrm>
            <a:off x="1371600" y="5184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Мероприятия, демо-дни, хакатоны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resident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584948" y="-274320"/>
            <a:ext cx="13167031" cy="740664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Жилая и общественная инфраструктура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p"/>
          <p:cNvSpPr/>
          <p:nvPr/>
        </p:nvSpPr>
        <p:spPr>
          <a:xfrm>
            <a:off x="6537960" y="1828800"/>
            <a:ext cx="5102352" cy="4069080"/>
          </a:xfrm>
          <a:prstGeom prst="roundRect">
            <a:avLst>
              <a:gd name="adj" fmla="val 2697"/>
            </a:avLst>
          </a:prstGeom>
          <a:solidFill>
            <a:srgbClr val="070B12">
              <a:alpha val="82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1_card"/>
          <p:cNvSpPr/>
          <p:nvPr/>
        </p:nvSpPr>
        <p:spPr>
          <a:xfrm>
            <a:off x="6675120" y="196596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1_iconbg"/>
          <p:cNvSpPr/>
          <p:nvPr/>
        </p:nvSpPr>
        <p:spPr>
          <a:xfrm>
            <a:off x="6903720" y="21945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8" name="a1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48" y="2304288"/>
            <a:ext cx="237744" cy="237744"/>
          </a:xfrm>
          <a:prstGeom prst="rect">
            <a:avLst/>
          </a:prstGeom>
        </p:spPr>
      </p:pic>
      <p:sp>
        <p:nvSpPr>
          <p:cNvPr id="19" name="a1_t"/>
          <p:cNvSpPr txBox="1"/>
          <p:nvPr/>
        </p:nvSpPr>
        <p:spPr>
          <a:xfrm>
            <a:off x="7498080" y="217627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Квартальная застройка</a:t>
            </a:r>
            <a:endParaRPr lang="en-US" sz="1250" dirty="0"/>
          </a:p>
        </p:txBody>
      </p:sp>
      <p:sp>
        <p:nvSpPr>
          <p:cNvPr id="20" name="a1_d"/>
          <p:cNvSpPr txBox="1"/>
          <p:nvPr/>
        </p:nvSpPr>
        <p:spPr>
          <a:xfrm>
            <a:off x="6903720" y="281635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Дворы без машин, разные форматы жилья</a:t>
            </a:r>
            <a:endParaRPr lang="en-US" sz="1100" dirty="0"/>
          </a:p>
        </p:txBody>
      </p:sp>
      <p:sp>
        <p:nvSpPr>
          <p:cNvPr id="21" name="a2_card"/>
          <p:cNvSpPr/>
          <p:nvPr/>
        </p:nvSpPr>
        <p:spPr>
          <a:xfrm>
            <a:off x="9157716" y="196596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2_iconbg"/>
          <p:cNvSpPr/>
          <p:nvPr/>
        </p:nvSpPr>
        <p:spPr>
          <a:xfrm>
            <a:off x="9386316" y="21945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3" name="a2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6044" y="2304288"/>
            <a:ext cx="237744" cy="237744"/>
          </a:xfrm>
          <a:prstGeom prst="rect">
            <a:avLst/>
          </a:prstGeom>
        </p:spPr>
      </p:pic>
      <p:sp>
        <p:nvSpPr>
          <p:cNvPr id="24" name="a2_t"/>
          <p:cNvSpPr txBox="1"/>
          <p:nvPr/>
        </p:nvSpPr>
        <p:spPr>
          <a:xfrm>
            <a:off x="9980676" y="217627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Школы и сады</a:t>
            </a:r>
            <a:endParaRPr lang="en-US" sz="1250" dirty="0"/>
          </a:p>
        </p:txBody>
      </p:sp>
      <p:sp>
        <p:nvSpPr>
          <p:cNvPr id="25" name="a2_d"/>
          <p:cNvSpPr txBox="1"/>
          <p:nvPr/>
        </p:nvSpPr>
        <p:spPr>
          <a:xfrm>
            <a:off x="9386316" y="281635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пешей доступности</a:t>
            </a:r>
            <a:endParaRPr lang="en-US" sz="1100" dirty="0"/>
          </a:p>
        </p:txBody>
      </p:sp>
      <p:sp>
        <p:nvSpPr>
          <p:cNvPr id="26" name="a3_card"/>
          <p:cNvSpPr/>
          <p:nvPr/>
        </p:nvSpPr>
        <p:spPr>
          <a:xfrm>
            <a:off x="6675120" y="393192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a3_iconbg"/>
          <p:cNvSpPr/>
          <p:nvPr/>
        </p:nvSpPr>
        <p:spPr>
          <a:xfrm>
            <a:off x="6903720" y="41605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8" name="a3_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3448" y="4270248"/>
            <a:ext cx="237744" cy="237744"/>
          </a:xfrm>
          <a:prstGeom prst="rect">
            <a:avLst/>
          </a:prstGeom>
        </p:spPr>
      </p:pic>
      <p:sp>
        <p:nvSpPr>
          <p:cNvPr id="29" name="a3_t"/>
          <p:cNvSpPr txBox="1"/>
          <p:nvPr/>
        </p:nvSpPr>
        <p:spPr>
          <a:xfrm>
            <a:off x="7498080" y="414223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Центральный парк</a:t>
            </a:r>
            <a:endParaRPr lang="en-US" sz="1250" dirty="0"/>
          </a:p>
        </p:txBody>
      </p:sp>
      <p:sp>
        <p:nvSpPr>
          <p:cNvPr id="30" name="a3_d"/>
          <p:cNvSpPr txBox="1"/>
          <p:nvPr/>
        </p:nvSpPr>
        <p:spPr>
          <a:xfrm>
            <a:off x="6903720" y="478231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Пруд, спорт, прогулки</a:t>
            </a:r>
            <a:endParaRPr lang="en-US" sz="1100" dirty="0"/>
          </a:p>
        </p:txBody>
      </p:sp>
      <p:sp>
        <p:nvSpPr>
          <p:cNvPr id="31" name="a4_card"/>
          <p:cNvSpPr/>
          <p:nvPr/>
        </p:nvSpPr>
        <p:spPr>
          <a:xfrm>
            <a:off x="9157716" y="393192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2" name="a4_iconbg"/>
          <p:cNvSpPr/>
          <p:nvPr/>
        </p:nvSpPr>
        <p:spPr>
          <a:xfrm>
            <a:off x="9386316" y="41605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3" name="a4_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6044" y="4270248"/>
            <a:ext cx="237744" cy="237744"/>
          </a:xfrm>
          <a:prstGeom prst="rect">
            <a:avLst/>
          </a:prstGeom>
        </p:spPr>
      </p:pic>
      <p:sp>
        <p:nvSpPr>
          <p:cNvPr id="34" name="a4_t"/>
          <p:cNvSpPr txBox="1"/>
          <p:nvPr/>
        </p:nvSpPr>
        <p:spPr>
          <a:xfrm>
            <a:off x="9980676" y="414223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Пешеходы прежде всего</a:t>
            </a:r>
            <a:endParaRPr lang="en-US" sz="1250" dirty="0"/>
          </a:p>
        </p:txBody>
      </p:sp>
      <p:sp>
        <p:nvSpPr>
          <p:cNvPr id="35" name="a4_d"/>
          <p:cNvSpPr txBox="1"/>
          <p:nvPr/>
        </p:nvSpPr>
        <p:spPr>
          <a:xfrm>
            <a:off x="9386316" y="478231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Велодорожки, метро, бульвар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9" grpId="0"/>
      <p:bldP spid="20" grpId="0"/>
      <p:bldP spid="21" grpId="0" animBg="1"/>
      <p:bldP spid="22" grpId="0" animBg="1"/>
      <p:bldP spid="24" grpId="0"/>
      <p:bldP spid="25" grpId="0"/>
      <p:bldP spid="26" grpId="0" animBg="1"/>
      <p:bldP spid="27" grpId="0" animBg="1"/>
      <p:bldP spid="29" grpId="0"/>
      <p:bldP spid="30" grpId="0"/>
      <p:bldP spid="31" grpId="0" animBg="1"/>
      <p:bldP spid="32" grpId="0" animBg="1"/>
      <p:bldP spid="34" grpId="0"/>
      <p:bldP spid="3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boulev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9" y="-205740"/>
            <a:ext cx="12923197" cy="726948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Торговые и коммерческие пространства: бульвар FootureX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70B12">
              <a:alpha val="82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7" name="a2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137160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Кофейни и рестораны</a:t>
            </a:r>
            <a:endParaRPr lang="en-US" sz="1300" dirty="0"/>
          </a:p>
        </p:txBody>
      </p:sp>
      <p:sp>
        <p:nvSpPr>
          <p:cNvPr id="19" name="a2_d"/>
          <p:cNvSpPr txBox="1"/>
          <p:nvPr/>
        </p:nvSpPr>
        <p:spPr>
          <a:xfrm>
            <a:off x="1371600" y="22585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Гастрономия на первых этажах</a:t>
            </a:r>
            <a:endParaRPr lang="en-US" sz="1100" dirty="0"/>
          </a:p>
        </p:txBody>
      </p:sp>
      <p:sp>
        <p:nvSpPr>
          <p:cNvPr id="20" name="a3_ibg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1" name="a3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28529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137160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Ритейл и бренд-стор</a:t>
            </a:r>
            <a:endParaRPr lang="en-US" sz="1300" dirty="0"/>
          </a:p>
        </p:txBody>
      </p:sp>
      <p:sp>
        <p:nvSpPr>
          <p:cNvPr id="23" name="a3_d"/>
          <p:cNvSpPr txBox="1"/>
          <p:nvPr/>
        </p:nvSpPr>
        <p:spPr>
          <a:xfrm>
            <a:off x="1371600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Мерч FootureX и повседневный спрос</a:t>
            </a:r>
            <a:endParaRPr lang="en-US" sz="1100" dirty="0"/>
          </a:p>
        </p:txBody>
      </p:sp>
      <p:sp>
        <p:nvSpPr>
          <p:cNvPr id="24" name="a4_ibg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5" name="a4_i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3584448"/>
            <a:ext cx="237744" cy="237744"/>
          </a:xfrm>
          <a:prstGeom prst="rect">
            <a:avLst/>
          </a:prstGeom>
        </p:spPr>
      </p:pic>
      <p:sp>
        <p:nvSpPr>
          <p:cNvPr id="26" name="a4_t"/>
          <p:cNvSpPr txBox="1"/>
          <p:nvPr/>
        </p:nvSpPr>
        <p:spPr>
          <a:xfrm>
            <a:off x="1371600" y="3447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Фан-зоны</a:t>
            </a:r>
            <a:endParaRPr lang="en-US" sz="1300" dirty="0"/>
          </a:p>
        </p:txBody>
      </p:sp>
      <p:sp>
        <p:nvSpPr>
          <p:cNvPr id="27" name="a4_d"/>
          <p:cNvSpPr txBox="1"/>
          <p:nvPr/>
        </p:nvSpPr>
        <p:spPr>
          <a:xfrm>
            <a:off x="1371600" y="37216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Экраны трансляций в дни матчей</a:t>
            </a:r>
            <a:endParaRPr lang="en-US" sz="1100" dirty="0"/>
          </a:p>
        </p:txBody>
      </p:sp>
      <p:sp>
        <p:nvSpPr>
          <p:cNvPr id="28" name="a5_ibg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9" name="a5_i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315968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37160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Вечерняя жизнь</a:t>
            </a:r>
            <a:endParaRPr lang="en-US" sz="1300" dirty="0"/>
          </a:p>
        </p:txBody>
      </p:sp>
      <p:sp>
        <p:nvSpPr>
          <p:cNvPr id="31" name="a5_d"/>
          <p:cNvSpPr txBox="1"/>
          <p:nvPr/>
        </p:nvSpPr>
        <p:spPr>
          <a:xfrm>
            <a:off x="1371600" y="4453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События, подсветка, уличные фестивали</a:t>
            </a:r>
            <a:endParaRPr lang="en-US" sz="1100" dirty="0"/>
          </a:p>
        </p:txBody>
      </p:sp>
      <p:sp>
        <p:nvSpPr>
          <p:cNvPr id="32" name="a6_ibg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3" name="a6_i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047488"/>
            <a:ext cx="237744" cy="237744"/>
          </a:xfrm>
          <a:prstGeom prst="rect">
            <a:avLst/>
          </a:prstGeom>
        </p:spPr>
      </p:pic>
      <p:sp>
        <p:nvSpPr>
          <p:cNvPr id="34" name="a6_t"/>
          <p:cNvSpPr txBox="1"/>
          <p:nvPr/>
        </p:nvSpPr>
        <p:spPr>
          <a:xfrm>
            <a:off x="1371600" y="4910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и здоровье</a:t>
            </a:r>
            <a:endParaRPr lang="en-US" sz="1300" dirty="0"/>
          </a:p>
        </p:txBody>
      </p:sp>
      <p:sp>
        <p:nvSpPr>
          <p:cNvPr id="35" name="a6_d"/>
          <p:cNvSpPr txBox="1"/>
          <p:nvPr/>
        </p:nvSpPr>
        <p:spPr>
          <a:xfrm>
            <a:off x="1371600" y="5184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Фитнес и спортивные центры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smart-sm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92" y="-274320"/>
            <a:ext cx="13167031" cy="740664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Smart City и цифровое управление кварталом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70B12">
              <a:alpha val="82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a1_card"/>
          <p:cNvSpPr/>
          <p:nvPr/>
        </p:nvSpPr>
        <p:spPr>
          <a:xfrm>
            <a:off x="685800" y="1965960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1_iconbg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18" name="a1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2304288"/>
            <a:ext cx="237744" cy="237744"/>
          </a:xfrm>
          <a:prstGeom prst="rect">
            <a:avLst/>
          </a:prstGeom>
        </p:spPr>
      </p:pic>
      <p:sp>
        <p:nvSpPr>
          <p:cNvPr id="19" name="a1_t"/>
          <p:cNvSpPr txBox="1"/>
          <p:nvPr/>
        </p:nvSpPr>
        <p:spPr>
          <a:xfrm>
            <a:off x="1508760" y="2176272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</a:t>
            </a:r>
            <a:endParaRPr lang="en-US" sz="1200" dirty="0"/>
          </a:p>
        </p:txBody>
      </p:sp>
      <p:sp>
        <p:nvSpPr>
          <p:cNvPr id="20" name="a1_d"/>
          <p:cNvSpPr txBox="1"/>
          <p:nvPr/>
        </p:nvSpPr>
        <p:spPr>
          <a:xfrm>
            <a:off x="914400" y="2816352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зданий и сетей</a:t>
            </a:r>
            <a:endParaRPr lang="en-US" sz="1050" dirty="0"/>
          </a:p>
        </p:txBody>
      </p:sp>
      <p:sp>
        <p:nvSpPr>
          <p:cNvPr id="21" name="a2_card"/>
          <p:cNvSpPr/>
          <p:nvPr/>
        </p:nvSpPr>
        <p:spPr>
          <a:xfrm>
            <a:off x="3163824" y="1965960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2" name="a2_iconbg"/>
          <p:cNvSpPr/>
          <p:nvPr/>
        </p:nvSpPr>
        <p:spPr>
          <a:xfrm>
            <a:off x="3392424" y="219456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3" name="a2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2304288"/>
            <a:ext cx="237744" cy="237744"/>
          </a:xfrm>
          <a:prstGeom prst="rect">
            <a:avLst/>
          </a:prstGeom>
        </p:spPr>
      </p:pic>
      <p:sp>
        <p:nvSpPr>
          <p:cNvPr id="24" name="a2_t"/>
          <p:cNvSpPr txBox="1"/>
          <p:nvPr/>
        </p:nvSpPr>
        <p:spPr>
          <a:xfrm>
            <a:off x="3986784" y="2176272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 жителя</a:t>
            </a:r>
            <a:endParaRPr lang="en-US" sz="1200" dirty="0"/>
          </a:p>
        </p:txBody>
      </p:sp>
      <p:sp>
        <p:nvSpPr>
          <p:cNvPr id="25" name="a2_d"/>
          <p:cNvSpPr txBox="1"/>
          <p:nvPr/>
        </p:nvSpPr>
        <p:spPr>
          <a:xfrm>
            <a:off x="3392424" y="2816352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Доступ, услуги, события</a:t>
            </a:r>
            <a:endParaRPr lang="en-US" sz="1050" dirty="0"/>
          </a:p>
        </p:txBody>
      </p:sp>
      <p:sp>
        <p:nvSpPr>
          <p:cNvPr id="26" name="a3_card"/>
          <p:cNvSpPr/>
          <p:nvPr/>
        </p:nvSpPr>
        <p:spPr>
          <a:xfrm>
            <a:off x="685800" y="3267456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7" name="a3_iconbg"/>
          <p:cNvSpPr/>
          <p:nvPr/>
        </p:nvSpPr>
        <p:spPr>
          <a:xfrm>
            <a:off x="914400" y="3496056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8" name="a3_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3605784"/>
            <a:ext cx="237744" cy="237744"/>
          </a:xfrm>
          <a:prstGeom prst="rect">
            <a:avLst/>
          </a:prstGeom>
        </p:spPr>
      </p:pic>
      <p:sp>
        <p:nvSpPr>
          <p:cNvPr id="29" name="a3_t"/>
          <p:cNvSpPr txBox="1"/>
          <p:nvPr/>
        </p:nvSpPr>
        <p:spPr>
          <a:xfrm>
            <a:off x="1508760" y="3477768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Мобильность</a:t>
            </a:r>
            <a:endParaRPr lang="en-US" sz="1200" dirty="0"/>
          </a:p>
        </p:txBody>
      </p:sp>
      <p:sp>
        <p:nvSpPr>
          <p:cNvPr id="30" name="a3_d"/>
          <p:cNvSpPr txBox="1"/>
          <p:nvPr/>
        </p:nvSpPr>
        <p:spPr>
          <a:xfrm>
            <a:off x="914400" y="4117848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Парковки и транспорт</a:t>
            </a:r>
            <a:endParaRPr lang="en-US" sz="1050" dirty="0"/>
          </a:p>
        </p:txBody>
      </p:sp>
      <p:sp>
        <p:nvSpPr>
          <p:cNvPr id="31" name="a4_card"/>
          <p:cNvSpPr/>
          <p:nvPr/>
        </p:nvSpPr>
        <p:spPr>
          <a:xfrm>
            <a:off x="3163824" y="3267456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2" name="a4_iconbg"/>
          <p:cNvSpPr/>
          <p:nvPr/>
        </p:nvSpPr>
        <p:spPr>
          <a:xfrm>
            <a:off x="3392424" y="3496056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3" name="a4_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2152" y="3605784"/>
            <a:ext cx="237744" cy="237744"/>
          </a:xfrm>
          <a:prstGeom prst="rect">
            <a:avLst/>
          </a:prstGeom>
        </p:spPr>
      </p:pic>
      <p:sp>
        <p:nvSpPr>
          <p:cNvPr id="34" name="a4_t"/>
          <p:cNvSpPr txBox="1"/>
          <p:nvPr/>
        </p:nvSpPr>
        <p:spPr>
          <a:xfrm>
            <a:off x="3986784" y="3477768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Энергия</a:t>
            </a:r>
            <a:endParaRPr lang="en-US" sz="1200" dirty="0"/>
          </a:p>
        </p:txBody>
      </p:sp>
      <p:sp>
        <p:nvSpPr>
          <p:cNvPr id="35" name="a4_d"/>
          <p:cNvSpPr txBox="1"/>
          <p:nvPr/>
        </p:nvSpPr>
        <p:spPr>
          <a:xfrm>
            <a:off x="3392424" y="4117848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 и экономия ресурсов</a:t>
            </a:r>
            <a:endParaRPr lang="en-US" sz="1050" dirty="0"/>
          </a:p>
        </p:txBody>
      </p:sp>
      <p:sp>
        <p:nvSpPr>
          <p:cNvPr id="36" name="a5_card"/>
          <p:cNvSpPr/>
          <p:nvPr/>
        </p:nvSpPr>
        <p:spPr>
          <a:xfrm>
            <a:off x="685800" y="4568952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7" name="a5_iconbg"/>
          <p:cNvSpPr/>
          <p:nvPr/>
        </p:nvSpPr>
        <p:spPr>
          <a:xfrm>
            <a:off x="914400" y="4797552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8" name="a5_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128" y="4907280"/>
            <a:ext cx="237744" cy="237744"/>
          </a:xfrm>
          <a:prstGeom prst="rect">
            <a:avLst/>
          </a:prstGeom>
        </p:spPr>
      </p:pic>
      <p:sp>
        <p:nvSpPr>
          <p:cNvPr id="39" name="a5_t"/>
          <p:cNvSpPr txBox="1"/>
          <p:nvPr/>
        </p:nvSpPr>
        <p:spPr>
          <a:xfrm>
            <a:off x="1508760" y="477926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200" dirty="0"/>
          </a:p>
        </p:txBody>
      </p:sp>
      <p:sp>
        <p:nvSpPr>
          <p:cNvPr id="40" name="a5_d"/>
          <p:cNvSpPr txBox="1"/>
          <p:nvPr/>
        </p:nvSpPr>
        <p:spPr>
          <a:xfrm>
            <a:off x="914400" y="5419344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 защитой приватности</a:t>
            </a:r>
            <a:endParaRPr lang="en-US" sz="1050" dirty="0"/>
          </a:p>
        </p:txBody>
      </p:sp>
      <p:sp>
        <p:nvSpPr>
          <p:cNvPr id="41" name="a6_card"/>
          <p:cNvSpPr/>
          <p:nvPr/>
        </p:nvSpPr>
        <p:spPr>
          <a:xfrm>
            <a:off x="3163824" y="4568952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42" name="a6_iconbg"/>
          <p:cNvSpPr/>
          <p:nvPr/>
        </p:nvSpPr>
        <p:spPr>
          <a:xfrm>
            <a:off x="3392424" y="4797552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43" name="a6_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02152" y="4907280"/>
            <a:ext cx="237744" cy="237744"/>
          </a:xfrm>
          <a:prstGeom prst="rect">
            <a:avLst/>
          </a:prstGeom>
        </p:spPr>
      </p:pic>
      <p:sp>
        <p:nvSpPr>
          <p:cNvPr id="44" name="a6_t"/>
          <p:cNvSpPr txBox="1"/>
          <p:nvPr/>
        </p:nvSpPr>
        <p:spPr>
          <a:xfrm>
            <a:off x="3986784" y="477926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Открытые данные</a:t>
            </a:r>
            <a:endParaRPr lang="en-US" sz="1200" dirty="0"/>
          </a:p>
        </p:txBody>
      </p:sp>
      <p:sp>
        <p:nvSpPr>
          <p:cNvPr id="45" name="a6_d"/>
          <p:cNvSpPr txBox="1"/>
          <p:nvPr/>
        </p:nvSpPr>
        <p:spPr>
          <a:xfrm>
            <a:off x="3392424" y="5419344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для партнёров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9" grpId="0"/>
      <p:bldP spid="20" grpId="0"/>
      <p:bldP spid="21" grpId="0" animBg="1"/>
      <p:bldP spid="22" grpId="0" animBg="1"/>
      <p:bldP spid="24" grpId="0"/>
      <p:bldP spid="25" grpId="0"/>
      <p:bldP spid="26" grpId="0" animBg="1"/>
      <p:bldP spid="27" grpId="0" animBg="1"/>
      <p:bldP spid="29" grpId="0"/>
      <p:bldP spid="30" grpId="0"/>
      <p:bldP spid="31" grpId="0" animBg="1"/>
      <p:bldP spid="32" grpId="0" animBg="1"/>
      <p:bldP spid="34" grpId="0"/>
      <p:bldP spid="35" grpId="0"/>
      <p:bldP spid="36" grpId="0" animBg="1"/>
      <p:bldP spid="37" grpId="0" animBg="1"/>
      <p:bldP spid="39" grpId="0"/>
      <p:bldP spid="40" grpId="0"/>
      <p:bldP spid="41" grpId="0" animBg="1"/>
      <p:bldP spid="42" grpId="0" animBg="1"/>
      <p:bldP spid="44" grpId="0"/>
      <p:bldP spid="4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phases-ph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City: этапы реализации и инвестиции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 · STADIUM &amp; CITY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15" name="a1_p"/>
          <p:cNvSpPr/>
          <p:nvPr/>
        </p:nvSpPr>
        <p:spPr>
          <a:xfrm>
            <a:off x="6537960" y="1828800"/>
            <a:ext cx="5102352" cy="4069080"/>
          </a:xfrm>
          <a:prstGeom prst="roundRect">
            <a:avLst>
              <a:gd name="adj" fmla="val 2697"/>
            </a:avLst>
          </a:prstGeom>
          <a:solidFill>
            <a:srgbClr val="070B12">
              <a:alpha val="82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Shape 9"/>
          <p:cNvSpPr/>
          <p:nvPr/>
        </p:nvSpPr>
        <p:spPr>
          <a:xfrm>
            <a:off x="676656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7665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4130C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7296912" y="2011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 · Кампус и образование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6766560" y="25146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766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4130C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</a:t>
            </a:r>
            <a:endParaRPr lang="en-US" sz="1100" dirty="0"/>
          </a:p>
        </p:txBody>
      </p:sp>
      <p:sp>
        <p:nvSpPr>
          <p:cNvPr id="21" name="Text 14"/>
          <p:cNvSpPr txBox="1"/>
          <p:nvPr/>
        </p:nvSpPr>
        <p:spPr>
          <a:xfrm>
            <a:off x="7296912" y="2514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II · Спортивный кластер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766560" y="3017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7665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4130C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7296912" y="30175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III · Жильё и бульвар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676656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Варианты структуры финансирования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3950208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Проектные компании (SPV) по очередям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ГЧП и институты развития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предприятия с девелоперами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Проектное финансирование банков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766560" y="5394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CAPEX — по итогам ТЭО · инвестиции не привлечены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Общая бизнес-модель FootureX Uzbekistan: маховик экосистемы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9" name="!!roman"/>
          <p:cNvSpPr txBox="1"/>
          <p:nvPr/>
        </p:nvSpPr>
        <p:spPr>
          <a:xfrm>
            <a:off x="502920" y="17830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БИЗНЕС-МОДЕЛЬ И ФИНАНСЫ</a:t>
            </a:r>
            <a:endParaRPr lang="en-US" sz="1300" dirty="0"/>
          </a:p>
        </p:txBody>
      </p:sp>
      <p:sp>
        <p:nvSpPr>
          <p:cNvPr id="11" name="a1_lead"/>
          <p:cNvSpPr txBox="1"/>
          <p:nvPr/>
        </p:nvSpPr>
        <p:spPr>
          <a:xfrm>
            <a:off x="548640" y="36118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Сервисная выручка финансирует продукты; продукты создают аудиторию; аудитория усиливает бренд, который приводит клиентов, таланты и партнёров.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080760" y="2148840"/>
            <a:ext cx="4754880" cy="3566160"/>
          </a:xfrm>
          <a:prstGeom prst="ellipse">
            <a:avLst/>
          </a:prstGeom>
          <a:ln w="15875">
            <a:solidFill>
              <a:srgbClr val="1ED68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7589520" y="3429000"/>
            <a:ext cx="1737360" cy="1005840"/>
          </a:xfrm>
          <a:prstGeom prst="ellipse">
            <a:avLst/>
          </a:prstGeom>
          <a:solidFill>
            <a:srgbClr val="0F2E22"/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FLYWHEEL</a:t>
            </a:r>
            <a:endParaRPr lang="en-US" sz="1200" dirty="0"/>
          </a:p>
        </p:txBody>
      </p:sp>
      <p:sp>
        <p:nvSpPr>
          <p:cNvPr id="15" name="a2_n"/>
          <p:cNvSpPr/>
          <p:nvPr/>
        </p:nvSpPr>
        <p:spPr>
          <a:xfrm>
            <a:off x="7406640" y="178308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02536"/>
            <a:ext cx="292608" cy="292608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7891272" y="1837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и AI-услуги</a:t>
            </a:r>
            <a:endParaRPr lang="en-US" sz="1150" dirty="0"/>
          </a:p>
        </p:txBody>
      </p:sp>
      <p:sp>
        <p:nvSpPr>
          <p:cNvPr id="18" name="a2_d"/>
          <p:cNvSpPr txBox="1"/>
          <p:nvPr/>
        </p:nvSpPr>
        <p:spPr>
          <a:xfrm>
            <a:off x="7891272" y="21671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и компетенции</a:t>
            </a:r>
            <a:endParaRPr lang="en-US" sz="900" dirty="0"/>
          </a:p>
        </p:txBody>
      </p:sp>
      <p:sp>
        <p:nvSpPr>
          <p:cNvPr id="19" name="a3_n"/>
          <p:cNvSpPr/>
          <p:nvPr/>
        </p:nvSpPr>
        <p:spPr>
          <a:xfrm>
            <a:off x="9465563" y="267462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4435" y="2894076"/>
            <a:ext cx="292608" cy="292608"/>
          </a:xfrm>
          <a:prstGeom prst="rect">
            <a:avLst/>
          </a:prstGeom>
        </p:spPr>
      </p:pic>
      <p:sp>
        <p:nvSpPr>
          <p:cNvPr id="21" name="a3_t"/>
          <p:cNvSpPr txBox="1"/>
          <p:nvPr/>
        </p:nvSpPr>
        <p:spPr>
          <a:xfrm>
            <a:off x="9950195" y="27294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Продукты</a:t>
            </a:r>
            <a:endParaRPr lang="en-US" sz="1150" dirty="0"/>
          </a:p>
        </p:txBody>
      </p:sp>
      <p:sp>
        <p:nvSpPr>
          <p:cNvPr id="22" name="a3_d"/>
          <p:cNvSpPr txBox="1"/>
          <p:nvPr/>
        </p:nvSpPr>
        <p:spPr>
          <a:xfrm>
            <a:off x="9950195" y="30586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Game, AI SaaS</a:t>
            </a:r>
            <a:endParaRPr lang="en-US" sz="900" dirty="0"/>
          </a:p>
        </p:txBody>
      </p:sp>
      <p:sp>
        <p:nvSpPr>
          <p:cNvPr id="23" name="a4_n"/>
          <p:cNvSpPr/>
          <p:nvPr/>
        </p:nvSpPr>
        <p:spPr>
          <a:xfrm>
            <a:off x="9465563" y="445770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4435" y="4677156"/>
            <a:ext cx="292608" cy="292608"/>
          </a:xfrm>
          <a:prstGeom prst="rect">
            <a:avLst/>
          </a:prstGeom>
        </p:spPr>
      </p:pic>
      <p:sp>
        <p:nvSpPr>
          <p:cNvPr id="25" name="a4_t"/>
          <p:cNvSpPr txBox="1"/>
          <p:nvPr/>
        </p:nvSpPr>
        <p:spPr>
          <a:xfrm>
            <a:off x="9950195" y="45125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Аудитория</a:t>
            </a:r>
            <a:endParaRPr lang="en-US" sz="1150" dirty="0"/>
          </a:p>
        </p:txBody>
      </p:sp>
      <p:sp>
        <p:nvSpPr>
          <p:cNvPr id="26" name="a4_d"/>
          <p:cNvSpPr txBox="1"/>
          <p:nvPr/>
        </p:nvSpPr>
        <p:spPr>
          <a:xfrm>
            <a:off x="9950195" y="48417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 и сообщество</a:t>
            </a:r>
            <a:endParaRPr lang="en-US" sz="900" dirty="0"/>
          </a:p>
        </p:txBody>
      </p:sp>
      <p:sp>
        <p:nvSpPr>
          <p:cNvPr id="27" name="a5_n"/>
          <p:cNvSpPr/>
          <p:nvPr/>
        </p:nvSpPr>
        <p:spPr>
          <a:xfrm>
            <a:off x="7406640" y="534924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512" y="5568696"/>
            <a:ext cx="292608" cy="292608"/>
          </a:xfrm>
          <a:prstGeom prst="rect">
            <a:avLst/>
          </a:prstGeom>
        </p:spPr>
      </p:pic>
      <p:sp>
        <p:nvSpPr>
          <p:cNvPr id="29" name="a5_t"/>
          <p:cNvSpPr txBox="1"/>
          <p:nvPr/>
        </p:nvSpPr>
        <p:spPr>
          <a:xfrm>
            <a:off x="7891272" y="54041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Таланты</a:t>
            </a:r>
            <a:endParaRPr lang="en-US" sz="1150" dirty="0"/>
          </a:p>
        </p:txBody>
      </p:sp>
      <p:sp>
        <p:nvSpPr>
          <p:cNvPr id="30" name="a5_d"/>
          <p:cNvSpPr txBox="1"/>
          <p:nvPr/>
        </p:nvSpPr>
        <p:spPr>
          <a:xfrm>
            <a:off x="7891272" y="57332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и студия</a:t>
            </a:r>
            <a:endParaRPr lang="en-US" sz="900" dirty="0"/>
          </a:p>
        </p:txBody>
      </p:sp>
      <p:sp>
        <p:nvSpPr>
          <p:cNvPr id="31" name="a6_n"/>
          <p:cNvSpPr/>
          <p:nvPr/>
        </p:nvSpPr>
        <p:spPr>
          <a:xfrm>
            <a:off x="5347717" y="445770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589" y="4677156"/>
            <a:ext cx="292608" cy="292608"/>
          </a:xfrm>
          <a:prstGeom prst="rect">
            <a:avLst/>
          </a:prstGeom>
        </p:spPr>
      </p:pic>
      <p:sp>
        <p:nvSpPr>
          <p:cNvPr id="33" name="a6_t"/>
          <p:cNvSpPr txBox="1"/>
          <p:nvPr/>
        </p:nvSpPr>
        <p:spPr>
          <a:xfrm>
            <a:off x="5832349" y="45125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и бренд</a:t>
            </a:r>
            <a:endParaRPr lang="en-US" sz="1150" dirty="0"/>
          </a:p>
        </p:txBody>
      </p:sp>
      <p:sp>
        <p:nvSpPr>
          <p:cNvPr id="34" name="a6_d"/>
          <p:cNvSpPr txBox="1"/>
          <p:nvPr/>
        </p:nvSpPr>
        <p:spPr>
          <a:xfrm>
            <a:off x="5832349" y="48417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и киберспорт</a:t>
            </a:r>
            <a:endParaRPr lang="en-US" sz="900" dirty="0"/>
          </a:p>
        </p:txBody>
      </p:sp>
      <p:sp>
        <p:nvSpPr>
          <p:cNvPr id="35" name="a7_n"/>
          <p:cNvSpPr/>
          <p:nvPr/>
        </p:nvSpPr>
        <p:spPr>
          <a:xfrm>
            <a:off x="5347717" y="267462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589" y="2894076"/>
            <a:ext cx="292608" cy="292608"/>
          </a:xfrm>
          <a:prstGeom prst="rect">
            <a:avLst/>
          </a:prstGeom>
        </p:spPr>
      </p:pic>
      <p:sp>
        <p:nvSpPr>
          <p:cNvPr id="37" name="a7_t"/>
          <p:cNvSpPr txBox="1"/>
          <p:nvPr/>
        </p:nvSpPr>
        <p:spPr>
          <a:xfrm>
            <a:off x="5832349" y="27294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 и партнёры</a:t>
            </a:r>
            <a:endParaRPr lang="en-US" sz="1150" dirty="0"/>
          </a:p>
        </p:txBody>
      </p:sp>
      <p:sp>
        <p:nvSpPr>
          <p:cNvPr id="38" name="a7_d"/>
          <p:cNvSpPr txBox="1"/>
          <p:nvPr/>
        </p:nvSpPr>
        <p:spPr>
          <a:xfrm>
            <a:off x="5832349" y="30586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D99A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на услуги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Business Model Canvas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548640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76656" y="18562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партнёры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76656" y="2130552"/>
            <a:ext cx="1889699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Park и программы поддержки*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Платёжные провайдеры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Telegram-платформа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Вузы и работодатели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Спортивные организации*</a:t>
            </a:r>
            <a:endParaRPr lang="en-US" sz="950" dirty="0"/>
          </a:p>
        </p:txBody>
      </p:sp>
      <p:sp>
        <p:nvSpPr>
          <p:cNvPr id="12" name="a2_b"/>
          <p:cNvSpPr/>
          <p:nvPr/>
        </p:nvSpPr>
        <p:spPr>
          <a:xfrm>
            <a:off x="2767523" y="17830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895539" y="18562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активности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2895539" y="21305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ПО и AI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 и LiveOps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 и медиа</a:t>
            </a:r>
            <a:endParaRPr lang="en-US" sz="950" dirty="0"/>
          </a:p>
        </p:txBody>
      </p:sp>
      <p:sp>
        <p:nvSpPr>
          <p:cNvPr id="15" name="a3_b"/>
          <p:cNvSpPr/>
          <p:nvPr/>
        </p:nvSpPr>
        <p:spPr>
          <a:xfrm>
            <a:off x="2767523" y="31546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895539" y="32278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ресурсы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895539" y="35021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Инженерная команда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Технологическая платформа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 FootureX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игроков</a:t>
            </a:r>
            <a:endParaRPr lang="en-US" sz="950" dirty="0"/>
          </a:p>
        </p:txBody>
      </p:sp>
      <p:sp>
        <p:nvSpPr>
          <p:cNvPr id="18" name="a4_b"/>
          <p:cNvSpPr/>
          <p:nvPr/>
        </p:nvSpPr>
        <p:spPr>
          <a:xfrm>
            <a:off x="4986406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E3F8EE"/>
          </a:solidFill>
          <a:ln w="9525">
            <a:solidFill>
              <a:srgbClr val="9FE3C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114422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Ценностные предложения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114422" y="2286000"/>
            <a:ext cx="1889699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Бизнесу: автоматизация и AI с результатом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Игрокам: футбол в Telegram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Студентам: профессия через практику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Партнёрам: молодая цифровая аудитория</a:t>
            </a:r>
            <a:endParaRPr lang="en-US" sz="950" dirty="0"/>
          </a:p>
        </p:txBody>
      </p:sp>
      <p:sp>
        <p:nvSpPr>
          <p:cNvPr id="21" name="a5_b"/>
          <p:cNvSpPr/>
          <p:nvPr/>
        </p:nvSpPr>
        <p:spPr>
          <a:xfrm>
            <a:off x="7205289" y="17830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33305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Отношения с клиентами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333305" y="2286000"/>
            <a:ext cx="18896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Аккаунт-менеджмент и SLA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 LiveOps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Наставничество</a:t>
            </a:r>
            <a:endParaRPr lang="en-US" sz="950" dirty="0"/>
          </a:p>
        </p:txBody>
      </p:sp>
      <p:sp>
        <p:nvSpPr>
          <p:cNvPr id="24" name="a6_b"/>
          <p:cNvSpPr/>
          <p:nvPr/>
        </p:nvSpPr>
        <p:spPr>
          <a:xfrm>
            <a:off x="7205289" y="31546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333305" y="32278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333305" y="35021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Прямые продажи B2B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и медиа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сети</a:t>
            </a:r>
            <a:endParaRPr lang="en-US" sz="950" dirty="0"/>
          </a:p>
        </p:txBody>
      </p:sp>
      <p:sp>
        <p:nvSpPr>
          <p:cNvPr id="27" name="a7_b"/>
          <p:cNvSpPr/>
          <p:nvPr/>
        </p:nvSpPr>
        <p:spPr>
          <a:xfrm>
            <a:off x="9424172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552188" y="18562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Клиентские сегменты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9552188" y="2130552"/>
            <a:ext cx="1889699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МСБ и корпорации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 и болельщики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Студенты и семьи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Спонсоры и бренды</a:t>
            </a:r>
            <a:endParaRPr lang="en-US" sz="950" dirty="0"/>
          </a:p>
        </p:txBody>
      </p:sp>
      <p:sp>
        <p:nvSpPr>
          <p:cNvPr id="30" name="a8_b"/>
          <p:cNvSpPr/>
          <p:nvPr/>
        </p:nvSpPr>
        <p:spPr>
          <a:xfrm>
            <a:off x="548640" y="4526280"/>
            <a:ext cx="5474056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76656" y="4599432"/>
            <a:ext cx="521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затрат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76656" y="4873752"/>
            <a:ext cx="52180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(разработка, R&amp;D, админ.) · привлечение игроков · облако и инфраструктура · CAPEX: оборудование, студии, учебные пространства</a:t>
            </a:r>
            <a:endParaRPr lang="en-US" sz="950" dirty="0"/>
          </a:p>
        </p:txBody>
      </p:sp>
      <p:sp>
        <p:nvSpPr>
          <p:cNvPr id="33" name="a9_b"/>
          <p:cNvSpPr/>
          <p:nvPr/>
        </p:nvSpPr>
        <p:spPr>
          <a:xfrm>
            <a:off x="6095848" y="4526280"/>
            <a:ext cx="5474056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223864" y="4599432"/>
            <a:ext cx="521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Потоки доходов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223864" y="4873752"/>
            <a:ext cx="52180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IT-проекты и SLA · AI-проекты и SaaS · покупки в игре и реклама · обучение · спонсорство и события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92531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Целевые партнёрства; соглашения отсутствуют, требуют подтверждения.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  <p:bldP spid="21" grpId="0" animBg="1"/>
      <p:bldP spid="24" grpId="0" animBg="1"/>
      <p:bldP spid="27" grpId="0" animBg="1"/>
      <p:bldP spid="30" grpId="0" animBg="1"/>
      <p:bldP spid="3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 доходов по направлениям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548640" y="1874520"/>
          <a:ext cx="73152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a2_ins"/>
          <p:cNvSpPr/>
          <p:nvPr/>
        </p:nvSpPr>
        <p:spPr>
          <a:xfrm>
            <a:off x="8092440" y="1874520"/>
            <a:ext cx="3547872" cy="406908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321040" y="2075688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Года 5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2478024"/>
            <a:ext cx="3090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IT-услуги: 26%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Игра: 37%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AI: 16%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Академия: 7%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FX Coins не являются выручкой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City — вне модели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IT-услуг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548640" y="1874520"/>
          <a:ext cx="67665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9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874520"/>
          <a:ext cx="40965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86384"/>
                <a:gridCol w="786384"/>
                <a:gridCol w="786384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Оплачиваемые FTE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28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Загрузка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78%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Ставка, $/ч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Себестоимость часа, $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Валовая маржа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48%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54%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54%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AI-продуктов: проекты сегодня, подписка завтра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548640" y="1874520"/>
          <a:ext cx="67665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a2_ue"/>
          <p:cNvSpPr/>
          <p:nvPr/>
        </p:nvSpPr>
        <p:spPr>
          <a:xfrm>
            <a:off x="7543800" y="1874520"/>
            <a:ext cx="40965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754112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SaaS · Год 3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54112" y="24505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ARPA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0" y="2450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$160 / мес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754112" y="2926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0" y="2926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72%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754112" y="34015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Отток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0" y="34015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2,5% / мес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7754112" y="3877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0" y="38770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$4 608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754112" y="435254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0" y="43525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$900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754112" y="48280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 / CAC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0" y="48280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9F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5,1×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754112" y="5303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Окупаемость CAC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0" y="5303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7,8 мес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Game Development: реальная выручка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548640" y="1874520"/>
          <a:ext cx="67665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a2_ue"/>
          <p:cNvSpPr/>
          <p:nvPr/>
        </p:nvSpPr>
        <p:spPr>
          <a:xfrm>
            <a:off x="7543800" y="1874520"/>
            <a:ext cx="40965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754112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игрока · Год 3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54112" y="24505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MAU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92640" y="24505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350 тыс.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754112" y="2926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платящих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92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2,5%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754112" y="34015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ARPPU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692640" y="34015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 / мес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7754112" y="3877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Чистая выручка на MAU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92640" y="387705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$0,17 / мес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754112" y="4352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 игрока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692640" y="435254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$1,29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754112" y="48280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 игрока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9692640" y="48280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$0,64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754112" y="5303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 / CAC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692640" y="5303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9F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2,0×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  <p:bldP spid="1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футбольного и киберспортивного направлений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02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914400"/>
                <a:gridCol w="914400"/>
                <a:gridCol w="914400"/>
                <a:gridCol w="9144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USD тыс.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4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Esports: выручка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120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250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Esports: валовая прибыль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168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Academy: выручка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160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Academy: затраты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−250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−350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Academy: результат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−170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−190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Academy: CAPEX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2" name="a2_ins"/>
          <p:cNvSpPr/>
          <p:nvPr/>
        </p:nvSpPr>
        <p:spPr>
          <a:xfrm>
            <a:off x="7726680" y="1874520"/>
            <a:ext cx="3913632" cy="406908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955280" y="2075688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 пятилетней модели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955280" y="2478024"/>
            <a:ext cx="34564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 — отдельный бизнес-план и финансирование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City — проектное финансирование по итогам ТЭО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Доход от компенсаций ФИФА — не учитывается (консервативно)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Призовые и спонсорство — по фактическим договорам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капитальных и операционных затрат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548640" y="1874520"/>
          <a:ext cx="53949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a2_chart" descr=""/>
          <p:cNvGraphicFramePr/>
          <p:nvPr/>
        </p:nvGraphicFramePr>
        <p:xfrm>
          <a:off x="6245352" y="1874520"/>
          <a:ext cx="53949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  <p:bldGraphic spid="12" grpId="0">
        <p:bldAsOne/>
      </p:bldGraphic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Финансовая модель на 5 лет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04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593592"/>
                <a:gridCol w="1499616"/>
                <a:gridCol w="1499616"/>
                <a:gridCol w="1499616"/>
                <a:gridCol w="1499616"/>
                <a:gridCol w="14996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USD тыс.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4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Выручка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355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1 330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3 168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5 614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8 769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Себестоимость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−176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−599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−1 350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−2 530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−3 828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Валовая прибыль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179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731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1 817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3 085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4 942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Валовая маржа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50%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55%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57%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55%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56%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OPEX (включая UA)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−566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−1 130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−1 746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−2 360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−2 980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EBITDA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−387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725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1 962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Амортизация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−97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−175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−325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−425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Налог на прибыль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−138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Чистая прибыль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−417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−496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−104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1 399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Операционный денежный поток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−416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−477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−76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529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1 571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CAPEX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−120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−270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−310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−600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−520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Свободный денежный поток (FCF)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−536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−747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−386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−71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1 051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Прогноз выручки, EBITDA и денежных потоков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548640" y="1874520"/>
          <a:ext cx="66751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a2_chart" descr=""/>
          <p:cNvGraphicFramePr/>
          <p:nvPr/>
        </p:nvGraphicFramePr>
        <p:xfrm>
          <a:off x="7406640" y="1874520"/>
          <a:ext cx="4233672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  <p:bldGraphic spid="12" grpId="0">
        <p:bldAsOne/>
      </p:bldGraphic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Сценарный анализ и точка безубыточности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 Сценарии: 70% / 100% / 130% объёмных драйверов.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graphicFrame>
        <p:nvGraphicFramePr>
          <p:cNvPr id="11" name="a1_chart" descr=""/>
          <p:cNvGraphicFramePr/>
          <p:nvPr/>
        </p:nvGraphicFramePr>
        <p:xfrm>
          <a:off x="548640" y="1874520"/>
          <a:ext cx="54864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874520"/>
          <a:ext cx="537667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1097280"/>
                <a:gridCol w="1097280"/>
                <a:gridCol w="1097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Показатель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Песс.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База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Опт.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Выручка, Год 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6 138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8 769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11 400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EBITDA, Год 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502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1 962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3 422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Чистая прибыль, Год 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77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1 399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2 547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EBITDA &gt; 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Окупаемость (FCF)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&gt; 5 лет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≈ Год 6*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Капитал с резервом 25%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4 300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2 200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1 400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6263640" y="5349240"/>
            <a:ext cx="5376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Экстраполяция при сохранении FCF Года 5; за пределами горизонта модели.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Инвестиционная стратегия и потребность в капитале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 · BUSINESS &amp; FINANCIAL MODEL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Расчёт: иллюстративная финансовая модель FootureX (Excel-приложение), USD тыс. Все значения — допущения; не являются прогнозом руководства.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ИЛЛЮСТРАТИВНЫЙ СЦЕНАРИЙ · USD тыс. · ДОПУЩЕНИЯ ТРЕБУЮТ ПОДТВЕРЖДЕНИЯ</a:t>
            </a:r>
            <a:endParaRPr lang="en-US" sz="900" dirty="0"/>
          </a:p>
        </p:txBody>
      </p:sp>
      <p:sp>
        <p:nvSpPr>
          <p:cNvPr id="11" name="a1_card"/>
          <p:cNvSpPr/>
          <p:nvPr/>
        </p:nvSpPr>
        <p:spPr>
          <a:xfrm>
            <a:off x="548640" y="1874520"/>
            <a:ext cx="351525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2" name="a1_v"/>
          <p:cNvSpPr txBox="1"/>
          <p:nvPr/>
        </p:nvSpPr>
        <p:spPr>
          <a:xfrm>
            <a:off x="777240" y="20756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$2,20 млн</a:t>
            </a:r>
            <a:endParaRPr lang="en-US" sz="2400" dirty="0"/>
          </a:p>
        </p:txBody>
      </p:sp>
      <p:sp>
        <p:nvSpPr>
          <p:cNvPr id="13" name="a1_l"/>
          <p:cNvSpPr txBox="1"/>
          <p:nvPr/>
        </p:nvSpPr>
        <p:spPr>
          <a:xfrm>
            <a:off x="777240" y="2807208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потребность в капитале, базовый сценарий (с резервом 25%)</a:t>
            </a:r>
            <a:endParaRPr lang="en-US" sz="1150" dirty="0"/>
          </a:p>
        </p:txBody>
      </p:sp>
      <p:sp>
        <p:nvSpPr>
          <p:cNvPr id="14" name="a2_card"/>
          <p:cNvSpPr/>
          <p:nvPr/>
        </p:nvSpPr>
        <p:spPr>
          <a:xfrm>
            <a:off x="4338218" y="1874520"/>
            <a:ext cx="351525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5" name="a2_v"/>
          <p:cNvSpPr txBox="1"/>
          <p:nvPr/>
        </p:nvSpPr>
        <p:spPr>
          <a:xfrm>
            <a:off x="4566818" y="20756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$1,4–4,3 млн</a:t>
            </a:r>
            <a:endParaRPr lang="en-US" sz="2400" dirty="0"/>
          </a:p>
        </p:txBody>
      </p:sp>
      <p:sp>
        <p:nvSpPr>
          <p:cNvPr id="16" name="a2_l"/>
          <p:cNvSpPr txBox="1"/>
          <p:nvPr/>
        </p:nvSpPr>
        <p:spPr>
          <a:xfrm>
            <a:off x="4566818" y="2807208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диапазон по сценариям: оптимистичный — пессимистичный</a:t>
            </a:r>
            <a:endParaRPr lang="en-US" sz="1150" dirty="0"/>
          </a:p>
        </p:txBody>
      </p:sp>
      <p:sp>
        <p:nvSpPr>
          <p:cNvPr id="17" name="a3_card"/>
          <p:cNvSpPr/>
          <p:nvPr/>
        </p:nvSpPr>
        <p:spPr>
          <a:xfrm>
            <a:off x="8127797" y="1874520"/>
            <a:ext cx="351525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18" name="a3_v"/>
          <p:cNvSpPr txBox="1"/>
          <p:nvPr/>
        </p:nvSpPr>
        <p:spPr>
          <a:xfrm>
            <a:off x="8356397" y="20756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 3</a:t>
            </a:r>
            <a:endParaRPr lang="en-US" sz="2400" dirty="0"/>
          </a:p>
        </p:txBody>
      </p:sp>
      <p:sp>
        <p:nvSpPr>
          <p:cNvPr id="19" name="a3_l"/>
          <p:cNvSpPr txBox="1"/>
          <p:nvPr/>
        </p:nvSpPr>
        <p:spPr>
          <a:xfrm>
            <a:off x="8356397" y="2807208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EBITDA &gt; 0 в базовом сценарии</a:t>
            </a:r>
            <a:endParaRPr lang="en-US" sz="1150" dirty="0"/>
          </a:p>
        </p:txBody>
      </p:sp>
      <p:sp>
        <p:nvSpPr>
          <p:cNvPr id="20" name="a4_r"/>
          <p:cNvSpPr/>
          <p:nvPr/>
        </p:nvSpPr>
        <p:spPr>
          <a:xfrm>
            <a:off x="548640" y="352044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7240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Предлагаемая структура раундов</a:t>
            </a:r>
            <a:endParaRPr lang="en-US" sz="1300" dirty="0"/>
          </a:p>
        </p:txBody>
      </p:sp>
      <p:graphicFrame>
        <p:nvGraphicFramePr>
          <p:cNvPr id="107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041648"/>
          <a:ext cx="49377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Сумма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Назначение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Посевной · Год 1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≈ $0,8 млн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Команда, запуск игры, первые клиенты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Раунд роста · Годы 2–3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≈ $1,4 млн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UA, AI SaaS, академия, регион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3" name="a5_r"/>
          <p:cNvSpPr/>
          <p:nvPr/>
        </p:nvSpPr>
        <p:spPr>
          <a:xfrm>
            <a:off x="6245352" y="352044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C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473952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Доходность для инвестора (база)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473952" y="4069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Денежный ROI за 5 лет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418320" y="4069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−31%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6473952" y="45445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EBITDA Года 5 / капитал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418320" y="4544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89%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473952" y="502005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4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Окупаемость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418320" y="502005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Год 6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6473952" y="5504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98A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является привлечённым финансированием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Корпоративная структура FootureX Uzbekistan: целевая модель группы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 · GOVERNANCE &amp; EXECUTION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a1_n"/>
          <p:cNvSpPr/>
          <p:nvPr/>
        </p:nvSpPr>
        <p:spPr>
          <a:xfrm>
            <a:off x="4544568" y="1783080"/>
            <a:ext cx="3108960" cy="640080"/>
          </a:xfrm>
          <a:prstGeom prst="roundRect">
            <a:avLst>
              <a:gd name="adj" fmla="val 11429"/>
            </a:avLst>
          </a:prstGeom>
          <a:solidFill>
            <a:srgbClr val="0E1521"/>
          </a:solidFill>
          <a:ln w="12700">
            <a:solidFill>
              <a:srgbClr val="0E152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7720" y="1874520"/>
            <a:ext cx="2962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130552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материнская компания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099048" y="2423160"/>
            <a:ext cx="0" cy="22860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74520" y="2651760"/>
            <a:ext cx="8458200" cy="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874520" y="2651760"/>
            <a:ext cx="0" cy="164592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5" name="a2_c"/>
          <p:cNvSpPr/>
          <p:nvPr/>
        </p:nvSpPr>
        <p:spPr>
          <a:xfrm>
            <a:off x="548640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E3F8EE"/>
          </a:solidFill>
          <a:ln w="12700">
            <a:solidFill>
              <a:srgbClr val="9FE3C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364992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34107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66674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8640" y="3986784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403250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4288536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693615" y="2651760"/>
            <a:ext cx="0" cy="164592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24" name="a3_c"/>
          <p:cNvSpPr/>
          <p:nvPr/>
        </p:nvSpPr>
        <p:spPr>
          <a:xfrm>
            <a:off x="3367735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E3F8EE"/>
          </a:solidFill>
          <a:ln w="12700">
            <a:solidFill>
              <a:srgbClr val="9FE3C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40887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367735" y="3364992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440887" y="34107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Development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3440887" y="366674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 (IP)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367735" y="3986784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40887" y="403250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Community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3440887" y="4288536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3367735" y="4608576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40887" y="465429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440887" y="491032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367735" y="5230368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40887" y="527608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 Academy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3440887" y="553212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7512710" y="2651760"/>
            <a:ext cx="0" cy="164592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39" name="a4_c"/>
          <p:cNvSpPr/>
          <p:nvPr/>
        </p:nvSpPr>
        <p:spPr>
          <a:xfrm>
            <a:off x="6186830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E3F8EE"/>
          </a:solidFill>
          <a:ln w="12700">
            <a:solidFill>
              <a:srgbClr val="9FE3C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59982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Sports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186830" y="3364992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259982" y="34107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6259982" y="366674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отдельная организация*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6186830" y="3986784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59982" y="403250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6259982" y="4288536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отдельная организация*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10331806" y="2651760"/>
            <a:ext cx="0" cy="164592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48" name="a5_c"/>
          <p:cNvSpPr/>
          <p:nvPr/>
        </p:nvSpPr>
        <p:spPr>
          <a:xfrm>
            <a:off x="9005926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E3F8EE"/>
          </a:solidFill>
          <a:ln w="12700">
            <a:solidFill>
              <a:srgbClr val="9FE3C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079078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9005926" y="3364992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79078" y="34107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9079078" y="366674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SPV с партнёрами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9005926" y="3986784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079078" y="403250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079078" y="4288536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SPV с партнёрами</a:t>
            </a:r>
            <a:endParaRPr lang="en-US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548640" y="59436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Форма определяется требованиями клубного лицензирования. Все звенья — концептуальные; зарегистрированных дочерних компаний нет.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24" grpId="0" animBg="1"/>
      <p:bldP spid="39" grpId="0" animBg="1"/>
      <p:bldP spid="4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 управления компанией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 · GOVERNANCE &amp; EXECUTION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a1_n"/>
          <p:cNvSpPr/>
          <p:nvPr/>
        </p:nvSpPr>
        <p:spPr>
          <a:xfrm>
            <a:off x="3813048" y="1783080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0E1521"/>
          </a:solidFill>
          <a:ln w="12700">
            <a:solidFill>
              <a:srgbClr val="0E152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837944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Общее собрание участников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2093976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высший орган ООО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099048" y="2350008"/>
            <a:ext cx="0" cy="18288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3" name="a2_n"/>
          <p:cNvSpPr/>
          <p:nvPr/>
        </p:nvSpPr>
        <p:spPr>
          <a:xfrm>
            <a:off x="3813048" y="2532888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1ED6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86200" y="2587752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Наблюдательный совет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2843784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стратегия, бюджет, крупные сделки (при создании)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099048" y="3099816"/>
            <a:ext cx="0" cy="18288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17" name="a3_n"/>
          <p:cNvSpPr/>
          <p:nvPr/>
        </p:nvSpPr>
        <p:spPr>
          <a:xfrm>
            <a:off x="3813048" y="3282696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86200" y="3337560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Генеральный директор (CEO)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886200" y="3593592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исполнительный орган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099048" y="3849624"/>
            <a:ext cx="0" cy="18288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21" name="a4_n"/>
          <p:cNvSpPr/>
          <p:nvPr/>
        </p:nvSpPr>
        <p:spPr>
          <a:xfrm>
            <a:off x="3813048" y="4032504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86200" y="4087368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Правление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886200" y="4343400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руководители направлений, CFO, CTO</a:t>
            </a:r>
            <a:endParaRPr lang="en-US" sz="850" dirty="0"/>
          </a:p>
        </p:txBody>
      </p:sp>
      <p:sp>
        <p:nvSpPr>
          <p:cNvPr id="24" name="a5_k"/>
          <p:cNvSpPr/>
          <p:nvPr/>
        </p:nvSpPr>
        <p:spPr>
          <a:xfrm>
            <a:off x="8823960" y="182880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F4F6FA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897112" y="195681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Комитет по аудиту и рискам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221284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контроль, отчётность</a:t>
            </a:r>
            <a:endParaRPr lang="en-US" sz="850" dirty="0"/>
          </a:p>
        </p:txBody>
      </p:sp>
      <p:sp>
        <p:nvSpPr>
          <p:cNvPr id="27" name="a6_k"/>
          <p:cNvSpPr/>
          <p:nvPr/>
        </p:nvSpPr>
        <p:spPr>
          <a:xfrm>
            <a:off x="8823960" y="269748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F4F6FA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97112" y="282549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Инвестиционный комитет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897112" y="308152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CAPEX, новые направления</a:t>
            </a:r>
            <a:endParaRPr lang="en-US" sz="850" dirty="0"/>
          </a:p>
        </p:txBody>
      </p:sp>
      <p:sp>
        <p:nvSpPr>
          <p:cNvPr id="30" name="a7_k"/>
          <p:cNvSpPr/>
          <p:nvPr/>
        </p:nvSpPr>
        <p:spPr>
          <a:xfrm>
            <a:off x="8823960" y="356616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F4F6FA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897112" y="369417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Комитет по технологиям и этике AI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897112" y="395020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архитектура, данные, AI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8385048" y="2816352"/>
            <a:ext cx="219456" cy="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04504" y="2185416"/>
            <a:ext cx="0" cy="173736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04504" y="2185416"/>
            <a:ext cx="219456" cy="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604504" y="3054096"/>
            <a:ext cx="219456" cy="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604504" y="3922776"/>
            <a:ext cx="219456" cy="0"/>
          </a:xfrm>
          <a:prstGeom prst="line">
            <a:avLst/>
          </a:prstGeom>
          <a:noFill/>
          <a:ln w="12700">
            <a:solidFill>
              <a:srgbClr val="B7C1D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6B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Финансовый контроль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219456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Годовой бюджет и инвестиционный план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Ежемесячная управленческая отчётность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Матрица полномочий и лимиты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Двойная подпись крупных платежей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2A3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Ежегодный внешний аудит</a:t>
            </a:r>
            <a:endParaRPr lang="en-US" sz="1150" dirty="0"/>
          </a:p>
        </p:txBody>
      </p:sp>
      <p:sp>
        <p:nvSpPr>
          <p:cNvPr id="40" name="a8_n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FF8EA"/>
          </a:solidFill>
          <a:ln w="9525">
            <a:solidFill>
              <a:srgbClr val="F2C46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A">
                <a:alpha val="18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2960" y="48920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45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Органы управления ООО — по законодательству РУз и уставу компании. Наблюдательный совет и комитеты — рекомендуемая модель; закрепляется решением участников.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  <p:bldP spid="21" grpId="0" animBg="1"/>
      <p:bldP spid="24" grpId="0" animBg="1"/>
      <p:bldP spid="27" grpId="0" animBg="1"/>
      <p:bldP spid="30" grpId="0" animBg="1"/>
      <p:bldP spid="40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подразделений и ответственности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 · GOVERNANCE &amp; EXECUTION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graphicFrame>
        <p:nvGraphicFramePr>
          <p:cNvPr id="11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2697480"/>
                <a:gridCol w="2377440"/>
                <a:gridCol w="896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Направление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Ответственный (роль)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Ключевая метрика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Права решений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Фаза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Technologies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Директор IT-направления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Выручка, маржа, загрузка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до лимита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AI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Руководитель AI (CTO)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Проекты, SaaS ARR, LTV/CAC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Архитектура AI, тарифы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Development + Game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Продюсер игр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MAU, retention, ARPPU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Релизы, LiveOps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 Academy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Директор академии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Слушатели, трудоустройство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Программы, набор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(пилот)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Community &amp; Esports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Руководитель сообщества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Участники, просмотры, спонсоры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Турниры, контент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FC FootureX + Football Academy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Спортивный директор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Воспитанники, результаты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Состав, методика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Stadium + City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Директор по развитию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ТЭО, партнёры, согласования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Только подготовка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Финансы и контроль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CFO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Бюджет, денежный поток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Платежи, отчётность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Все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Операционная модель и контроль качества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 · GOVERNANCE &amp; EXECUTION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0" name="a1_lb"/>
          <p:cNvSpPr/>
          <p:nvPr/>
        </p:nvSpPr>
        <p:spPr>
          <a:xfrm>
            <a:off x="640080" y="1920240"/>
            <a:ext cx="2011680" cy="420624"/>
          </a:xfrm>
          <a:prstGeom prst="roundRect">
            <a:avLst>
              <a:gd name="adj" fmla="val 17391"/>
            </a:avLst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834640" y="1956816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07792" y="1956816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на 3 года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776874" y="1956816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50026" y="1956816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Годовые OKR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19109" y="1956816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92261" y="1956816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Квартальный пересмотр</a:t>
            </a:r>
            <a:endParaRPr lang="en-US" sz="1100" dirty="0"/>
          </a:p>
        </p:txBody>
      </p:sp>
      <p:sp>
        <p:nvSpPr>
          <p:cNvPr id="18" name="a2_bg"/>
          <p:cNvSpPr/>
          <p:nvPr/>
        </p:nvSpPr>
        <p:spPr>
          <a:xfrm>
            <a:off x="548640" y="2542032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9" name="a2_lb"/>
          <p:cNvSpPr/>
          <p:nvPr/>
        </p:nvSpPr>
        <p:spPr>
          <a:xfrm>
            <a:off x="640080" y="2633472"/>
            <a:ext cx="2011680" cy="420624"/>
          </a:xfrm>
          <a:prstGeom prst="roundRect">
            <a:avLst>
              <a:gd name="adj" fmla="val 17391"/>
            </a:avLst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sp>
        <p:nvSpPr>
          <p:cNvPr id="20" name="a2_lt"/>
          <p:cNvSpPr txBox="1"/>
          <p:nvPr/>
        </p:nvSpPr>
        <p:spPr>
          <a:xfrm>
            <a:off x="749808" y="2633472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2834640" y="2670048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07792" y="2670048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Приоритизация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76874" y="2670048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850026" y="2670048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Ворота качества проектов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19109" y="2670048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792261" y="2670048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Распределение ресурсов</a:t>
            </a:r>
            <a:endParaRPr lang="en-US" sz="1100" dirty="0"/>
          </a:p>
        </p:txBody>
      </p:sp>
      <p:sp>
        <p:nvSpPr>
          <p:cNvPr id="27" name="a3_bg"/>
          <p:cNvSpPr/>
          <p:nvPr/>
        </p:nvSpPr>
        <p:spPr>
          <a:xfrm>
            <a:off x="548640" y="3255264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a3_lb"/>
          <p:cNvSpPr/>
          <p:nvPr/>
        </p:nvSpPr>
        <p:spPr>
          <a:xfrm>
            <a:off x="640080" y="3346704"/>
            <a:ext cx="2011680" cy="420624"/>
          </a:xfrm>
          <a:prstGeom prst="roundRect">
            <a:avLst>
              <a:gd name="adj" fmla="val 17391"/>
            </a:avLst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sp>
        <p:nvSpPr>
          <p:cNvPr id="29" name="a3_lt"/>
          <p:cNvSpPr txBox="1"/>
          <p:nvPr/>
        </p:nvSpPr>
        <p:spPr>
          <a:xfrm>
            <a:off x="749808" y="334670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Поставка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2834640" y="3383280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07792" y="3383280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Agile-спринты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776874" y="3383280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850026" y="3383280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и ретроспективы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719109" y="3383280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2261" y="3383280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SLA клиентов</a:t>
            </a:r>
            <a:endParaRPr lang="en-US" sz="1100" dirty="0"/>
          </a:p>
        </p:txBody>
      </p:sp>
      <p:sp>
        <p:nvSpPr>
          <p:cNvPr id="36" name="a4_bg"/>
          <p:cNvSpPr/>
          <p:nvPr/>
        </p:nvSpPr>
        <p:spPr>
          <a:xfrm>
            <a:off x="548640" y="3968496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7" name="a4_lb"/>
          <p:cNvSpPr/>
          <p:nvPr/>
        </p:nvSpPr>
        <p:spPr>
          <a:xfrm>
            <a:off x="640080" y="4059936"/>
            <a:ext cx="2011680" cy="420624"/>
          </a:xfrm>
          <a:prstGeom prst="roundRect">
            <a:avLst>
              <a:gd name="adj" fmla="val 17391"/>
            </a:avLst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sp>
        <p:nvSpPr>
          <p:cNvPr id="38" name="a4_lt"/>
          <p:cNvSpPr txBox="1"/>
          <p:nvPr/>
        </p:nvSpPr>
        <p:spPr>
          <a:xfrm>
            <a:off x="749808" y="4059936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2834640" y="4096512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07792" y="4096512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Автотесты и код-ревью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776874" y="4096512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850026" y="4096512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719109" y="4096512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792261" y="4096512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NPS клиентов и игроков</a:t>
            </a:r>
            <a:endParaRPr lang="en-US" sz="1100" dirty="0"/>
          </a:p>
        </p:txBody>
      </p:sp>
      <p:sp>
        <p:nvSpPr>
          <p:cNvPr id="45" name="a5_bg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46" name="a5_lb"/>
          <p:cNvSpPr/>
          <p:nvPr/>
        </p:nvSpPr>
        <p:spPr>
          <a:xfrm>
            <a:off x="640080" y="4773168"/>
            <a:ext cx="2011680" cy="420624"/>
          </a:xfrm>
          <a:prstGeom prst="roundRect">
            <a:avLst>
              <a:gd name="adj" fmla="val 17391"/>
            </a:avLst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sp>
        <p:nvSpPr>
          <p:cNvPr id="47" name="a5_lt"/>
          <p:cNvSpPr txBox="1"/>
          <p:nvPr/>
        </p:nvSpPr>
        <p:spPr>
          <a:xfrm>
            <a:off x="749808" y="4773168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2834640" y="4809744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907792" y="4809744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и прогноз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5776874" y="4809744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850026" y="4809744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Ежемесячная отчётность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8719109" y="4809744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792261" y="4809744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 на МСФО</a:t>
            </a:r>
            <a:endParaRPr lang="en-US" sz="1100" dirty="0"/>
          </a:p>
        </p:txBody>
      </p:sp>
      <p:sp>
        <p:nvSpPr>
          <p:cNvPr id="54" name="a6_bg"/>
          <p:cNvSpPr/>
          <p:nvPr/>
        </p:nvSpPr>
        <p:spPr>
          <a:xfrm>
            <a:off x="548640" y="539496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55" name="a6_lb"/>
          <p:cNvSpPr/>
          <p:nvPr/>
        </p:nvSpPr>
        <p:spPr>
          <a:xfrm>
            <a:off x="640080" y="5486400"/>
            <a:ext cx="2011680" cy="420624"/>
          </a:xfrm>
          <a:prstGeom prst="roundRect">
            <a:avLst>
              <a:gd name="adj" fmla="val 17391"/>
            </a:avLst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sp>
        <p:nvSpPr>
          <p:cNvPr id="56" name="a6_lt"/>
          <p:cNvSpPr txBox="1"/>
          <p:nvPr/>
        </p:nvSpPr>
        <p:spPr>
          <a:xfrm>
            <a:off x="749808" y="548640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D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250" dirty="0"/>
          </a:p>
        </p:txBody>
      </p:sp>
      <p:sp>
        <p:nvSpPr>
          <p:cNvPr id="57" name="Shape 54"/>
          <p:cNvSpPr/>
          <p:nvPr/>
        </p:nvSpPr>
        <p:spPr>
          <a:xfrm>
            <a:off x="2834640" y="5522976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907792" y="5522976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Внутренний контроль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5776874" y="5522976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850026" y="5522976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Внешний аудит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8719109" y="5522976"/>
            <a:ext cx="2832506" cy="347472"/>
          </a:xfrm>
          <a:prstGeom prst="roundRect">
            <a:avLst>
              <a:gd name="adj" fmla="val 18421"/>
            </a:avLst>
          </a:prstGeom>
          <a:solidFill>
            <a:srgbClr val="0B111B"/>
          </a:solidFill>
          <a:ln w="6350">
            <a:solidFill>
              <a:srgbClr val="1E2A3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792261" y="5522976"/>
            <a:ext cx="2686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Комплаенс и данные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8" grpId="0" animBg="1"/>
      <p:bldP spid="19" grpId="0" animBg="1"/>
      <p:bldP spid="20" grpId="0"/>
      <p:bldP spid="27" grpId="0" animBg="1"/>
      <p:bldP spid="28" grpId="0" animBg="1"/>
      <p:bldP spid="29" grpId="0"/>
      <p:bldP spid="36" grpId="0" animBg="1"/>
      <p:bldP spid="37" grpId="0" animBg="1"/>
      <p:bldP spid="38" grpId="0"/>
      <p:bldP spid="45" grpId="0" animBg="1"/>
      <p:bldP spid="46" grpId="0" animBg="1"/>
      <p:bldP spid="47" grpId="0"/>
      <p:bldP spid="54" grpId="0" animBg="1"/>
      <p:bldP spid="55" grpId="0" animBg="1"/>
      <p:bldP spid="5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Основные стратегические и финансовые риски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 · GOVERNANCE &amp; EXECUTION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51560" y="1874520"/>
            <a:ext cx="1225296" cy="1225296"/>
          </a:xfrm>
          <a:prstGeom prst="rect">
            <a:avLst/>
          </a:prstGeom>
          <a:solidFill>
            <a:srgbClr val="FFF1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13432" y="1874520"/>
            <a:ext cx="1225296" cy="1225296"/>
          </a:xfrm>
          <a:prstGeom prst="rect">
            <a:avLst/>
          </a:prstGeom>
          <a:solidFill>
            <a:srgbClr val="FFD9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75304" y="1874520"/>
            <a:ext cx="1225296" cy="1225296"/>
          </a:xfrm>
          <a:prstGeom prst="rect">
            <a:avLst/>
          </a:prstGeom>
          <a:solidFill>
            <a:srgbClr val="F9B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51560" y="3136392"/>
            <a:ext cx="1225296" cy="1225296"/>
          </a:xfrm>
          <a:prstGeom prst="rect">
            <a:avLst/>
          </a:prstGeom>
          <a:solidFill>
            <a:srgbClr val="E7F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13432" y="3136392"/>
            <a:ext cx="1225296" cy="1225296"/>
          </a:xfrm>
          <a:prstGeom prst="rect">
            <a:avLst/>
          </a:prstGeom>
          <a:solidFill>
            <a:srgbClr val="FFF1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75304" y="3136392"/>
            <a:ext cx="1225296" cy="1225296"/>
          </a:xfrm>
          <a:prstGeom prst="rect">
            <a:avLst/>
          </a:prstGeom>
          <a:solidFill>
            <a:srgbClr val="FFD9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1560" y="4398264"/>
            <a:ext cx="1225296" cy="1225296"/>
          </a:xfrm>
          <a:prstGeom prst="rect">
            <a:avLst/>
          </a:prstGeom>
          <a:solidFill>
            <a:srgbClr val="D9F2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313432" y="4398264"/>
            <a:ext cx="1225296" cy="1225296"/>
          </a:xfrm>
          <a:prstGeom prst="rect">
            <a:avLst/>
          </a:prstGeom>
          <a:solidFill>
            <a:srgbClr val="E7F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575304" y="4398264"/>
            <a:ext cx="1225296" cy="1225296"/>
          </a:xfrm>
          <a:prstGeom prst="rect">
            <a:avLst/>
          </a:prstGeom>
          <a:solidFill>
            <a:srgbClr val="FFF1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51560" y="5678424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Влияние →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 rot="16200000">
            <a:off x="45720" y="36393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Вероятность →</a:t>
            </a:r>
            <a:endParaRPr lang="en-US" sz="1000" dirty="0"/>
          </a:p>
        </p:txBody>
      </p:sp>
      <p:sp>
        <p:nvSpPr>
          <p:cNvPr id="20" name="a1_r"/>
          <p:cNvSpPr/>
          <p:nvPr/>
        </p:nvSpPr>
        <p:spPr>
          <a:xfrm>
            <a:off x="3712464" y="2011680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12464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a2_r"/>
          <p:cNvSpPr/>
          <p:nvPr/>
        </p:nvSpPr>
        <p:spPr>
          <a:xfrm>
            <a:off x="4261104" y="2560320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1104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a3_r"/>
          <p:cNvSpPr/>
          <p:nvPr/>
        </p:nvSpPr>
        <p:spPr>
          <a:xfrm>
            <a:off x="2587752" y="2148840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58775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a4_r"/>
          <p:cNvSpPr/>
          <p:nvPr/>
        </p:nvSpPr>
        <p:spPr>
          <a:xfrm>
            <a:off x="3758184" y="3410712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58184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a5_r"/>
          <p:cNvSpPr/>
          <p:nvPr/>
        </p:nvSpPr>
        <p:spPr>
          <a:xfrm>
            <a:off x="2496312" y="3319272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496312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a6_r"/>
          <p:cNvSpPr/>
          <p:nvPr/>
        </p:nvSpPr>
        <p:spPr>
          <a:xfrm>
            <a:off x="1600200" y="3410712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60020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a7_r"/>
          <p:cNvSpPr/>
          <p:nvPr/>
        </p:nvSpPr>
        <p:spPr>
          <a:xfrm>
            <a:off x="3044952" y="3867912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4495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000" dirty="0"/>
          </a:p>
        </p:txBody>
      </p:sp>
      <p:sp>
        <p:nvSpPr>
          <p:cNvPr id="34" name="a8_r"/>
          <p:cNvSpPr/>
          <p:nvPr/>
        </p:nvSpPr>
        <p:spPr>
          <a:xfrm>
            <a:off x="3986784" y="4626864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86784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a9_r"/>
          <p:cNvSpPr/>
          <p:nvPr/>
        </p:nvSpPr>
        <p:spPr>
          <a:xfrm>
            <a:off x="2587752" y="4855464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587752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000" dirty="0"/>
          </a:p>
        </p:txBody>
      </p:sp>
      <p:sp>
        <p:nvSpPr>
          <p:cNvPr id="38" name="a10_r"/>
          <p:cNvSpPr/>
          <p:nvPr/>
        </p:nvSpPr>
        <p:spPr>
          <a:xfrm>
            <a:off x="3090672" y="2651760"/>
            <a:ext cx="384048" cy="384048"/>
          </a:xfrm>
          <a:prstGeom prst="ellipse">
            <a:avLst/>
          </a:prstGeom>
          <a:solidFill>
            <a:srgbClr val="0E152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09067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2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828800"/>
          <a:ext cx="6748272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456432"/>
              </a:tblGrid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#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Риск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Мера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Финансирование не привлечено в срок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Этапность, выручка IT/AI, резерв 25%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Распыление фокуса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Фазы и ворота: новое — после метрик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Метрики игры ниже допущений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Soft launch, A/B-тесты, контроль UA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Регулирование платежей и предметов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Юридическое заключение до запуска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Дефицит кадров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Академия, мотивация, удалённый найм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Концентрация IT-клиентов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Лимит доли клиента, пакеты для МСБ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Валютный риск UZS/USD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Экспортная выручка, валютная политика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Зависимость от Telegram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Веб-версия, собственная база игроков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Кибербезопасность и данные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Стандарты ISO 27001, аудит, шифрование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10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Земля и разрешения Stadium/City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Опция A, ТЭО до любых обязательств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4" grpId="0" animBg="1"/>
      <p:bldP spid="36" grpId="0" animBg="1"/>
      <p:bldP spid="3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Roadmap развития на 10 лет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 · GOVERNANCE &amp; EXECUTION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91840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26962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126962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62083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Г3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962083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97205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797205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32326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Г5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32326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67448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67448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02569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302569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37691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Г8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137691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72812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Г9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972812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807934" y="1828800"/>
            <a:ext cx="835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Г10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0807934" y="2103120"/>
            <a:ext cx="0" cy="3749040"/>
          </a:xfrm>
          <a:prstGeom prst="line">
            <a:avLst/>
          </a:prstGeom>
          <a:noFill/>
          <a:ln w="9525">
            <a:solidFill>
              <a:srgbClr val="E1E6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214884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100" dirty="0"/>
          </a:p>
        </p:txBody>
      </p:sp>
      <p:sp>
        <p:nvSpPr>
          <p:cNvPr id="30" name="a1_b"/>
          <p:cNvSpPr/>
          <p:nvPr/>
        </p:nvSpPr>
        <p:spPr>
          <a:xfrm>
            <a:off x="3319272" y="2203704"/>
            <a:ext cx="8296351" cy="219456"/>
          </a:xfrm>
          <a:prstGeom prst="roundRect">
            <a:avLst>
              <a:gd name="adj" fmla="val 25000"/>
            </a:avLst>
          </a:prstGeom>
          <a:solidFill>
            <a:srgbClr val="0E9F64"/>
          </a:solidFill>
          <a:ln w="12700">
            <a:solidFill>
              <a:srgbClr val="0E9F6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25146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100" dirty="0"/>
          </a:p>
        </p:txBody>
      </p:sp>
      <p:sp>
        <p:nvSpPr>
          <p:cNvPr id="32" name="a2_b"/>
          <p:cNvSpPr/>
          <p:nvPr/>
        </p:nvSpPr>
        <p:spPr>
          <a:xfrm>
            <a:off x="3319272" y="2569464"/>
            <a:ext cx="8296351" cy="219456"/>
          </a:xfrm>
          <a:prstGeom prst="roundRect">
            <a:avLst>
              <a:gd name="adj" fmla="val 25000"/>
            </a:avLst>
          </a:prstGeom>
          <a:solidFill>
            <a:srgbClr val="0E9F64"/>
          </a:solidFill>
          <a:ln w="12700">
            <a:solidFill>
              <a:srgbClr val="0E9F6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2880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100" dirty="0"/>
          </a:p>
        </p:txBody>
      </p:sp>
      <p:sp>
        <p:nvSpPr>
          <p:cNvPr id="34" name="a3_b"/>
          <p:cNvSpPr/>
          <p:nvPr/>
        </p:nvSpPr>
        <p:spPr>
          <a:xfrm>
            <a:off x="3319272" y="2935224"/>
            <a:ext cx="8296351" cy="219456"/>
          </a:xfrm>
          <a:prstGeom prst="roundRect">
            <a:avLst>
              <a:gd name="adj" fmla="val 25000"/>
            </a:avLst>
          </a:prstGeom>
          <a:solidFill>
            <a:srgbClr val="0E9F64"/>
          </a:solidFill>
          <a:ln w="12700">
            <a:solidFill>
              <a:srgbClr val="0E9F6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3246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 (заказы)</a:t>
            </a:r>
            <a:endParaRPr lang="en-US" sz="1100" dirty="0"/>
          </a:p>
        </p:txBody>
      </p:sp>
      <p:sp>
        <p:nvSpPr>
          <p:cNvPr id="36" name="a4_b"/>
          <p:cNvSpPr/>
          <p:nvPr/>
        </p:nvSpPr>
        <p:spPr>
          <a:xfrm>
            <a:off x="4154394" y="3300984"/>
            <a:ext cx="7461230" cy="219456"/>
          </a:xfrm>
          <a:prstGeom prst="roundRect">
            <a:avLst>
              <a:gd name="adj" fmla="val 25000"/>
            </a:avLst>
          </a:prstGeom>
          <a:solidFill>
            <a:srgbClr val="0E9F64"/>
          </a:solidFill>
          <a:ln w="12700">
            <a:solidFill>
              <a:srgbClr val="0E9F6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48640" y="36118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 Academy</a:t>
            </a:r>
            <a:endParaRPr lang="en-US" sz="1100" dirty="0"/>
          </a:p>
        </p:txBody>
      </p:sp>
      <p:sp>
        <p:nvSpPr>
          <p:cNvPr id="38" name="a5_b"/>
          <p:cNvSpPr/>
          <p:nvPr/>
        </p:nvSpPr>
        <p:spPr>
          <a:xfrm>
            <a:off x="3319272" y="3666744"/>
            <a:ext cx="8296351" cy="219456"/>
          </a:xfrm>
          <a:prstGeom prst="roundRect">
            <a:avLst>
              <a:gd name="adj" fmla="val 25000"/>
            </a:avLst>
          </a:prstGeom>
          <a:solidFill>
            <a:srgbClr val="0E9F64"/>
          </a:solidFill>
          <a:ln w="12700">
            <a:solidFill>
              <a:srgbClr val="0E9F6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397764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&amp; Esports</a:t>
            </a:r>
            <a:endParaRPr lang="en-US" sz="1100" dirty="0"/>
          </a:p>
        </p:txBody>
      </p:sp>
      <p:sp>
        <p:nvSpPr>
          <p:cNvPr id="40" name="a6_p"/>
          <p:cNvSpPr/>
          <p:nvPr/>
        </p:nvSpPr>
        <p:spPr>
          <a:xfrm>
            <a:off x="3319272" y="4032504"/>
            <a:ext cx="780258" cy="219456"/>
          </a:xfrm>
          <a:prstGeom prst="roundRect">
            <a:avLst>
              <a:gd name="adj" fmla="val 25000"/>
            </a:avLst>
          </a:prstGeom>
          <a:solidFill>
            <a:srgbClr val="3D8BFF">
              <a:alpha val="28000"/>
            </a:srgbClr>
          </a:solidFill>
          <a:ln w="9525">
            <a:solidFill>
              <a:srgbClr val="3D8BFF"/>
            </a:solidFill>
            <a:prstDash val="dash"/>
          </a:ln>
        </p:spPr>
      </p:sp>
      <p:sp>
        <p:nvSpPr>
          <p:cNvPr id="41" name="a6_b"/>
          <p:cNvSpPr/>
          <p:nvPr/>
        </p:nvSpPr>
        <p:spPr>
          <a:xfrm>
            <a:off x="4154394" y="4032504"/>
            <a:ext cx="7461230" cy="219456"/>
          </a:xfrm>
          <a:prstGeom prst="roundRect">
            <a:avLst>
              <a:gd name="adj" fmla="val 25000"/>
            </a:avLst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343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Academy</a:t>
            </a:r>
            <a:endParaRPr lang="en-US" sz="1100" dirty="0"/>
          </a:p>
        </p:txBody>
      </p:sp>
      <p:sp>
        <p:nvSpPr>
          <p:cNvPr id="43" name="a7_p"/>
          <p:cNvSpPr/>
          <p:nvPr/>
        </p:nvSpPr>
        <p:spPr>
          <a:xfrm>
            <a:off x="4989515" y="4398264"/>
            <a:ext cx="780258" cy="219456"/>
          </a:xfrm>
          <a:prstGeom prst="roundRect">
            <a:avLst>
              <a:gd name="adj" fmla="val 25000"/>
            </a:avLst>
          </a:prstGeom>
          <a:solidFill>
            <a:srgbClr val="3D8BFF">
              <a:alpha val="28000"/>
            </a:srgbClr>
          </a:solidFill>
          <a:ln w="9525">
            <a:solidFill>
              <a:srgbClr val="3D8BFF"/>
            </a:solidFill>
            <a:prstDash val="dash"/>
          </a:ln>
        </p:spPr>
      </p:sp>
      <p:sp>
        <p:nvSpPr>
          <p:cNvPr id="44" name="a7_b"/>
          <p:cNvSpPr/>
          <p:nvPr/>
        </p:nvSpPr>
        <p:spPr>
          <a:xfrm>
            <a:off x="5824637" y="4398264"/>
            <a:ext cx="5790987" cy="219456"/>
          </a:xfrm>
          <a:prstGeom prst="roundRect">
            <a:avLst>
              <a:gd name="adj" fmla="val 25000"/>
            </a:avLst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48640" y="47091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100" dirty="0"/>
          </a:p>
        </p:txBody>
      </p:sp>
      <p:sp>
        <p:nvSpPr>
          <p:cNvPr id="46" name="a8_p"/>
          <p:cNvSpPr/>
          <p:nvPr/>
        </p:nvSpPr>
        <p:spPr>
          <a:xfrm>
            <a:off x="5824637" y="4764024"/>
            <a:ext cx="780258" cy="219456"/>
          </a:xfrm>
          <a:prstGeom prst="roundRect">
            <a:avLst>
              <a:gd name="adj" fmla="val 25000"/>
            </a:avLst>
          </a:prstGeom>
          <a:solidFill>
            <a:srgbClr val="3D8BFF">
              <a:alpha val="28000"/>
            </a:srgbClr>
          </a:solidFill>
          <a:ln w="9525">
            <a:solidFill>
              <a:srgbClr val="3D8BFF"/>
            </a:solidFill>
            <a:prstDash val="dash"/>
          </a:ln>
        </p:spPr>
      </p:sp>
      <p:sp>
        <p:nvSpPr>
          <p:cNvPr id="47" name="a8_b"/>
          <p:cNvSpPr/>
          <p:nvPr/>
        </p:nvSpPr>
        <p:spPr>
          <a:xfrm>
            <a:off x="6659758" y="4764024"/>
            <a:ext cx="4955865" cy="219456"/>
          </a:xfrm>
          <a:prstGeom prst="roundRect">
            <a:avLst>
              <a:gd name="adj" fmla="val 25000"/>
            </a:avLst>
          </a:prstGeom>
          <a:solidFill>
            <a:srgbClr val="3D8BFF"/>
          </a:solidFill>
          <a:ln w="12700">
            <a:solidFill>
              <a:srgbClr val="3D8B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8640" y="50749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100" dirty="0"/>
          </a:p>
        </p:txBody>
      </p:sp>
      <p:sp>
        <p:nvSpPr>
          <p:cNvPr id="49" name="a9_p"/>
          <p:cNvSpPr/>
          <p:nvPr/>
        </p:nvSpPr>
        <p:spPr>
          <a:xfrm>
            <a:off x="6659758" y="5129784"/>
            <a:ext cx="4955865" cy="219456"/>
          </a:xfrm>
          <a:prstGeom prst="roundRect">
            <a:avLst>
              <a:gd name="adj" fmla="val 25000"/>
            </a:avLst>
          </a:prstGeom>
          <a:solidFill>
            <a:srgbClr val="9AA6BA">
              <a:alpha val="28000"/>
            </a:srgbClr>
          </a:solidFill>
          <a:ln w="9525">
            <a:solidFill>
              <a:srgbClr val="9AA6BA"/>
            </a:solidFill>
            <a:prstDash val="dash"/>
          </a:ln>
        </p:spPr>
      </p:sp>
      <p:sp>
        <p:nvSpPr>
          <p:cNvPr id="50" name="Text 47"/>
          <p:cNvSpPr txBox="1"/>
          <p:nvPr/>
        </p:nvSpPr>
        <p:spPr>
          <a:xfrm>
            <a:off x="548640" y="54406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100" dirty="0"/>
          </a:p>
        </p:txBody>
      </p:sp>
      <p:sp>
        <p:nvSpPr>
          <p:cNvPr id="51" name="a10_p"/>
          <p:cNvSpPr/>
          <p:nvPr/>
        </p:nvSpPr>
        <p:spPr>
          <a:xfrm>
            <a:off x="7494880" y="5495544"/>
            <a:ext cx="4120744" cy="219456"/>
          </a:xfrm>
          <a:prstGeom prst="roundRect">
            <a:avLst>
              <a:gd name="adj" fmla="val 25000"/>
            </a:avLst>
          </a:prstGeom>
          <a:solidFill>
            <a:srgbClr val="9AA6BA">
              <a:alpha val="28000"/>
            </a:srgbClr>
          </a:solidFill>
          <a:ln w="9525">
            <a:solidFill>
              <a:srgbClr val="9AA6BA"/>
            </a:solidFill>
            <a:prstDash val="dash"/>
          </a:ln>
        </p:spPr>
      </p:sp>
      <p:sp>
        <p:nvSpPr>
          <p:cNvPr id="52" name="Text 49"/>
          <p:cNvSpPr txBox="1"/>
          <p:nvPr/>
        </p:nvSpPr>
        <p:spPr>
          <a:xfrm>
            <a:off x="548640" y="592531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Сплошная полоса — реализация · светлая — подготовка (пилоты, ТЭО, партнёры) · сроки ориентировочные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2" grpId="0" animBg="1"/>
      <p:bldP spid="34" grpId="0" animBg="1"/>
      <p:bldP spid="36" grpId="0" animBg="1"/>
      <p:bldP spid="38" grpId="0" animBg="1"/>
      <p:bldP spid="40" grpId="0" animBg="1"/>
      <p:bldP spid="41" grpId="0" animBg="1"/>
      <p:bldP spid="43" grpId="0" animBg="1"/>
      <p:bldP spid="44" grpId="0" animBg="1"/>
      <p:bldP spid="46" grpId="0" animBg="1"/>
      <p:bldP spid="47" grpId="0" animBg="1"/>
      <p:bldP spid="49" grpId="0" animBg="1"/>
      <p:bldP spid="5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B111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KPI, контроль исполнения и ключевые этапы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 · GOVERNANCE &amp; EXECUTION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B11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6B74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Целевые значения — из иллюстративной модели FootureX (базовый сценарий); утверждаются вместе с бизнес-планом. Удержание игроков D1/D7/D30 — цели после soft launch.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graphicFrame>
        <p:nvGraphicFramePr>
          <p:cNvPr id="114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1508760"/>
                <a:gridCol w="1508760"/>
                <a:gridCol w="1508760"/>
                <a:gridCol w="16276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Направление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KPI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Год 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Контроль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Группа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Выручка, USD тыс.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355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3 168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8 769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Группа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EBITDA, USD тыс.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-387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71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1 962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Technologies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Оплачиваемые FTE · загрузка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· 70%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28 · 78%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55 · 80%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SaaS-клиенты на конец года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120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Средний MAU, тыс.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350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900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Еженедельно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Academy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Слушатели в год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360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720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Выручка, USD тыс.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120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Stadium / City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 подготовки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Анализ опций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Опция A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 опции B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3343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Ежегодно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0B111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city-smart-sm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Uzbekistan — экосистема будущего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XII · FUTURE VISION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 БУДУЩЕГО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10–20 лет FootureX — группа, где программное обеспечение, AI, игры, образование, киберспорт и футбол работают как одна система.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10</a:t>
            </a:r>
            <a:endParaRPr lang="en-US" sz="22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направлений одной экосистемы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фазы последовательной реализации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бренд: FootureX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Стратегическое влияние на технологическую и спортивную индустрию Узбекистана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XII · FUTURE VISION</a:t>
            </a:r>
            <a:endParaRPr lang="en-US" sz="105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FFB547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СЦЕНАРИЙ · ДОПУЩЕНИЯ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A96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Целевые ориентиры — из иллюстративной модели FootureX (базовый сценарий, 5 лет); не являются обязательствами.</a:t>
            </a:r>
            <a:endParaRPr lang="en-US" sz="85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2567864" cy="1600200"/>
          </a:xfrm>
          <a:prstGeom prst="roundRect">
            <a:avLst>
              <a:gd name="adj" fmla="val 685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1" name="a1_v"/>
          <p:cNvSpPr txBox="1"/>
          <p:nvPr/>
        </p:nvSpPr>
        <p:spPr>
          <a:xfrm>
            <a:off x="777240" y="202996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≈1 860</a:t>
            </a:r>
            <a:endParaRPr lang="en-US" sz="2800" dirty="0"/>
          </a:p>
        </p:txBody>
      </p:sp>
      <p:sp>
        <p:nvSpPr>
          <p:cNvPr id="12" name="a1_l"/>
          <p:cNvSpPr txBox="1"/>
          <p:nvPr/>
        </p:nvSpPr>
        <p:spPr>
          <a:xfrm>
            <a:off x="777240" y="276148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слушателей Game Dev Academy за 5 лет</a:t>
            </a:r>
            <a:endParaRPr lang="en-US" sz="1250" dirty="0"/>
          </a:p>
        </p:txBody>
      </p:sp>
      <p:sp>
        <p:nvSpPr>
          <p:cNvPr id="13" name="a2_card"/>
          <p:cNvSpPr/>
          <p:nvPr/>
        </p:nvSpPr>
        <p:spPr>
          <a:xfrm>
            <a:off x="3390824" y="1828800"/>
            <a:ext cx="2567864" cy="1600200"/>
          </a:xfrm>
          <a:prstGeom prst="roundRect">
            <a:avLst>
              <a:gd name="adj" fmla="val 685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4" name="a2_v"/>
          <p:cNvSpPr txBox="1"/>
          <p:nvPr/>
        </p:nvSpPr>
        <p:spPr>
          <a:xfrm>
            <a:off x="3619424" y="202996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55</a:t>
            </a:r>
            <a:endParaRPr lang="en-US" sz="2800" dirty="0"/>
          </a:p>
        </p:txBody>
      </p:sp>
      <p:sp>
        <p:nvSpPr>
          <p:cNvPr id="15" name="a2_l"/>
          <p:cNvSpPr txBox="1"/>
          <p:nvPr/>
        </p:nvSpPr>
        <p:spPr>
          <a:xfrm>
            <a:off x="3619424" y="276148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оплачиваемых IT-специалистов к Году 5</a:t>
            </a:r>
            <a:endParaRPr lang="en-US" sz="1250" dirty="0"/>
          </a:p>
        </p:txBody>
      </p:sp>
      <p:sp>
        <p:nvSpPr>
          <p:cNvPr id="16" name="a3_card"/>
          <p:cNvSpPr/>
          <p:nvPr/>
        </p:nvSpPr>
        <p:spPr>
          <a:xfrm>
            <a:off x="6233008" y="1828800"/>
            <a:ext cx="2567864" cy="1600200"/>
          </a:xfrm>
          <a:prstGeom prst="roundRect">
            <a:avLst>
              <a:gd name="adj" fmla="val 685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7" name="a3_v"/>
          <p:cNvSpPr txBox="1"/>
          <p:nvPr/>
        </p:nvSpPr>
        <p:spPr>
          <a:xfrm>
            <a:off x="6461608" y="202996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D68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900 тыс.</a:t>
            </a:r>
            <a:endParaRPr lang="en-US" sz="2400" dirty="0"/>
          </a:p>
        </p:txBody>
      </p:sp>
      <p:sp>
        <p:nvSpPr>
          <p:cNvPr id="18" name="a3_l"/>
          <p:cNvSpPr txBox="1"/>
          <p:nvPr/>
        </p:nvSpPr>
        <p:spPr>
          <a:xfrm>
            <a:off x="6461608" y="276148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среднемесячная аудитория игры к Году 5</a:t>
            </a:r>
            <a:endParaRPr lang="en-US" sz="1250" dirty="0"/>
          </a:p>
        </p:txBody>
      </p:sp>
      <p:sp>
        <p:nvSpPr>
          <p:cNvPr id="19" name="a4_card"/>
          <p:cNvSpPr/>
          <p:nvPr/>
        </p:nvSpPr>
        <p:spPr>
          <a:xfrm>
            <a:off x="9075191" y="1828800"/>
            <a:ext cx="2567864" cy="1600200"/>
          </a:xfrm>
          <a:prstGeom prst="roundRect">
            <a:avLst>
              <a:gd name="adj" fmla="val 6857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a4_v"/>
          <p:cNvSpPr txBox="1"/>
          <p:nvPr/>
        </p:nvSpPr>
        <p:spPr>
          <a:xfrm>
            <a:off x="9303791" y="202996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</a:t>
            </a:r>
            <a:endParaRPr lang="en-US" sz="2800" dirty="0"/>
          </a:p>
        </p:txBody>
      </p:sp>
      <p:sp>
        <p:nvSpPr>
          <p:cNvPr id="21" name="a4_l"/>
          <p:cNvSpPr txBox="1"/>
          <p:nvPr/>
        </p:nvSpPr>
        <p:spPr>
          <a:xfrm>
            <a:off x="9303791" y="276148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отраслевых пакетов ПО для малого и среднего бизнеса</a:t>
            </a:r>
            <a:endParaRPr lang="en-US" sz="1250" dirty="0"/>
          </a:p>
        </p:txBody>
      </p:sp>
      <p:sp>
        <p:nvSpPr>
          <p:cNvPr id="22" name="a1_card"/>
          <p:cNvSpPr/>
          <p:nvPr/>
        </p:nvSpPr>
        <p:spPr>
          <a:xfrm>
            <a:off x="548640" y="3703320"/>
            <a:ext cx="2602154" cy="2194560"/>
          </a:xfrm>
          <a:prstGeom prst="roundRect">
            <a:avLst>
              <a:gd name="adj" fmla="val 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3" name="a1_iconbg"/>
          <p:cNvSpPr/>
          <p:nvPr/>
        </p:nvSpPr>
        <p:spPr>
          <a:xfrm>
            <a:off x="777240" y="39319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4" name="a1_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4041648"/>
            <a:ext cx="237744" cy="237744"/>
          </a:xfrm>
          <a:prstGeom prst="rect">
            <a:avLst/>
          </a:prstGeom>
        </p:spPr>
      </p:pic>
      <p:sp>
        <p:nvSpPr>
          <p:cNvPr id="25" name="a1_t"/>
          <p:cNvSpPr txBox="1"/>
          <p:nvPr/>
        </p:nvSpPr>
        <p:spPr>
          <a:xfrm>
            <a:off x="777240" y="455371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IT-экспорт</a:t>
            </a:r>
            <a:endParaRPr lang="en-US" sz="1350" dirty="0"/>
          </a:p>
        </p:txBody>
      </p:sp>
      <p:sp>
        <p:nvSpPr>
          <p:cNvPr id="26" name="a1_d"/>
          <p:cNvSpPr txBox="1"/>
          <p:nvPr/>
        </p:nvSpPr>
        <p:spPr>
          <a:xfrm>
            <a:off x="777240" y="4919472"/>
            <a:ext cx="214495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Экспортные проекты Technologies и AI в Центральной Азии и СНГ.</a:t>
            </a:r>
            <a:endParaRPr lang="en-US" sz="1150" dirty="0"/>
          </a:p>
        </p:txBody>
      </p:sp>
      <p:sp>
        <p:nvSpPr>
          <p:cNvPr id="27" name="a2_card"/>
          <p:cNvSpPr/>
          <p:nvPr/>
        </p:nvSpPr>
        <p:spPr>
          <a:xfrm>
            <a:off x="3379394" y="3703320"/>
            <a:ext cx="2602154" cy="2194560"/>
          </a:xfrm>
          <a:prstGeom prst="roundRect">
            <a:avLst>
              <a:gd name="adj" fmla="val 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a2_iconbg"/>
          <p:cNvSpPr/>
          <p:nvPr/>
        </p:nvSpPr>
        <p:spPr>
          <a:xfrm>
            <a:off x="3607994" y="39319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29" name="a2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722" y="4041648"/>
            <a:ext cx="237744" cy="237744"/>
          </a:xfrm>
          <a:prstGeom prst="rect">
            <a:avLst/>
          </a:prstGeom>
        </p:spPr>
      </p:pic>
      <p:sp>
        <p:nvSpPr>
          <p:cNvPr id="30" name="a2_t"/>
          <p:cNvSpPr txBox="1"/>
          <p:nvPr/>
        </p:nvSpPr>
        <p:spPr>
          <a:xfrm>
            <a:off x="3607994" y="455371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Кадры индустрии</a:t>
            </a:r>
            <a:endParaRPr lang="en-US" sz="1350" dirty="0"/>
          </a:p>
        </p:txBody>
      </p:sp>
      <p:sp>
        <p:nvSpPr>
          <p:cNvPr id="31" name="a2_d"/>
          <p:cNvSpPr txBox="1"/>
          <p:nvPr/>
        </p:nvSpPr>
        <p:spPr>
          <a:xfrm>
            <a:off x="3607994" y="4919472"/>
            <a:ext cx="214495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разработчиков, дизайнеров и AI-инженеров.</a:t>
            </a:r>
            <a:endParaRPr lang="en-US" sz="1150" dirty="0"/>
          </a:p>
        </p:txBody>
      </p:sp>
      <p:sp>
        <p:nvSpPr>
          <p:cNvPr id="32" name="a3_card"/>
          <p:cNvSpPr/>
          <p:nvPr/>
        </p:nvSpPr>
        <p:spPr>
          <a:xfrm>
            <a:off x="6210148" y="3703320"/>
            <a:ext cx="2602154" cy="2194560"/>
          </a:xfrm>
          <a:prstGeom prst="roundRect">
            <a:avLst>
              <a:gd name="adj" fmla="val 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3" name="a3_iconbg"/>
          <p:cNvSpPr/>
          <p:nvPr/>
        </p:nvSpPr>
        <p:spPr>
          <a:xfrm>
            <a:off x="6438748" y="39319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4" name="a3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4041648"/>
            <a:ext cx="237744" cy="237744"/>
          </a:xfrm>
          <a:prstGeom prst="rect">
            <a:avLst/>
          </a:prstGeom>
        </p:spPr>
      </p:pic>
      <p:sp>
        <p:nvSpPr>
          <p:cNvPr id="35" name="a3_t"/>
          <p:cNvSpPr txBox="1"/>
          <p:nvPr/>
        </p:nvSpPr>
        <p:spPr>
          <a:xfrm>
            <a:off x="6438748" y="455371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продукты</a:t>
            </a:r>
            <a:endParaRPr lang="en-US" sz="1350" dirty="0"/>
          </a:p>
        </p:txBody>
      </p:sp>
      <p:sp>
        <p:nvSpPr>
          <p:cNvPr id="36" name="a3_d"/>
          <p:cNvSpPr txBox="1"/>
          <p:nvPr/>
        </p:nvSpPr>
        <p:spPr>
          <a:xfrm>
            <a:off x="6438748" y="4919472"/>
            <a:ext cx="214495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Собственные игры и AI-продукты, созданные в Узбекистане.</a:t>
            </a:r>
            <a:endParaRPr lang="en-US" sz="1150" dirty="0"/>
          </a:p>
        </p:txBody>
      </p:sp>
      <p:sp>
        <p:nvSpPr>
          <p:cNvPr id="37" name="a4_card"/>
          <p:cNvSpPr/>
          <p:nvPr/>
        </p:nvSpPr>
        <p:spPr>
          <a:xfrm>
            <a:off x="9040901" y="3703320"/>
            <a:ext cx="2602154" cy="2194560"/>
          </a:xfrm>
          <a:prstGeom prst="roundRect">
            <a:avLst>
              <a:gd name="adj" fmla="val 5000"/>
            </a:avLst>
          </a:prstGeom>
          <a:solidFill>
            <a:srgbClr val="0E1521"/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38" name="a4_iconbg"/>
          <p:cNvSpPr/>
          <p:nvPr/>
        </p:nvSpPr>
        <p:spPr>
          <a:xfrm>
            <a:off x="9269501" y="3931920"/>
            <a:ext cx="457200" cy="457200"/>
          </a:xfrm>
          <a:prstGeom prst="ellipse">
            <a:avLst/>
          </a:prstGeom>
          <a:solidFill>
            <a:srgbClr val="0F2E22"/>
          </a:solidFill>
          <a:ln w="12700">
            <a:solidFill>
              <a:srgbClr val="0F2E22"/>
            </a:solidFill>
            <a:prstDash val="solid"/>
          </a:ln>
        </p:spPr>
      </p:sp>
      <p:pic>
        <p:nvPicPr>
          <p:cNvPr id="39" name="a4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229" y="4041648"/>
            <a:ext cx="237744" cy="237744"/>
          </a:xfrm>
          <a:prstGeom prst="rect">
            <a:avLst/>
          </a:prstGeom>
        </p:spPr>
      </p:pic>
      <p:sp>
        <p:nvSpPr>
          <p:cNvPr id="40" name="a4_t"/>
          <p:cNvSpPr txBox="1"/>
          <p:nvPr/>
        </p:nvSpPr>
        <p:spPr>
          <a:xfrm>
            <a:off x="9269501" y="455371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Детский футбол</a:t>
            </a:r>
            <a:endParaRPr lang="en-US" sz="1350" dirty="0"/>
          </a:p>
        </p:txBody>
      </p:sp>
      <p:sp>
        <p:nvSpPr>
          <p:cNvPr id="41" name="a4_d"/>
          <p:cNvSpPr txBox="1"/>
          <p:nvPr/>
        </p:nvSpPr>
        <p:spPr>
          <a:xfrm>
            <a:off x="9269501" y="4919472"/>
            <a:ext cx="214495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Академия, данные и путь к профессиональной карьере.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22" grpId="0" animBg="1"/>
      <p:bldP spid="23" grpId="0" animBg="1"/>
      <p:bldP spid="25" grpId="0"/>
      <p:bldP spid="26" grpId="0"/>
      <p:bldP spid="13" grpId="0" animBg="1"/>
      <p:bldP spid="14" grpId="0"/>
      <p:bldP spid="15" grpId="0"/>
      <p:bldP spid="27" grpId="0" animBg="1"/>
      <p:bldP spid="28" grpId="0" animBg="1"/>
      <p:bldP spid="30" grpId="0"/>
      <p:bldP spid="31" grpId="0"/>
      <p:bldP spid="16" grpId="0" animBg="1"/>
      <p:bldP spid="17" grpId="0"/>
      <p:bldP spid="18" grpId="0"/>
      <p:bldP spid="32" grpId="0" animBg="1"/>
      <p:bldP spid="33" grpId="0" animBg="1"/>
      <p:bldP spid="35" grpId="0"/>
      <p:bldP spid="36" grpId="0"/>
      <p:bldP spid="19" grpId="0" animBg="1"/>
      <p:bldP spid="20" grpId="0"/>
      <p:bldP spid="21" grpId="0"/>
      <p:bldP spid="37" grpId="0" animBg="1"/>
      <p:bldP spid="38" grpId="0" animBg="1"/>
      <p:bldP spid="40" grpId="0"/>
      <p:bldP spid="4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map-m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/home/user/footurex-main/presentation/assets/renders/ov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Международное развитие и долгосрочные амбиции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XII · FUTURE VISION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C9D3E3"/>
          </a:solidFill>
          <a:ln w="12700">
            <a:solidFill>
              <a:srgbClr val="C9D3E3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850" dirty="0"/>
          </a:p>
        </p:txBody>
      </p:sp>
      <p:sp>
        <p:nvSpPr>
          <p:cNvPr id="15" name="a1_c"/>
          <p:cNvSpPr/>
          <p:nvPr/>
        </p:nvSpPr>
        <p:spPr>
          <a:xfrm>
            <a:off x="6675120" y="1874520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70B12">
              <a:alpha val="85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858000" y="187452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7589520" y="1984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Узбекистан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7589520" y="23042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База, команда, полигон продуктов</a:t>
            </a:r>
            <a:endParaRPr lang="en-US" sz="1150" dirty="0"/>
          </a:p>
        </p:txBody>
      </p:sp>
      <p:sp>
        <p:nvSpPr>
          <p:cNvPr id="19" name="a2_c"/>
          <p:cNvSpPr/>
          <p:nvPr/>
        </p:nvSpPr>
        <p:spPr>
          <a:xfrm>
            <a:off x="6675120" y="2862072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70B12">
              <a:alpha val="85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858000" y="2862072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D8B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7589520" y="29718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Центральная Азия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7589520" y="3291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Игра, IT-экспорт, академия онлайн</a:t>
            </a:r>
            <a:endParaRPr lang="en-US" sz="1150" dirty="0"/>
          </a:p>
        </p:txBody>
      </p:sp>
      <p:sp>
        <p:nvSpPr>
          <p:cNvPr id="23" name="a3_c"/>
          <p:cNvSpPr/>
          <p:nvPr/>
        </p:nvSpPr>
        <p:spPr>
          <a:xfrm>
            <a:off x="6675120" y="3849624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70B12">
              <a:alpha val="85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0" y="384962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547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7589520" y="39593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СНГ и тюркоязычные рынки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589520" y="42793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Локализация игры, AI SaaS</a:t>
            </a:r>
            <a:endParaRPr lang="en-US" sz="1150" dirty="0"/>
          </a:p>
        </p:txBody>
      </p:sp>
      <p:sp>
        <p:nvSpPr>
          <p:cNvPr id="27" name="a4_c"/>
          <p:cNvSpPr/>
          <p:nvPr/>
        </p:nvSpPr>
        <p:spPr>
          <a:xfrm>
            <a:off x="6675120" y="4837176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70B12">
              <a:alpha val="85000"/>
            </a:srgbClr>
          </a:solidFill>
          <a:ln w="9525">
            <a:solidFill>
              <a:srgbClr val="26324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858000" y="4837176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7589520" y="49469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Глобальный цифровой рынок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89520" y="52669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Telegram, SaaS, лицензирование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9" grpId="0" animBg="1"/>
      <p:bldP spid="23" grpId="0" animBg="1"/>
      <p:bldP spid="27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/home/user/footurex-main/presentation/assets/renders/hero-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0"/>
            <a:ext cx="12191695" cy="6858000"/>
          </a:xfrm>
          <a:prstGeom prst="rect">
            <a:avLst/>
          </a:prstGeom>
        </p:spPr>
      </p:pic>
      <p:pic>
        <p:nvPicPr>
          <p:cNvPr id="3" name="ov-left" descr="/home/user/footurex-main/presentation/assets/renders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/home/user/footurex-main/presentation/assets/renders/ov-top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73952"/>
            <a:ext cx="1300629" cy="155448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C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F7FB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Uzbekistan: Building the Future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XII · FUTURE VISION</a:t>
            </a:r>
            <a:endParaRPr lang="en-US" sz="1050" dirty="0"/>
          </a:p>
        </p:txBody>
      </p:sp>
      <p:sp>
        <p:nvSpPr>
          <p:cNvPr id="9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521"/>
          </a:solidFill>
          <a:ln w="9525">
            <a:solidFill>
              <a:srgbClr val="1ED68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1ED68A"/>
          </a:solidFill>
          <a:ln w="12700">
            <a:solidFill>
              <a:srgbClr val="1ED68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4F7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8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pic>
        <p:nvPicPr>
          <p:cNvPr id="14" name="!!logo" descr="/home/user/footurex-main/presentation/brand/logo/_placeholder-wordmark-on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965960"/>
            <a:ext cx="4937760" cy="590149"/>
          </a:xfrm>
          <a:prstGeom prst="rect">
            <a:avLst/>
          </a:prstGeom>
        </p:spPr>
      </p:pic>
      <p:sp>
        <p:nvSpPr>
          <p:cNvPr id="15" name="!!uz"/>
          <p:cNvSpPr txBox="1"/>
          <p:nvPr/>
        </p:nvSpPr>
        <p:spPr>
          <a:xfrm>
            <a:off x="548640" y="2697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300" kern="0" dirty="0">
                <a:solidFill>
                  <a:srgbClr val="1ED68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BUILDING THE FUTURE</a:t>
            </a:r>
            <a:endParaRPr lang="en-US" sz="2200" dirty="0"/>
          </a:p>
        </p:txBody>
      </p:sp>
      <p:sp>
        <p:nvSpPr>
          <p:cNvPr id="16" name="Text 8"/>
          <p:cNvSpPr txBox="1"/>
          <p:nvPr/>
        </p:nvSpPr>
        <p:spPr>
          <a:xfrm>
            <a:off x="548640" y="34290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Технологии · Игры · AI · Образование · Киберспорт · Футбол · Городские инновации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548640" y="420624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3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Благодарим за внимание. Приглашаем к диалогу о партнёрстве и инвестициях.</a:t>
            </a:r>
            <a:endParaRPr lang="en-US" sz="1300" dirty="0"/>
          </a:p>
        </p:txBody>
      </p:sp>
      <p:sp>
        <p:nvSpPr>
          <p:cNvPr id="18" name="Text 10"/>
          <p:cNvSpPr txBox="1"/>
          <p:nvPr/>
        </p:nvSpPr>
        <p:spPr>
          <a:xfrm>
            <a:off x="548640" y="5074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3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 · Ташкент, Республика Узбекистан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D899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Контактные данные: требуется подтверждение</a:t>
            </a:r>
            <a:endParaRPr lang="en-US" sz="1000" dirty="0"/>
          </a:p>
        </p:txBody>
      </p:sp>
      <p:sp>
        <p:nvSpPr>
          <p:cNvPr id="20" name="Text 12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A9B4C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4F7F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FootureX">
      <a:dk1>
        <a:srgbClr val="0B111B"/>
      </a:dk1>
      <a:lt1>
        <a:srgbClr val="FFFFFF"/>
      </a:lt1>
      <a:dk2>
        <a:srgbClr val="070B12"/>
      </a:dk2>
      <a:lt2>
        <a:srgbClr val="F3F5F9"/>
      </a:lt2>
      <a:accent1>
        <a:srgbClr val="1ED68A"/>
      </a:accent1>
      <a:accent2>
        <a:srgbClr val="3D8BFF"/>
      </a:accent2>
      <a:accent3>
        <a:srgbClr val="C9D3E3"/>
      </a:accent3>
      <a:accent4>
        <a:srgbClr val="FFB547"/>
      </a:accent4>
      <a:accent5>
        <a:srgbClr val="7A8699"/>
      </a:accent5>
      <a:accent6>
        <a:srgbClr val="2E7D5B"/>
      </a:accent6>
      <a:hlink>
        <a:srgbClr val="3D8BFF"/>
      </a:hlink>
      <a:folHlink>
        <a:srgbClr val="8D99AE"/>
      </a:folHlink>
    </a:clrScheme>
    <a:fontScheme name="Office">
      <a:majorFont>
        <a:latin typeface="Unbound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FootureX Uzbekistan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FootureX Uzbekistan — Corporate Vision &amp; Strategic Development</dc:title>
  <dc:subject>Корпоративная стратегическая презентация, 117 слайдов</dc:subject>
  <dc:creator>FootureX Uzbekistan</dc:creator>
  <cp:lastModifiedBy>FootureX Uzbekistan</cp:lastModifiedBy>
  <cp:revision>1</cp:revision>
  <dcterms:created xsi:type="dcterms:W3CDTF">2026-10-26T07:54:04Z</dcterms:created>
  <dcterms:modified xsi:type="dcterms:W3CDTF">2026-10-26T07:54:04Z</dcterms:modified>
</cp:coreProperties>
</file>