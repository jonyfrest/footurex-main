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charts/chart5.xml" ContentType="application/vnd.openxmlformats-officedocument.drawingml.chart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</p:sldIdLst>
  <p:notesMasterIdLst>
    <p:notesMasterId r:id="rId1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. CORPORATE IDENTITY" id="{add94c9a-1e1e-3fb1-c2d0-e15c4faeaa9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II. MARKET &amp; STRATEGY" id="{b5e1485e-3087-f720-2172-9503758baff4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III. IT SERVICES" id="{a0a34c84-48f5-f57e-d147-2efeb0bed552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IV. ARTIFICIAL INTELLIGENCE" id="{72668de8-5120-c0a2-1a6b-30fb6ad63b05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V. GAME DEVELOPMENT" id="{ee31002c-d88e-29ae-15ff-ef481a4c3c16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VI. GAME COMMUNITY &amp; ESPORTS" id="{a49aa3d3-4775-35b9-09c0-46f780b9b510}">
          <p14:sldIdLst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VII. EDUCATION &amp; ACADEMY" id="{e53b96d8-363d-bb95-c85e-c1549dd2bf90}">
          <p14:sldIdLst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</p14:sldIdLst>
        </p14:section>
        <p14:section name="VIII. FOOTBALL DEVELOPMENT" id="{5224d2fb-6e82-561a-f836-52b0fd5659be}">
          <p14:sldIdLst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</p14:sldIdLst>
        </p14:section>
        <p14:section name="IX. STADIUM &amp; CITY" id="{6a3936c9-56b0-a29c-e335-daf4636bdded}">
          <p14:sldIdLst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</p14:sldIdLst>
        </p14:section>
        <p14:section name="X. BUSINESS &amp; FINANCIAL MODEL" id="{a4b25fb5-d9d9-004e-cbda-30a2943868fd}">
          <p14:sldIdLst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</p14:sldIdLst>
        </p14:section>
        <p14:section name="XI. GOVERNANCE &amp; EXECUTION" id="{9e9c3799-9d30-f863-ea47-4b4298ac81e3}">
          <p14:sldIdLst>
            <p14:sldId id="362"/>
            <p14:sldId id="363"/>
            <p14:sldId id="364"/>
            <p14:sldId id="365"/>
            <p14:sldId id="366"/>
            <p14:sldId id="367"/>
            <p14:sldId id="368"/>
          </p14:sldIdLst>
        </p14:section>
        <p14:section name="XII. FUTURE VISION" id="{a104e04f-afce-7bb2-88b6-91ed532c2d63}">
          <p14:sldIdLst>
            <p14:sldId id="369"/>
            <p14:sldId id="370"/>
            <p14:sldId id="371"/>
            <p14:sldId id="3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notesMaster" Target="notesMasters/notesMaster1.xml"/><Relationship Id="rId120" Type="http://schemas.openxmlformats.org/officeDocument/2006/relationships/presProps" Target="presProps.xml"/><Relationship Id="rId121" Type="http://schemas.openxmlformats.org/officeDocument/2006/relationships/viewProps" Target="viewProps.xml"/><Relationship Id="rId122" Type="http://schemas.openxmlformats.org/officeDocument/2006/relationships/theme" Target="theme/theme1.xml"/><Relationship Id="rId1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+mn-lt"/>
              </a:rPr>
              <a:t>Мировые IT-расходы, $ млрд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Мировые IT-расходы, $ млрд</c:v>
                </c:pt>
              </c:strCache>
            </c:strRef>
          </c:tx>
          <c:spPr>
            <a:solidFill>
              <a:srgbClr val="2550F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 (расчёт)</c:v>
                  </c:pt>
                  <c:pt idx="1">
                    <c:v>2026 (прогноз)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5580</c:v>
                </c:pt>
                <c:pt idx="1">
                  <c:v>6370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E6ECF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D99A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1A2A4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D99A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+mn-lt"/>
              </a:rPr>
              <a:t>Экспорт IT Park, $ млн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Экспорт резидентов IT Park, $ млн</c:v>
                </c:pt>
              </c:strCache>
            </c:strRef>
          </c:tx>
          <c:spPr>
            <a:solidFill>
              <a:srgbClr val="2550F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 пол. 2025</c:v>
                  </c:pt>
                  <c:pt idx="1">
                    <c:v>I пол. 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302</c:v>
                </c:pt>
                <c:pt idx="1">
                  <c:v>393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E6ECF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D99A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1A2A4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D99A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+mn-lt"/>
              </a:rPr>
              <a:t>Структура рынка 2025, $ млрд (округл.)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93FA"/>
              </a:solidFill>
              <a:effectLst/>
            </c:spPr>
          </c:dPt>
          <c:dPt>
            <c:idx val="1"/>
            <c:bubble3D val="0"/>
            <c:spPr>
              <a:solidFill>
                <a:srgbClr val="2550FA"/>
              </a:solidFill>
              <a:effectLst/>
            </c:spPr>
          </c:dPt>
          <c:dPt>
            <c:idx val="2"/>
            <c:bubble3D val="0"/>
            <c:spPr>
              <a:solidFill>
                <a:srgbClr val="B8C1D4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6ECF5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6ECF5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6ECF5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Мобильные</c:v>
                </c:pt>
                <c:pt idx="1">
                  <c:v>Консоли</c:v>
                </c:pt>
                <c:pt idx="2">
                  <c:v>ПК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113</c:v>
                </c:pt>
                <c:pt idx="1">
                  <c:v>45</c:v>
                </c:pt>
                <c:pt idx="2">
                  <c:v>44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D99A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+mn-lt"/>
              </a:rPr>
              <a:t>Выручка рынка, $ млрд (округл.)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Выручка, $ млрд</c:v>
                </c:pt>
              </c:strCache>
            </c:strRef>
          </c:tx>
          <c:spPr>
            <a:solidFill>
              <a:srgbClr val="2550F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2026П</c:v>
                  </c:pt>
                  <c:pt idx="2">
                    <c:v>2028П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202</c:v>
                </c:pt>
                <c:pt idx="1">
                  <c:v>214</c:v>
                </c:pt>
                <c:pt idx="2">
                  <c:v>234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E6ECF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D99A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1A2A4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D99A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Создателю</c:v>
                </c:pt>
              </c:strCache>
            </c:strRef>
          </c:tx>
          <c:spPr>
            <a:solidFill>
              <a:srgbClr val="2550F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Fan</c:v>
                  </c:pt>
                  <c:pt idx="1">
                    <c:v>Pro</c:v>
                  </c:pt>
                  <c:pt idx="2">
                    <c:v>Master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</c:v>
                </c:pt>
                <c:pt idx="1">
                  <c:v>144</c:v>
                </c:pt>
                <c:pt idx="2">
                  <c:v>240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Призовой фонд</c:v>
                </c:pt>
              </c:strCache>
            </c:strRef>
          </c:tx>
          <c:spPr>
            <a:solidFill>
              <a:srgbClr val="2593F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Fan</c:v>
                  </c:pt>
                  <c:pt idx="1">
                    <c:v>Pro</c:v>
                  </c:pt>
                  <c:pt idx="2">
                    <c:v>Master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</c:v>
                </c:pt>
                <c:pt idx="1">
                  <c:v>144</c:v>
                </c:pt>
                <c:pt idx="2">
                  <c:v>240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Казна</c:v>
                </c:pt>
              </c:strCache>
            </c:strRef>
          </c:tx>
          <c:spPr>
            <a:solidFill>
              <a:srgbClr val="8EB4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CF5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Fan</c:v>
                  </c:pt>
                  <c:pt idx="1">
                    <c:v>Pro</c:v>
                  </c:pt>
                  <c:pt idx="2">
                    <c:v>Master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48</c:v>
                </c:pt>
                <c:pt idx="1">
                  <c:v>96</c:v>
                </c:pt>
                <c:pt idx="2">
                  <c:v>96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E6ECF5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D99A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1A2A4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D99A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D99A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FootureX Uzbekistan — технологическая компания из Ташкента с долгосрочной стратегией экосистемы.
Подача: открываем не игрой, а компанией. Подчеркнуть: документ — стратегическая презентация, статус «проект для обсуждения».
Связка: далее — корпоративное видение «Creating the Future».
Логотип и вордмарк — по FootureX Brand Book v1.0 (знак извлечён из брендбука).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мы строим не продукт, а технологическую платформу роста, где каждое направление усиливает остальные.
Подача: три опоры видения — технологии, игры и AI, спорт и городские инновации. Цифровые направления — фундамент ближайших лет; физическая инфраструктура — долгосрочная амбиция.
Связка: далее — откуда компания и почему Узбекистан.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Узбекистан — крупнейший по населению рынок Центральной Азии с молодым, цифровым и быстро растущим обществом; Ташкент — естественный хаб.
Данные: население 38,24 млн на 01.01.2026 (+1,8% за год); средний возраст 29,5 года; интернет-пользователи 33,1 млн, проникновение 89,0% (конец 2025); рост ВВП 7,7% в 2025 г., ВВП свыше $145 млрд.
Связка: далее — кто 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FootureX Uzbekistan — технологическая компания, а не одна игра.
Корпоративные реквизиты: юридическое наименование MChJ «FootureX Uzbekistan»; международное — FootureX Uzbekistan LLC; Ташкент; планируемая ОПФ — ООО (MChJ).
ТРЕБУЕТСЯ ПОДТВЕРЖДЕНИЕ: факт и дата государственной регистрации, ИНН, уставный капитал, состав участников, статус резидента IT Park — документы не предоставлены.
Связка: далее — как возникла идея.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идея выросла из футбольной игры, но логика масштабирования привела к экосистеме.
Подача: пять шагов эволюции. Контекст: сборная Узбекистана впервые в истории квалифицировалась на чемпионат мира ФИФА 2026 (июнь 2025) — футбольный интерес в стране на историческом пике.
ТРЕБУЕТСЯ ПОДТВЕРЖДЕНИЕ: даты и персоналии основания компании не предоставлены — слайд описывает логику, а не хронологию.
Связка: далее — миссия.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миссия соединяет технологии и спорт вокруг людей.
Миссия игрового направления (BX-001): создание крупнейшей футбольной цифровой экосистемы Центральной Азии с дальнейшим выходом на международный рынок.
Манифест брендбука: «FootureX строится как платформа на десятилетия. Каждый этап финансирует следующий, каждое решение работает на долгосрочное видение. Не игра в Telegram — а спортивная инфраструктура.»
Корпоративная миссия — ПРЕДЛАГАЕМАЯ формулировка для утверждения руководством.
Связка: далее — видение на 10–20 лет.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амбиция масштабная, но последовательность реалистична — от цифровых направлений к физической инфраструктуре.
Годы отсчитываются от запуска операционной деятельности (дата требует подтверждения). Горизонты 3–4 зависят от финансирования, земельных и регуляторных согласований.
РАСХОЖДЕНИЕ: BX-001 задаёт горизонт игрового проекта 10–12 лет; корпоративная концепция — 10–20 лет для всей группы, включая инфраструктуру. Это разные уровни, но горизонт стоит согласовать.
Финансирование первых горизонтов — по стадиям BX-008: Bootstrap → Seed → Growth → Ecosystem Expansion.
Связка: далее — ценности, на которых строится компания.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ценности FootureX закреплены в брендбуке как четыре опоры голоса бренда — они же стандарт решений внутри компании.
Прямота — коротко и по делу; если что-то ещё не сделано — так и пишем. Перспектива — мыслим десятилетиями. Конкретика — цифры важнее эпитетов. Уважение — к пользователю, партнёру, региону; Узбекистан — точка старта.
Сама презентация следует принципу «Прямоты»: статусы на каждом слайде отделяют действующее от планов и амбиций.
Связка: далее — основные направления деятельности.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десять направлений — единая система, но с разной степенью готовности.
Легенда статусов: «План · Фаза 1» — планируемые к запуску первыми; «В разработке» — продукт в работе; «Концепция» — стратегическая концепция; «Амбиция» — долгосрочная цель.
ТРЕБУЕТСЯ ПОДТВЕРЖДЕНИЕ: статусы присвоены консервативно по брифу; фактическое состояние каждого направления должно подтвердить руководство.
Связка: далее — карта экосистемы.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экосистема создаёт перекрёстные эффекты — каждое направление поставляет другим клиентов, технологии, таланты или аудиторию.
Примеры связей: Technologies и AI строят платформу для игры; игра формирует сообщество и киберспорт; академия готовит кадры для студии; AI-аналитика служит футбольной академии; стадион и City объединяют аудитории офлайн.
Связка: глава II — рынки и стратегия.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FootureX входит в рынки, которые растут быстрее мировой экономики.
Данные: Gartner (27.07.2026) — мировые IT-расходы $6,37 трлн в 2026 г. (+14,2%); Gartner (16.09.2026) — расходы на AI ≈ $2,7 трлн (+49,5%); Newzoo — выручка игрового рынка $201,6 млрд в 2025 г. (+9,1%).
Важно: прогнозы Gartner пересматривались в течение 2026 г.; использованы последние доступные версии.
Связка: далее — рынок IT подробнее.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глобальный IT-рынок растёт двузначными темпами, а экспорт IT-услуг Узбекистана растёт ещё быстрее — это окно для FootureX Technologies.
Данные: Gartner — $6,37 трлн в 2026 г.; базу 2025 г. (≈$5,58 трлн) мы рассчитали из темпа роста. Экспорт услуг резидентов IT Park: $392,5 млн в январе–июне 2026 г., на $90,3 млн больше, чем годом ранее (≈$302 млн, +30%).
Связка: далее — игровая индустрия.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мобильные игры — более половины рынка; рост 2025 г. обеспечен ростом расходов на игрока и мини-играми.
Данные Newzoo: 2025 г. — $201,6 млрд (+9,1%), мобильные $113,3 млрд (56%), консоли $44,7 млрд, ПК $43,6 млрд; прогноз $213,9 млрд в 2026 г. и $234,4 млрд в 2028 г. Newzoo отмечает бум мини-игр — прямой аналог Telegram Web App.
Связка: далее — искусственный интеллект.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компании массово экспериментируют с AI, но лишь меньшинство получает финансовый эффект — ниша FootureX AI в доведении AI до результата.
Данные: Gartner — ≈$2,7 трлн мировых расходов на AI в 2026 г. (+49,5%). McKinsey 2025 — 62% респондентов как минимум экспериментируют с AI-агентами; только 39% видят влияние на EBIT на уровне компании. Узбекистан: стратегия ИИ до 2030 г. — цель $1,5 млрд AI-продуктов и услуг, топ-50 Government AI Readiness Index.
Связка: далее — киберспорт.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киберспорт — массовая аудитория с неоднозначной монетизацией; для FootureX это прежде всего маркетинговый и общественный двигатель игры.
Данные: аудитория ≈ 640,8 млн зрителей в 2025 г. (Newzoo). Оценки выручки расходятся: ≈$2,6 млрд (Ken Research) и ≈$4,8 млрд (Statista, включая ставки) — используем диапазон и не смешиваем методики.
Узбекистан: постановление о развитии киберспорта от 16.11.2022; национальная ассоциация — полноправный член AESF; Кубок Кабинета Министров (12.2025) по CS2 и PUBG Mobile.
Связка: далее — цифровизация Узбекистана.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Узбекистан — одна из самых динамичных цифровых экономик региона с прямой государственной поддержкой IT.
Данные: 33,1 млн интернет-пользователей (89,0%) и 33,9 млн мобильных подключений на конец 2025 г.; ВВП свыше $145 млрд в 2025 г.; в январе–июле 2025 г. статус участника IT Park получили 481 экспортно-ориентированная компания, из них 232 иностранные; стратегия «Цифровой Узбекистан — 2030»; инициатива «Пять миллионов лидеров в сфере ИИ».
Связка: далее — проблемы и потребности целевых рынков.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у каждого сегмента есть конкретная нерешённая потребность, и у FootureX есть ответ из своей экосистемы.
Статус: сегментация и формулировки потребностей — гипотезы, требующие подтверждения маркетинговым исследованием (интервью, опросы, пилоты).
Связка: далее — возможности компании.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на пересечении шести трендов возникает окно возможностей, которое редко открывается одновременно.
Ключевые факты: растущий IT-экспорт; государственная AI-стратегия; Telegram как основная платформа; молодое население; первый в истории выход сборной на ЧМ-2026; проведение молодёжного чемпионата мира ФИФА U-20 в 2027 г. (совместно с Азербайджаном) и строительство Нового Ташкента.
Связка: далее — конкурентная среда.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в каждом отдельном сегменте есть сильные конкуренты; уникальность FootureX — в связке направлений и локальной экспертизе.
Статус: качественная оценка категорий конкурентов; детальный конкурентный анализ (доли, цены, продукты) требует отдельного исследования.
Связка: далее — стратегические преимущества.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преимущества FootureX — не в одном продукте, а в последовательности и связке направлений.
Важно: это потенциальные преимущества; они становятся реальными по мере исполнения планов и подтверждаются метриками (см. главу XI, KPI).
Связка: глава III — IT-услуги.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Technologies — денежный и технологический фундамент: окупает команду, создаёт платформу для игры и AI.
Услуги: корпоративная разработка, ERP/CRM/SRM/POS, веб и мобильные приложения, облако и интеграции.
Статус: планируемое направление Фазы 1.
Связка: далее — как мы разрабатываем корпоративное ПО.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прозрачный жизненный цикл проекта снижает риск клиента и повышает маржу компании.
Подача: шесть стадий; на каждой — артефакт, который клиент видит и подписывает. Методология — итеративная (Scrum/Kanban), качество — автотесты и код-ревью, безопасность — по OWASP.
Связка: далее — ERP и CRM.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модульная ERP/CRM/SRM-платформа позволяет начать с одного модуля и вырасти до полного контура.
Подача: экран — концепт интерфейса с демо-данными (не реальный клиент). Модули: продажи и CRM, склад, закупки и SRM, касса и POS, финансы, персонал, отчётность, встроенный AI-ассистент.
Связка: далее — пакетные решения для МСБ.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МСБ покупает не разработку, а готовый результат — пакет под отрасль с быстрым запуском и подпиской.
Подача: шесть приоритетных отраслей; каждая — набор модулей ERP/CRM/POS с типовой настройкой. Сроки и цены пакетов — требуют расчёта после пилотов.
Связка: далее — POS и кассовые решения.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POS — точка входа к клиенту МСБ; от кассы естественно расширяемся на склад, финансы и аналитику.
ВАЖНО: работа с фискальными требованиями Узбекистана (онлайн-ККТ, фискальные модули, интеграция с налоговыми сервисами) требует сертификации и юридической проверки — без неё POS-продукт не запускается.
Связка: далее — веб и мобильные приложения.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одна команда — четыре канала: веб, iOS/Android, Telegram Mini Apps и прогрессивные веб-приложения.
Подача: Telegram Mini Apps — особая компетенция, отработанная на собственной игре; это конкурентное преимущество для клиентских проектов.
Связка: далее — облачная инфраструктура.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облачная архитектура — стандарт для всех продуктов FootureX и клиентских проектов.
ВАЖНО: законодательство Узбекистана о персональных данных предусматривает требования к локализации персональных данных граждан РУз; архитектура проектов учитывает размещение таких данных в стране. Конкретные требования проверяются юристами по каждому проекту.
Связка: далее — интеграции и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ценность корпоративного ПО определяется интеграциями — платежи, банки, налоговые сервисы, маркетплейсы, Telegram.
Примеры целевых интеграций — потенциальные; договорённостей с указанными категориями партнёров нет, подключение выполняется по их публичным API и договорам.
Связка: далее — модель коммерциализации.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смешанная модель — проектная выручка на старте, повторяющаяся выручка (SLA и подписки) по мере роста.
Юнит-экономика часа считается по формуле; ставки, загрузка и стоимость специалиста не предоставлены — требуется подтверждение.
Предыдущая версия содержала иллюстративные ставки — удалены (правило 12 ТЗ).
Связка: далее — стратегия развития IT-направления.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IT-направление развивается от сервисной команды к продуктовой компании с экспортом.
Этапы — качественные; численность, выручка и даты — требуется подтверждение. Иллюстративные цифры предыдущей версии удалены.
Связка: глава IV — искусственный интеллект.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FootureX AI — направление, которое превращает AI из эксперимента в рабочий процесс клиента.
Состав: AI-агенты, ассистенты, мультиагентные системы, машинное обучение и аналитика, отраслевые AI-продукты.
Статус: планируемое направление Фазы 1 (проекты), SaaS — Фаза 2.
Связка: далее — роль AI в бизнесе.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стоимость AI возникает там, где он встроен в процесс с понятной метрикой — время, конверсия, ошибки, выручка.
Данные McKinsey 2025: 62% организаций экспериментируют с агентами, лишь 39% видят эффект на EBIT — значит, ценность в внедрении, а не в модели.
Связка: далее — AI-агенты и ассистенты.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агент — это не чат-бот, а исполнитель задачи с доступом к инструментам и правилам.
Подача: шесть типовых агентов — каждый связан с системами клиента (ERP, CRM, POS, документы) и работает под контролем человека для критичных действий.
Связка: далее — как агенты работают вместе.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надёжный AI строится как система — оркестратор распределяет задачи, специализированные агенты исполняют, слой управления контролирует.
Уровни: интерфейсы; оркестратор; специализированные агенты; инструменты и интеграции; знания и данные (RAG); управление и контроль (журнал, человек в контуре, оценка качества).
Статус: целевая архитектура; выбор моделей и провайдеров — по проекту с учётом требований к данным.
Связка: далее — AI для корпоративной автоматизации.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на практике AI-контур связывает сразу несколько систем — CRM, склад, финансы — и экономит часы ручной работы.
Подача: экран — концепт интерфейса с демо-данными; показатели точности — демонстрационные значения, не результаты внедрения.
Ключевой принцип: критичные действия (скидки, отправка КП, платежи) подтверждает человек.
Связка: далее — AI для игровой индустрии.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AI — встроенная часть FootureX Game: симуляция матчей, соперники, персонализация, античит.
Компетенции, отработанные на собственной игре, затем продаются сторонним студиям (GameDev-услуги).
Связка: далее — AI для спортивной аналитики.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AI-аналитика — мост между цифровым и реальным футболом FootureX: от скаутинга до управления нагрузкой.
Потоки данных: видео матчей и тренировок, событийные данные, GPS/пульсометрия, медицинские показатели (с согласия и по правилам защиты данных несовершеннолетних).
Статус: стратегическая концепция для Football Academy и FC FootureX.
Связка: далее — AI-продукты и SaaS.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SaaS-модель превращает компетенции AI-проектов в масштабируемую повторяющуюся выручку.
Пакеты — продуктовая концепция; цены не утверждены. Юнит-экономика показана формулами: LTV = ARPA × валовая маржа / месячный отток; окупаемость CAC = CAC / (ARPA × маржа).
Иллюстративные тарифы и значения предыдущей версии удалены (правило 12 ТЗ).
Связка: далее — безопасность и AI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доверие — главный актив AI-компании; управление рисками AI закладывается в процесс с первого проекта.
Ориентиры: законодательство РУз о персональных данных (включая требования к локализации); государственная повестка по этике ИИ; международные практики — NIST AI Risk Management Framework, ISO/IEC 42001 (системы менеджмента ИИ), ISO/IEC 27001 (информационная безопасность). Сертификации — цель, а не текущий статус.
Связка: далее — долгосрочная AI-стратегия.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AI-направление последовательно движется от проектов к продуктам и платформе, которую используют все направления группы.
Этапы: AI-услуги → AI-продукты SaaS → AI-платформа FootureX → AI для спорта и города. Сроки и целевые показатели не заданы — требуется подтверждение.
Связка: глава V — разработка игр.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FootureX Game — долгосрочная спортивно-цифровая экосистема (BX-001), а не одна игра: футбольный симулятор, Telegram Web App, игровая экономика, пользовательские лиги, цифровая карьера игроков, соревновательная инфраструктура, социальные механики и перспективная blockchain-инфраструктура.
Миссия игрового проекта (BX-001): создание крупнейшей футбольной цифровой экосистемы Центральной Азии с дальнейшим выходом на международный рынок. Горизонт — 10–12 лет.
Статус: этап Foundation; экраны — концепты интерфейса с демо-данными.
Связка: далее — архитектура экосистемы.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архитектура BX-001 состоит из 12 систем; часть входит в этап Foundation, часть — в Ecosystem Expansion, blockchain — только после подтверждения устойчивости продукта.
Этапы на карточках сопоставлены с разделом этапов BX-001 и стратегией BX-008; распределение Media Direction и Social Layer по этапам требует подтверждения.
Связка: далее — продуктовая стратегия.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продуктовая стратегия BX-001 задаёт пять целей, четыре принципа бизнес-модели, четыре целевых сегмента и последовательную географию.
Цели: узнаваемая IP; устойчивая игровая экономика; инфраструктура киберспорта и лиг; интеграция реальных спортивных проектов; платформа развития молодёжи и футбольных талантов.
Бизнес-модель: Freemium, Live Service, Seasonal Economy, Controlled Marketplace.
Аудитория: школьники 12–17, студенты 18–24, football gamers 16–30, пользователи Telegram 15–35.
География: Ташкент и Узбекистан → СНГ → международный рынок.
Связка: далее — основной игровой продукт.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BX-004 проектирует FootureX как Football Manager, Competitive Ecosystem, Progression Platform и Social Football Universe; удержание строится на главном игровом цикле.
Цикл: Login → Daily Systems → Training → Squad Management → Matches → Rewards → Progression → Marketplace → Events → League → Repeat.
Главный принцип BX-004: пользователь должен возвращаться ради интересного игрового опыта, а не из-за искусственного принуждения.
Связка: далее — архитектура приложения.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FootureX строится как масштабируемая Live-Service Platform; Telegram Bot — навигационный шлюз, Web App — интерфейс, Backend API — основная логика; критическая игровая логика рассчитывается на сервере.
BX-007: Telegram → Bot → Web App → API Gateway → Backend → Database → Realtime. Функции бота: запуск Web App, уведомления, события, Deep Links, поддержка, реферальная система.
BX-005: Client → API Gateway → Auth Layer → Core Services → Databases → Realtime → Analytics → Monitoring. Frontend: React, Next.js, TypeScript, Tailwind, Zustand/Redux, WebSocket. Backend: Node.js, NestJS, TypeScript, PostgreSQL, Redis, RabbitMQ/Kafka, WebSocket Gateway, Docker. API: REST, WebSocket, внутренние события; JWT, Rate Limiting, API Versioning, Validation.
ВАЖНО: это проектная архитектура документов; степень реализации каждого компонента требует подтверждения технической командой.
Связка: далее — состав и управление командой.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глубина менеджмента — в сочетании состава, тактики и сыгранности.
BX-004: Squad System — основной состав, резерв, молодёжный состав, тактические настройки. Tactical System — Formation, Pressing, Tempo, Defensive Line, Attack Focus. Chemistry System — лига, страна, клубные связи, специальные игровые комбинации. Player Identity System — Level, Reputation, Rank, Club History, Achievements, Seasonal Stats.
Связка: далее — развитие футболистов.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каждый футболист описывается 8 открытыми и 5 скрытыми характеристиками и развивается через тренировки, матчи, специальных тренеров, события и Evolution System.
РАСХОЖДЕНИЕ ДОКУМЕНТОВ: BX-004 v0.0.19 приводит категории Common, Rare, Elite, Legendary, Iconic; утверждённый каталог BX-013 v1.0 — Common → Uncommon → Rare → Epic → Legendary → Immortal, а Elite — отдельная сезонная/премиальная категория; Iconic в BX-013 отсутствует. В презентации применяется линейка BX-013 как более поздняя и утверждённая; BX-004 требует обновления.
Связка: далее — лиги, PvP и турниры.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соревновательная структура объединяет шесть типов матчей, четыре типа лиг и честный матчмейкинг.
BX-004: Quick Match, Ranked, Tournament, League, Friendly, Event Match; лиги Public, Private, Competitive, Sponsored; матчмейкинг учитывает ранг, силу команды, скрытый MMR, поведение и регион задержки.
BX-013: системные лиги бесплатно (ранги 19–100); Fan League — создание 69 FTXcoin, Pro — 109, Master — 149; дополнительные 4 места до лимита 48 — 20 FTXcoin. Взносы за 7-дневный сезон: Fan 5 (2 создателю / 2 в призовой фонд / 1 в казну), Pro 8 (3/3/2), Master 12 (5/5/2).
Важно: взносы в FTXcoin — расход внутриигровой валюты и оборот между пользователями, а не денежная выручка.
Связка: далее — экономика.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экономика держится на контроле эмиссии и балансе источников и расходов; выручка — только реальные платежи через Telegram Stars / TON (BX-013).
Coins — мягкая валюта: источники — матчи, ежедневные награды, задания, достижения, сезоны, события; вывод из обращения — Upgrades, Contracts, League Participation, Crafting, Repair, Reroll (BX-003).
FTXcoin — премиальная внутриигровая валюта без листинга (BX-013).
Телеграм Stars / TON — платёжные механизмы (BX-013); TON — внешний механизм будущих blockchain-операций (BX-003); blockchain не обязателен для участия.
FOOTX — перспективный внешний токен позднего этапа (BX-013; брендбук: с листингом на бирже).
РАСХОЖДЕНИЯ: (1) роль FTXcoin: BX-003 — стратегическая игровая экономика; BX-013 — премиальная валюта, продаваемая пакетами; брендбук — валюта для управления, стейкинга и призовых внутри турниров. (2) BX-003 перечисляет Stars и TON среди валют, BX-013 — как платёжные механизмы. Требуется единая редакция.
Связка: далее — маркетплейс.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Controlled Marketplace (BX-001) оживляет экономику, но строго отделяет доходы платформы от расходов валют и оборота между пользователями.
BX-013: продажа игроков и активов, аренда, крафт, слияние, скаутинг; косметика, коллекционные дропы, турниры, сезонные награды, восстановление энергии, статусные преимущества.
Исключено каталогом: прямой вывод FTXcoin в реальные деньги, конвертация Coins в FTXcoin, нечестные лутбоксы, ставки.
Blockchain и токенизированная экономика развиваются только после подтверждения устойчивости основного продукта (BX-008) и не являются обязательным условием участия (BX-003).
Связка: далее — LiveOps и удержание.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удержание строится на сезонном ритме и честной ценности, а не на принуждении.
Retention Systems (BX-004): Daily Rewards, Missions, Leagues, Battle Pass, Tournaments. New Player Experience: Tutorial → Starter Squad → First Match → Rewards → League Introduction. Anti-Cheat: серверная проверка действий, поведенческий анализ, защита от манипуляций статистикой.
Battle Pass (BX-013): Free — бесплатно; Premium Pass — $3.99 за сезон 14 дней, 100 уровней.
Целевые значения удержания (D1/D7/D30) в документах не заданы — требуется подтверждение после тестов.
Связка: далее — план развития и выпуска.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продукт развивается по этапам BX-001; переход к росту — только после подтверждения удержания, экономики и стабильной аудитории (BX-008).
Foundation: Telegram Web App, базовый gameplay, регистрация, игровая экономика, первые сезоны, тестовые турниры, MVP сайта.
Ecosystem Expansion: Marketplace, League System, Social Systems, игровые события, аналитика, масштабирование инфраструктуры.
Далее (BX-008): Growth — новые рынки, инфраструктура, конкурентные системы; Ecosystem Expansion — медиа, киберспорт, blockchain-интеграции, стратегические партнёрства, футбольная инфраструктура.
Календарные даты в документах не указаны — требуются от команды.
Связка: глава VI — сообщество и киберспорт.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сообщество превращает игру в социальную платформу и снижает стоимость привлечения игроков.
Статус: стратегическая концепция; запуск сообщества синхронизирован с soft launch игры.
Визуализация: концептуальная esports-арена.
Связка: далее — как формируется сообщество.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сообщество строится как воронка вовлечения — на каждом уровне свой формат и своя метрика.
Уровни: охват (Telegram-каналы, авторы, футбольные медиа) → игроки → активное ядро (клубы и чаты) → участники турниров → амбассадоры и авторы контента.
Метрики уровней — целевые, устанавливаются после soft launch.
Связка: далее — развитие киберспорта.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киберспорт развивается снизу вверх — от турниров внутри игры к региональным и партнёрским чемпионатам.
Логика: каждая ступень открывается, когда предыдущая набрала аудиторию и спонсоров. Участие в официальных соревнованиях — через национальную федерацию/ассоциацию и по их правилам.
Связка: далее — форматы турниров.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портфель форматов покрывает весь путь игрока — от еженедельного кубка до международного шоу.
Параметры (частота, состав участников, призы) — проектные и будут уточняться под бюджет и спонсоров.
Призовые фонды в денежной форме — только по правилам законодательства о рекламе, стимулирующих мероприятиях и налогообложении.
Связка: далее — региональные соревнования.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региональный кубок делает бренд национальным и находит таланты за пределами Ташкента.
Формат: онлайн-квалификации в регионах → региональные финалы (вузы, IT-хабы, кибер-клубы) → большой финал в Ташкенте с трансляцией.
Партнёры площадок — целевые, договорённостей нет.
Связка: далее — международные мероприятия.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международный уровень — следствие сильной локальной сцены, а не стартовая точка.
Направления: Центральноазиатский кубок FootureX; онлайн-турниры для диаспоры; участие команд в турнирах через национальную ассоциацию (член AESF); партнёрские шоу-матчи.
Статус: долгосрочная амбиция; соглашений с международными организациями нет.
Связка: далее — собственная esports-команда.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собственная команда — витрина бренда и источник медийного контента.
Состав (проект): футбольный симулятор (основной), мобильные дисциплины, популярные в регионе (по решению спортивного директора и анализу аудитории); академический состав из лучших игроков FootureX Game.
Статус: концепция; формирование — после запуска турнирной инфраструктуры.
Связка: далее — стриминг и медиа.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медиа превращают турниры в постоянный поток контента, а сайт FootureX — центральная точка входа в экосистему (BX-006).
BX-006: разделы Home, About, Ecosystem, Roadmap, Media, Community, Partners, FAQ, Contacts, Web App; стиль Futuristic / Premium / Minimal / Cinematic / Football-Tech; адаптивность, SEO, OpenGraph, Sitemap, локализация RU / UZ / EN.
Каналы контента (концепция): Telegram, трансляции, короткие видео, подкасты и разборы, собственная студия после запуска лиг, партнёрская программа для авторов.
Связка: далее — спонсорство.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спонсорский пакет строится на измеримой аудитории — просмотры, участники, вовлечённость.
Уровни: титульный партнёр, официальные партнёры, технологические и медиапартнёры. Наполнение пакетов и цены — после первых сезонов с подтверждённой аудиторией.
Категории-ограничения: реклама азартных игр и ставок не принимается (защита молодой аудитории и репутации).
Связка: далее — экономика esports.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киберспорт — двигатель аудитории; документы описывают соревновательную экономику внутри игры, но не задают денежную выручку киберспорта.
Внутри игры (BX-013): пользовательские лиги Fan / Pro / Master со взносами за 7-дневный сезон; взносы распределяются между создателем, призовым фондом и казной — это оборот внутриигровой валюты, а не выручка.
Денежные источники (BX-001): спонсорство, турнирные билеты, медиа, цифровой мерч; Sponsored-лиги (BX-004). Объёмы не заданы — требуется подтверждение.
BX-008: киберспорт — стадия Ecosystem Expansion, после подтверждения ядра продукта.
Иллюстративный прогноз предыдущей версии удалён.
Связка: глава VII — образование.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академия решает главный ограничитель роста индустрии — нехватку практикующих специалистов — и одновременно формирует кадровый резерв FootureX.
Статус: пилот планируется в Фазе 1, масштабирование — Фаза 2. Экран — концепт интерфейса учебной платформы.
Связка: далее — образовательная концепция.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академия устроена как учебная студия — студент проходит путь от основ до выпуска продукта в команде.
Цикл: Learn (основы) → Build (учебные проекты) → Ship (командный проект с релизом) → Hire (стажировка, найм в FootureX или у партнёров).
Связка: далее — программы подготовки.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шесть программ покрывают ключевые роли игровой и IT-индустрии.
Длительность и форматы — проектные; учебные планы, лицензирование образовательной деятельности (если требуется для выбранного формата) и стоимость подлежат утверждению.
Связка: далее — Game Design и 3D.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дизайн и 3D — творческое ядро игр; учим на инструментах и пайплайнах, которые используются в студии.
Модули (проект): Game Design — механики, баланс и экономика, уровни, нарратив, прототипирование. 3D — моделирование, текстурирование, риггинг, анимация, оптимизация для мобильных устройств и WebGL.
Связка: далее — AI и программирование.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программирование и AI — сквозные компетенции для всех направлений FootureX и рынка в целом.
Связь с государственной повесткой: инициатива по подготовке лидеров в сфере ИИ и стратегия ИИ до 2030 г. формируют спрос на такие программы.
Связка: далее — практика и подготовка кадров.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главное отличие академии — практика в действующей студии и прямой путь к найму.
Путь: отбор → базовый модуль → проектный модуль → командный проект в студии → демо-день перед работодателями → стажировка → найм в FootureX или у партнёров.
Обязательства по трудоустройству не даются; партнёры-работодатели — целевые.
Связка: далее — монетизация.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академия — самостоятельный бизнес и стратегический источник кадров для студии.
Модель: выручка = слушатели × стоимость программы + корпоративные программы + гранты; затраты — преподаватели, контент, площадки.
Численность, цены и маржа не предоставлены — требуется подтверждение. Иллюстративный прогноз предыдущей версии удалён (правило 12 ТЗ).
Связка: далее — масштабирование академии.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академия масштабируется через онлайн и партнёрские площадки, а не через капитальное строительство.
Этапы: пилот в Ташкенте → онлайн-формат для всей страны → партнёрские площадки в регионах (вузы, IT-хабы) → Центральная Азия.
Связка: глава VIII — развитие футбола.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FC FootureX — стратегическая концепция, которая превращает цифровой футбольный бренд в реальный.
Статус: клуб не создан; не зарегистрирован, не лицензирован и не участвует в соревнованиях. Создание — Фаза 3 (ориентировочно годы 7–10), при наличии финансирования и выполнении требований лицензирования.
Связка: далее — стратегия формирования команды.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клуб строится снизу вверх — от любительского уровня к профессиональным лигам, с ростом бюджета только вслед за спортивным результатом.
Структура футбола Узбекистана: Суперлига (16 клубов), Про-лига и низшие лиги; переход — по спортивному принципу и лицензионным требованиям ПФЛ/АФУ.
ТРЕБУЕТСЯ ПОДТВЕРЖДЕНИЕ: актуальный регламент, требования клубного лицензирования (инфраструктура, финансы, академия) и возможность заявки нового клуба.
Связка: далее — организационная структура клуба.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структура разделяет спортивный, коммерческий и операционный блоки с чёткой ответственностью.
Статус: целевая структура для этапа профессионального клуба; на старте функции совмещаются.
Связка: далее — FootureX Football Academy.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академия — фундамент футбольной стратегии: воспитание игроков дешевле покупки и создаёт долгосрочную стоимость.
Формат старта — пилот детско-юношеских программ на арендуемой базе; бюджет, выручка и CAPEX не предоставлены — требуется подтверждение.
Статус: концепция; визуализация — концептуальная (4 поля, крытый манеж, учебный корпус).
Связка: далее — подготовка молодых футболистов.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система подготовки разделена на четыре этапа с разными целями — от любви к игре до профессиональной готовности.
Возрастные границы и содержание этапов — проектные; методика разрабатывается с привлечением лицензированных тренеров (лицензии AFC/UEFA) и партнёров.
Связка: далее — поиск талантов.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скаутинг соединяет офлайн-фестивали в регионах и цифровые инструменты — расширяя охват без пропорционального роста затрат.
Воронка: региональные фестивали и школьные турниры → видео- и цифровой отбор → просмотровые сборы → пробный период → зачисление в академию.
Этика: отбор детей — только с согласия родителей, без платы за просмотр; защита персональных данных несовершеннолетних.
Связка: далее — спортивная аналитика и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FootureX AI даёт футбольному направлению конкурентное преимущество, недоступное большинству клубов региона.
Инструменты: видеоаналитика, событийные данные, носимые датчики, модели развития и риска травм, цифровой профиль игрока.
Связь с игрой: обезличенные модели и статистика могут использоваться в FootureX Game — только с согласия и без персональных данных детей.
Связка: далее — подготовка к профессиональной карьере.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профессиональный футболист — это не только техника; академия готовит личность, образование и карьеру.
Блоки: образование и языки, медицина и питание, психология, медиа-грамотность, финансовая и правовая грамотность, карьерное сопровождение (по правилам ФИФА о посредниках).
Связка: далее — международные партнёрства.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партнёрства ускоряют развитие методики и открывают воспитанникам международный путь.
СТАТУС: соглашений с иностранными клубами, академиями или федерациями НЕТ; на слайде — целевые форматы сотрудничества, а не действующие договорённости.
Связка: далее — трансферная стратегия.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модель «воспитать и продать» — устойчивый источник дохода для клубов развивающихся рынков; регламент ФИФА защищает права клуба-воспитателя.
Механизмы ФИФА (Регламент по статусу и трансферам игроков): компенсация за подготовку — при первом профессиональном контракте и переходах до 23 лет за годы подготовки 12–21 лет; механизм солидарности — до 5% суммы международного трансфера распределяется клубам, готовившим игрока в возрасте 12–23 лет.
Конкретные условия — по актуальной редакции регламента ФИФА.
Связка: далее — перспективная модель лиги.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собственная любительская лига, связанная с игрой, создаёт уникальный продукт на стыке реального и цифрового футбола.
Модель: любительские и корпоративные команды играют реальные матчи; статистика матчей появляется в FootureX Game; болельщики следят за командами в Telegram; лучшие игроки попадают в поле зрения скаутов академии и клуба.
Статус: концепция; требуется согласование с футбольной ассоциацией и проверка правовых аспектов (права на изображение, данные игроков).
Связка: далее — долгосрочная футбольная стратегия.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футбол — самое длинное по горизонту направление; каждый шаг финансируется зрелостью предыдущих.
Последовательность: Phygital League и детские программы → пилот Football Academy → любительская команда FC FootureX → профессиональные лиги → собственная инфраструктура.
Сроки не заданы документами и зависят от финансирования и решений руководства — требуется подтверждение.
Связка: глава IX — стадион и город.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стадион — долгосрочная амбиция (Фаза 4, горизонт 10+ лет), а не текущий проект.
СТАТУС: земельный участок отсутствует; проектная документация, разрешения и финансирование отсутствуют. Вместимость и бюджет определяются только по итогам ТЭО.
Стратегический контекст: в Новом Ташкенте уже строится государственный стадион на 55 тыс. мест (см. следующий слайд) — FootureX Stadium не должен его дублировать.
Связка: далее — концепция размещения.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Новый Ташкент — предпочтительная перспективная локация, но позиционирование должно учитывать уже строящуюся государственную инфраструктуру.
Факты: под Новый Ташкент выделено 20 000 га; данные о площади первой очереди расходятся (≈6 000 га по одним источникам); запланирована линия метро; строится стадион на 55 тыс. мест (≈$100 млн), рассчитанный на молодёжный чемпионат мира ФИФА U-20 2027.
Вывод: FootureX Stadium — не конкурент национальной арене, а клубный стадион средней вместимости с esports-ареной и цифровыми сервисами, либо партнёрская модель.
ТРЕБУЕТСЯ: согласование с Дирекцией Нового Ташкента; земельный участок FootureX не выделен.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архитектурный образ отражает бренд — технологичный, лаконичный, с цифровым фасадом.
Элементы концепции: две трибуны-чаши с хорошим обзором; лёгкий кольцевой навес; светодиодная лента между ярусами; вертикальные ламели фасада с медиа-подсветкой; газон стандарта ФИФА 105×68 м.
Визуализация — концептуальная, не архитектурный проект. Вместимость, площадь и бюджет — по итогам ТЭО.
Связка: далее — интеллектуальная инфраструктура.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стадион — цифровая платформа: билет, проход, навигация, заказ еды и статистика в одном приложении.
Системы: цифровой билет и бесконтактный проход; высокоплотная беспроводная связь; безналичные покупки и заказ к месту; цифровой двойник здания и BMS; видеоаналитика безопасности; энергоменеджмент.
Экран — концепт интерфейса приложения стадиона.
Связка: далее — коммерческая модель стадиона.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экономика стадиона строится на многофункциональности — футбольные матчи дают меньшую часть дохода, чем события, хоспиталити и коммерческие права.
Данные: финансовые показатели стадиона в модель не включены — требуется ТЭО (рыночный анализ, вместимость, CAPEX, операционная модель, источники финансирования).
Рекомендация (для обсуждения): поэтапный путь — сначала партнёрская модель цифровых сервисов для существующих арен, затем многофункциональная арена меньшего формата, затем собственный клубный стадион.
Связка: далее — FootureX 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FootureX City — долгосрочная инвестиционная концепция многофункционального квартала, где технологии, спорт, образование и жизнь соединены в одной среде.
СТАТУС: концепция; зависит от земельных, градостроительных, финансовых и регуляторных согласований. Земельного участка, проекта планировки и инвесторов нет.
Слайды 88–94 — последовательная виртуальная экскурсия по концептуальной 3D-модели (переход Morph).
Связка: далее — генеральный план.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генплан организован вокруг центрального бульвара — спортивный кластер на западе, технологический на востоке, жилые кварталы и парк на юге.
Зоны: 1 — стадион; 2 — esports-арена; 3 — технологический кампус; 4 — бульвар с ритейлом; 5 — жилые кварталы; 6 — центральный парк; 7 — образовательный кампус; 8 — спортивный центр и тренировочные поля.
Схема концептуальная, без масштаба; площадь и параметры — по результатам градостроительного анализа.
Связка: далее — технологический кампус.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кампус — штаб-квартира группы и технологический кластер для партнёров, стартапов и академии.
Функции: офисы направлений FootureX; пространства для резидентов-партнёров; R&amp;D-лаборатории AI; студии разработки игр и трансляций; конференц-центр.
Модель: часть площадей — в аренду технологическим компаниям (якорный арендатор — FootureX).
Связка: далее — жилая и общественная инфраструктура.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жилые кварталы формируют постоянное сообщество — сотрудников, студентов, семей — и делают квартал живым каждый день.
Принципы: квартальная застройка с закрытыми дворами; первые этажи — общественные; школы и детские сады в пешей доступности; центральный парк; приоритет пешеходов и велосипедистов.
Реализация — с девелоперами-партнёрами; FootureX не планирует выступать застройщиком жилья самостоятельно.
Связка: далее — торговые пространства.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бульвар — главная общественная ось квартала: кофейни, рестораны, магазины и фан-зоны, связывающие стадион и кампус.
Форматы: кофейни и рестораны, бренд-стор FootureX, ритейл повседневного спроса, фан-зоны и экраны трансляций в дни матчей, ночная подсветка.
Визуализация — концептуальная, уровень пешехода.
Связка: далее — Smart 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квартал управляется как цифровая платформа — на технологиях FootureX AI и Technologies.
Системы: цифровой двойник квартала; единое приложение жителя и гостя; умная мобильность и парковки; энергоменеджмент и учёт ресурсов; безопасность с защитой приватности; открытые данные для партнёров.
Связь с группой: Smart City — витрина и полигон для продуктов Technologies и AI.
Связка: далее — этапы реализации и инвестиционная структура.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City реализуется очередями, каждая из которых финансируется отдельно и запускается только после подтверждения предыдущей.
Очереди (цвет на визуализации): I — кампус и образование (зелёный); II — спортивный кластер: стадион, арена, спорткомплекс (синий); III — жилые кварталы и бульвар (янтарный).
Структура финансирования (варианты): проектные компании (SPV) по очередям; ГЧП; совместные предприятия с девелоперами; проектное финансирование банков и институтов развития.
ВАЖНО: инвестиции в City и стадион не привлечены и не включены в финансовую модель группы. CAPEX — только по итогам ТЭО.
Связка: глава X — бизнес-модель и финансы.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бизнес-модель — маховик: сервисная выручка финансирует продукты, продукты создают аудиторию, аудитория — бренд и спрос, бренд — клиентов и таланты.
Порядок: (1) IT и AI-услуги → (2) продукты: игра и AI SaaS → (3) аудитория и сообщество → (4) образование и таланты → (5) спорт и бренд → (6) новые клиенты и партнёры → снова (1).
Связка: далее — Business Model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канва показывает, что экосистема держится на общих ресурсах — технологиях, людях и бренде — и обслуживает несколько клиентских сегментов.
Статус: проектная канва для обсуждения с руководством.
Связка: далее — источники доходов по направлениям.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документировано только устройство монетизации игрового направления; объёмы выручки не заданы ни по одному направлению.
BX-001: Battle Pass, косметика, игровые наборы, премиум-функции, турнирные билеты, брендовые партнёрства, рекламные интеграции; дополнительно — киберспорт, спонсорство, цифровой мерч, токенизированная экосистема.
Правило ТЗ: игровые финансовые показатели не переносятся на всю компанию; доходы маркетплейса, клуба, стадиона и недвижимости не считаются подтверждёнными.
Связка: далее — экономика по направлениям.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экономика IT-услуг определяется загрузкой специалистов, ставкой и себестоимостью часа; эти значения компания не предоставила.
Предыдущая версия содержала иллюстративные ставки и численность — они удалены как не подтверждённые документами.
Что нужно от руководства: портфель договоров, ставки, численность, загрузка, фонд оплаты труда.
Связка: далее —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AI-направление сочетает проектную модель (внедрение) и подписку; объёмы и цены не предоставлены.
Ключевые метрики подписки: MRR, отток, ARPA, CAC, LTV, стоимость инференса на клиента.
Связка: далее — экономика Game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для FootureX Game утверждены цены (BX-013), но не объёмы — поэтому показан каталог и производные цены, а не прогноз выручки.
Пакеты FTXcoin: 30 — $1.99; 60 — $3.99; 90 — $5.99; 150 — $9.50; 400 — $24.99. Пакет 120 исключён. Цена 1 FTXcoin — от $0,0625 (пакет 400) до $0,0666 (пакет 90).
Premium Pass — $3.99 за сезон 14 дней (≈ $0,285 в день; при покупке каждого сезона — максимум ≈ $104 в год на одного плательщика).
Наборы в FTXcoin имеют долларовый эквивалент по цене пакетов: например, Legendary Pack (89 FTXcoin) ≈ $5,56–5,92.
Комиссии Telegram/TON и налоги в BX-013 не указаны.
Связка: далее — футбольное и киберспортивное направления.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соревновательная экономика внутри игры описана точно (BX-013), но это экономика внутриигровой валюты; денежные доходы киберспорта и футбола не заданы.
Расчёт при максимальном составе 48 мест (базовое число мест в BX-013 не указано; +4 места за 20 FTXcoin до лимита 48):
Fan: 48 × 5 = 240 FTXcoin за сезон → 96 создателю / 96 в призовой фонд / 48 в казну.
Pro: 48 × 8 = 384 → 144 / 144 / 96.
Master: 48 × 12 = 576 → 240 / 240 / 96.
Казна — сток валюты (sink), а не выручка; доли создателя и фонда — оборот между пользователями.
Футбольный клуб и академия: спонсорство, билеты, трансферы, обучение — объёмы не предоставлены, доходы не считаются подтверждёнными.
Связка: далее — CAPEX и OPEX.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структура затрат определяется документами (приоритеты Seed — BX-008, роли — BX-002, инфраструктура — BX-005), но суммы не предоставлены.
Приоритеты Seed-раунда BX-008: Backend, Gameplay, Infrastructure, LiveOps, Marketing.
CAPEX физических направлений (студия, учебные пространства, футбольная база, стадион) зависит от решений о площадках и в предыдущей версии был иллюстративным — суммы удалены.
Связка: далее — финансовая модель.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модель построена как дерево драйверов; все входы пустые и заполняются руководством, результаты считаются формулами.
Выручка игры: MAU × Conversion × ARPPU × месяцы + партнёрства. Gross Profit = Revenue − комиссии платформ − прямые затраты. EBITDA = GP − OPEX. Net Profit = (EBITDA − D&amp;A) × (1 − налог). OCF = NP + D&amp;A − ΔWC. FCF = OCF − CAPEX. CAC = UA / новые пользователи. LTV = ARPPU × (1 − комиссия) × срок жизни.
Важно: модель — по FootureX Game; другие направления добавляются отдельными блоками, игровые показатели не переносятся на компанию.
Связка: далее — прогноз выручки и денежных потоков.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прогноз не публикуется до заполнения драйверов; вместо графика показана структура отчёта, которую получит инвестор.
KPI инвестора по BX-008: DAU, MAU, Retention, Revenue, Conversion, Community Growth — фактические значения пока не предоставлены (продукт на этапе Foundation).
Предыдущая версия содержала иллюстративный прогноз — удалён по правилу 12 ТЗ.
Связка: далее — сценарии и безубыточность.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сценарии задаются не процентом от выручки, а значениями драйверов; точка безубыточности считается формулой после ввода затрат.
Базовый / оптимистичный / пессимистичный сценарии различаются удержанием, конверсией, ARPPU, CAC и сроком перехода к Growth.
Точка безубыточности (платящих в месяц) = постоянные затраты в месяц / (ARPPU × (1 − комиссия) − переменные затраты на плательщика).
BX-008: переход к росту — только после подтверждения удержания, экономики и аудитории; это главный сценарный триггер.
Связка: далее — инвестиционная стратегия.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BX-008 задаёт поэтапную стратегию: каждый следующий раунд — после подтверждения метрик предыдущего этапа.
Bootstrap: MVP, собственные средства, близкие партнёры, небольшие инвестиции. Seed: Backend, Gameplay, Infrastructure, LiveOps, Marketing. Growth: после подтверждения retention, экономики и аудитории; новые рынки. Ecosystem Expansion: медиа, киберспорт, blockchain, партнёрства, футбольная инфраструктура.
Подтверждённые инвестиции: нет данных. Суммы раундов и оценка: требуется подтверждение.
Партнёрские направления: Media, Sports, Technology. Blockchain — только после доказанной устойчивости ядра.
Связка: глава XI — управление и риски.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сегодня все направления — подразделения одного юридического лица; выделение дочерних компаний происходит поэтапно, когда направление готово к собственным инвесторам, лицензиям или партнёрам.
ВАЖНО: схема концептуальная. Ни одно подразделение не является зарегистрированным юридическим лицом — документы не предоставлены.
Поэтапное выделение (вариант): (1) все направления внутри MChJ; (2) отдельные ДК для AI SaaS и игрового IP — при привлечении профильных инвесторов; (3) FC FootureX и Football Academy — отдельные организации, если этого требуют правила клубного лицензирования; (4) проектные компании (SPV) для Stadium и City с партнёрами.
Связка: далее — модель управления.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управление построено так, чтобы инвестор и участники видели решения, риски и деньги — с первого года.
Органы ООО по законодательству РУз: общее собрание участников, наблюдательный совет (при создании, по уставу), исполнительный орган (директор). BX-002: Founder / CEO совмещает Product Vision Owner, Executive Control и Investment Direction; предусмотрены роли COO, CTO, CPO, CFO, CMO, Head of LiveOps, Head of Security — статус найма не подтверждён, позиции не представлены как занятые.
Дополнительно (рекомендация): правление из руководителей направлений и комитеты — аудит и риски, инвестиционный, технологии и этика AI.
Финансовый контроль: годовой бюджет, ежемесячная управленческая отчётность, матрица полномочий, двойная подпись платежей сверх лимита, ежегодный внешний аудит (по решению участников).
Статус: проект модели управления; закрепляется в уставе и внутренних положениях.
Связка: далее — структура подразделений и ответственности.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игровое направление организовано по BX-002 как Hybrid Product Structure: Product-driven, Service-oriented, LiveOps Architecture.
Управление: Founder / CEO — Product Vision Owner, Executive Control, Investment Direction. Роли C-level предусмотрены документом; кто их занимает — не подтверждено, поэтому позиции не показаны как занятые.
Product Department: продуктовое управление, геймдизайн, системная архитектура, UX, экономика. Development Department: Backend, Frontend, Telegram, DevOps, QA, Security.
Направления вне игры: руководители — по корпоративной концепции, назначения не утверждены.
Связка: далее — операционная модель.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единая операционная система для всех направлений — от стратегии до аудита — позволяет управлять разными бизнесами одной командой.
Контур: стратегия и OKR (год/квартал) → портфель проектов → поставка (Agile) → качество (тесты, код-ревью, безопасность, клиентский NPS) → финансовый контроль (бюджет, управленческая отчётность, учёт по МСФО по мере готовности) → аудит и комплаенс.
Связка: далее — ключевые риски.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главные риски — не технологические, а риски фокуса и финансирования; для каждого есть конкретная мера.
Карта: 1 — финансирование не привлечено в срок; 2 — слишком быстрый рост и распыление фокуса; 3 — низкое удержание; 4 — нарушение игровой экономики; 5 — агрессивная монетизация и потеря доверия; 6 — слабая инфраструктура (риски 2–6 перечислены в BX-008); 7 — регулирование платежей, Stars/TON и токенов; 8 — зависимость от Telegram; 9 — кибербезопасность и мошенничество; 10 — земля и разрешения для Stadium/City.
Дополнительно (вне карты): дефицит кадров, концентрация IT-клиентов, валютный риск UZS/USD.
Оценка вероятности и влияния — экспертная, пересматривается ежеквартально комитетом по рискам.
Связка: далее — roadmap на 10 лет.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дорожная карта показывает последовательность — цифровые направления первыми, спорт и инфраструктура позже и при выполнении условий.
Легенда: сплошная полоса — планируемая реализация; светлая — подготовка (ТЭО, пилоты, партнёры). Годы отсчитываются от запуска операционной деятельности.
Все сроки — ориентиры, требуют утверждения.
Связка: далее — KPI и контроль исполнения.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каждое направление управляется 1–2 главными метриками с понятной частотой контроля; целевые значения утверждаются вместе с бизнес-планом.
BX-008: инвестору важны DAU, MAU, Retention, Revenue, Conversion, Community Growth. Фактические значения появятся после тестов этапа Foundation.
Иллюстративные цели предыдущей версии удалены (правило 12 ТЗ).
Контроль: ежемесячный отчёт правлению, квартальный — наблюдательному совету, ежегодный — участникам.
Связка: глава XII — видение будущего.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экосистема будущего — результат последовательности, а не одновременного запуска всего.
Визуализация — концептуальная (Smart City FootureX).
Связка: далее — влияние на индустрию Узбекистана.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FootureX создаёт эффект для страны — кадры, экспорт, цифровые продукты и детский футбол.
Основа: цели BX-001 — узнаваемая IP, инфраструктура киберспорта и лиг, интеграция реальных спортивных проектов, платформа развития молодёжи и футбольных талантов.
Количественные ориентиры (рабочие места, слушатели, аудитория, экспорт) не заданы документами — требуется подтверждение бизнес-планом. Иллюстративные цифры предыдущей версии удалены.
Связка: далее — международное развитие.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международный рост идёт концентрическими кругами — от Узбекистана к Центральной Азии и далее по мере подтверждения продуктов.
Круги по BX-001: (1) Ташкент и Узбекистан — стартовый рынок; (2) Центральная Азия — миссия игрового проекта: крупнейшая футбольная цифровая экосистема региона; (3) СНГ; (4) международный рынок. Telegram — стартовая платформа, а не ограничение (BX-007).
Для корпоративных направлений: IT-экспорт и AI SaaS идут тем же путём.
Статус: долгосрочная амбиция; присутствия за рубежом нет.
Связка: финальный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FootureX Uzbekistan — это не презентация одной игры, а стратегия технологической компании. Манифест брендбука: «Не игра в Telegram — а спортивная инфраструктура».
Слоган брендбука: «We will create a digital football era.»
Закрытие: благодарность, приглашение к обсуждению партнёрства и инвестиций.
Контактные данные — вставить после подтверждения.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FX_DARK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X_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X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300" dirty="0">
                <a:solidFill>
                  <a:srgbClr val="0B0F0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0B0F0E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X_FULL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endParaRPr lang="en-US" sz="23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X_COVER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image" Target="../media/image-42-7.png"/><Relationship Id="rId8" Type="http://schemas.openxmlformats.org/officeDocument/2006/relationships/image" Target="../media/image-42-8.png"/><Relationship Id="rId9" Type="http://schemas.openxmlformats.org/officeDocument/2006/relationships/image" Target="../media/image-42-9.png"/><Relationship Id="rId10" Type="http://schemas.openxmlformats.org/officeDocument/2006/relationships/image" Target="../media/image-42-10.png"/><Relationship Id="rId11" Type="http://schemas.openxmlformats.org/officeDocument/2006/relationships/image" Target="../media/image-42-11.png"/><Relationship Id="rId12" Type="http://schemas.openxmlformats.org/officeDocument/2006/relationships/image" Target="../media/image-42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6" Type="http://schemas.openxmlformats.org/officeDocument/2006/relationships/image" Target="../media/image-59-6.png"/><Relationship Id="rId7" Type="http://schemas.openxmlformats.org/officeDocument/2006/relationships/image" Target="../media/image-59-7.png"/><Relationship Id="rId8" Type="http://schemas.openxmlformats.org/officeDocument/2006/relationships/image" Target="../media/image-59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image" Target="../media/image-67-5.png"/><Relationship Id="rId6" Type="http://schemas.openxmlformats.org/officeDocument/2006/relationships/image" Target="../media/image-6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image" Target="../media/image-71-2.png"/><Relationship Id="rId3" Type="http://schemas.openxmlformats.org/officeDocument/2006/relationships/image" Target="../media/image-71-3.png"/><Relationship Id="rId4" Type="http://schemas.openxmlformats.org/officeDocument/2006/relationships/image" Target="../media/image-7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image" Target="../media/image-74-6.png"/><Relationship Id="rId7" Type="http://schemas.openxmlformats.org/officeDocument/2006/relationships/image" Target="../media/image-74-7.png"/><Relationship Id="rId8" Type="http://schemas.openxmlformats.org/officeDocument/2006/relationships/image" Target="../media/image-74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image" Target="../media/image-77-4.png"/><Relationship Id="rId5" Type="http://schemas.openxmlformats.org/officeDocument/2006/relationships/image" Target="../media/image-77-5.png"/><Relationship Id="rId6" Type="http://schemas.openxmlformats.org/officeDocument/2006/relationships/image" Target="../media/image-7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image" Target="../media/image-79-3.png"/><Relationship Id="rId4" Type="http://schemas.openxmlformats.org/officeDocument/2006/relationships/image" Target="../media/image-7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g"/><Relationship Id="rId2" Type="http://schemas.openxmlformats.org/officeDocument/2006/relationships/image" Target="../media/image-83-2.png"/><Relationship Id="rId3" Type="http://schemas.openxmlformats.org/officeDocument/2006/relationships/image" Target="../media/image-83-3.png"/><Relationship Id="rId4" Type="http://schemas.openxmlformats.org/officeDocument/2006/relationships/image" Target="../media/image-8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jpg"/><Relationship Id="rId2" Type="http://schemas.openxmlformats.org/officeDocument/2006/relationships/image" Target="../media/image-84-2.png"/><Relationship Id="rId3" Type="http://schemas.openxmlformats.org/officeDocument/2006/relationships/image" Target="../media/image-84-3.png"/><Relationship Id="rId4" Type="http://schemas.openxmlformats.org/officeDocument/2006/relationships/image" Target="../media/image-8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jpg"/><Relationship Id="rId2" Type="http://schemas.openxmlformats.org/officeDocument/2006/relationships/image" Target="../media/image-85-2.png"/><Relationship Id="rId3" Type="http://schemas.openxmlformats.org/officeDocument/2006/relationships/image" Target="../media/image-85-3.png"/><Relationship Id="rId4" Type="http://schemas.openxmlformats.org/officeDocument/2006/relationships/image" Target="../media/image-8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jpg"/><Relationship Id="rId2" Type="http://schemas.openxmlformats.org/officeDocument/2006/relationships/image" Target="../media/image-86-2.png"/><Relationship Id="rId3" Type="http://schemas.openxmlformats.org/officeDocument/2006/relationships/image" Target="../media/image-86-3.png"/><Relationship Id="rId4" Type="http://schemas.openxmlformats.org/officeDocument/2006/relationships/image" Target="../media/image-86-4.png"/><Relationship Id="rId5" Type="http://schemas.openxmlformats.org/officeDocument/2006/relationships/image" Target="../media/image-86-5.png"/><Relationship Id="rId6" Type="http://schemas.openxmlformats.org/officeDocument/2006/relationships/image" Target="../media/image-86-6.png"/><Relationship Id="rId7" Type="http://schemas.openxmlformats.org/officeDocument/2006/relationships/image" Target="../media/image-86-7.png"/><Relationship Id="rId8" Type="http://schemas.openxmlformats.org/officeDocument/2006/relationships/image" Target="../media/image-86-8.png"/><Relationship Id="rId9" Type="http://schemas.openxmlformats.org/officeDocument/2006/relationships/image" Target="../media/image-86-9.png"/><Relationship Id="rId10" Type="http://schemas.openxmlformats.org/officeDocument/2006/relationships/image" Target="../media/image-86-10.png"/><Relationship Id="rId11" Type="http://schemas.openxmlformats.org/officeDocument/2006/relationships/image" Target="../media/image-86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jpg"/><Relationship Id="rId2" Type="http://schemas.openxmlformats.org/officeDocument/2006/relationships/image" Target="../media/image-88-2.png"/><Relationship Id="rId3" Type="http://schemas.openxmlformats.org/officeDocument/2006/relationships/image" Target="../media/image-88-3.png"/><Relationship Id="rId4" Type="http://schemas.openxmlformats.org/officeDocument/2006/relationships/image" Target="../media/image-8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jpg"/><Relationship Id="rId2" Type="http://schemas.openxmlformats.org/officeDocument/2006/relationships/image" Target="../media/image-89-2.png"/><Relationship Id="rId3" Type="http://schemas.openxmlformats.org/officeDocument/2006/relationships/image" Target="../media/image-89-3.png"/><Relationship Id="rId4" Type="http://schemas.openxmlformats.org/officeDocument/2006/relationships/image" Target="../media/image-8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jpg"/><Relationship Id="rId2" Type="http://schemas.openxmlformats.org/officeDocument/2006/relationships/image" Target="../media/image-90-2.png"/><Relationship Id="rId3" Type="http://schemas.openxmlformats.org/officeDocument/2006/relationships/image" Target="../media/image-90-3.png"/><Relationship Id="rId4" Type="http://schemas.openxmlformats.org/officeDocument/2006/relationships/image" Target="../media/image-90-4.png"/><Relationship Id="rId5" Type="http://schemas.openxmlformats.org/officeDocument/2006/relationships/image" Target="../media/image-90-5.png"/><Relationship Id="rId6" Type="http://schemas.openxmlformats.org/officeDocument/2006/relationships/image" Target="../media/image-90-6.png"/><Relationship Id="rId7" Type="http://schemas.openxmlformats.org/officeDocument/2006/relationships/image" Target="../media/image-90-7.png"/><Relationship Id="rId8" Type="http://schemas.openxmlformats.org/officeDocument/2006/relationships/image" Target="../media/image-90-8.png"/><Relationship Id="rId9" Type="http://schemas.openxmlformats.org/officeDocument/2006/relationships/image" Target="../media/image-90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jpg"/><Relationship Id="rId2" Type="http://schemas.openxmlformats.org/officeDocument/2006/relationships/image" Target="../media/image-91-2.png"/><Relationship Id="rId3" Type="http://schemas.openxmlformats.org/officeDocument/2006/relationships/image" Target="../media/image-91-3.png"/><Relationship Id="rId4" Type="http://schemas.openxmlformats.org/officeDocument/2006/relationships/image" Target="../media/image-91-4.png"/><Relationship Id="rId5" Type="http://schemas.openxmlformats.org/officeDocument/2006/relationships/image" Target="../media/image-91-5.png"/><Relationship Id="rId6" Type="http://schemas.openxmlformats.org/officeDocument/2006/relationships/image" Target="../media/image-91-6.png"/><Relationship Id="rId7" Type="http://schemas.openxmlformats.org/officeDocument/2006/relationships/image" Target="../media/image-91-7.png"/><Relationship Id="rId8" Type="http://schemas.openxmlformats.org/officeDocument/2006/relationships/image" Target="../media/image-91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jpg"/><Relationship Id="rId2" Type="http://schemas.openxmlformats.org/officeDocument/2006/relationships/image" Target="../media/image-92-2.png"/><Relationship Id="rId3" Type="http://schemas.openxmlformats.org/officeDocument/2006/relationships/image" Target="../media/image-92-3.png"/><Relationship Id="rId4" Type="http://schemas.openxmlformats.org/officeDocument/2006/relationships/image" Target="../media/image-92-4.png"/><Relationship Id="rId5" Type="http://schemas.openxmlformats.org/officeDocument/2006/relationships/image" Target="../media/image-92-5.png"/><Relationship Id="rId6" Type="http://schemas.openxmlformats.org/officeDocument/2006/relationships/image" Target="../media/image-92-6.png"/><Relationship Id="rId7" Type="http://schemas.openxmlformats.org/officeDocument/2006/relationships/image" Target="../media/image-92-7.png"/><Relationship Id="rId8" Type="http://schemas.openxmlformats.org/officeDocument/2006/relationships/image" Target="../media/image-92-8.png"/><Relationship Id="rId9" Type="http://schemas.openxmlformats.org/officeDocument/2006/relationships/image" Target="../media/image-9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jpg"/><Relationship Id="rId2" Type="http://schemas.openxmlformats.org/officeDocument/2006/relationships/image" Target="../media/image-93-2.png"/><Relationship Id="rId3" Type="http://schemas.openxmlformats.org/officeDocument/2006/relationships/image" Target="../media/image-93-3.png"/><Relationship Id="rId4" Type="http://schemas.openxmlformats.org/officeDocument/2006/relationships/image" Target="../media/image-93-4.png"/><Relationship Id="rId5" Type="http://schemas.openxmlformats.org/officeDocument/2006/relationships/image" Target="../media/image-93-5.png"/><Relationship Id="rId6" Type="http://schemas.openxmlformats.org/officeDocument/2006/relationships/image" Target="../media/image-93-6.png"/><Relationship Id="rId7" Type="http://schemas.openxmlformats.org/officeDocument/2006/relationships/image" Target="../media/image-93-7.png"/><Relationship Id="rId8" Type="http://schemas.openxmlformats.org/officeDocument/2006/relationships/image" Target="../media/image-93-8.png"/><Relationship Id="rId9" Type="http://schemas.openxmlformats.org/officeDocument/2006/relationships/image" Target="../media/image-93-9.png"/><Relationship Id="rId10" Type="http://schemas.openxmlformats.org/officeDocument/2006/relationships/image" Target="../media/image-93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jpg"/><Relationship Id="rId2" Type="http://schemas.openxmlformats.org/officeDocument/2006/relationships/image" Target="../media/image-94-2.png"/><Relationship Id="rId3" Type="http://schemas.openxmlformats.org/officeDocument/2006/relationships/image" Target="../media/image-94-3.png"/><Relationship Id="rId4" Type="http://schemas.openxmlformats.org/officeDocument/2006/relationships/image" Target="../media/image-9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image" Target="../media/image-95-3.png"/><Relationship Id="rId4" Type="http://schemas.openxmlformats.org/officeDocument/2006/relationships/image" Target="../media/image-95-4.png"/><Relationship Id="rId5" Type="http://schemas.openxmlformats.org/officeDocument/2006/relationships/image" Target="../media/image-95-5.png"/><Relationship Id="rId6" Type="http://schemas.openxmlformats.org/officeDocument/2006/relationships/image" Target="../media/image-9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jpg"/><Relationship Id="rId2" Type="http://schemas.openxmlformats.org/officeDocument/2006/relationships/image" Target="../media/image-114-2.png"/><Relationship Id="rId3" Type="http://schemas.openxmlformats.org/officeDocument/2006/relationships/image" Target="../media/image-114-3.png"/><Relationship Id="rId4" Type="http://schemas.openxmlformats.org/officeDocument/2006/relationships/image" Target="../media/image-1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image" Target="../media/image-115-2.png"/><Relationship Id="rId3" Type="http://schemas.openxmlformats.org/officeDocument/2006/relationships/image" Target="../media/image-115-3.png"/><Relationship Id="rId4" Type="http://schemas.openxmlformats.org/officeDocument/2006/relationships/image" Target="../media/image-1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jpg"/><Relationship Id="rId2" Type="http://schemas.openxmlformats.org/officeDocument/2006/relationships/image" Target="../media/image-116-2.png"/><Relationship Id="rId3" Type="http://schemas.openxmlformats.org/officeDocument/2006/relationships/image" Target="../media/image-116-3.png"/><Relationship Id="rId4" Type="http://schemas.openxmlformats.org/officeDocument/2006/relationships/image" Target="../media/image-1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jpg"/><Relationship Id="rId2" Type="http://schemas.openxmlformats.org/officeDocument/2006/relationships/image" Target="../media/image-117-2.png"/><Relationship Id="rId3" Type="http://schemas.openxmlformats.org/officeDocument/2006/relationships/image" Target="../media/image-117-3.png"/><Relationship Id="rId4" Type="http://schemas.openxmlformats.org/officeDocument/2006/relationships/image" Target="../media/image-117-4.png"/><Relationship Id="rId5" Type="http://schemas.openxmlformats.org/officeDocument/2006/relationships/image" Target="../media/image-117-4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hero-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!!mark" descr="/home/user/footurex-main/presentation/brand/logo/footurex-mar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685800" cy="685800"/>
          </a:xfrm>
          <a:prstGeom prst="rect">
            <a:avLst/>
          </a:prstGeom>
        </p:spPr>
      </p:pic>
      <p:pic>
        <p:nvPicPr>
          <p:cNvPr id="6" name="!!logo" descr="/home/user/footurex-main/presentation/brand/logo/footurex-wordmark-her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65960"/>
            <a:ext cx="5120640" cy="609128"/>
          </a:xfrm>
          <a:prstGeom prst="rect">
            <a:avLst/>
          </a:prstGeom>
        </p:spPr>
      </p:pic>
      <p:sp>
        <p:nvSpPr>
          <p:cNvPr id="7" name="!!uz"/>
          <p:cNvSpPr txBox="1"/>
          <p:nvPr/>
        </p:nvSpPr>
        <p:spPr>
          <a:xfrm>
            <a:off x="566928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U Z B E K I S T A N</a:t>
            </a:r>
            <a:endParaRPr lang="en-US" sz="1800" dirty="0"/>
          </a:p>
        </p:txBody>
      </p:sp>
      <p:sp>
        <p:nvSpPr>
          <p:cNvPr id="8" name="Text 1"/>
          <p:cNvSpPr txBox="1"/>
          <p:nvPr/>
        </p:nvSpPr>
        <p:spPr>
          <a:xfrm>
            <a:off x="54864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Corporate Vision &amp; Strategic Development</a:t>
            </a:r>
            <a:endParaRPr lang="en-US" sz="2000" dirty="0"/>
          </a:p>
        </p:txBody>
      </p:sp>
      <p:sp>
        <p:nvSpPr>
          <p:cNvPr id="9" name="Text 2"/>
          <p:cNvSpPr txBox="1"/>
          <p:nvPr/>
        </p:nvSpPr>
        <p:spPr>
          <a:xfrm>
            <a:off x="548640" y="37947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Технологическая компания, создающая экосистему цифровых продуктов, искусственного интеллекта, игр, образования, киберспорта и спорта</a:t>
            </a:r>
            <a:endParaRPr lang="en-US" sz="1400" dirty="0"/>
          </a:p>
        </p:txBody>
      </p:sp>
      <p:sp>
        <p:nvSpPr>
          <p:cNvPr id="10" name="Text 3"/>
          <p:cNvSpPr txBox="1"/>
          <p:nvPr/>
        </p:nvSpPr>
        <p:spPr>
          <a:xfrm>
            <a:off x="548640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MChJ «FootureX Uzbekistan»  ·  FootureX Uzbekistan LLC  ·  Ташкент, Республика Узбекистан</a:t>
            </a:r>
            <a:endParaRPr lang="en-US" sz="1100" dirty="0"/>
          </a:p>
        </p:txBody>
      </p:sp>
      <p:sp>
        <p:nvSpPr>
          <p:cNvPr id="11" name="Text 4"/>
          <p:cNvSpPr txBox="1"/>
          <p:nvPr/>
        </p:nvSpPr>
        <p:spPr>
          <a:xfrm>
            <a:off x="548640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Версия 1.0  ·  Октябрь 2026  ·  Проект для обсуждения  ·  Конфиденциально</a:t>
            </a:r>
            <a:endParaRPr lang="en-US" sz="1000" dirty="0"/>
          </a:p>
        </p:txBody>
      </p:sp>
      <p:sp>
        <p:nvSpPr>
          <p:cNvPr id="12" name="Text 5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hero-clo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0"/>
            <a:ext cx="12191695" cy="68580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Корпоративное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видение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 · CORPORATE IDENTITY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10591495" y="2743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10710367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10829239" y="274320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ВИДЕНИЕ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CORPORATE IDENTITY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5" name="a1_big"/>
          <p:cNvSpPr txBox="1"/>
          <p:nvPr/>
        </p:nvSpPr>
        <p:spPr>
          <a:xfrm>
            <a:off x="548640" y="18288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Creating the Future</a:t>
            </a:r>
            <a:endParaRPr lang="en-US" sz="3400" dirty="0"/>
          </a:p>
        </p:txBody>
      </p:sp>
      <p:sp>
        <p:nvSpPr>
          <p:cNvPr id="16" name="a2_lead"/>
          <p:cNvSpPr txBox="1"/>
          <p:nvPr/>
        </p:nvSpPr>
        <p:spPr>
          <a:xfrm>
            <a:off x="548640" y="26974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6E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Мы строим технологическую компанию, которая соединяет программное обеспечение, искусственный интеллект, игры, образование и спорт в единую экосистему — из Ташкента для региона и мира.</a:t>
            </a:r>
            <a:endParaRPr lang="en-US" sz="1550" dirty="0"/>
          </a:p>
        </p:txBody>
      </p:sp>
      <p:sp>
        <p:nvSpPr>
          <p:cNvPr id="17" name="a3_c"/>
          <p:cNvSpPr/>
          <p:nvPr/>
        </p:nvSpPr>
        <p:spPr>
          <a:xfrm>
            <a:off x="548640" y="420624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0E1629">
              <a:alpha val="90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8" name="a3_t"/>
          <p:cNvSpPr txBox="1"/>
          <p:nvPr/>
        </p:nvSpPr>
        <p:spPr>
          <a:xfrm>
            <a:off x="713232" y="4389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19" name="a3_d"/>
          <p:cNvSpPr txBox="1"/>
          <p:nvPr/>
        </p:nvSpPr>
        <p:spPr>
          <a:xfrm>
            <a:off x="713232" y="48646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Софт, автоматизация, облако</a:t>
            </a:r>
            <a:endParaRPr lang="en-US" sz="1050" dirty="0"/>
          </a:p>
        </p:txBody>
      </p:sp>
      <p:sp>
        <p:nvSpPr>
          <p:cNvPr id="20" name="a4_c"/>
          <p:cNvSpPr/>
          <p:nvPr/>
        </p:nvSpPr>
        <p:spPr>
          <a:xfrm>
            <a:off x="2377440" y="420624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0E1629">
              <a:alpha val="90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1" name="a4_t"/>
          <p:cNvSpPr txBox="1"/>
          <p:nvPr/>
        </p:nvSpPr>
        <p:spPr>
          <a:xfrm>
            <a:off x="2542032" y="4389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Gaming &amp; AI</a:t>
            </a:r>
            <a:endParaRPr lang="en-US" sz="1200" dirty="0"/>
          </a:p>
        </p:txBody>
      </p:sp>
      <p:sp>
        <p:nvSpPr>
          <p:cNvPr id="22" name="a4_d"/>
          <p:cNvSpPr txBox="1"/>
          <p:nvPr/>
        </p:nvSpPr>
        <p:spPr>
          <a:xfrm>
            <a:off x="2542032" y="48646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Игры, AI-агенты, сообщество</a:t>
            </a:r>
            <a:endParaRPr lang="en-US" sz="1050" dirty="0"/>
          </a:p>
        </p:txBody>
      </p:sp>
      <p:sp>
        <p:nvSpPr>
          <p:cNvPr id="23" name="a5_c"/>
          <p:cNvSpPr/>
          <p:nvPr/>
        </p:nvSpPr>
        <p:spPr>
          <a:xfrm>
            <a:off x="4206240" y="420624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0E1629">
              <a:alpha val="90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4" name="a5_t"/>
          <p:cNvSpPr txBox="1"/>
          <p:nvPr/>
        </p:nvSpPr>
        <p:spPr>
          <a:xfrm>
            <a:off x="4370832" y="4389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Sports &amp; Urban</a:t>
            </a:r>
            <a:endParaRPr lang="en-US" sz="1200" dirty="0"/>
          </a:p>
        </p:txBody>
      </p:sp>
      <p:sp>
        <p:nvSpPr>
          <p:cNvPr id="25" name="a5_d"/>
          <p:cNvSpPr txBox="1"/>
          <p:nvPr/>
        </p:nvSpPr>
        <p:spPr>
          <a:xfrm>
            <a:off x="4370832" y="48646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Футбол, стадион, городская среда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map-m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v-right" descr="/home/user/footurex-main/presentation/assets/renders/ov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Республика Узбекистан, Ташкент — происхождение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компании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 · CORPORATE IDENTITY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8914486" y="274320"/>
            <a:ext cx="27285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033358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152230" y="274320"/>
            <a:ext cx="2435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РЫНОЧНЫЕ ДАННЫЕ · ИСТОЧНИКИ</a:t>
            </a:r>
            <a:endParaRPr lang="en-US" sz="850" dirty="0"/>
          </a:p>
        </p:txBody>
      </p:sp>
      <p:sp>
        <p:nvSpPr>
          <p:cNvPr id="12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Национальный комитет по статистике РУз (01.01.2026; пресс-релиз 27.01.2026); DataReportal «Digital 2026: Uzbekistan»; invest.gov.uz / Нацкомстат (ВВП 2025).</a:t>
            </a:r>
            <a:endParaRPr lang="en-US" sz="850" dirty="0"/>
          </a:p>
        </p:txBody>
      </p:sp>
      <p:sp>
        <p:nvSpPr>
          <p:cNvPr id="13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CORPORATE IDENTITY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548640" y="55961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3D-карта: Natural Earth · схематично</a:t>
            </a:r>
            <a:endParaRPr lang="en-US" sz="850" dirty="0"/>
          </a:p>
        </p:txBody>
      </p:sp>
      <p:sp>
        <p:nvSpPr>
          <p:cNvPr id="16" name="Text 9"/>
          <p:cNvSpPr txBox="1"/>
          <p:nvPr/>
        </p:nvSpPr>
        <p:spPr>
          <a:xfrm>
            <a:off x="6720840" y="1828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Ташкент</a:t>
            </a:r>
            <a:endParaRPr lang="en-US" sz="3000" dirty="0"/>
          </a:p>
        </p:txBody>
      </p:sp>
      <p:sp>
        <p:nvSpPr>
          <p:cNvPr id="17" name="Text 10"/>
          <p:cNvSpPr txBox="1"/>
          <p:nvPr/>
        </p:nvSpPr>
        <p:spPr>
          <a:xfrm>
            <a:off x="6720840" y="24231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Столица и крупнейший деловой центр Центральной Азии. Отсюда FootureX планирует выход на рынки региона.</a:t>
            </a:r>
            <a:endParaRPr lang="en-US" sz="1300" dirty="0"/>
          </a:p>
        </p:txBody>
      </p:sp>
      <p:sp>
        <p:nvSpPr>
          <p:cNvPr id="18" name="a1_c"/>
          <p:cNvSpPr/>
          <p:nvPr/>
        </p:nvSpPr>
        <p:spPr>
          <a:xfrm>
            <a:off x="6720840" y="324612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9" name="a1_v"/>
          <p:cNvSpPr txBox="1"/>
          <p:nvPr/>
        </p:nvSpPr>
        <p:spPr>
          <a:xfrm>
            <a:off x="6903720" y="3383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38,24 млн</a:t>
            </a:r>
            <a:endParaRPr lang="en-US" sz="2200" dirty="0"/>
          </a:p>
        </p:txBody>
      </p:sp>
      <p:sp>
        <p:nvSpPr>
          <p:cNvPr id="20" name="a1_l"/>
          <p:cNvSpPr txBox="1"/>
          <p:nvPr/>
        </p:nvSpPr>
        <p:spPr>
          <a:xfrm>
            <a:off x="6903720" y="38679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население на 01.01.2026</a:t>
            </a:r>
            <a:endParaRPr lang="en-US" sz="1050" dirty="0"/>
          </a:p>
        </p:txBody>
      </p:sp>
      <p:sp>
        <p:nvSpPr>
          <p:cNvPr id="21" name="a2_c"/>
          <p:cNvSpPr/>
          <p:nvPr/>
        </p:nvSpPr>
        <p:spPr>
          <a:xfrm>
            <a:off x="9235440" y="324612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2" name="a2_v"/>
          <p:cNvSpPr txBox="1"/>
          <p:nvPr/>
        </p:nvSpPr>
        <p:spPr>
          <a:xfrm>
            <a:off x="9418320" y="3383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29,5 года</a:t>
            </a:r>
            <a:endParaRPr lang="en-US" sz="2200" dirty="0"/>
          </a:p>
        </p:txBody>
      </p:sp>
      <p:sp>
        <p:nvSpPr>
          <p:cNvPr id="23" name="a2_l"/>
          <p:cNvSpPr txBox="1"/>
          <p:nvPr/>
        </p:nvSpPr>
        <p:spPr>
          <a:xfrm>
            <a:off x="9418320" y="38679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средний возраст населения</a:t>
            </a:r>
            <a:endParaRPr lang="en-US" sz="1050" dirty="0"/>
          </a:p>
        </p:txBody>
      </p:sp>
      <p:sp>
        <p:nvSpPr>
          <p:cNvPr id="24" name="a3_c"/>
          <p:cNvSpPr/>
          <p:nvPr/>
        </p:nvSpPr>
        <p:spPr>
          <a:xfrm>
            <a:off x="6720840" y="452628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5" name="a3_v"/>
          <p:cNvSpPr txBox="1"/>
          <p:nvPr/>
        </p:nvSpPr>
        <p:spPr>
          <a:xfrm>
            <a:off x="6903720" y="4663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89%</a:t>
            </a:r>
            <a:endParaRPr lang="en-US" sz="2200" dirty="0"/>
          </a:p>
        </p:txBody>
      </p:sp>
      <p:sp>
        <p:nvSpPr>
          <p:cNvPr id="26" name="a3_l"/>
          <p:cNvSpPr txBox="1"/>
          <p:nvPr/>
        </p:nvSpPr>
        <p:spPr>
          <a:xfrm>
            <a:off x="6903720" y="51480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проникновение интернета (DataReportal)</a:t>
            </a:r>
            <a:endParaRPr lang="en-US" sz="1050" dirty="0"/>
          </a:p>
        </p:txBody>
      </p:sp>
      <p:sp>
        <p:nvSpPr>
          <p:cNvPr id="27" name="a4_c"/>
          <p:cNvSpPr/>
          <p:nvPr/>
        </p:nvSpPr>
        <p:spPr>
          <a:xfrm>
            <a:off x="9235440" y="452628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8" name="a4_v"/>
          <p:cNvSpPr txBox="1"/>
          <p:nvPr/>
        </p:nvSpPr>
        <p:spPr>
          <a:xfrm>
            <a:off x="9418320" y="4663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+7,7%</a:t>
            </a:r>
            <a:endParaRPr lang="en-US" sz="2200" dirty="0"/>
          </a:p>
        </p:txBody>
      </p:sp>
      <p:sp>
        <p:nvSpPr>
          <p:cNvPr id="29" name="a4_l"/>
          <p:cNvSpPr txBox="1"/>
          <p:nvPr/>
        </p:nvSpPr>
        <p:spPr>
          <a:xfrm>
            <a:off x="9418320" y="51480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рост ВВП в 2025 году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  <p:bldP spid="27" grpId="0" animBg="1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Кто мы: технологическая компания с экосистемной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стратегией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 · CORPORATE IDENTITY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250985" y="274320"/>
            <a:ext cx="23920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369857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88729" y="274320"/>
            <a:ext cx="2099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ТРЕБУЕТСЯ ПОДТВЕРЖДЕНИЕ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CORPORATE IDENTITY</a:t>
            </a:r>
            <a:endParaRPr lang="en-US" sz="900" dirty="0"/>
          </a:p>
        </p:txBody>
      </p:sp>
      <p:sp>
        <p:nvSpPr>
          <p:cNvPr id="9" name="a1_def"/>
          <p:cNvSpPr txBox="1"/>
          <p:nvPr/>
        </p:nvSpPr>
        <p:spPr>
          <a:xfrm>
            <a:off x="548640" y="1828800"/>
            <a:ext cx="5486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Uzbekistan — технологическая компания из Ташкента, которая разрабатывает программное обеспечение и AI-решения, создаёт игры и формирует долгосрочную экосистему образования, киберспорта и спорта.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Позиционирование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367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Technology, Gaming, Artificial Intelligence, Sports &amp; Urban Innovation Ecosystem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Слоган бренда · Brand Book v1.0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33095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We will create a digital football era.</a:t>
            </a:r>
            <a:endParaRPr lang="en-US" sz="1400" dirty="0"/>
          </a:p>
        </p:txBody>
      </p:sp>
      <p:graphicFrame>
        <p:nvGraphicFramePr>
          <p:cNvPr id="5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74520"/>
          <a:ext cx="519379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8620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Параметр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Значение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Юридическое наименование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MChJ «FootureX Uzbekistan»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Международное наименование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FootureX Uzbekistan LLC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Страна происхождения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Республика Узбекистан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Город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Ташкент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Организационно-правовая форма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ООО / MChJ (планируемая)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Основной бренд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FootureX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Регистрационные данные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История идеи: от футбольной игры к технологической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экосистеме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 · CORPORATE IDENTITY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250985" y="274320"/>
            <a:ext cx="23920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369857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88729" y="274320"/>
            <a:ext cx="2099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ТРЕБУЕТСЯ ПОДТВЕРЖДЕНИЕ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Факт квалификации: УЕФА/ФИФА, сообщения kun.uz (10.06.2025), fergana.agency. Хронология основателей — по данным компании, требует подтверждения.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CORPORATE IDENTITY</a:t>
            </a:r>
            <a:endParaRPr lang="en-US" sz="900" dirty="0"/>
          </a:p>
        </p:txBody>
      </p:sp>
      <p:sp>
        <p:nvSpPr>
          <p:cNvPr id="10" name="a1_dot"/>
          <p:cNvSpPr/>
          <p:nvPr/>
        </p:nvSpPr>
        <p:spPr>
          <a:xfrm>
            <a:off x="548640" y="214884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11" name="a1_num"/>
          <p:cNvSpPr txBox="1"/>
          <p:nvPr/>
        </p:nvSpPr>
        <p:spPr>
          <a:xfrm>
            <a:off x="54864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a1_ln"/>
          <p:cNvSpPr/>
          <p:nvPr/>
        </p:nvSpPr>
        <p:spPr>
          <a:xfrm>
            <a:off x="1207008" y="2432304"/>
            <a:ext cx="150930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13" name="a1_t"/>
          <p:cNvSpPr txBox="1"/>
          <p:nvPr/>
        </p:nvSpPr>
        <p:spPr>
          <a:xfrm>
            <a:off x="548640" y="2926080"/>
            <a:ext cx="20122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Футбол как общий язык</a:t>
            </a:r>
            <a:endParaRPr lang="en-US" sz="1450" dirty="0"/>
          </a:p>
        </p:txBody>
      </p:sp>
      <p:sp>
        <p:nvSpPr>
          <p:cNvPr id="14" name="a1_d"/>
          <p:cNvSpPr txBox="1"/>
          <p:nvPr/>
        </p:nvSpPr>
        <p:spPr>
          <a:xfrm>
            <a:off x="548640" y="3538728"/>
            <a:ext cx="201222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Футбол — самый массовый вид спорта страны. Сборная Узбекистана впервые вышла на чемпионат мира ФИФА 2026.</a:t>
            </a:r>
            <a:endParaRPr lang="en-US" sz="1250" dirty="0"/>
          </a:p>
        </p:txBody>
      </p:sp>
      <p:sp>
        <p:nvSpPr>
          <p:cNvPr id="15" name="a2_dot"/>
          <p:cNvSpPr/>
          <p:nvPr/>
        </p:nvSpPr>
        <p:spPr>
          <a:xfrm>
            <a:off x="2807757" y="214884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16" name="a2_num"/>
          <p:cNvSpPr txBox="1"/>
          <p:nvPr/>
        </p:nvSpPr>
        <p:spPr>
          <a:xfrm>
            <a:off x="2807757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a2_ln"/>
          <p:cNvSpPr/>
          <p:nvPr/>
        </p:nvSpPr>
        <p:spPr>
          <a:xfrm>
            <a:off x="3466125" y="2432304"/>
            <a:ext cx="150930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18" name="a2_t"/>
          <p:cNvSpPr txBox="1"/>
          <p:nvPr/>
        </p:nvSpPr>
        <p:spPr>
          <a:xfrm>
            <a:off x="2807757" y="2926080"/>
            <a:ext cx="20122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Цифровое поколение</a:t>
            </a:r>
            <a:endParaRPr lang="en-US" sz="1450" dirty="0"/>
          </a:p>
        </p:txBody>
      </p:sp>
      <p:sp>
        <p:nvSpPr>
          <p:cNvPr id="19" name="a2_d"/>
          <p:cNvSpPr txBox="1"/>
          <p:nvPr/>
        </p:nvSpPr>
        <p:spPr>
          <a:xfrm>
            <a:off x="2807757" y="3538728"/>
            <a:ext cx="201222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Молодое население, 89% интернет-проникновения и Telegram как ежедневная платформа общения.</a:t>
            </a:r>
            <a:endParaRPr lang="en-US" sz="1250" dirty="0"/>
          </a:p>
        </p:txBody>
      </p:sp>
      <p:sp>
        <p:nvSpPr>
          <p:cNvPr id="20" name="a3_dot"/>
          <p:cNvSpPr/>
          <p:nvPr/>
        </p:nvSpPr>
        <p:spPr>
          <a:xfrm>
            <a:off x="5066873" y="214884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1" name="a3_num"/>
          <p:cNvSpPr txBox="1"/>
          <p:nvPr/>
        </p:nvSpPr>
        <p:spPr>
          <a:xfrm>
            <a:off x="5066873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a3_ln"/>
          <p:cNvSpPr/>
          <p:nvPr/>
        </p:nvSpPr>
        <p:spPr>
          <a:xfrm>
            <a:off x="5725241" y="2432304"/>
            <a:ext cx="150930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23" name="a3_t"/>
          <p:cNvSpPr txBox="1"/>
          <p:nvPr/>
        </p:nvSpPr>
        <p:spPr>
          <a:xfrm>
            <a:off x="5066873" y="2926080"/>
            <a:ext cx="20122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Идея FootureX Game</a:t>
            </a:r>
            <a:endParaRPr lang="en-US" sz="1450" dirty="0"/>
          </a:p>
        </p:txBody>
      </p:sp>
      <p:sp>
        <p:nvSpPr>
          <p:cNvPr id="24" name="a3_d"/>
          <p:cNvSpPr txBox="1"/>
          <p:nvPr/>
        </p:nvSpPr>
        <p:spPr>
          <a:xfrm>
            <a:off x="5066873" y="3538728"/>
            <a:ext cx="201222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Футбольный менеджер в Telegram Web App: команда, развитие игроков, PvP и сезоны без установки приложения.</a:t>
            </a:r>
            <a:endParaRPr lang="en-US" sz="1250" dirty="0"/>
          </a:p>
        </p:txBody>
      </p:sp>
      <p:sp>
        <p:nvSpPr>
          <p:cNvPr id="25" name="a4_dot"/>
          <p:cNvSpPr/>
          <p:nvPr/>
        </p:nvSpPr>
        <p:spPr>
          <a:xfrm>
            <a:off x="7325990" y="214884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6" name="a4_num"/>
          <p:cNvSpPr txBox="1"/>
          <p:nvPr/>
        </p:nvSpPr>
        <p:spPr>
          <a:xfrm>
            <a:off x="732599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a4_ln"/>
          <p:cNvSpPr/>
          <p:nvPr/>
        </p:nvSpPr>
        <p:spPr>
          <a:xfrm>
            <a:off x="7984358" y="2432304"/>
            <a:ext cx="150930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28" name="a4_t"/>
          <p:cNvSpPr txBox="1"/>
          <p:nvPr/>
        </p:nvSpPr>
        <p:spPr>
          <a:xfrm>
            <a:off x="7325990" y="2926080"/>
            <a:ext cx="20122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игры к компании</a:t>
            </a:r>
            <a:endParaRPr lang="en-US" sz="1450" dirty="0"/>
          </a:p>
        </p:txBody>
      </p:sp>
      <p:sp>
        <p:nvSpPr>
          <p:cNvPr id="29" name="a4_d"/>
          <p:cNvSpPr txBox="1"/>
          <p:nvPr/>
        </p:nvSpPr>
        <p:spPr>
          <a:xfrm>
            <a:off x="7325990" y="3538728"/>
            <a:ext cx="201222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Игре нужны собственные технологии, AI, аналитика и сообщество — так появилась технологическая основа.</a:t>
            </a:r>
            <a:endParaRPr lang="en-US" sz="1250" dirty="0"/>
          </a:p>
        </p:txBody>
      </p:sp>
      <p:sp>
        <p:nvSpPr>
          <p:cNvPr id="30" name="a5_dot"/>
          <p:cNvSpPr/>
          <p:nvPr/>
        </p:nvSpPr>
        <p:spPr>
          <a:xfrm>
            <a:off x="9585107" y="214884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31" name="a5_num"/>
          <p:cNvSpPr txBox="1"/>
          <p:nvPr/>
        </p:nvSpPr>
        <p:spPr>
          <a:xfrm>
            <a:off x="9585107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a5_t"/>
          <p:cNvSpPr txBox="1"/>
          <p:nvPr/>
        </p:nvSpPr>
        <p:spPr>
          <a:xfrm>
            <a:off x="9585107" y="2926080"/>
            <a:ext cx="20122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Экосистема</a:t>
            </a:r>
            <a:endParaRPr lang="en-US" sz="1450" dirty="0"/>
          </a:p>
        </p:txBody>
      </p:sp>
      <p:sp>
        <p:nvSpPr>
          <p:cNvPr id="33" name="a5_d"/>
          <p:cNvSpPr txBox="1"/>
          <p:nvPr/>
        </p:nvSpPr>
        <p:spPr>
          <a:xfrm>
            <a:off x="9585107" y="3538728"/>
            <a:ext cx="201222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и AI-услуги дают выручку и компетенции; игры, образование и спорт формируют долгосрочную ценность бренда.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/>
      <p:bldP spid="14" grpId="0"/>
      <p:bldP spid="15" grpId="0" animBg="1"/>
      <p:bldP spid="16" grpId="0"/>
      <p:bldP spid="17" grpId="0" animBg="1"/>
      <p:bldP spid="18" grpId="0"/>
      <p:bldP spid="19" grpId="0"/>
      <p:bldP spid="20" grpId="0" animBg="1"/>
      <p:bldP spid="21" grpId="0"/>
      <p:bldP spid="22" grpId="0" animBg="1"/>
      <p:bldP spid="23" grpId="0"/>
      <p:bldP spid="24" grpId="0"/>
      <p:bldP spid="25" grpId="0" animBg="1"/>
      <p:bldP spid="26" grpId="0"/>
      <p:bldP spid="27" grpId="0" animBg="1"/>
      <p:bldP spid="28" grpId="0"/>
      <p:bldP spid="29" grpId="0"/>
      <p:bldP spid="30" grpId="0" animBg="1"/>
      <p:bldP spid="31" grpId="0"/>
      <p:bldP spid="32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hero-fi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703" y="-514350"/>
            <a:ext cx="14020449" cy="78867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Миссия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компании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 · CORPORATE IDENTITY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250985" y="274320"/>
            <a:ext cx="23920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369857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488729" y="274320"/>
            <a:ext cx="2099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ТРЕБУЕТСЯ ПОДТВЕРЖДЕНИЕ</a:t>
            </a:r>
            <a:endParaRPr lang="en-US" sz="850" dirty="0"/>
          </a:p>
        </p:txBody>
      </p:sp>
      <p:sp>
        <p:nvSpPr>
          <p:cNvPr id="12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Миссия игрового направления — BX-001 Business Plan, v0.0.17. Манифест — FootureX Brand Book v1.0. Корпоративная миссия — проект формулировки.</a:t>
            </a:r>
            <a:endParaRPr lang="en-US" sz="850" dirty="0"/>
          </a:p>
        </p:txBody>
      </p:sp>
      <p:sp>
        <p:nvSpPr>
          <p:cNvPr id="13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CORPORATE IDENTITY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Корпоративная миссия · проект формулировки</a:t>
            </a:r>
            <a:endParaRPr lang="en-US" sz="1200" dirty="0"/>
          </a:p>
        </p:txBody>
      </p:sp>
      <p:sp>
        <p:nvSpPr>
          <p:cNvPr id="17" name="a1_m"/>
          <p:cNvSpPr txBox="1"/>
          <p:nvPr/>
        </p:nvSpPr>
        <p:spPr>
          <a:xfrm>
            <a:off x="548640" y="2194560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Создавать технологии и цифровые продукты, которые объединяют людей вокруг спорта, знаний и инноваций — и раскрывают таланты Узбекистана для мировой индустрии.</a:t>
            </a:r>
            <a:endParaRPr lang="en-US" sz="17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Миссия игрового направления · BX-001</a:t>
            </a:r>
            <a:endParaRPr lang="en-US" sz="1200" dirty="0"/>
          </a:p>
        </p:txBody>
      </p:sp>
      <p:sp>
        <p:nvSpPr>
          <p:cNvPr id="19" name="a2_g"/>
          <p:cNvSpPr txBox="1"/>
          <p:nvPr/>
        </p:nvSpPr>
        <p:spPr>
          <a:xfrm>
            <a:off x="548640" y="406908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Крупнейшая футбольная цифровая экосистема Центральной Азии с дальнейшим выходом на международный рынок.</a:t>
            </a:r>
            <a:endParaRPr lang="en-US" sz="1400" dirty="0"/>
          </a:p>
        </p:txBody>
      </p:sp>
      <p:sp>
        <p:nvSpPr>
          <p:cNvPr id="20" name="a3_g"/>
          <p:cNvSpPr txBox="1"/>
          <p:nvPr/>
        </p:nvSpPr>
        <p:spPr>
          <a:xfrm>
            <a:off x="548640" y="4983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«Не игра в Telegram — а спортивная инфраструктура.» — манифест бренда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Видение на 10–20 лет: четыре горизонта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развития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 · CORPORATE IDENTITY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503359" y="2743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622231" y="374904"/>
            <a:ext cx="91440" cy="91440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741103" y="274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АМБИЦИЯ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CORPORATE IDENTITY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11094415" cy="0"/>
          </a:xfrm>
          <a:prstGeom prst="line">
            <a:avLst/>
          </a:prstGeom>
          <a:noFill/>
          <a:ln w="19050">
            <a:solidFill>
              <a:srgbClr val="273B51"/>
            </a:solidFill>
            <a:prstDash val="solid"/>
          </a:ln>
        </p:spPr>
      </p:sp>
      <p:sp>
        <p:nvSpPr>
          <p:cNvPr id="10" name="a1_d"/>
          <p:cNvSpPr/>
          <p:nvPr/>
        </p:nvSpPr>
        <p:spPr>
          <a:xfrm>
            <a:off x="566928" y="2871216"/>
            <a:ext cx="201168" cy="201168"/>
          </a:xfrm>
          <a:prstGeom prst="ellipse">
            <a:avLst/>
          </a:prstGeom>
          <a:solidFill>
            <a:srgbClr val="2593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1" name="a1_l"/>
          <p:cNvSpPr txBox="1"/>
          <p:nvPr/>
        </p:nvSpPr>
        <p:spPr>
          <a:xfrm>
            <a:off x="548640" y="24048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Годы 1–3</a:t>
            </a:r>
            <a:endParaRPr lang="en-US" sz="1500" dirty="0"/>
          </a:p>
        </p:txBody>
      </p:sp>
      <p:sp>
        <p:nvSpPr>
          <p:cNvPr id="12" name="a1_t"/>
          <p:cNvSpPr txBox="1"/>
          <p:nvPr/>
        </p:nvSpPr>
        <p:spPr>
          <a:xfrm>
            <a:off x="548640" y="32278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Фундамент</a:t>
            </a:r>
            <a:endParaRPr lang="en-US" sz="1350" dirty="0"/>
          </a:p>
        </p:txBody>
      </p:sp>
      <p:sp>
        <p:nvSpPr>
          <p:cNvPr id="13" name="a1_x"/>
          <p:cNvSpPr txBox="1"/>
          <p:nvPr/>
        </p:nvSpPr>
        <p:spPr>
          <a:xfrm>
            <a:off x="548640" y="3675888"/>
            <a:ext cx="25907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IT- и AI-услуги как источник выручки. Запуск FootureX Game в Telegram. Пилот Game Dev Academy.</a:t>
            </a:r>
            <a:endParaRPr lang="en-US" sz="1250" dirty="0"/>
          </a:p>
        </p:txBody>
      </p:sp>
      <p:sp>
        <p:nvSpPr>
          <p:cNvPr id="14" name="a2_d"/>
          <p:cNvSpPr/>
          <p:nvPr/>
        </p:nvSpPr>
        <p:spPr>
          <a:xfrm>
            <a:off x="3340532" y="2871216"/>
            <a:ext cx="201168" cy="201168"/>
          </a:xfrm>
          <a:prstGeom prst="ellipse">
            <a:avLst/>
          </a:prstGeom>
          <a:solidFill>
            <a:srgbClr val="2550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5" name="a2_l"/>
          <p:cNvSpPr txBox="1"/>
          <p:nvPr/>
        </p:nvSpPr>
        <p:spPr>
          <a:xfrm>
            <a:off x="3322244" y="24048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50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Годы 4–6</a:t>
            </a:r>
            <a:endParaRPr lang="en-US" sz="1500" dirty="0"/>
          </a:p>
        </p:txBody>
      </p:sp>
      <p:sp>
        <p:nvSpPr>
          <p:cNvPr id="16" name="a2_t"/>
          <p:cNvSpPr txBox="1"/>
          <p:nvPr/>
        </p:nvSpPr>
        <p:spPr>
          <a:xfrm>
            <a:off x="3322244" y="32278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Масштаб</a:t>
            </a:r>
            <a:endParaRPr lang="en-US" sz="1350" dirty="0"/>
          </a:p>
        </p:txBody>
      </p:sp>
      <p:sp>
        <p:nvSpPr>
          <p:cNvPr id="17" name="a2_x"/>
          <p:cNvSpPr txBox="1"/>
          <p:nvPr/>
        </p:nvSpPr>
        <p:spPr>
          <a:xfrm>
            <a:off x="3322244" y="3675888"/>
            <a:ext cx="25907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SaaS-продукты, киберспорт и сообщество, рост академии, выход на рынки Центральной Азии.</a:t>
            </a:r>
            <a:endParaRPr lang="en-US" sz="1250" dirty="0"/>
          </a:p>
        </p:txBody>
      </p:sp>
      <p:sp>
        <p:nvSpPr>
          <p:cNvPr id="18" name="a3_d"/>
          <p:cNvSpPr/>
          <p:nvPr/>
        </p:nvSpPr>
        <p:spPr>
          <a:xfrm>
            <a:off x="6114136" y="2871216"/>
            <a:ext cx="201168" cy="201168"/>
          </a:xfrm>
          <a:prstGeom prst="ellipse">
            <a:avLst/>
          </a:prstGeom>
          <a:solidFill>
            <a:srgbClr val="8EB4FF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9" name="a3_l"/>
          <p:cNvSpPr txBox="1"/>
          <p:nvPr/>
        </p:nvSpPr>
        <p:spPr>
          <a:xfrm>
            <a:off x="6095848" y="24048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4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Годы 7–10</a:t>
            </a:r>
            <a:endParaRPr lang="en-US" sz="1500" dirty="0"/>
          </a:p>
        </p:txBody>
      </p:sp>
      <p:sp>
        <p:nvSpPr>
          <p:cNvPr id="20" name="a3_t"/>
          <p:cNvSpPr txBox="1"/>
          <p:nvPr/>
        </p:nvSpPr>
        <p:spPr>
          <a:xfrm>
            <a:off x="6095848" y="32278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Спорт</a:t>
            </a:r>
            <a:endParaRPr lang="en-US" sz="1350" dirty="0"/>
          </a:p>
        </p:txBody>
      </p:sp>
      <p:sp>
        <p:nvSpPr>
          <p:cNvPr id="21" name="a3_x"/>
          <p:cNvSpPr txBox="1"/>
          <p:nvPr/>
        </p:nvSpPr>
        <p:spPr>
          <a:xfrm>
            <a:off x="6095848" y="3675888"/>
            <a:ext cx="25907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Football Academy, формирование FC FootureX, ТЭО стадиона и поиск партнёров.</a:t>
            </a:r>
            <a:endParaRPr lang="en-US" sz="1250" dirty="0"/>
          </a:p>
        </p:txBody>
      </p:sp>
      <p:sp>
        <p:nvSpPr>
          <p:cNvPr id="22" name="a4_d"/>
          <p:cNvSpPr/>
          <p:nvPr/>
        </p:nvSpPr>
        <p:spPr>
          <a:xfrm>
            <a:off x="8887739" y="2871216"/>
            <a:ext cx="201168" cy="201168"/>
          </a:xfrm>
          <a:prstGeom prst="ellipse">
            <a:avLst/>
          </a:prstGeom>
          <a:solidFill>
            <a:srgbClr val="8A93A6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23" name="a4_l"/>
          <p:cNvSpPr txBox="1"/>
          <p:nvPr/>
        </p:nvSpPr>
        <p:spPr>
          <a:xfrm>
            <a:off x="8869451" y="24048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A93A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Годы 11–20</a:t>
            </a:r>
            <a:endParaRPr lang="en-US" sz="1500" dirty="0"/>
          </a:p>
        </p:txBody>
      </p:sp>
      <p:sp>
        <p:nvSpPr>
          <p:cNvPr id="24" name="a4_t"/>
          <p:cNvSpPr txBox="1"/>
          <p:nvPr/>
        </p:nvSpPr>
        <p:spPr>
          <a:xfrm>
            <a:off x="8869451" y="32278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Инфраструктура</a:t>
            </a:r>
            <a:endParaRPr lang="en-US" sz="1350" dirty="0"/>
          </a:p>
        </p:txBody>
      </p:sp>
      <p:sp>
        <p:nvSpPr>
          <p:cNvPr id="25" name="a4_x"/>
          <p:cNvSpPr txBox="1"/>
          <p:nvPr/>
        </p:nvSpPr>
        <p:spPr>
          <a:xfrm>
            <a:off x="8869451" y="3675888"/>
            <a:ext cx="25907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Stadium и FootureX City — при наличии земли, разрешений и проектного финансирования.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Основной источник финансирования горизонта</a:t>
            </a:r>
            <a:endParaRPr lang="en-US" sz="1100" dirty="0"/>
          </a:p>
        </p:txBody>
      </p:sp>
      <p:sp>
        <p:nvSpPr>
          <p:cNvPr id="27" name="a5_f"/>
          <p:cNvSpPr/>
          <p:nvPr/>
        </p:nvSpPr>
        <p:spPr>
          <a:xfrm>
            <a:off x="548640" y="5166360"/>
            <a:ext cx="2679192" cy="749808"/>
          </a:xfrm>
          <a:prstGeom prst="roundRect">
            <a:avLst>
              <a:gd name="adj" fmla="val 1463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8" name="a5_ft"/>
          <p:cNvSpPr txBox="1"/>
          <p:nvPr/>
        </p:nvSpPr>
        <p:spPr>
          <a:xfrm>
            <a:off x="731520" y="5166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Bootstrap и Seed (BX-008), выручка IT/AI</a:t>
            </a:r>
            <a:endParaRPr lang="en-US" sz="1200" dirty="0"/>
          </a:p>
        </p:txBody>
      </p:sp>
      <p:sp>
        <p:nvSpPr>
          <p:cNvPr id="29" name="a6_f"/>
          <p:cNvSpPr/>
          <p:nvPr/>
        </p:nvSpPr>
        <p:spPr>
          <a:xfrm>
            <a:off x="3352190" y="5166360"/>
            <a:ext cx="2679192" cy="749808"/>
          </a:xfrm>
          <a:prstGeom prst="roundRect">
            <a:avLst>
              <a:gd name="adj" fmla="val 1463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0" name="a6_ft"/>
          <p:cNvSpPr txBox="1"/>
          <p:nvPr/>
        </p:nvSpPr>
        <p:spPr>
          <a:xfrm>
            <a:off x="3535070" y="5166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Growth-раунд после метрик (BX-008)</a:t>
            </a:r>
            <a:endParaRPr lang="en-US" sz="1200" dirty="0"/>
          </a:p>
        </p:txBody>
      </p:sp>
      <p:sp>
        <p:nvSpPr>
          <p:cNvPr id="31" name="a7_f"/>
          <p:cNvSpPr/>
          <p:nvPr/>
        </p:nvSpPr>
        <p:spPr>
          <a:xfrm>
            <a:off x="6155741" y="5166360"/>
            <a:ext cx="2679192" cy="749808"/>
          </a:xfrm>
          <a:prstGeom prst="roundRect">
            <a:avLst>
              <a:gd name="adj" fmla="val 1463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2" name="a7_ft"/>
          <p:cNvSpPr txBox="1"/>
          <p:nvPr/>
        </p:nvSpPr>
        <p:spPr>
          <a:xfrm>
            <a:off x="6338621" y="5166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Стратегические и спортивные партнёры</a:t>
            </a:r>
            <a:endParaRPr lang="en-US" sz="1200" dirty="0"/>
          </a:p>
        </p:txBody>
      </p:sp>
      <p:sp>
        <p:nvSpPr>
          <p:cNvPr id="33" name="a8_f"/>
          <p:cNvSpPr/>
          <p:nvPr/>
        </p:nvSpPr>
        <p:spPr>
          <a:xfrm>
            <a:off x="8959291" y="5166360"/>
            <a:ext cx="2679192" cy="749808"/>
          </a:xfrm>
          <a:prstGeom prst="roundRect">
            <a:avLst>
              <a:gd name="adj" fmla="val 1463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4" name="a8_ft"/>
          <p:cNvSpPr txBox="1"/>
          <p:nvPr/>
        </p:nvSpPr>
        <p:spPr>
          <a:xfrm>
            <a:off x="9142171" y="5166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Проектное финансирование, ГЧП, девелоперы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Цифровые направления финансируют и усиливают физические — не наоборот.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/>
      <p:bldP spid="14" grpId="0" animBg="1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Корпоративные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ценности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 · CORPORATE IDENTITY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БРЕНДБУК V1.0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FootureX Brand Book v1.0, раздел 06 «Голос бренда и манифест».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CORPORATE IDENTITY</a:t>
            </a:r>
            <a:endParaRPr lang="en-US" sz="900" dirty="0"/>
          </a:p>
        </p:txBody>
      </p:sp>
      <p:sp>
        <p:nvSpPr>
          <p:cNvPr id="10" name="a1_card"/>
          <p:cNvSpPr/>
          <p:nvPr/>
        </p:nvSpPr>
        <p:spPr>
          <a:xfrm>
            <a:off x="548640" y="1828800"/>
            <a:ext cx="2602154" cy="2743200"/>
          </a:xfrm>
          <a:prstGeom prst="roundRect">
            <a:avLst>
              <a:gd name="adj" fmla="val 421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1" name="a1_num"/>
          <p:cNvSpPr txBox="1"/>
          <p:nvPr/>
        </p:nvSpPr>
        <p:spPr>
          <a:xfrm>
            <a:off x="777240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a1_t"/>
          <p:cNvSpPr txBox="1"/>
          <p:nvPr/>
        </p:nvSpPr>
        <p:spPr>
          <a:xfrm>
            <a:off x="777240" y="2514600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Прямота</a:t>
            </a:r>
            <a:endParaRPr lang="en-US" sz="1500" dirty="0"/>
          </a:p>
        </p:txBody>
      </p:sp>
      <p:sp>
        <p:nvSpPr>
          <p:cNvPr id="13" name="a1_d"/>
          <p:cNvSpPr txBox="1"/>
          <p:nvPr/>
        </p:nvSpPr>
        <p:spPr>
          <a:xfrm>
            <a:off x="777240" y="2880360"/>
            <a:ext cx="214495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Говорим коротко и по делу. Не приукрашиваем, не используем громких слов без основания. Если что-то ещё не сделано — так и пишем.</a:t>
            </a:r>
            <a:endParaRPr lang="en-US" sz="1200" dirty="0"/>
          </a:p>
        </p:txBody>
      </p:sp>
      <p:sp>
        <p:nvSpPr>
          <p:cNvPr id="14" name="a2_card"/>
          <p:cNvSpPr/>
          <p:nvPr/>
        </p:nvSpPr>
        <p:spPr>
          <a:xfrm>
            <a:off x="3379394" y="1828800"/>
            <a:ext cx="2602154" cy="2743200"/>
          </a:xfrm>
          <a:prstGeom prst="roundRect">
            <a:avLst>
              <a:gd name="adj" fmla="val 421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5" name="a2_num"/>
          <p:cNvSpPr txBox="1"/>
          <p:nvPr/>
        </p:nvSpPr>
        <p:spPr>
          <a:xfrm>
            <a:off x="3607994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a2_t"/>
          <p:cNvSpPr txBox="1"/>
          <p:nvPr/>
        </p:nvSpPr>
        <p:spPr>
          <a:xfrm>
            <a:off x="3607994" y="2514600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Перспектива</a:t>
            </a:r>
            <a:endParaRPr lang="en-US" sz="1500" dirty="0"/>
          </a:p>
        </p:txBody>
      </p:sp>
      <p:sp>
        <p:nvSpPr>
          <p:cNvPr id="17" name="a2_d"/>
          <p:cNvSpPr txBox="1"/>
          <p:nvPr/>
        </p:nvSpPr>
        <p:spPr>
          <a:xfrm>
            <a:off x="3607994" y="2880360"/>
            <a:ext cx="214495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Мыслим десятилетиями. Каждое решение, текст, баннер работает на долгосрочное видение — не на короткую вспышку.</a:t>
            </a:r>
            <a:endParaRPr lang="en-US" sz="1200" dirty="0"/>
          </a:p>
        </p:txBody>
      </p:sp>
      <p:sp>
        <p:nvSpPr>
          <p:cNvPr id="18" name="a3_card"/>
          <p:cNvSpPr/>
          <p:nvPr/>
        </p:nvSpPr>
        <p:spPr>
          <a:xfrm>
            <a:off x="6210148" y="1828800"/>
            <a:ext cx="2602154" cy="2743200"/>
          </a:xfrm>
          <a:prstGeom prst="roundRect">
            <a:avLst>
              <a:gd name="adj" fmla="val 421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9" name="a3_num"/>
          <p:cNvSpPr txBox="1"/>
          <p:nvPr/>
        </p:nvSpPr>
        <p:spPr>
          <a:xfrm>
            <a:off x="6438748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a3_t"/>
          <p:cNvSpPr txBox="1"/>
          <p:nvPr/>
        </p:nvSpPr>
        <p:spPr>
          <a:xfrm>
            <a:off x="6438748" y="2514600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Конкретика</a:t>
            </a:r>
            <a:endParaRPr lang="en-US" sz="1500" dirty="0"/>
          </a:p>
        </p:txBody>
      </p:sp>
      <p:sp>
        <p:nvSpPr>
          <p:cNvPr id="21" name="a3_d"/>
          <p:cNvSpPr txBox="1"/>
          <p:nvPr/>
        </p:nvSpPr>
        <p:spPr>
          <a:xfrm>
            <a:off x="6438748" y="2880360"/>
            <a:ext cx="214495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Цифры важнее эпитетов — но только подтверждённые. Конкретное всегда лучше, чем «много», «сильно», «крупно».</a:t>
            </a:r>
            <a:endParaRPr lang="en-US" sz="1200" dirty="0"/>
          </a:p>
        </p:txBody>
      </p:sp>
      <p:sp>
        <p:nvSpPr>
          <p:cNvPr id="22" name="a4_card"/>
          <p:cNvSpPr/>
          <p:nvPr/>
        </p:nvSpPr>
        <p:spPr>
          <a:xfrm>
            <a:off x="9040901" y="1828800"/>
            <a:ext cx="2602154" cy="2743200"/>
          </a:xfrm>
          <a:prstGeom prst="roundRect">
            <a:avLst>
              <a:gd name="adj" fmla="val 421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3" name="a4_num"/>
          <p:cNvSpPr txBox="1"/>
          <p:nvPr/>
        </p:nvSpPr>
        <p:spPr>
          <a:xfrm>
            <a:off x="9269501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a4_t"/>
          <p:cNvSpPr txBox="1"/>
          <p:nvPr/>
        </p:nvSpPr>
        <p:spPr>
          <a:xfrm>
            <a:off x="9269501" y="2514600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Уважение</a:t>
            </a:r>
            <a:endParaRPr lang="en-US" sz="1500" dirty="0"/>
          </a:p>
        </p:txBody>
      </p:sp>
      <p:sp>
        <p:nvSpPr>
          <p:cNvPr id="25" name="a4_d"/>
          <p:cNvSpPr txBox="1"/>
          <p:nvPr/>
        </p:nvSpPr>
        <p:spPr>
          <a:xfrm>
            <a:off x="9269501" y="2880360"/>
            <a:ext cx="214495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 пользователю, партнёру, региону. Узбекистан — точка старта, а не временная локация.</a:t>
            </a:r>
            <a:endParaRPr lang="en-US" sz="1200" dirty="0"/>
          </a:p>
        </p:txBody>
      </p:sp>
      <p:sp>
        <p:nvSpPr>
          <p:cNvPr id="26" name="a5_c"/>
          <p:cNvSpPr/>
          <p:nvPr/>
        </p:nvSpPr>
        <p:spPr>
          <a:xfrm>
            <a:off x="548640" y="4800600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142A70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Манифест.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строится как платформа на десятилетия. Каждый этап финансирует следующий, каждое решение работает на долгосрочное видение. Не игра в Telegram — а спортивная инфраструктура.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/>
      <p:bldP spid="14" grpId="0" animBg="1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Десять направлений деятельности и их текущий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статус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 · CORPORATE IDENTITY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250985" y="274320"/>
            <a:ext cx="23920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369857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88729" y="274320"/>
            <a:ext cx="2099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ТРЕБУЕТСЯ ПОДТВЕРЖДЕНИЕ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CORPORATE IDENTITY</a:t>
            </a:r>
            <a:endParaRPr lang="en-US" sz="900" dirty="0"/>
          </a:p>
        </p:txBody>
      </p:sp>
      <p:sp>
        <p:nvSpPr>
          <p:cNvPr id="9" name="a1_c"/>
          <p:cNvSpPr/>
          <p:nvPr/>
        </p:nvSpPr>
        <p:spPr>
          <a:xfrm>
            <a:off x="548640" y="1828800"/>
            <a:ext cx="207568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ibg"/>
          <p:cNvSpPr/>
          <p:nvPr/>
        </p:nvSpPr>
        <p:spPr>
          <a:xfrm>
            <a:off x="731520" y="2011680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1" name="a1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470" y="2112630"/>
            <a:ext cx="218724" cy="218724"/>
          </a:xfrm>
          <a:prstGeom prst="rect">
            <a:avLst/>
          </a:prstGeom>
        </p:spPr>
      </p:pic>
      <p:sp>
        <p:nvSpPr>
          <p:cNvPr id="12" name="a1_t"/>
          <p:cNvSpPr txBox="1"/>
          <p:nvPr/>
        </p:nvSpPr>
        <p:spPr>
          <a:xfrm>
            <a:off x="731520" y="254203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Technologies</a:t>
            </a:r>
            <a:endParaRPr lang="en-US" sz="1150" dirty="0"/>
          </a:p>
        </p:txBody>
      </p:sp>
      <p:sp>
        <p:nvSpPr>
          <p:cNvPr id="13" name="a1_s"/>
          <p:cNvSpPr txBox="1"/>
          <p:nvPr/>
        </p:nvSpPr>
        <p:spPr>
          <a:xfrm>
            <a:off x="731520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ПО, ERP/CRM/POS, веб и мобайл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31520" y="341071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9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341071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00" dirty="0"/>
          </a:p>
        </p:txBody>
      </p:sp>
      <p:sp>
        <p:nvSpPr>
          <p:cNvPr id="16" name="a2_c"/>
          <p:cNvSpPr/>
          <p:nvPr/>
        </p:nvSpPr>
        <p:spPr>
          <a:xfrm>
            <a:off x="2798064" y="1828800"/>
            <a:ext cx="207568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7" name="a2_ibg"/>
          <p:cNvSpPr/>
          <p:nvPr/>
        </p:nvSpPr>
        <p:spPr>
          <a:xfrm>
            <a:off x="2980944" y="2011680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8" name="a2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94" y="2112630"/>
            <a:ext cx="218724" cy="218724"/>
          </a:xfrm>
          <a:prstGeom prst="rect">
            <a:avLst/>
          </a:prstGeom>
        </p:spPr>
      </p:pic>
      <p:sp>
        <p:nvSpPr>
          <p:cNvPr id="19" name="a2_t"/>
          <p:cNvSpPr txBox="1"/>
          <p:nvPr/>
        </p:nvSpPr>
        <p:spPr>
          <a:xfrm>
            <a:off x="2980944" y="254203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AI</a:t>
            </a:r>
            <a:endParaRPr lang="en-US" sz="1150" dirty="0"/>
          </a:p>
        </p:txBody>
      </p:sp>
      <p:sp>
        <p:nvSpPr>
          <p:cNvPr id="20" name="a2_s"/>
          <p:cNvSpPr txBox="1"/>
          <p:nvPr/>
        </p:nvSpPr>
        <p:spPr>
          <a:xfrm>
            <a:off x="2980944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AI-агенты и автоматизация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980944" y="341071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93F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980944" y="341071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00" dirty="0"/>
          </a:p>
        </p:txBody>
      </p:sp>
      <p:sp>
        <p:nvSpPr>
          <p:cNvPr id="23" name="a3_c"/>
          <p:cNvSpPr/>
          <p:nvPr/>
        </p:nvSpPr>
        <p:spPr>
          <a:xfrm>
            <a:off x="5047488" y="1828800"/>
            <a:ext cx="207568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4" name="a3_ibg"/>
          <p:cNvSpPr/>
          <p:nvPr/>
        </p:nvSpPr>
        <p:spPr>
          <a:xfrm>
            <a:off x="5230368" y="2011680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5" name="a3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318" y="2112630"/>
            <a:ext cx="218724" cy="218724"/>
          </a:xfrm>
          <a:prstGeom prst="rect">
            <a:avLst/>
          </a:prstGeom>
        </p:spPr>
      </p:pic>
      <p:sp>
        <p:nvSpPr>
          <p:cNvPr id="26" name="a3_t"/>
          <p:cNvSpPr txBox="1"/>
          <p:nvPr/>
        </p:nvSpPr>
        <p:spPr>
          <a:xfrm>
            <a:off x="5230368" y="254203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Game Development</a:t>
            </a:r>
            <a:endParaRPr lang="en-US" sz="1150" dirty="0"/>
          </a:p>
        </p:txBody>
      </p:sp>
      <p:sp>
        <p:nvSpPr>
          <p:cNvPr id="27" name="a3_s"/>
          <p:cNvSpPr txBox="1"/>
          <p:nvPr/>
        </p:nvSpPr>
        <p:spPr>
          <a:xfrm>
            <a:off x="5230368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Студия: свои и заказные игры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230368" y="341071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93F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230368" y="341071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00" dirty="0"/>
          </a:p>
        </p:txBody>
      </p:sp>
      <p:sp>
        <p:nvSpPr>
          <p:cNvPr id="30" name="a4_c"/>
          <p:cNvSpPr/>
          <p:nvPr/>
        </p:nvSpPr>
        <p:spPr>
          <a:xfrm>
            <a:off x="7296912" y="1828800"/>
            <a:ext cx="207568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1" name="a4_ibg"/>
          <p:cNvSpPr/>
          <p:nvPr/>
        </p:nvSpPr>
        <p:spPr>
          <a:xfrm>
            <a:off x="7479792" y="2011680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2" name="a4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742" y="2112630"/>
            <a:ext cx="218724" cy="218724"/>
          </a:xfrm>
          <a:prstGeom prst="rect">
            <a:avLst/>
          </a:prstGeom>
        </p:spPr>
      </p:pic>
      <p:sp>
        <p:nvSpPr>
          <p:cNvPr id="33" name="a4_t"/>
          <p:cNvSpPr txBox="1"/>
          <p:nvPr/>
        </p:nvSpPr>
        <p:spPr>
          <a:xfrm>
            <a:off x="7479792" y="254203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Game</a:t>
            </a:r>
            <a:endParaRPr lang="en-US" sz="1150" dirty="0"/>
          </a:p>
        </p:txBody>
      </p:sp>
      <p:sp>
        <p:nvSpPr>
          <p:cNvPr id="34" name="a4_s"/>
          <p:cNvSpPr txBox="1"/>
          <p:nvPr/>
        </p:nvSpPr>
        <p:spPr>
          <a:xfrm>
            <a:off x="7479792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Футбольный менеджер в Telegram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7479792" y="341071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479792" y="341071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37" name="a5_c"/>
          <p:cNvSpPr/>
          <p:nvPr/>
        </p:nvSpPr>
        <p:spPr>
          <a:xfrm>
            <a:off x="9546336" y="1828800"/>
            <a:ext cx="207568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8" name="a5_ibg"/>
          <p:cNvSpPr/>
          <p:nvPr/>
        </p:nvSpPr>
        <p:spPr>
          <a:xfrm>
            <a:off x="9729216" y="2011680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9" name="a5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0166" y="2112630"/>
            <a:ext cx="218724" cy="218724"/>
          </a:xfrm>
          <a:prstGeom prst="rect">
            <a:avLst/>
          </a:prstGeom>
        </p:spPr>
      </p:pic>
      <p:sp>
        <p:nvSpPr>
          <p:cNvPr id="40" name="a5_t"/>
          <p:cNvSpPr txBox="1"/>
          <p:nvPr/>
        </p:nvSpPr>
        <p:spPr>
          <a:xfrm>
            <a:off x="9729216" y="254203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Game Dev Academy</a:t>
            </a:r>
            <a:endParaRPr lang="en-US" sz="1150" dirty="0"/>
          </a:p>
        </p:txBody>
      </p:sp>
      <p:sp>
        <p:nvSpPr>
          <p:cNvPr id="41" name="a5_s"/>
          <p:cNvSpPr txBox="1"/>
          <p:nvPr/>
        </p:nvSpPr>
        <p:spPr>
          <a:xfrm>
            <a:off x="9729216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Подготовка кадров индустрии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9729216" y="341071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93FA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9729216" y="341071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пилот</a:t>
            </a:r>
            <a:endParaRPr lang="en-US" sz="800" dirty="0"/>
          </a:p>
        </p:txBody>
      </p:sp>
      <p:sp>
        <p:nvSpPr>
          <p:cNvPr id="44" name="a6_c"/>
          <p:cNvSpPr/>
          <p:nvPr/>
        </p:nvSpPr>
        <p:spPr>
          <a:xfrm>
            <a:off x="548640" y="3968496"/>
            <a:ext cx="207568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45" name="a6_ibg"/>
          <p:cNvSpPr/>
          <p:nvPr/>
        </p:nvSpPr>
        <p:spPr>
          <a:xfrm>
            <a:off x="731520" y="4151376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46" name="a6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470" y="4252326"/>
            <a:ext cx="218724" cy="218724"/>
          </a:xfrm>
          <a:prstGeom prst="rect">
            <a:avLst/>
          </a:prstGeom>
        </p:spPr>
      </p:pic>
      <p:sp>
        <p:nvSpPr>
          <p:cNvPr id="47" name="a6_t"/>
          <p:cNvSpPr txBox="1"/>
          <p:nvPr/>
        </p:nvSpPr>
        <p:spPr>
          <a:xfrm>
            <a:off x="731520" y="468172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 Community &amp; Esports</a:t>
            </a:r>
            <a:endParaRPr lang="en-US" sz="1150" dirty="0"/>
          </a:p>
        </p:txBody>
      </p:sp>
      <p:sp>
        <p:nvSpPr>
          <p:cNvPr id="48" name="a6_s"/>
          <p:cNvSpPr txBox="1"/>
          <p:nvPr/>
        </p:nvSpPr>
        <p:spPr>
          <a:xfrm>
            <a:off x="731520" y="515721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Сообщество, турниры, медиа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731520" y="55504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8EB4FF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731520" y="55504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Концепция</a:t>
            </a:r>
            <a:endParaRPr lang="en-US" sz="800" dirty="0"/>
          </a:p>
        </p:txBody>
      </p:sp>
      <p:sp>
        <p:nvSpPr>
          <p:cNvPr id="51" name="a7_c"/>
          <p:cNvSpPr/>
          <p:nvPr/>
        </p:nvSpPr>
        <p:spPr>
          <a:xfrm>
            <a:off x="2798064" y="3968496"/>
            <a:ext cx="207568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52" name="a7_ibg"/>
          <p:cNvSpPr/>
          <p:nvPr/>
        </p:nvSpPr>
        <p:spPr>
          <a:xfrm>
            <a:off x="2980944" y="4151376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53" name="a7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1894" y="4252326"/>
            <a:ext cx="218724" cy="218724"/>
          </a:xfrm>
          <a:prstGeom prst="rect">
            <a:avLst/>
          </a:prstGeom>
        </p:spPr>
      </p:pic>
      <p:sp>
        <p:nvSpPr>
          <p:cNvPr id="54" name="a7_t"/>
          <p:cNvSpPr txBox="1"/>
          <p:nvPr/>
        </p:nvSpPr>
        <p:spPr>
          <a:xfrm>
            <a:off x="2980944" y="468172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FC FootureX</a:t>
            </a:r>
            <a:endParaRPr lang="en-US" sz="1150" dirty="0"/>
          </a:p>
        </p:txBody>
      </p:sp>
      <p:sp>
        <p:nvSpPr>
          <p:cNvPr id="55" name="a7_s"/>
          <p:cNvSpPr txBox="1"/>
          <p:nvPr/>
        </p:nvSpPr>
        <p:spPr>
          <a:xfrm>
            <a:off x="2980944" y="515721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Профессиональный клуб</a:t>
            </a:r>
            <a:endParaRPr lang="en-US" sz="1000" dirty="0"/>
          </a:p>
        </p:txBody>
      </p:sp>
      <p:sp>
        <p:nvSpPr>
          <p:cNvPr id="56" name="Shape 46"/>
          <p:cNvSpPr/>
          <p:nvPr/>
        </p:nvSpPr>
        <p:spPr>
          <a:xfrm>
            <a:off x="2980944" y="55504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8EB4FF"/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2980944" y="55504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Концепция</a:t>
            </a:r>
            <a:endParaRPr lang="en-US" sz="800" dirty="0"/>
          </a:p>
        </p:txBody>
      </p:sp>
      <p:sp>
        <p:nvSpPr>
          <p:cNvPr id="58" name="a8_c"/>
          <p:cNvSpPr/>
          <p:nvPr/>
        </p:nvSpPr>
        <p:spPr>
          <a:xfrm>
            <a:off x="5047488" y="3968496"/>
            <a:ext cx="207568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59" name="a8_ibg"/>
          <p:cNvSpPr/>
          <p:nvPr/>
        </p:nvSpPr>
        <p:spPr>
          <a:xfrm>
            <a:off x="5230368" y="4151376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60" name="a8_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1318" y="4252326"/>
            <a:ext cx="218724" cy="218724"/>
          </a:xfrm>
          <a:prstGeom prst="rect">
            <a:avLst/>
          </a:prstGeom>
        </p:spPr>
      </p:pic>
      <p:sp>
        <p:nvSpPr>
          <p:cNvPr id="61" name="a8_t"/>
          <p:cNvSpPr txBox="1"/>
          <p:nvPr/>
        </p:nvSpPr>
        <p:spPr>
          <a:xfrm>
            <a:off x="5230368" y="468172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Football Academy</a:t>
            </a:r>
            <a:endParaRPr lang="en-US" sz="1150" dirty="0"/>
          </a:p>
        </p:txBody>
      </p:sp>
      <p:sp>
        <p:nvSpPr>
          <p:cNvPr id="62" name="a8_s"/>
          <p:cNvSpPr txBox="1"/>
          <p:nvPr/>
        </p:nvSpPr>
        <p:spPr>
          <a:xfrm>
            <a:off x="5230368" y="515721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Детско-юношеский футбол</a:t>
            </a:r>
            <a:endParaRPr lang="en-US" sz="1000" dirty="0"/>
          </a:p>
        </p:txBody>
      </p:sp>
      <p:sp>
        <p:nvSpPr>
          <p:cNvPr id="63" name="Shape 52"/>
          <p:cNvSpPr/>
          <p:nvPr/>
        </p:nvSpPr>
        <p:spPr>
          <a:xfrm>
            <a:off x="5230368" y="55504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8EB4FF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5230368" y="55504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Концепция</a:t>
            </a:r>
            <a:endParaRPr lang="en-US" sz="800" dirty="0"/>
          </a:p>
        </p:txBody>
      </p:sp>
      <p:sp>
        <p:nvSpPr>
          <p:cNvPr id="65" name="a9_c"/>
          <p:cNvSpPr/>
          <p:nvPr/>
        </p:nvSpPr>
        <p:spPr>
          <a:xfrm>
            <a:off x="7296912" y="3968496"/>
            <a:ext cx="207568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66" name="a9_ibg"/>
          <p:cNvSpPr/>
          <p:nvPr/>
        </p:nvSpPr>
        <p:spPr>
          <a:xfrm>
            <a:off x="7479792" y="4151376"/>
            <a:ext cx="420624" cy="420624"/>
          </a:xfrm>
          <a:prstGeom prst="ellipse">
            <a:avLst/>
          </a:prstGeom>
          <a:solidFill>
            <a:srgbClr val="0E1629"/>
          </a:solidFill>
          <a:ln w="12700">
            <a:solidFill>
              <a:srgbClr val="0E1629"/>
            </a:solidFill>
            <a:prstDash val="solid"/>
          </a:ln>
        </p:spPr>
      </p:sp>
      <p:pic>
        <p:nvPicPr>
          <p:cNvPr id="67" name="a9_i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0742" y="4252326"/>
            <a:ext cx="218724" cy="218724"/>
          </a:xfrm>
          <a:prstGeom prst="rect">
            <a:avLst/>
          </a:prstGeom>
        </p:spPr>
      </p:pic>
      <p:sp>
        <p:nvSpPr>
          <p:cNvPr id="68" name="a9_t"/>
          <p:cNvSpPr txBox="1"/>
          <p:nvPr/>
        </p:nvSpPr>
        <p:spPr>
          <a:xfrm>
            <a:off x="7479792" y="468172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Stadium</a:t>
            </a:r>
            <a:endParaRPr lang="en-US" sz="1150" dirty="0"/>
          </a:p>
        </p:txBody>
      </p:sp>
      <p:sp>
        <p:nvSpPr>
          <p:cNvPr id="69" name="a9_s"/>
          <p:cNvSpPr txBox="1"/>
          <p:nvPr/>
        </p:nvSpPr>
        <p:spPr>
          <a:xfrm>
            <a:off x="7479792" y="515721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Стадион и esports-арена</a:t>
            </a:r>
            <a:endParaRPr lang="en-US" sz="1000" dirty="0"/>
          </a:p>
        </p:txBody>
      </p:sp>
      <p:sp>
        <p:nvSpPr>
          <p:cNvPr id="70" name="Shape 58"/>
          <p:cNvSpPr/>
          <p:nvPr/>
        </p:nvSpPr>
        <p:spPr>
          <a:xfrm>
            <a:off x="7479792" y="55504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B8C1D4"/>
            </a:solidFill>
            <a:prstDash val="solid"/>
          </a:ln>
        </p:spPr>
      </p:sp>
      <p:sp>
        <p:nvSpPr>
          <p:cNvPr id="71" name="Text 59"/>
          <p:cNvSpPr txBox="1"/>
          <p:nvPr/>
        </p:nvSpPr>
        <p:spPr>
          <a:xfrm>
            <a:off x="7479792" y="55504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Амбиция</a:t>
            </a:r>
            <a:endParaRPr lang="en-US" sz="800" dirty="0"/>
          </a:p>
        </p:txBody>
      </p:sp>
      <p:sp>
        <p:nvSpPr>
          <p:cNvPr id="72" name="a10_c"/>
          <p:cNvSpPr/>
          <p:nvPr/>
        </p:nvSpPr>
        <p:spPr>
          <a:xfrm>
            <a:off x="9546336" y="3968496"/>
            <a:ext cx="207568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73" name="a10_ibg"/>
          <p:cNvSpPr/>
          <p:nvPr/>
        </p:nvSpPr>
        <p:spPr>
          <a:xfrm>
            <a:off x="9729216" y="4151376"/>
            <a:ext cx="420624" cy="420624"/>
          </a:xfrm>
          <a:prstGeom prst="ellipse">
            <a:avLst/>
          </a:prstGeom>
          <a:solidFill>
            <a:srgbClr val="0E1629"/>
          </a:solidFill>
          <a:ln w="12700">
            <a:solidFill>
              <a:srgbClr val="0E1629"/>
            </a:solidFill>
            <a:prstDash val="solid"/>
          </a:ln>
        </p:spPr>
      </p:sp>
      <p:pic>
        <p:nvPicPr>
          <p:cNvPr id="74" name="a10_i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0166" y="4252326"/>
            <a:ext cx="218724" cy="218724"/>
          </a:xfrm>
          <a:prstGeom prst="rect">
            <a:avLst/>
          </a:prstGeom>
        </p:spPr>
      </p:pic>
      <p:sp>
        <p:nvSpPr>
          <p:cNvPr id="75" name="a10_t"/>
          <p:cNvSpPr txBox="1"/>
          <p:nvPr/>
        </p:nvSpPr>
        <p:spPr>
          <a:xfrm>
            <a:off x="9729216" y="468172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City</a:t>
            </a:r>
            <a:endParaRPr lang="en-US" sz="1150" dirty="0"/>
          </a:p>
        </p:txBody>
      </p:sp>
      <p:sp>
        <p:nvSpPr>
          <p:cNvPr id="76" name="a10_s"/>
          <p:cNvSpPr txBox="1"/>
          <p:nvPr/>
        </p:nvSpPr>
        <p:spPr>
          <a:xfrm>
            <a:off x="9729216" y="515721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Многофункциональный квартал</a:t>
            </a:r>
            <a:endParaRPr lang="en-US" sz="1000" dirty="0"/>
          </a:p>
        </p:txBody>
      </p:sp>
      <p:sp>
        <p:nvSpPr>
          <p:cNvPr id="77" name="Shape 64"/>
          <p:cNvSpPr/>
          <p:nvPr/>
        </p:nvSpPr>
        <p:spPr>
          <a:xfrm>
            <a:off x="9729216" y="555040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B8C1D4"/>
            </a:solidFill>
            <a:prstDash val="solid"/>
          </a:ln>
        </p:spPr>
      </p:sp>
      <p:sp>
        <p:nvSpPr>
          <p:cNvPr id="78" name="Text 65"/>
          <p:cNvSpPr txBox="1"/>
          <p:nvPr/>
        </p:nvSpPr>
        <p:spPr>
          <a:xfrm>
            <a:off x="9729216" y="55504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Амбиция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/>
      <p:bldP spid="13" grpId="0"/>
      <p:bldP spid="16" grpId="0" animBg="1"/>
      <p:bldP spid="17" grpId="0" animBg="1"/>
      <p:bldP spid="19" grpId="0"/>
      <p:bldP spid="20" grpId="0"/>
      <p:bldP spid="23" grpId="0" animBg="1"/>
      <p:bldP spid="24" grpId="0" animBg="1"/>
      <p:bldP spid="26" grpId="0"/>
      <p:bldP spid="27" grpId="0"/>
      <p:bldP spid="30" grpId="0" animBg="1"/>
      <p:bldP spid="31" grpId="0" animBg="1"/>
      <p:bldP spid="33" grpId="0"/>
      <p:bldP spid="34" grpId="0"/>
      <p:bldP spid="37" grpId="0" animBg="1"/>
      <p:bldP spid="38" grpId="0" animBg="1"/>
      <p:bldP spid="40" grpId="0"/>
      <p:bldP spid="41" grpId="0"/>
      <p:bldP spid="44" grpId="0" animBg="1"/>
      <p:bldP spid="45" grpId="0" animBg="1"/>
      <p:bldP spid="47" grpId="0"/>
      <p:bldP spid="48" grpId="0"/>
      <p:bldP spid="51" grpId="0" animBg="1"/>
      <p:bldP spid="52" grpId="0" animBg="1"/>
      <p:bldP spid="54" grpId="0"/>
      <p:bldP spid="55" grpId="0"/>
      <p:bldP spid="58" grpId="0" animBg="1"/>
      <p:bldP spid="59" grpId="0" animBg="1"/>
      <p:bldP spid="61" grpId="0"/>
      <p:bldP spid="62" grpId="0"/>
      <p:bldP spid="65" grpId="0" animBg="1"/>
      <p:bldP spid="66" grpId="0" animBg="1"/>
      <p:bldP spid="68" grpId="0"/>
      <p:bldP spid="69" grpId="0"/>
      <p:bldP spid="72" grpId="0" animBg="1"/>
      <p:bldP spid="73" grpId="0" animBg="1"/>
      <p:bldP spid="75" grpId="0"/>
      <p:bldP spid="7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FootureX Ecosystem: как направления усиливают друг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друга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 · CORPORATE IDENTITY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591495" y="2743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710367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829239" y="274320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ВИДЕНИЕ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CORPORATE IDENTITY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661008" y="2057400"/>
            <a:ext cx="8869680" cy="3749040"/>
          </a:xfrm>
          <a:prstGeom prst="ellipse">
            <a:avLst/>
          </a:prstGeom>
          <a:ln w="12700">
            <a:solidFill>
              <a:srgbClr val="273B51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656686" y="2900934"/>
            <a:ext cx="4878324" cy="2061972"/>
          </a:xfrm>
          <a:prstGeom prst="ellipse">
            <a:avLst/>
          </a:prstGeom>
          <a:ln w="9525">
            <a:solidFill>
              <a:srgbClr val="1824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6095848" y="2057400"/>
            <a:ext cx="914" cy="1874520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6095848" y="2415401"/>
            <a:ext cx="2606734" cy="1516519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095848" y="3352661"/>
            <a:ext cx="4217783" cy="579259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95848" y="3931920"/>
            <a:ext cx="4217783" cy="579259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95848" y="3931920"/>
            <a:ext cx="2606734" cy="1516519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95848" y="3931920"/>
            <a:ext cx="914" cy="1874520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3489114" y="3931920"/>
            <a:ext cx="2606734" cy="1516519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H="1">
            <a:off x="1878064" y="3931920"/>
            <a:ext cx="4217783" cy="579259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 flipV="1">
            <a:off x="1878064" y="3352661"/>
            <a:ext cx="4217783" cy="579259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H="1" flipV="1">
            <a:off x="3489114" y="2415401"/>
            <a:ext cx="2606734" cy="1516519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21" name="!!hubcore"/>
          <p:cNvSpPr/>
          <p:nvPr/>
        </p:nvSpPr>
        <p:spPr>
          <a:xfrm>
            <a:off x="4907128" y="3474720"/>
            <a:ext cx="2377440" cy="914400"/>
          </a:xfrm>
          <a:prstGeom prst="roundRect">
            <a:avLst>
              <a:gd name="adj" fmla="val 50000"/>
            </a:avLst>
          </a:prstGeom>
          <a:solidFill>
            <a:srgbClr val="142A70"/>
          </a:solidFill>
          <a:ln w="19050">
            <a:solidFill>
              <a:srgbClr val="2550FA"/>
            </a:solidFill>
            <a:prstDash val="solid"/>
          </a:ln>
        </p:spPr>
      </p:sp>
      <p:pic>
        <p:nvPicPr>
          <p:cNvPr id="22" name="!!hublogo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3657600"/>
            <a:ext cx="1737360" cy="3089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907128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ECOSYSTEM CORE</a:t>
            </a:r>
            <a:endParaRPr lang="en-US" sz="950" dirty="0"/>
          </a:p>
        </p:txBody>
      </p:sp>
      <p:sp>
        <p:nvSpPr>
          <p:cNvPr id="24" name="a1_n"/>
          <p:cNvSpPr/>
          <p:nvPr/>
        </p:nvSpPr>
        <p:spPr>
          <a:xfrm>
            <a:off x="4998568" y="173736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pic>
        <p:nvPicPr>
          <p:cNvPr id="25" name="a1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584" y="1911096"/>
            <a:ext cx="292608" cy="292608"/>
          </a:xfrm>
          <a:prstGeom prst="rect">
            <a:avLst/>
          </a:prstGeom>
        </p:spPr>
      </p:pic>
      <p:sp>
        <p:nvSpPr>
          <p:cNvPr id="26" name="a1_t"/>
          <p:cNvSpPr txBox="1"/>
          <p:nvPr/>
        </p:nvSpPr>
        <p:spPr>
          <a:xfrm>
            <a:off x="5492344" y="179222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Technologies</a:t>
            </a:r>
            <a:endParaRPr lang="en-US" sz="1050" dirty="0"/>
          </a:p>
        </p:txBody>
      </p:sp>
      <p:sp>
        <p:nvSpPr>
          <p:cNvPr id="27" name="a1_s"/>
          <p:cNvSpPr txBox="1"/>
          <p:nvPr/>
        </p:nvSpPr>
        <p:spPr>
          <a:xfrm>
            <a:off x="5492344" y="205740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платформа и выручка</a:t>
            </a:r>
            <a:endParaRPr lang="en-US" sz="900" dirty="0"/>
          </a:p>
        </p:txBody>
      </p:sp>
      <p:sp>
        <p:nvSpPr>
          <p:cNvPr id="28" name="a2_n"/>
          <p:cNvSpPr/>
          <p:nvPr/>
        </p:nvSpPr>
        <p:spPr>
          <a:xfrm>
            <a:off x="7605301" y="2095361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pic>
        <p:nvPicPr>
          <p:cNvPr id="29" name="a2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317" y="2269097"/>
            <a:ext cx="292608" cy="292608"/>
          </a:xfrm>
          <a:prstGeom prst="rect">
            <a:avLst/>
          </a:prstGeom>
        </p:spPr>
      </p:pic>
      <p:sp>
        <p:nvSpPr>
          <p:cNvPr id="30" name="a2_t"/>
          <p:cNvSpPr txBox="1"/>
          <p:nvPr/>
        </p:nvSpPr>
        <p:spPr>
          <a:xfrm>
            <a:off x="8099077" y="2150225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1050" dirty="0"/>
          </a:p>
        </p:txBody>
      </p:sp>
      <p:sp>
        <p:nvSpPr>
          <p:cNvPr id="31" name="a2_s"/>
          <p:cNvSpPr txBox="1"/>
          <p:nvPr/>
        </p:nvSpPr>
        <p:spPr>
          <a:xfrm>
            <a:off x="8099077" y="2415401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агенты и аналитика</a:t>
            </a:r>
            <a:endParaRPr lang="en-US" sz="900" dirty="0"/>
          </a:p>
        </p:txBody>
      </p:sp>
      <p:sp>
        <p:nvSpPr>
          <p:cNvPr id="32" name="a3_n"/>
          <p:cNvSpPr/>
          <p:nvPr/>
        </p:nvSpPr>
        <p:spPr>
          <a:xfrm>
            <a:off x="9216351" y="3032621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pic>
        <p:nvPicPr>
          <p:cNvPr id="33" name="a3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4367" y="3206357"/>
            <a:ext cx="292608" cy="292608"/>
          </a:xfrm>
          <a:prstGeom prst="rect">
            <a:avLst/>
          </a:prstGeom>
        </p:spPr>
      </p:pic>
      <p:sp>
        <p:nvSpPr>
          <p:cNvPr id="34" name="a3_t"/>
          <p:cNvSpPr txBox="1"/>
          <p:nvPr/>
        </p:nvSpPr>
        <p:spPr>
          <a:xfrm>
            <a:off x="9710127" y="3087485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 Development</a:t>
            </a:r>
            <a:endParaRPr lang="en-US" sz="1050" dirty="0"/>
          </a:p>
        </p:txBody>
      </p:sp>
      <p:sp>
        <p:nvSpPr>
          <p:cNvPr id="35" name="a3_s"/>
          <p:cNvSpPr txBox="1"/>
          <p:nvPr/>
        </p:nvSpPr>
        <p:spPr>
          <a:xfrm>
            <a:off x="9710127" y="3352661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студия</a:t>
            </a:r>
            <a:endParaRPr lang="en-US" sz="900" dirty="0"/>
          </a:p>
        </p:txBody>
      </p:sp>
      <p:sp>
        <p:nvSpPr>
          <p:cNvPr id="36" name="a4_n"/>
          <p:cNvSpPr/>
          <p:nvPr/>
        </p:nvSpPr>
        <p:spPr>
          <a:xfrm>
            <a:off x="9216351" y="4191139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0E1629"/>
          </a:solidFill>
          <a:ln w="12700">
            <a:solidFill>
              <a:srgbClr val="2550FA"/>
            </a:solidFill>
            <a:prstDash val="solid"/>
          </a:ln>
        </p:spPr>
      </p:sp>
      <p:pic>
        <p:nvPicPr>
          <p:cNvPr id="37" name="a4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4367" y="4364875"/>
            <a:ext cx="292608" cy="292608"/>
          </a:xfrm>
          <a:prstGeom prst="rect">
            <a:avLst/>
          </a:prstGeom>
        </p:spPr>
      </p:pic>
      <p:sp>
        <p:nvSpPr>
          <p:cNvPr id="38" name="a4_t"/>
          <p:cNvSpPr txBox="1"/>
          <p:nvPr/>
        </p:nvSpPr>
        <p:spPr>
          <a:xfrm>
            <a:off x="9710127" y="4246003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Game</a:t>
            </a:r>
            <a:endParaRPr lang="en-US" sz="1050" dirty="0"/>
          </a:p>
        </p:txBody>
      </p:sp>
      <p:sp>
        <p:nvSpPr>
          <p:cNvPr id="39" name="a4_s"/>
          <p:cNvSpPr txBox="1"/>
          <p:nvPr/>
        </p:nvSpPr>
        <p:spPr>
          <a:xfrm>
            <a:off x="9710127" y="4511179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 Web App</a:t>
            </a:r>
            <a:endParaRPr lang="en-US" sz="900" dirty="0"/>
          </a:p>
        </p:txBody>
      </p:sp>
      <p:sp>
        <p:nvSpPr>
          <p:cNvPr id="40" name="a5_n"/>
          <p:cNvSpPr/>
          <p:nvPr/>
        </p:nvSpPr>
        <p:spPr>
          <a:xfrm>
            <a:off x="7605301" y="5128399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0E1629"/>
          </a:solidFill>
          <a:ln w="12700">
            <a:solidFill>
              <a:srgbClr val="8EB4FF"/>
            </a:solidFill>
            <a:prstDash val="solid"/>
          </a:ln>
        </p:spPr>
      </p:sp>
      <p:pic>
        <p:nvPicPr>
          <p:cNvPr id="41" name="a5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3317" y="5302135"/>
            <a:ext cx="292608" cy="292608"/>
          </a:xfrm>
          <a:prstGeom prst="rect">
            <a:avLst/>
          </a:prstGeom>
        </p:spPr>
      </p:pic>
      <p:sp>
        <p:nvSpPr>
          <p:cNvPr id="42" name="a5_t"/>
          <p:cNvSpPr txBox="1"/>
          <p:nvPr/>
        </p:nvSpPr>
        <p:spPr>
          <a:xfrm>
            <a:off x="8099077" y="5183263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 &amp; Esports</a:t>
            </a:r>
            <a:endParaRPr lang="en-US" sz="1050" dirty="0"/>
          </a:p>
        </p:txBody>
      </p:sp>
      <p:sp>
        <p:nvSpPr>
          <p:cNvPr id="43" name="a5_s"/>
          <p:cNvSpPr txBox="1"/>
          <p:nvPr/>
        </p:nvSpPr>
        <p:spPr>
          <a:xfrm>
            <a:off x="8099077" y="5448439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аудитория</a:t>
            </a:r>
            <a:endParaRPr lang="en-US" sz="900" dirty="0"/>
          </a:p>
        </p:txBody>
      </p:sp>
      <p:sp>
        <p:nvSpPr>
          <p:cNvPr id="44" name="a6_n"/>
          <p:cNvSpPr/>
          <p:nvPr/>
        </p:nvSpPr>
        <p:spPr>
          <a:xfrm>
            <a:off x="4998568" y="548640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pic>
        <p:nvPicPr>
          <p:cNvPr id="45" name="a6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6584" y="5660136"/>
            <a:ext cx="292608" cy="292608"/>
          </a:xfrm>
          <a:prstGeom prst="rect">
            <a:avLst/>
          </a:prstGeom>
        </p:spPr>
      </p:pic>
      <p:sp>
        <p:nvSpPr>
          <p:cNvPr id="46" name="a6_t"/>
          <p:cNvSpPr txBox="1"/>
          <p:nvPr/>
        </p:nvSpPr>
        <p:spPr>
          <a:xfrm>
            <a:off x="5492344" y="554126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 Dev Academy</a:t>
            </a:r>
            <a:endParaRPr lang="en-US" sz="1050" dirty="0"/>
          </a:p>
        </p:txBody>
      </p:sp>
      <p:sp>
        <p:nvSpPr>
          <p:cNvPr id="47" name="a6_s"/>
          <p:cNvSpPr txBox="1"/>
          <p:nvPr/>
        </p:nvSpPr>
        <p:spPr>
          <a:xfrm>
            <a:off x="5492344" y="58064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кадры</a:t>
            </a:r>
            <a:endParaRPr lang="en-US" sz="900" dirty="0"/>
          </a:p>
        </p:txBody>
      </p:sp>
      <p:sp>
        <p:nvSpPr>
          <p:cNvPr id="48" name="a7_n"/>
          <p:cNvSpPr/>
          <p:nvPr/>
        </p:nvSpPr>
        <p:spPr>
          <a:xfrm>
            <a:off x="2391834" y="5128399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0E1629"/>
          </a:solidFill>
          <a:ln w="12700">
            <a:solidFill>
              <a:srgbClr val="8EB4FF"/>
            </a:solidFill>
            <a:prstDash val="solid"/>
          </a:ln>
        </p:spPr>
      </p:sp>
      <p:pic>
        <p:nvPicPr>
          <p:cNvPr id="49" name="a7_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9850" y="5302135"/>
            <a:ext cx="292608" cy="292608"/>
          </a:xfrm>
          <a:prstGeom prst="rect">
            <a:avLst/>
          </a:prstGeom>
        </p:spPr>
      </p:pic>
      <p:sp>
        <p:nvSpPr>
          <p:cNvPr id="50" name="a7_t"/>
          <p:cNvSpPr txBox="1"/>
          <p:nvPr/>
        </p:nvSpPr>
        <p:spPr>
          <a:xfrm>
            <a:off x="2885610" y="5183263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FC FootureX</a:t>
            </a:r>
            <a:endParaRPr lang="en-US" sz="1050" dirty="0"/>
          </a:p>
        </p:txBody>
      </p:sp>
      <p:sp>
        <p:nvSpPr>
          <p:cNvPr id="51" name="a7_s"/>
          <p:cNvSpPr txBox="1"/>
          <p:nvPr/>
        </p:nvSpPr>
        <p:spPr>
          <a:xfrm>
            <a:off x="2885610" y="5448439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клуб</a:t>
            </a:r>
            <a:endParaRPr lang="en-US" sz="900" dirty="0"/>
          </a:p>
        </p:txBody>
      </p:sp>
      <p:sp>
        <p:nvSpPr>
          <p:cNvPr id="52" name="a8_n"/>
          <p:cNvSpPr/>
          <p:nvPr/>
        </p:nvSpPr>
        <p:spPr>
          <a:xfrm>
            <a:off x="780784" y="4191139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0E1629"/>
          </a:solidFill>
          <a:ln w="12700">
            <a:solidFill>
              <a:srgbClr val="8EB4FF"/>
            </a:solidFill>
            <a:prstDash val="solid"/>
          </a:ln>
        </p:spPr>
      </p:sp>
      <p:pic>
        <p:nvPicPr>
          <p:cNvPr id="53" name="a8_i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800" y="4364875"/>
            <a:ext cx="292608" cy="292608"/>
          </a:xfrm>
          <a:prstGeom prst="rect">
            <a:avLst/>
          </a:prstGeom>
        </p:spPr>
      </p:pic>
      <p:sp>
        <p:nvSpPr>
          <p:cNvPr id="54" name="a8_t"/>
          <p:cNvSpPr txBox="1"/>
          <p:nvPr/>
        </p:nvSpPr>
        <p:spPr>
          <a:xfrm>
            <a:off x="1274560" y="4246003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Football Academy</a:t>
            </a:r>
            <a:endParaRPr lang="en-US" sz="1050" dirty="0"/>
          </a:p>
        </p:txBody>
      </p:sp>
      <p:sp>
        <p:nvSpPr>
          <p:cNvPr id="55" name="a8_s"/>
          <p:cNvSpPr txBox="1"/>
          <p:nvPr/>
        </p:nvSpPr>
        <p:spPr>
          <a:xfrm>
            <a:off x="1274560" y="4511179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таланты</a:t>
            </a:r>
            <a:endParaRPr lang="en-US" sz="900" dirty="0"/>
          </a:p>
        </p:txBody>
      </p:sp>
      <p:sp>
        <p:nvSpPr>
          <p:cNvPr id="56" name="a9_n"/>
          <p:cNvSpPr/>
          <p:nvPr/>
        </p:nvSpPr>
        <p:spPr>
          <a:xfrm>
            <a:off x="780784" y="3032621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0E1629"/>
          </a:solidFill>
          <a:ln w="12700">
            <a:solidFill>
              <a:srgbClr val="B8C1D4"/>
            </a:solidFill>
            <a:prstDash val="solid"/>
          </a:ln>
        </p:spPr>
      </p:sp>
      <p:pic>
        <p:nvPicPr>
          <p:cNvPr id="57" name="a9_i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800" y="3206357"/>
            <a:ext cx="292608" cy="292608"/>
          </a:xfrm>
          <a:prstGeom prst="rect">
            <a:avLst/>
          </a:prstGeom>
        </p:spPr>
      </p:pic>
      <p:sp>
        <p:nvSpPr>
          <p:cNvPr id="58" name="a9_t"/>
          <p:cNvSpPr txBox="1"/>
          <p:nvPr/>
        </p:nvSpPr>
        <p:spPr>
          <a:xfrm>
            <a:off x="1274560" y="3087485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Stadium</a:t>
            </a:r>
            <a:endParaRPr lang="en-US" sz="1050" dirty="0"/>
          </a:p>
        </p:txBody>
      </p:sp>
      <p:sp>
        <p:nvSpPr>
          <p:cNvPr id="59" name="a9_s"/>
          <p:cNvSpPr txBox="1"/>
          <p:nvPr/>
        </p:nvSpPr>
        <p:spPr>
          <a:xfrm>
            <a:off x="1274560" y="3352661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офлайн-арена</a:t>
            </a:r>
            <a:endParaRPr lang="en-US" sz="900" dirty="0"/>
          </a:p>
        </p:txBody>
      </p:sp>
      <p:sp>
        <p:nvSpPr>
          <p:cNvPr id="60" name="a10_n"/>
          <p:cNvSpPr/>
          <p:nvPr/>
        </p:nvSpPr>
        <p:spPr>
          <a:xfrm>
            <a:off x="2391834" y="2095361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0E1629"/>
          </a:solidFill>
          <a:ln w="12700">
            <a:solidFill>
              <a:srgbClr val="B8C1D4"/>
            </a:solidFill>
            <a:prstDash val="solid"/>
          </a:ln>
        </p:spPr>
      </p:sp>
      <p:pic>
        <p:nvPicPr>
          <p:cNvPr id="61" name="a10_i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19850" y="2269097"/>
            <a:ext cx="292608" cy="292608"/>
          </a:xfrm>
          <a:prstGeom prst="rect">
            <a:avLst/>
          </a:prstGeom>
        </p:spPr>
      </p:pic>
      <p:sp>
        <p:nvSpPr>
          <p:cNvPr id="62" name="a10_t"/>
          <p:cNvSpPr txBox="1"/>
          <p:nvPr/>
        </p:nvSpPr>
        <p:spPr>
          <a:xfrm>
            <a:off x="2885610" y="2150225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City</a:t>
            </a:r>
            <a:endParaRPr lang="en-US" sz="1050" dirty="0"/>
          </a:p>
        </p:txBody>
      </p:sp>
      <p:sp>
        <p:nvSpPr>
          <p:cNvPr id="63" name="a10_s"/>
          <p:cNvSpPr txBox="1"/>
          <p:nvPr/>
        </p:nvSpPr>
        <p:spPr>
          <a:xfrm>
            <a:off x="2885610" y="2415401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городская среда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/>
      <p:bldP spid="27" grpId="0"/>
      <p:bldP spid="28" grpId="0" animBg="1"/>
      <p:bldP spid="30" grpId="0"/>
      <p:bldP spid="31" grpId="0"/>
      <p:bldP spid="32" grpId="0" animBg="1"/>
      <p:bldP spid="34" grpId="0"/>
      <p:bldP spid="35" grpId="0"/>
      <p:bldP spid="36" grpId="0" animBg="1"/>
      <p:bldP spid="38" grpId="0"/>
      <p:bldP spid="39" grpId="0"/>
      <p:bldP spid="40" grpId="0" animBg="1"/>
      <p:bldP spid="42" grpId="0"/>
      <p:bldP spid="43" grpId="0"/>
      <p:bldP spid="44" grpId="0" animBg="1"/>
      <p:bldP spid="46" grpId="0"/>
      <p:bldP spid="47" grpId="0"/>
      <p:bldP spid="48" grpId="0" animBg="1"/>
      <p:bldP spid="50" grpId="0"/>
      <p:bldP spid="51" grpId="0"/>
      <p:bldP spid="52" grpId="0" animBg="1"/>
      <p:bldP spid="54" grpId="0"/>
      <p:bldP spid="55" grpId="0"/>
      <p:bldP spid="56" grpId="0" animBg="1"/>
      <p:bldP spid="58" grpId="0"/>
      <p:bldP spid="59" grpId="0"/>
      <p:bldP spid="60" grpId="0" animBg="1"/>
      <p:bldP spid="62" grpId="0"/>
      <p:bldP spid="6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ai-clo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888" y="-171450"/>
            <a:ext cx="12801280" cy="72009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Трансформация мировой цифровой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экономики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 · MARKET &amp; STRATEGY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8914486" y="274320"/>
            <a:ext cx="27285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033358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152230" y="274320"/>
            <a:ext cx="2435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РЫНОЧНЫЕ ДАННЫЕ · ИСТОЧНИКИ</a:t>
            </a:r>
            <a:endParaRPr lang="en-US" sz="850" dirty="0"/>
          </a:p>
        </p:txBody>
      </p:sp>
      <p:sp>
        <p:nvSpPr>
          <p:cNvPr id="12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Gartner, пресс-релизы 27.07.2026 (IT) и 16.09.2026 (AI); Newzoo Global Games Market Report (оценка 2025 г., опубл. 2026).</a:t>
            </a:r>
            <a:endParaRPr lang="en-US" sz="850" dirty="0"/>
          </a:p>
        </p:txBody>
      </p:sp>
      <p:sp>
        <p:nvSpPr>
          <p:cNvPr id="13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MARKET &amp; STRATEGY</a:t>
            </a:r>
            <a:endParaRPr lang="en-US" sz="900" dirty="0"/>
          </a:p>
        </p:txBody>
      </p:sp>
      <p:sp>
        <p:nvSpPr>
          <p:cNvPr id="15" name="!!roman"/>
          <p:cNvSpPr txBox="1"/>
          <p:nvPr/>
        </p:nvSpPr>
        <p:spPr>
          <a:xfrm>
            <a:off x="502920" y="17830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II</a:t>
            </a:r>
            <a:endParaRPr lang="en-US" sz="880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3154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РЫНКИ И СТРАТЕГИЯ</a:t>
            </a:r>
            <a:endParaRPr lang="en-US" sz="1300" dirty="0"/>
          </a:p>
        </p:txBody>
      </p:sp>
      <p:sp>
        <p:nvSpPr>
          <p:cNvPr id="17" name="a1_lead"/>
          <p:cNvSpPr txBox="1"/>
          <p:nvPr/>
        </p:nvSpPr>
        <p:spPr>
          <a:xfrm>
            <a:off x="548640" y="36118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Технологии, AI и интерактивные развлечения растут быстрее мировой экономики. Центр спроса смещается к платформам, данным и автоматизации.</a:t>
            </a:r>
            <a:endParaRPr lang="en-US" sz="1500" dirty="0"/>
          </a:p>
        </p:txBody>
      </p:sp>
      <p:sp>
        <p:nvSpPr>
          <p:cNvPr id="18" name="a2_pv"/>
          <p:cNvSpPr txBox="1"/>
          <p:nvPr/>
        </p:nvSpPr>
        <p:spPr>
          <a:xfrm>
            <a:off x="54864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$6,37 трлн</a:t>
            </a:r>
            <a:endParaRPr lang="en-US" sz="1600" dirty="0"/>
          </a:p>
        </p:txBody>
      </p:sp>
      <p:sp>
        <p:nvSpPr>
          <p:cNvPr id="19" name="a2_pl"/>
          <p:cNvSpPr txBox="1"/>
          <p:nvPr/>
        </p:nvSpPr>
        <p:spPr>
          <a:xfrm>
            <a:off x="54864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мировые IT-расходы в 2026 г., +14,2%</a:t>
            </a:r>
            <a:endParaRPr lang="en-US" sz="1050" dirty="0"/>
          </a:p>
        </p:txBody>
      </p:sp>
      <p:sp>
        <p:nvSpPr>
          <p:cNvPr id="20" name="a3_pv"/>
          <p:cNvSpPr txBox="1"/>
          <p:nvPr/>
        </p:nvSpPr>
        <p:spPr>
          <a:xfrm>
            <a:off x="228600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$2,7 трлн</a:t>
            </a:r>
            <a:endParaRPr lang="en-US" sz="1600" dirty="0"/>
          </a:p>
        </p:txBody>
      </p:sp>
      <p:sp>
        <p:nvSpPr>
          <p:cNvPr id="21" name="a3_pl"/>
          <p:cNvSpPr txBox="1"/>
          <p:nvPr/>
        </p:nvSpPr>
        <p:spPr>
          <a:xfrm>
            <a:off x="228600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мировые расходы на AI в 2026 г., +49,5%</a:t>
            </a:r>
            <a:endParaRPr lang="en-US" sz="1050" dirty="0"/>
          </a:p>
        </p:txBody>
      </p:sp>
      <p:sp>
        <p:nvSpPr>
          <p:cNvPr id="22" name="a4_pv"/>
          <p:cNvSpPr txBox="1"/>
          <p:nvPr/>
        </p:nvSpPr>
        <p:spPr>
          <a:xfrm>
            <a:off x="402336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$201,6 млрд</a:t>
            </a:r>
            <a:endParaRPr lang="en-US" sz="1600" dirty="0"/>
          </a:p>
        </p:txBody>
      </p:sp>
      <p:sp>
        <p:nvSpPr>
          <p:cNvPr id="23" name="a4_pl"/>
          <p:cNvSpPr txBox="1"/>
          <p:nvPr/>
        </p:nvSpPr>
        <p:spPr>
          <a:xfrm>
            <a:off x="402336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выручка игрового рынка в 2025 г., +9,1%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Абстрактная 3D-визуализация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Рынок информационных технологий: глобальный рост и экспорт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Узбекистана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 · MARKET &amp; STRATEGY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914486" y="274320"/>
            <a:ext cx="27285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033358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152230" y="274320"/>
            <a:ext cx="2435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РЫНОЧНЫЕ ДАННЫЕ · ИСТОЧНИКИ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Gartner (27.07.2026; 2025 г. рассчитан из темпа роста +14,2%); IT Park / Dunyo IA (21.08.2026) — экспорт резидентов IT Park; первое полугодие 2025 г. рассчитано как $392,5 млн − $90,3 млн.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MARKET &amp; STRATEGY</a:t>
            </a:r>
            <a:endParaRPr lang="en-US" sz="900" dirty="0"/>
          </a:p>
        </p:txBody>
      </p:sp>
      <p:graphicFrame>
        <p:nvGraphicFramePr>
          <p:cNvPr id="10" name="a1_chart" descr=""/>
          <p:cNvGraphicFramePr/>
          <p:nvPr/>
        </p:nvGraphicFramePr>
        <p:xfrm>
          <a:off x="548640" y="187452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a1_chart" descr=""/>
          <p:cNvGraphicFramePr/>
          <p:nvPr/>
        </p:nvGraphicFramePr>
        <p:xfrm>
          <a:off x="6263640" y="1874520"/>
          <a:ext cx="3108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a2_ins"/>
          <p:cNvSpPr/>
          <p:nvPr/>
        </p:nvSpPr>
        <p:spPr>
          <a:xfrm>
            <a:off x="9555480" y="1874520"/>
            <a:ext cx="2084832" cy="4023360"/>
          </a:xfrm>
          <a:prstGeom prst="roundRect">
            <a:avLst>
              <a:gd name="adj" fmla="val 5263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784080" y="207568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9784080" y="2478024"/>
            <a:ext cx="162763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IT-экспорт Узбекистана: ≈ +30% год к году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Спрос смещается к облаку, AI и автоматизации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Окно для экспортно-ориентированной IT-компании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Graphic spid="11" grpId="0">
        <p:bldAsOne/>
      </p:bldGraphic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Международная игровая индустрия: $201,6 млрд и рост в мобильном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сегменте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 · MARKET &amp; STRATEGY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914486" y="274320"/>
            <a:ext cx="27285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033358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152230" y="274320"/>
            <a:ext cx="2435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РЫНОЧНЫЕ ДАННЫЕ · ИСТОЧНИКИ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Newzoo, Global Games Market Report — оценка 2025 г. и прогноз 2026–2028 гг. (по данным GamesBeat и GameDevReports, 2026).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MARKET &amp; STRATEGY</a:t>
            </a:r>
            <a:endParaRPr lang="en-US" sz="900" dirty="0"/>
          </a:p>
        </p:txBody>
      </p:sp>
      <p:graphicFrame>
        <p:nvGraphicFramePr>
          <p:cNvPr id="10" name="a1_chart" descr=""/>
          <p:cNvGraphicFramePr/>
          <p:nvPr/>
        </p:nvGraphicFramePr>
        <p:xfrm>
          <a:off x="548640" y="1874520"/>
          <a:ext cx="4206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a1_chart" descr=""/>
          <p:cNvGraphicFramePr/>
          <p:nvPr/>
        </p:nvGraphicFramePr>
        <p:xfrm>
          <a:off x="4983480" y="1874520"/>
          <a:ext cx="4023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a2_ins"/>
          <p:cNvSpPr/>
          <p:nvPr/>
        </p:nvSpPr>
        <p:spPr>
          <a:xfrm>
            <a:off x="9189720" y="1874520"/>
            <a:ext cx="2450592" cy="4023360"/>
          </a:xfrm>
          <a:prstGeom prst="roundRect">
            <a:avLst>
              <a:gd name="adj" fmla="val 4478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418320" y="20756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важно для FootureX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9418320" y="2478024"/>
            <a:ext cx="199339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56% рынка — мобильные игры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Рост за счёт расходов на игрока, а не числа загрузок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Мини-игры без установки — драйвер роста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 Web App — нативный формат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Graphic spid="11" grpId="0">
        <p:bldAsOne/>
      </p:bldGraphic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Развитие искусственного интеллекта: от экспериментов к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эффекту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 · MARKET &amp; STRATEGY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914486" y="274320"/>
            <a:ext cx="27285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033358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152230" y="274320"/>
            <a:ext cx="2435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РЫНОЧНЫЕ ДАННЫЕ · ИСТОЧНИКИ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Gartner (16.09.2026); McKinsey «The State of AI in 2025»; Постановление Президента РУз ПП-358 от 14.10.2024 «Стратегия развития технологий ИИ до 2030 года».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MARKET &amp; STRATEGY</a:t>
            </a:r>
            <a:endParaRPr lang="en-US" sz="900" dirty="0"/>
          </a:p>
        </p:txBody>
      </p:sp>
      <p:sp>
        <p:nvSpPr>
          <p:cNvPr id="10" name="a1_card"/>
          <p:cNvSpPr/>
          <p:nvPr/>
        </p:nvSpPr>
        <p:spPr>
          <a:xfrm>
            <a:off x="548640" y="1920240"/>
            <a:ext cx="2567864" cy="2148840"/>
          </a:xfrm>
          <a:prstGeom prst="roundRect">
            <a:avLst>
              <a:gd name="adj" fmla="val 510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1" name="a1_v"/>
          <p:cNvSpPr txBox="1"/>
          <p:nvPr/>
        </p:nvSpPr>
        <p:spPr>
          <a:xfrm>
            <a:off x="777240" y="2121408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$2,7 трлн</a:t>
            </a:r>
            <a:endParaRPr lang="en-US" sz="2200" dirty="0"/>
          </a:p>
        </p:txBody>
      </p:sp>
      <p:sp>
        <p:nvSpPr>
          <p:cNvPr id="12" name="a1_l"/>
          <p:cNvSpPr txBox="1"/>
          <p:nvPr/>
        </p:nvSpPr>
        <p:spPr>
          <a:xfrm>
            <a:off x="777240" y="2852928"/>
            <a:ext cx="2110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мировые расходы на AI в 2026 г., рост +49,5% год к году</a:t>
            </a:r>
            <a:endParaRPr lang="en-US" sz="1250" dirty="0"/>
          </a:p>
        </p:txBody>
      </p:sp>
      <p:sp>
        <p:nvSpPr>
          <p:cNvPr id="13" name="a1_s"/>
          <p:cNvSpPr txBox="1"/>
          <p:nvPr/>
        </p:nvSpPr>
        <p:spPr>
          <a:xfrm>
            <a:off x="777240" y="3739896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Gartner, сентябрь 2026</a:t>
            </a:r>
            <a:endParaRPr lang="en-US" sz="850" dirty="0"/>
          </a:p>
        </p:txBody>
      </p:sp>
      <p:sp>
        <p:nvSpPr>
          <p:cNvPr id="14" name="a2_card"/>
          <p:cNvSpPr/>
          <p:nvPr/>
        </p:nvSpPr>
        <p:spPr>
          <a:xfrm>
            <a:off x="3390824" y="1920240"/>
            <a:ext cx="2567864" cy="2148840"/>
          </a:xfrm>
          <a:prstGeom prst="roundRect">
            <a:avLst>
              <a:gd name="adj" fmla="val 510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5" name="a2_v"/>
          <p:cNvSpPr txBox="1"/>
          <p:nvPr/>
        </p:nvSpPr>
        <p:spPr>
          <a:xfrm>
            <a:off x="3619424" y="2121408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62%</a:t>
            </a:r>
            <a:endParaRPr lang="en-US" sz="3800" dirty="0"/>
          </a:p>
        </p:txBody>
      </p:sp>
      <p:sp>
        <p:nvSpPr>
          <p:cNvPr id="16" name="a2_l"/>
          <p:cNvSpPr txBox="1"/>
          <p:nvPr/>
        </p:nvSpPr>
        <p:spPr>
          <a:xfrm>
            <a:off x="3619424" y="2852928"/>
            <a:ext cx="2110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организаций как минимум экспериментируют с AI-агентами</a:t>
            </a:r>
            <a:endParaRPr lang="en-US" sz="1250" dirty="0"/>
          </a:p>
        </p:txBody>
      </p:sp>
      <p:sp>
        <p:nvSpPr>
          <p:cNvPr id="17" name="a2_s"/>
          <p:cNvSpPr txBox="1"/>
          <p:nvPr/>
        </p:nvSpPr>
        <p:spPr>
          <a:xfrm>
            <a:off x="3619424" y="3739896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McKinsey, State of AI 2025</a:t>
            </a:r>
            <a:endParaRPr lang="en-US" sz="850" dirty="0"/>
          </a:p>
        </p:txBody>
      </p:sp>
      <p:sp>
        <p:nvSpPr>
          <p:cNvPr id="18" name="a3_card"/>
          <p:cNvSpPr/>
          <p:nvPr/>
        </p:nvSpPr>
        <p:spPr>
          <a:xfrm>
            <a:off x="6233008" y="1920240"/>
            <a:ext cx="2567864" cy="2148840"/>
          </a:xfrm>
          <a:prstGeom prst="roundRect">
            <a:avLst>
              <a:gd name="adj" fmla="val 510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9" name="a3_v"/>
          <p:cNvSpPr txBox="1"/>
          <p:nvPr/>
        </p:nvSpPr>
        <p:spPr>
          <a:xfrm>
            <a:off x="6461608" y="2121408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39%</a:t>
            </a:r>
            <a:endParaRPr lang="en-US" sz="3800" dirty="0"/>
          </a:p>
        </p:txBody>
      </p:sp>
      <p:sp>
        <p:nvSpPr>
          <p:cNvPr id="20" name="a3_l"/>
          <p:cNvSpPr txBox="1"/>
          <p:nvPr/>
        </p:nvSpPr>
        <p:spPr>
          <a:xfrm>
            <a:off x="6461608" y="2852928"/>
            <a:ext cx="2110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отмечают влияние AI на EBIT на уровне всей компании</a:t>
            </a:r>
            <a:endParaRPr lang="en-US" sz="1250" dirty="0"/>
          </a:p>
        </p:txBody>
      </p:sp>
      <p:sp>
        <p:nvSpPr>
          <p:cNvPr id="21" name="a3_s"/>
          <p:cNvSpPr txBox="1"/>
          <p:nvPr/>
        </p:nvSpPr>
        <p:spPr>
          <a:xfrm>
            <a:off x="6461608" y="3739896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McKinsey, State of AI 2025</a:t>
            </a:r>
            <a:endParaRPr lang="en-US" sz="850" dirty="0"/>
          </a:p>
        </p:txBody>
      </p:sp>
      <p:sp>
        <p:nvSpPr>
          <p:cNvPr id="22" name="a4_card"/>
          <p:cNvSpPr/>
          <p:nvPr/>
        </p:nvSpPr>
        <p:spPr>
          <a:xfrm>
            <a:off x="9075191" y="1920240"/>
            <a:ext cx="2567864" cy="2148840"/>
          </a:xfrm>
          <a:prstGeom prst="roundRect">
            <a:avLst>
              <a:gd name="adj" fmla="val 510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3" name="a4_v"/>
          <p:cNvSpPr txBox="1"/>
          <p:nvPr/>
        </p:nvSpPr>
        <p:spPr>
          <a:xfrm>
            <a:off x="9303791" y="2121408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$1,5 млрд</a:t>
            </a:r>
            <a:endParaRPr lang="en-US" sz="2200" dirty="0"/>
          </a:p>
        </p:txBody>
      </p:sp>
      <p:sp>
        <p:nvSpPr>
          <p:cNvPr id="24" name="a4_l"/>
          <p:cNvSpPr txBox="1"/>
          <p:nvPr/>
        </p:nvSpPr>
        <p:spPr>
          <a:xfrm>
            <a:off x="9303791" y="2852928"/>
            <a:ext cx="2110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 Узбекистана по AI-продуктам и услугам к 2030 г.</a:t>
            </a:r>
            <a:endParaRPr lang="en-US" sz="1250" dirty="0"/>
          </a:p>
        </p:txBody>
      </p:sp>
      <p:sp>
        <p:nvSpPr>
          <p:cNvPr id="25" name="a4_s"/>
          <p:cNvSpPr txBox="1"/>
          <p:nvPr/>
        </p:nvSpPr>
        <p:spPr>
          <a:xfrm>
            <a:off x="9303791" y="3739896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ПП-358 от 14.10.2024</a:t>
            </a:r>
            <a:endParaRPr lang="en-US" sz="850" dirty="0"/>
          </a:p>
        </p:txBody>
      </p:sp>
      <p:sp>
        <p:nvSpPr>
          <p:cNvPr id="26" name="a5_gap"/>
          <p:cNvSpPr/>
          <p:nvPr/>
        </p:nvSpPr>
        <p:spPr>
          <a:xfrm>
            <a:off x="548640" y="4343400"/>
            <a:ext cx="11094415" cy="1554480"/>
          </a:xfrm>
          <a:prstGeom prst="roundRect">
            <a:avLst>
              <a:gd name="adj" fmla="val 7059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Разрыв между экспериментом и результатом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491947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Бизнесу нужны не модели, а работающие процессы: интеграция с ERP/CRM, данные, контроль качества и ответственность. Именно это FootureX AI предлагает рынку Узбекистана и Центральной Азии.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/>
      <p:bldP spid="14" grpId="0" animBg="1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arena-st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Рынок киберспорта: глобальная аудитория и развитие в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Узбекистане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 · MARKET &amp; STRATEGY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8914486" y="274320"/>
            <a:ext cx="27285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033358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152230" y="274320"/>
            <a:ext cx="2435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РЫНОЧНЫЕ ДАННЫЕ · ИСТОЧНИКИ</a:t>
            </a:r>
            <a:endParaRPr lang="en-US" sz="850" dirty="0"/>
          </a:p>
        </p:txBody>
      </p:sp>
      <p:sp>
        <p:nvSpPr>
          <p:cNvPr id="12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Newzoo (аудитория 2025 г., в пересказе Quantumrun/Bitcoin.com); Ken Research, Statista (выручка 2025, разные методики); Постановление Президента РУз от 16.11.2022; AESF; gov.uz (12.2025).</a:t>
            </a:r>
            <a:endParaRPr lang="en-US" sz="850" dirty="0"/>
          </a:p>
        </p:txBody>
      </p:sp>
      <p:sp>
        <p:nvSpPr>
          <p:cNvPr id="13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MARKET &amp; STRATEGY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6" name="pnl"/>
          <p:cNvSpPr/>
          <p:nvPr/>
        </p:nvSpPr>
        <p:spPr>
          <a:xfrm>
            <a:off x="411480" y="1737360"/>
            <a:ext cx="5943600" cy="4343400"/>
          </a:xfrm>
          <a:prstGeom prst="roundRect">
            <a:avLst>
              <a:gd name="adj" fmla="val 2526"/>
            </a:avLst>
          </a:prstGeom>
          <a:solidFill>
            <a:srgbClr val="0B0F0E">
              <a:alpha val="85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7" name="a1_card"/>
          <p:cNvSpPr/>
          <p:nvPr/>
        </p:nvSpPr>
        <p:spPr>
          <a:xfrm>
            <a:off x="548640" y="18745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8" name="a1_v"/>
          <p:cNvSpPr txBox="1"/>
          <p:nvPr/>
        </p:nvSpPr>
        <p:spPr>
          <a:xfrm>
            <a:off x="777240" y="20756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640,8 млн</a:t>
            </a:r>
            <a:endParaRPr lang="en-US" sz="2400" dirty="0"/>
          </a:p>
        </p:txBody>
      </p:sp>
      <p:sp>
        <p:nvSpPr>
          <p:cNvPr id="19" name="a1_l"/>
          <p:cNvSpPr txBox="1"/>
          <p:nvPr/>
        </p:nvSpPr>
        <p:spPr>
          <a:xfrm>
            <a:off x="777240" y="28072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зрителей киберспорта в мире, 2025</a:t>
            </a:r>
            <a:endParaRPr lang="en-US" sz="1250" dirty="0"/>
          </a:p>
        </p:txBody>
      </p:sp>
      <p:sp>
        <p:nvSpPr>
          <p:cNvPr id="20" name="a1_s"/>
          <p:cNvSpPr txBox="1"/>
          <p:nvPr/>
        </p:nvSpPr>
        <p:spPr>
          <a:xfrm>
            <a:off x="777240" y="32369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Newzoo</a:t>
            </a:r>
            <a:endParaRPr lang="en-US" sz="850" dirty="0"/>
          </a:p>
        </p:txBody>
      </p:sp>
      <p:sp>
        <p:nvSpPr>
          <p:cNvPr id="21" name="a2_card"/>
          <p:cNvSpPr/>
          <p:nvPr/>
        </p:nvSpPr>
        <p:spPr>
          <a:xfrm>
            <a:off x="3520440" y="18745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2" name="a2_v"/>
          <p:cNvSpPr txBox="1"/>
          <p:nvPr/>
        </p:nvSpPr>
        <p:spPr>
          <a:xfrm>
            <a:off x="3749040" y="20756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$2,6–4,8 млрд</a:t>
            </a:r>
            <a:endParaRPr lang="en-US" sz="1600" dirty="0"/>
          </a:p>
        </p:txBody>
      </p:sp>
      <p:sp>
        <p:nvSpPr>
          <p:cNvPr id="23" name="a2_l"/>
          <p:cNvSpPr txBox="1"/>
          <p:nvPr/>
        </p:nvSpPr>
        <p:spPr>
          <a:xfrm>
            <a:off x="3749040" y="28072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оценки выручки 2025 по разным методикам</a:t>
            </a:r>
            <a:endParaRPr lang="en-US" sz="1250" dirty="0"/>
          </a:p>
        </p:txBody>
      </p:sp>
      <p:sp>
        <p:nvSpPr>
          <p:cNvPr id="24" name="a2_s"/>
          <p:cNvSpPr txBox="1"/>
          <p:nvPr/>
        </p:nvSpPr>
        <p:spPr>
          <a:xfrm>
            <a:off x="3749040" y="32369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Ken Research · Statista</a:t>
            </a:r>
            <a:endParaRPr lang="en-US" sz="85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Узбекистан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42519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Государственная поддержка: постановление о развитии и популяризации киберспорта (16.11.2022)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Национальная ассоциация — полноправный член Азиатской федерации киберспорта (AESF)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Регулярные национальные турниры: Кубок Кабинета Министров (декабрь 2025)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  <p:bldP spid="20" grpId="0"/>
      <p:bldP spid="21" grpId="0" animBg="1"/>
      <p:bldP spid="22" grpId="0"/>
      <p:bldP spid="23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map-tashk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04792" y="240030"/>
            <a:ext cx="12801280" cy="7200900"/>
          </a:xfrm>
          <a:prstGeom prst="rect">
            <a:avLst/>
          </a:prstGeom>
        </p:spPr>
      </p:pic>
      <p:pic>
        <p:nvPicPr>
          <p:cNvPr id="3" name="ov-right" descr="/home/user/footurex-main/presentation/assets/renders/ov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Цифровизация Узбекистана: инфраструктура, люди и государственная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повестка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 · MARKET &amp; STRATEGY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8914486" y="274320"/>
            <a:ext cx="27285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033358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152230" y="274320"/>
            <a:ext cx="2435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РЫНОЧНЫЕ ДАННЫЕ · ИСТОЧНИКИ</a:t>
            </a:r>
            <a:endParaRPr lang="en-US" sz="850" dirty="0"/>
          </a:p>
        </p:txBody>
      </p:sp>
      <p:sp>
        <p:nvSpPr>
          <p:cNvPr id="12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DataReportal «Digital 2026: Uzbekistan»; Нацкомстат РУз; IT Park (01–07.2025); Указ УП-6079 от 05.10.2020 «Цифровой Узбекистан — 2030»; gov.uz (07.2026).</a:t>
            </a:r>
            <a:endParaRPr lang="en-US" sz="850" dirty="0"/>
          </a:p>
        </p:txBody>
      </p:sp>
      <p:sp>
        <p:nvSpPr>
          <p:cNvPr id="13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MARKET &amp; STRATEGY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548640" y="55961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3D-карта: Natural Earth · схематично</a:t>
            </a:r>
            <a:endParaRPr lang="en-US" sz="850" dirty="0"/>
          </a:p>
        </p:txBody>
      </p:sp>
      <p:sp>
        <p:nvSpPr>
          <p:cNvPr id="16" name="a1_c"/>
          <p:cNvSpPr/>
          <p:nvPr/>
        </p:nvSpPr>
        <p:spPr>
          <a:xfrm>
            <a:off x="6720840" y="182880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7" name="a1_v"/>
          <p:cNvSpPr txBox="1"/>
          <p:nvPr/>
        </p:nvSpPr>
        <p:spPr>
          <a:xfrm>
            <a:off x="690372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33,1 млн</a:t>
            </a:r>
            <a:endParaRPr lang="en-US" sz="2200" dirty="0"/>
          </a:p>
        </p:txBody>
      </p:sp>
      <p:sp>
        <p:nvSpPr>
          <p:cNvPr id="18" name="a1_l"/>
          <p:cNvSpPr txBox="1"/>
          <p:nvPr/>
        </p:nvSpPr>
        <p:spPr>
          <a:xfrm>
            <a:off x="6903720" y="24505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интернет-пользователей (89%, DataReportal)</a:t>
            </a:r>
            <a:endParaRPr lang="en-US" sz="1050" dirty="0"/>
          </a:p>
        </p:txBody>
      </p:sp>
      <p:sp>
        <p:nvSpPr>
          <p:cNvPr id="19" name="a2_c"/>
          <p:cNvSpPr/>
          <p:nvPr/>
        </p:nvSpPr>
        <p:spPr>
          <a:xfrm>
            <a:off x="9235440" y="182880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0" name="a2_v"/>
          <p:cNvSpPr txBox="1"/>
          <p:nvPr/>
        </p:nvSpPr>
        <p:spPr>
          <a:xfrm>
            <a:off x="941832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33,9 млн</a:t>
            </a:r>
            <a:endParaRPr lang="en-US" sz="2200" dirty="0"/>
          </a:p>
        </p:txBody>
      </p:sp>
      <p:sp>
        <p:nvSpPr>
          <p:cNvPr id="21" name="a2_l"/>
          <p:cNvSpPr txBox="1"/>
          <p:nvPr/>
        </p:nvSpPr>
        <p:spPr>
          <a:xfrm>
            <a:off x="9418320" y="24505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мобильных подключений</a:t>
            </a:r>
            <a:endParaRPr lang="en-US" sz="1050" dirty="0"/>
          </a:p>
        </p:txBody>
      </p:sp>
      <p:sp>
        <p:nvSpPr>
          <p:cNvPr id="22" name="a3_c"/>
          <p:cNvSpPr/>
          <p:nvPr/>
        </p:nvSpPr>
        <p:spPr>
          <a:xfrm>
            <a:off x="6720840" y="315468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3" name="a3_v"/>
          <p:cNvSpPr txBox="1"/>
          <p:nvPr/>
        </p:nvSpPr>
        <p:spPr>
          <a:xfrm>
            <a:off x="690372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481</a:t>
            </a:r>
            <a:endParaRPr lang="en-US" sz="2200" dirty="0"/>
          </a:p>
        </p:txBody>
      </p:sp>
      <p:sp>
        <p:nvSpPr>
          <p:cNvPr id="24" name="a3_l"/>
          <p:cNvSpPr txBox="1"/>
          <p:nvPr/>
        </p:nvSpPr>
        <p:spPr>
          <a:xfrm>
            <a:off x="6903720" y="3776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новая экспортная компания в IT Park, янв.–июль 2025</a:t>
            </a:r>
            <a:endParaRPr lang="en-US" sz="1050" dirty="0"/>
          </a:p>
        </p:txBody>
      </p:sp>
      <p:sp>
        <p:nvSpPr>
          <p:cNvPr id="25" name="a4_c"/>
          <p:cNvSpPr/>
          <p:nvPr/>
        </p:nvSpPr>
        <p:spPr>
          <a:xfrm>
            <a:off x="9235440" y="315468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6" name="a4_v"/>
          <p:cNvSpPr txBox="1"/>
          <p:nvPr/>
        </p:nvSpPr>
        <p:spPr>
          <a:xfrm>
            <a:off x="941832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$145+ млрд</a:t>
            </a:r>
            <a:endParaRPr lang="en-US" sz="1800" dirty="0"/>
          </a:p>
        </p:txBody>
      </p:sp>
      <p:sp>
        <p:nvSpPr>
          <p:cNvPr id="27" name="a4_l"/>
          <p:cNvSpPr txBox="1"/>
          <p:nvPr/>
        </p:nvSpPr>
        <p:spPr>
          <a:xfrm>
            <a:off x="9418320" y="3776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ВВП Узбекистана в 2025 г.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6720840" y="4572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Государственная повестка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720840" y="491947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Стратегия «Цифровой Узбекистан — 2030»</a:t>
            </a:r>
            <a:endParaRPr lang="en-US" sz="12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Стратегия развития ИИ до 2030 г.</a:t>
            </a:r>
            <a:endParaRPr lang="en-US" sz="12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Льготный режим IT Park для экспортёров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Проблемы и потребности целевых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рынков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 · MARKET &amp; STRATEGY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250985" y="274320"/>
            <a:ext cx="23920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369857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88729" y="274320"/>
            <a:ext cx="2099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ТРЕБУЕТСЯ ПОДТВЕРЖДЕНИЕ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MARKET &amp; STRATEGY</a:t>
            </a:r>
            <a:endParaRPr lang="en-US" sz="900" dirty="0"/>
          </a:p>
        </p:txBody>
      </p:sp>
      <p:graphicFrame>
        <p:nvGraphicFramePr>
          <p:cNvPr id="18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880360"/>
                <a:gridCol w="3063240"/>
                <a:gridCol w="28163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Сегмент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Ключевая потребность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Типичная проблема сегодня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Ответ FootureX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Малый и средний бизнес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Учёт, продажи и касса в одной системе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Разрозненные таблицы и несвязанные программы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ERP/CRM/POS-пакеты Technologies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Средние и крупные компании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Автоматизация и AI в процессах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Пилоты AI без интеграции и эффекта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AI-агенты и мультиагентные системы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Игроки и болельщики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Футбольный опыт в смартфоне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Тяжёлые приложения, слабая локализация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FootureX Game в Telegram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Молодёжь и студенты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Профессия в цифровой индустрии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Мало практики на реальных проектах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Game Dev Academy + студия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Юные футболисты и семьи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Путь в профессиональный футбол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Нехватка системной подготовки и данных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Football Academy + AI-аналитика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Город и девелопмент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Современная спортивно-деловая среда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Разрыв между спортом, IT и городом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Концепции Stadium и City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Возможности FootureX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Uzbekistan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 · MARKET &amp; STRATEGY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914486" y="274320"/>
            <a:ext cx="27285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033358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152230" y="274320"/>
            <a:ext cx="2435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РЫНОЧНЫЕ ДАННЫЕ · ИСТОЧНИКИ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см. слайды 12–16; ФИФА (решение Совета 02.10.2025 о проведении U-20 World Cup 2027 в Узбекистане и Азербайджане); gov.uz (Новый Ташкент).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MARKET &amp; STRATEGY</a:t>
            </a:r>
            <a:endParaRPr lang="en-US" sz="900" dirty="0"/>
          </a:p>
        </p:txBody>
      </p:sp>
      <p:sp>
        <p:nvSpPr>
          <p:cNvPr id="10" name="a1_card"/>
          <p:cNvSpPr/>
          <p:nvPr/>
        </p:nvSpPr>
        <p:spPr>
          <a:xfrm>
            <a:off x="548640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1" name="a1_iconbg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2" name="a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67128"/>
            <a:ext cx="237744" cy="237744"/>
          </a:xfrm>
          <a:prstGeom prst="rect">
            <a:avLst/>
          </a:prstGeom>
        </p:spPr>
      </p:pic>
      <p:sp>
        <p:nvSpPr>
          <p:cNvPr id="13" name="a1_t"/>
          <p:cNvSpPr txBox="1"/>
          <p:nvPr/>
        </p:nvSpPr>
        <p:spPr>
          <a:xfrm>
            <a:off x="1371600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Спрос на цифровизацию</a:t>
            </a:r>
            <a:endParaRPr lang="en-US" sz="1400" dirty="0"/>
          </a:p>
        </p:txBody>
      </p:sp>
      <p:sp>
        <p:nvSpPr>
          <p:cNvPr id="14" name="a1_d"/>
          <p:cNvSpPr txBox="1"/>
          <p:nvPr/>
        </p:nvSpPr>
        <p:spPr>
          <a:xfrm>
            <a:off x="777240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Экспорт IT-услуг растёт ≈30% в год; бизнес переходит от таблиц к системам.</a:t>
            </a:r>
            <a:endParaRPr lang="en-US" sz="1250" dirty="0"/>
          </a:p>
        </p:txBody>
      </p:sp>
      <p:sp>
        <p:nvSpPr>
          <p:cNvPr id="15" name="a2_card"/>
          <p:cNvSpPr/>
          <p:nvPr/>
        </p:nvSpPr>
        <p:spPr>
          <a:xfrm>
            <a:off x="4322978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6" name="a2_iconbg"/>
          <p:cNvSpPr/>
          <p:nvPr/>
        </p:nvSpPr>
        <p:spPr>
          <a:xfrm>
            <a:off x="4551578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7" name="a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306" y="2167128"/>
            <a:ext cx="237744" cy="237744"/>
          </a:xfrm>
          <a:prstGeom prst="rect">
            <a:avLst/>
          </a:prstGeom>
        </p:spPr>
      </p:pic>
      <p:sp>
        <p:nvSpPr>
          <p:cNvPr id="18" name="a2_t"/>
          <p:cNvSpPr txBox="1"/>
          <p:nvPr/>
        </p:nvSpPr>
        <p:spPr>
          <a:xfrm>
            <a:off x="5145938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Государственная AI-повестка</a:t>
            </a:r>
            <a:endParaRPr lang="en-US" sz="1400" dirty="0"/>
          </a:p>
        </p:txBody>
      </p:sp>
      <p:sp>
        <p:nvSpPr>
          <p:cNvPr id="19" name="a2_d"/>
          <p:cNvSpPr txBox="1"/>
          <p:nvPr/>
        </p:nvSpPr>
        <p:spPr>
          <a:xfrm>
            <a:off x="4551578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Стратегия ИИ до 2030 г. формирует спрос на AI-решения и кадры.</a:t>
            </a:r>
            <a:endParaRPr lang="en-US" sz="1250" dirty="0"/>
          </a:p>
        </p:txBody>
      </p:sp>
      <p:sp>
        <p:nvSpPr>
          <p:cNvPr id="20" name="a3_card"/>
          <p:cNvSpPr/>
          <p:nvPr/>
        </p:nvSpPr>
        <p:spPr>
          <a:xfrm>
            <a:off x="8097317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1" name="a3_iconbg"/>
          <p:cNvSpPr/>
          <p:nvPr/>
        </p:nvSpPr>
        <p:spPr>
          <a:xfrm>
            <a:off x="8325917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2" name="a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645" y="2167128"/>
            <a:ext cx="237744" cy="237744"/>
          </a:xfrm>
          <a:prstGeom prst="rect">
            <a:avLst/>
          </a:prstGeom>
        </p:spPr>
      </p:pic>
      <p:sp>
        <p:nvSpPr>
          <p:cNvPr id="23" name="a3_t"/>
          <p:cNvSpPr txBox="1"/>
          <p:nvPr/>
        </p:nvSpPr>
        <p:spPr>
          <a:xfrm>
            <a:off x="8920277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Telegram-first аудитория</a:t>
            </a:r>
            <a:endParaRPr lang="en-US" sz="1400" dirty="0"/>
          </a:p>
        </p:txBody>
      </p:sp>
      <p:sp>
        <p:nvSpPr>
          <p:cNvPr id="24" name="a3_d"/>
          <p:cNvSpPr txBox="1"/>
          <p:nvPr/>
        </p:nvSpPr>
        <p:spPr>
          <a:xfrm>
            <a:off x="8325917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 — ежедневная платформа; мини-приложения не требуют установки.</a:t>
            </a:r>
            <a:endParaRPr lang="en-US" sz="1250" dirty="0"/>
          </a:p>
        </p:txBody>
      </p:sp>
      <p:sp>
        <p:nvSpPr>
          <p:cNvPr id="25" name="a4_card"/>
          <p:cNvSpPr/>
          <p:nvPr/>
        </p:nvSpPr>
        <p:spPr>
          <a:xfrm>
            <a:off x="548640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6" name="a4_iconbg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7" name="a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361688"/>
            <a:ext cx="237744" cy="237744"/>
          </a:xfrm>
          <a:prstGeom prst="rect">
            <a:avLst/>
          </a:prstGeom>
        </p:spPr>
      </p:pic>
      <p:sp>
        <p:nvSpPr>
          <p:cNvPr id="28" name="a4_t"/>
          <p:cNvSpPr txBox="1"/>
          <p:nvPr/>
        </p:nvSpPr>
        <p:spPr>
          <a:xfrm>
            <a:off x="1371600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Молодое население</a:t>
            </a:r>
            <a:endParaRPr lang="en-US" sz="1400" dirty="0"/>
          </a:p>
        </p:txBody>
      </p:sp>
      <p:sp>
        <p:nvSpPr>
          <p:cNvPr id="29" name="a4_d"/>
          <p:cNvSpPr txBox="1"/>
          <p:nvPr/>
        </p:nvSpPr>
        <p:spPr>
          <a:xfrm>
            <a:off x="777240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Средний возраст 29,5 года — большая аудитория игр, обучения и спорта.</a:t>
            </a:r>
            <a:endParaRPr lang="en-US" sz="1250" dirty="0"/>
          </a:p>
        </p:txBody>
      </p:sp>
      <p:sp>
        <p:nvSpPr>
          <p:cNvPr id="30" name="a5_card"/>
          <p:cNvSpPr/>
          <p:nvPr/>
        </p:nvSpPr>
        <p:spPr>
          <a:xfrm>
            <a:off x="4322978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1" name="a5_iconbg"/>
          <p:cNvSpPr/>
          <p:nvPr/>
        </p:nvSpPr>
        <p:spPr>
          <a:xfrm>
            <a:off x="4551578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2" name="a5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306" y="4361688"/>
            <a:ext cx="237744" cy="237744"/>
          </a:xfrm>
          <a:prstGeom prst="rect">
            <a:avLst/>
          </a:prstGeom>
        </p:spPr>
      </p:pic>
      <p:sp>
        <p:nvSpPr>
          <p:cNvPr id="33" name="a5_t"/>
          <p:cNvSpPr txBox="1"/>
          <p:nvPr/>
        </p:nvSpPr>
        <p:spPr>
          <a:xfrm>
            <a:off x="5145938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Футбольный подъём</a:t>
            </a:r>
            <a:endParaRPr lang="en-US" sz="1400" dirty="0"/>
          </a:p>
        </p:txBody>
      </p:sp>
      <p:sp>
        <p:nvSpPr>
          <p:cNvPr id="34" name="a5_d"/>
          <p:cNvSpPr txBox="1"/>
          <p:nvPr/>
        </p:nvSpPr>
        <p:spPr>
          <a:xfrm>
            <a:off x="4551578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Первый в истории выход сборной на ЧМ-2026 и проведение U-20 World Cup 2027.</a:t>
            </a:r>
            <a:endParaRPr lang="en-US" sz="1250" dirty="0"/>
          </a:p>
        </p:txBody>
      </p:sp>
      <p:sp>
        <p:nvSpPr>
          <p:cNvPr id="35" name="a6_card"/>
          <p:cNvSpPr/>
          <p:nvPr/>
        </p:nvSpPr>
        <p:spPr>
          <a:xfrm>
            <a:off x="8097317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6" name="a6_iconbg"/>
          <p:cNvSpPr/>
          <p:nvPr/>
        </p:nvSpPr>
        <p:spPr>
          <a:xfrm>
            <a:off x="8325917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7" name="a6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645" y="4361688"/>
            <a:ext cx="237744" cy="237744"/>
          </a:xfrm>
          <a:prstGeom prst="rect">
            <a:avLst/>
          </a:prstGeom>
        </p:spPr>
      </p:pic>
      <p:sp>
        <p:nvSpPr>
          <p:cNvPr id="38" name="a6_t"/>
          <p:cNvSpPr txBox="1"/>
          <p:nvPr/>
        </p:nvSpPr>
        <p:spPr>
          <a:xfrm>
            <a:off x="8920277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Новый Ташкент</a:t>
            </a:r>
            <a:endParaRPr lang="en-US" sz="1400" dirty="0"/>
          </a:p>
        </p:txBody>
      </p:sp>
      <p:sp>
        <p:nvSpPr>
          <p:cNvPr id="39" name="a6_d"/>
          <p:cNvSpPr txBox="1"/>
          <p:nvPr/>
        </p:nvSpPr>
        <p:spPr>
          <a:xfrm>
            <a:off x="8325917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Строительство нового города создаёт спрос на современную инфраструктуру.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4" grpId="0"/>
      <p:bldP spid="15" grpId="0" animBg="1"/>
      <p:bldP spid="16" grpId="0" animBg="1"/>
      <p:bldP spid="18" grpId="0"/>
      <p:bldP spid="19" grpId="0"/>
      <p:bldP spid="20" grpId="0" animBg="1"/>
      <p:bldP spid="21" grpId="0" animBg="1"/>
      <p:bldP spid="23" grpId="0"/>
      <p:bldP spid="24" grpId="0"/>
      <p:bldP spid="25" grpId="0" animBg="1"/>
      <p:bldP spid="26" grpId="0" animBg="1"/>
      <p:bldP spid="28" grpId="0"/>
      <p:bldP spid="29" grpId="0"/>
      <p:bldP spid="30" grpId="0" animBg="1"/>
      <p:bldP spid="31" grpId="0" animBg="1"/>
      <p:bldP spid="33" grpId="0"/>
      <p:bldP spid="34" grpId="0"/>
      <p:bldP spid="35" grpId="0" animBg="1"/>
      <p:bldP spid="36" grpId="0" animBg="1"/>
      <p:bldP spid="38" grpId="0"/>
      <p:bldP spid="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Конкурентная среда: сильные игроки в каждом сегменте, но нет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экосистемы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 · MARKET &amp; STRATEGY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250985" y="274320"/>
            <a:ext cx="23920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369857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88729" y="274320"/>
            <a:ext cx="2099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ТРЕБУЕТСЯ ПОДТВЕРЖДЕНИЕ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MARKET &amp; STRATEGY</a:t>
            </a:r>
            <a:endParaRPr lang="en-US" sz="900" dirty="0"/>
          </a:p>
        </p:txBody>
      </p:sp>
      <p:graphicFrame>
        <p:nvGraphicFramePr>
          <p:cNvPr id="20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1097280"/>
                <a:gridCol w="1234440"/>
                <a:gridCol w="1097280"/>
                <a:gridCol w="868680"/>
                <a:gridCol w="29535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Категория конкурентов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Локальный рынок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AI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Игры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Обучение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Спорт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Где FootureX сильнее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Локальные IT-интеграторы и аутсорс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93F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◐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3A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3A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3A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AI-продукты, продуктовая культура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Международные ERP/CRM-платформы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◐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◐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3A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3A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3A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Внедрение, локализация, сопровождение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Глобальные футбольные игры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3A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93F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93F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3A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◐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Telegram-формат, локальное сообщество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Мини-игры в Telegram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◐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3A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93F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3A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3A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Глубина геймплея, спортивный бренд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IT-школы и курсы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93F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◐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3A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93F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3A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Практика в действующей студии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Футбольные клубы и академии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93F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3A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A93A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◐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93F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Данные, AI-аналитика, цифровая аудитория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FootureX (целевая модель)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93F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93F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93F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593F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◐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Экосистема направлений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сильная позиция   </a:t>
            </a:r>
            <a:pPr indent="0" marL="0">
              <a:buNone/>
            </a:pPr>
            <a:r>
              <a:rPr lang="en-US" sz="95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◐</a:t>
            </a:r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частичная   </a:t>
            </a:r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○</a:t>
            </a:r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отсутствует  ·  оценка экспертная, требует подтверждения исследованием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Стратегические преимущества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компании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 · MARKET &amp; STRATEGY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591495" y="2743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710367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829239" y="274320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ВИДЕНИЕ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MARKET &amp; STRATEGY</a:t>
            </a:r>
            <a:endParaRPr lang="en-US" sz="900" dirty="0"/>
          </a:p>
        </p:txBody>
      </p:sp>
      <p:sp>
        <p:nvSpPr>
          <p:cNvPr id="9" name="a1_card"/>
          <p:cNvSpPr/>
          <p:nvPr/>
        </p:nvSpPr>
        <p:spPr>
          <a:xfrm>
            <a:off x="548640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num"/>
          <p:cNvSpPr txBox="1"/>
          <p:nvPr/>
        </p:nvSpPr>
        <p:spPr>
          <a:xfrm>
            <a:off x="777240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a1_t"/>
          <p:cNvSpPr txBox="1"/>
          <p:nvPr/>
        </p:nvSpPr>
        <p:spPr>
          <a:xfrm>
            <a:off x="777240" y="2514600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Экосистемный эффект</a:t>
            </a:r>
            <a:endParaRPr lang="en-US" sz="1500" dirty="0"/>
          </a:p>
        </p:txBody>
      </p:sp>
      <p:sp>
        <p:nvSpPr>
          <p:cNvPr id="12" name="a1_d"/>
          <p:cNvSpPr txBox="1"/>
          <p:nvPr/>
        </p:nvSpPr>
        <p:spPr>
          <a:xfrm>
            <a:off x="777240" y="2880360"/>
            <a:ext cx="30885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Клиенты, технологии и таланты переходят между направлениями — ниже стоимость роста каждого.</a:t>
            </a:r>
            <a:endParaRPr lang="en-US" sz="1250" dirty="0"/>
          </a:p>
        </p:txBody>
      </p:sp>
      <p:sp>
        <p:nvSpPr>
          <p:cNvPr id="13" name="a2_card"/>
          <p:cNvSpPr/>
          <p:nvPr/>
        </p:nvSpPr>
        <p:spPr>
          <a:xfrm>
            <a:off x="4322978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4" name="a2_num"/>
          <p:cNvSpPr txBox="1"/>
          <p:nvPr/>
        </p:nvSpPr>
        <p:spPr>
          <a:xfrm>
            <a:off x="4551578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a2_t"/>
          <p:cNvSpPr txBox="1"/>
          <p:nvPr/>
        </p:nvSpPr>
        <p:spPr>
          <a:xfrm>
            <a:off x="4551578" y="2514600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Telegram-first продукты</a:t>
            </a:r>
            <a:endParaRPr lang="en-US" sz="1500" dirty="0"/>
          </a:p>
        </p:txBody>
      </p:sp>
      <p:sp>
        <p:nvSpPr>
          <p:cNvPr id="16" name="a2_d"/>
          <p:cNvSpPr txBox="1"/>
          <p:nvPr/>
        </p:nvSpPr>
        <p:spPr>
          <a:xfrm>
            <a:off x="4551578" y="2880360"/>
            <a:ext cx="30885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Игра и сервисы там, где уже находится аудитория, без барьера установки.</a:t>
            </a:r>
            <a:endParaRPr lang="en-US" sz="1250" dirty="0"/>
          </a:p>
        </p:txBody>
      </p:sp>
      <p:sp>
        <p:nvSpPr>
          <p:cNvPr id="17" name="a3_card"/>
          <p:cNvSpPr/>
          <p:nvPr/>
        </p:nvSpPr>
        <p:spPr>
          <a:xfrm>
            <a:off x="8097317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8" name="a3_num"/>
          <p:cNvSpPr txBox="1"/>
          <p:nvPr/>
        </p:nvSpPr>
        <p:spPr>
          <a:xfrm>
            <a:off x="8325917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a3_t"/>
          <p:cNvSpPr txBox="1"/>
          <p:nvPr/>
        </p:nvSpPr>
        <p:spPr>
          <a:xfrm>
            <a:off x="8325917" y="2514600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Локальная экспертиза</a:t>
            </a:r>
            <a:endParaRPr lang="en-US" sz="1500" dirty="0"/>
          </a:p>
        </p:txBody>
      </p:sp>
      <p:sp>
        <p:nvSpPr>
          <p:cNvPr id="20" name="a3_d"/>
          <p:cNvSpPr txBox="1"/>
          <p:nvPr/>
        </p:nvSpPr>
        <p:spPr>
          <a:xfrm>
            <a:off x="8325917" y="2880360"/>
            <a:ext cx="30885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Язык, регулирование, платёжная инфраструктура и деловая культура Узбекистана.</a:t>
            </a:r>
            <a:endParaRPr lang="en-US" sz="1250" dirty="0"/>
          </a:p>
        </p:txBody>
      </p:sp>
      <p:sp>
        <p:nvSpPr>
          <p:cNvPr id="21" name="a4_card"/>
          <p:cNvSpPr/>
          <p:nvPr/>
        </p:nvSpPr>
        <p:spPr>
          <a:xfrm>
            <a:off x="548640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2" name="a4_num"/>
          <p:cNvSpPr txBox="1"/>
          <p:nvPr/>
        </p:nvSpPr>
        <p:spPr>
          <a:xfrm>
            <a:off x="777240" y="4206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a4_t"/>
          <p:cNvSpPr txBox="1"/>
          <p:nvPr/>
        </p:nvSpPr>
        <p:spPr>
          <a:xfrm>
            <a:off x="777240" y="4709160"/>
            <a:ext cx="30885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Собственный кадровый конвейер</a:t>
            </a:r>
            <a:endParaRPr lang="en-US" sz="1500" dirty="0"/>
          </a:p>
        </p:txBody>
      </p:sp>
      <p:sp>
        <p:nvSpPr>
          <p:cNvPr id="24" name="a4_d"/>
          <p:cNvSpPr txBox="1"/>
          <p:nvPr/>
        </p:nvSpPr>
        <p:spPr>
          <a:xfrm>
            <a:off x="777240" y="5312664"/>
            <a:ext cx="3088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Академия готовит специалистов для студии, AI и клиентов.</a:t>
            </a:r>
            <a:endParaRPr lang="en-US" sz="1250" dirty="0"/>
          </a:p>
        </p:txBody>
      </p:sp>
      <p:sp>
        <p:nvSpPr>
          <p:cNvPr id="25" name="a5_card"/>
          <p:cNvSpPr/>
          <p:nvPr/>
        </p:nvSpPr>
        <p:spPr>
          <a:xfrm>
            <a:off x="4322978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6" name="a5_num"/>
          <p:cNvSpPr txBox="1"/>
          <p:nvPr/>
        </p:nvSpPr>
        <p:spPr>
          <a:xfrm>
            <a:off x="4551578" y="4206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a5_t"/>
          <p:cNvSpPr txBox="1"/>
          <p:nvPr/>
        </p:nvSpPr>
        <p:spPr>
          <a:xfrm>
            <a:off x="4551578" y="4709160"/>
            <a:ext cx="30885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Сильный футбольный нарратив</a:t>
            </a:r>
            <a:endParaRPr lang="en-US" sz="1500" dirty="0"/>
          </a:p>
        </p:txBody>
      </p:sp>
      <p:sp>
        <p:nvSpPr>
          <p:cNvPr id="28" name="a5_d"/>
          <p:cNvSpPr txBox="1"/>
          <p:nvPr/>
        </p:nvSpPr>
        <p:spPr>
          <a:xfrm>
            <a:off x="4551578" y="5312664"/>
            <a:ext cx="3088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Бренд связывает цифровой и реальный футбол.</a:t>
            </a:r>
            <a:endParaRPr lang="en-US" sz="1250" dirty="0"/>
          </a:p>
        </p:txBody>
      </p:sp>
      <p:sp>
        <p:nvSpPr>
          <p:cNvPr id="29" name="a6_card"/>
          <p:cNvSpPr/>
          <p:nvPr/>
        </p:nvSpPr>
        <p:spPr>
          <a:xfrm>
            <a:off x="8097317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0" name="a6_num"/>
          <p:cNvSpPr txBox="1"/>
          <p:nvPr/>
        </p:nvSpPr>
        <p:spPr>
          <a:xfrm>
            <a:off x="8325917" y="4206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a6_t"/>
          <p:cNvSpPr txBox="1"/>
          <p:nvPr/>
        </p:nvSpPr>
        <p:spPr>
          <a:xfrm>
            <a:off x="8325917" y="4709160"/>
            <a:ext cx="30885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Капиталоэффективная последовательность</a:t>
            </a:r>
            <a:endParaRPr lang="en-US" sz="1500" dirty="0"/>
          </a:p>
        </p:txBody>
      </p:sp>
      <p:sp>
        <p:nvSpPr>
          <p:cNvPr id="32" name="a6_d"/>
          <p:cNvSpPr txBox="1"/>
          <p:nvPr/>
        </p:nvSpPr>
        <p:spPr>
          <a:xfrm>
            <a:off x="8325917" y="5312664"/>
            <a:ext cx="3088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IT- и AI-услуги генерируют выручку до запуска капиталоёмких проектов.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25" grpId="0" animBg="1"/>
      <p:bldP spid="26" grpId="0"/>
      <p:bldP spid="27" grpId="0"/>
      <p:bldP spid="28" grpId="0"/>
      <p:bldP spid="29" grpId="0" animBg="1"/>
      <p:bldP spid="30" grpId="0"/>
      <p:bldP spid="31" grpId="0"/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datacenter-ais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248" y="-171450"/>
            <a:ext cx="12801280" cy="72009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FootureX Technologies — обзор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направления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III · IT SERVICES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IT SERVICES</a:t>
            </a:r>
            <a:endParaRPr lang="en-US" sz="900" dirty="0"/>
          </a:p>
        </p:txBody>
      </p:sp>
      <p:sp>
        <p:nvSpPr>
          <p:cNvPr id="14" name="!!roman"/>
          <p:cNvSpPr txBox="1"/>
          <p:nvPr/>
        </p:nvSpPr>
        <p:spPr>
          <a:xfrm>
            <a:off x="502920" y="17830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III</a:t>
            </a:r>
            <a:endParaRPr lang="en-US" sz="8800" dirty="0"/>
          </a:p>
        </p:txBody>
      </p:sp>
      <p:sp>
        <p:nvSpPr>
          <p:cNvPr id="15" name="Text 8"/>
          <p:cNvSpPr txBox="1"/>
          <p:nvPr/>
        </p:nvSpPr>
        <p:spPr>
          <a:xfrm>
            <a:off x="548640" y="3154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IT-УСЛУГИ</a:t>
            </a:r>
            <a:endParaRPr lang="en-US" sz="1300" dirty="0"/>
          </a:p>
        </p:txBody>
      </p:sp>
      <p:sp>
        <p:nvSpPr>
          <p:cNvPr id="16" name="a1_lead"/>
          <p:cNvSpPr txBox="1"/>
          <p:nvPr/>
        </p:nvSpPr>
        <p:spPr>
          <a:xfrm>
            <a:off x="548640" y="36118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программного обеспечения и автоматизация бизнеса — первый источник выручки и технологический фундамент всей группы.</a:t>
            </a:r>
            <a:endParaRPr lang="en-US" sz="1500" dirty="0"/>
          </a:p>
        </p:txBody>
      </p:sp>
      <p:sp>
        <p:nvSpPr>
          <p:cNvPr id="17" name="a2_pv"/>
          <p:cNvSpPr txBox="1"/>
          <p:nvPr/>
        </p:nvSpPr>
        <p:spPr>
          <a:xfrm>
            <a:off x="54864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ERP·CRM</a:t>
            </a:r>
            <a:endParaRPr lang="en-US" sz="1700" dirty="0"/>
          </a:p>
        </p:txBody>
      </p:sp>
      <p:sp>
        <p:nvSpPr>
          <p:cNvPr id="18" name="a2_pl"/>
          <p:cNvSpPr txBox="1"/>
          <p:nvPr/>
        </p:nvSpPr>
        <p:spPr>
          <a:xfrm>
            <a:off x="54864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бизнесом</a:t>
            </a:r>
            <a:endParaRPr lang="en-US" sz="1050" dirty="0"/>
          </a:p>
        </p:txBody>
      </p:sp>
      <p:sp>
        <p:nvSpPr>
          <p:cNvPr id="19" name="a3_pv"/>
          <p:cNvSpPr txBox="1"/>
          <p:nvPr/>
        </p:nvSpPr>
        <p:spPr>
          <a:xfrm>
            <a:off x="228600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POS</a:t>
            </a:r>
            <a:endParaRPr lang="en-US" sz="2200" dirty="0"/>
          </a:p>
        </p:txBody>
      </p:sp>
      <p:sp>
        <p:nvSpPr>
          <p:cNvPr id="20" name="a3_pl"/>
          <p:cNvSpPr txBox="1"/>
          <p:nvPr/>
        </p:nvSpPr>
        <p:spPr>
          <a:xfrm>
            <a:off x="228600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кассы и продажи</a:t>
            </a:r>
            <a:endParaRPr lang="en-US" sz="1050" dirty="0"/>
          </a:p>
        </p:txBody>
      </p:sp>
      <p:sp>
        <p:nvSpPr>
          <p:cNvPr id="21" name="a4_pv"/>
          <p:cNvSpPr txBox="1"/>
          <p:nvPr/>
        </p:nvSpPr>
        <p:spPr>
          <a:xfrm>
            <a:off x="402336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Web·Mobile</a:t>
            </a:r>
            <a:endParaRPr lang="en-US" sz="1700" dirty="0"/>
          </a:p>
        </p:txBody>
      </p:sp>
      <p:sp>
        <p:nvSpPr>
          <p:cNvPr id="22" name="a4_pl"/>
          <p:cNvSpPr txBox="1"/>
          <p:nvPr/>
        </p:nvSpPr>
        <p:spPr>
          <a:xfrm>
            <a:off x="402336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приложения и Telegram Mini Apps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Корпоративная разработка ПО: от обследования до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сопровождения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III · IT SERVICES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IT SERVICES</a:t>
            </a:r>
            <a:endParaRPr lang="en-US" sz="900" dirty="0"/>
          </a:p>
        </p:txBody>
      </p:sp>
      <p:sp>
        <p:nvSpPr>
          <p:cNvPr id="9" name="a1_dot"/>
          <p:cNvSpPr/>
          <p:nvPr/>
        </p:nvSpPr>
        <p:spPr>
          <a:xfrm>
            <a:off x="548640" y="210312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10" name="a1_num"/>
          <p:cNvSpPr txBox="1"/>
          <p:nvPr/>
        </p:nvSpPr>
        <p:spPr>
          <a:xfrm>
            <a:off x="54864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a1_ln"/>
          <p:cNvSpPr/>
          <p:nvPr/>
        </p:nvSpPr>
        <p:spPr>
          <a:xfrm>
            <a:off x="1207008" y="2386584"/>
            <a:ext cx="113278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12" name="a1_t"/>
          <p:cNvSpPr txBox="1"/>
          <p:nvPr/>
        </p:nvSpPr>
        <p:spPr>
          <a:xfrm>
            <a:off x="548640" y="2880360"/>
            <a:ext cx="16357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Обследование</a:t>
            </a:r>
            <a:endParaRPr lang="en-US" sz="1250" dirty="0"/>
          </a:p>
        </p:txBody>
      </p:sp>
      <p:sp>
        <p:nvSpPr>
          <p:cNvPr id="13" name="a1_d"/>
          <p:cNvSpPr txBox="1"/>
          <p:nvPr/>
        </p:nvSpPr>
        <p:spPr>
          <a:xfrm>
            <a:off x="548640" y="3493008"/>
            <a:ext cx="16357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Интервью, карта процессов, требования и критерии успеха.</a:t>
            </a:r>
            <a:endParaRPr lang="en-US" sz="1250" dirty="0"/>
          </a:p>
        </p:txBody>
      </p:sp>
      <p:sp>
        <p:nvSpPr>
          <p:cNvPr id="14" name="a2_dot"/>
          <p:cNvSpPr/>
          <p:nvPr/>
        </p:nvSpPr>
        <p:spPr>
          <a:xfrm>
            <a:off x="2431237" y="210312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15" name="a2_num"/>
          <p:cNvSpPr txBox="1"/>
          <p:nvPr/>
        </p:nvSpPr>
        <p:spPr>
          <a:xfrm>
            <a:off x="2431237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a2_ln"/>
          <p:cNvSpPr/>
          <p:nvPr/>
        </p:nvSpPr>
        <p:spPr>
          <a:xfrm>
            <a:off x="3089605" y="2386584"/>
            <a:ext cx="113278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17" name="a2_t"/>
          <p:cNvSpPr txBox="1"/>
          <p:nvPr/>
        </p:nvSpPr>
        <p:spPr>
          <a:xfrm>
            <a:off x="2431237" y="2880360"/>
            <a:ext cx="16357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Архитектура</a:t>
            </a:r>
            <a:endParaRPr lang="en-US" sz="1250" dirty="0"/>
          </a:p>
        </p:txBody>
      </p:sp>
      <p:sp>
        <p:nvSpPr>
          <p:cNvPr id="18" name="a2_d"/>
          <p:cNvSpPr txBox="1"/>
          <p:nvPr/>
        </p:nvSpPr>
        <p:spPr>
          <a:xfrm>
            <a:off x="2431237" y="3493008"/>
            <a:ext cx="16357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Решение, стек, интеграции, оценка сроков и бюджета.</a:t>
            </a:r>
            <a:endParaRPr lang="en-US" sz="1250" dirty="0"/>
          </a:p>
        </p:txBody>
      </p:sp>
      <p:sp>
        <p:nvSpPr>
          <p:cNvPr id="19" name="a3_dot"/>
          <p:cNvSpPr/>
          <p:nvPr/>
        </p:nvSpPr>
        <p:spPr>
          <a:xfrm>
            <a:off x="4313834" y="210312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0" name="a3_num"/>
          <p:cNvSpPr txBox="1"/>
          <p:nvPr/>
        </p:nvSpPr>
        <p:spPr>
          <a:xfrm>
            <a:off x="431383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a3_ln"/>
          <p:cNvSpPr/>
          <p:nvPr/>
        </p:nvSpPr>
        <p:spPr>
          <a:xfrm>
            <a:off x="4972202" y="2386584"/>
            <a:ext cx="113278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22" name="a3_t"/>
          <p:cNvSpPr txBox="1"/>
          <p:nvPr/>
        </p:nvSpPr>
        <p:spPr>
          <a:xfrm>
            <a:off x="4313834" y="2880360"/>
            <a:ext cx="16357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</a:t>
            </a:r>
            <a:endParaRPr lang="en-US" sz="1250" dirty="0"/>
          </a:p>
        </p:txBody>
      </p:sp>
      <p:sp>
        <p:nvSpPr>
          <p:cNvPr id="23" name="a3_d"/>
          <p:cNvSpPr txBox="1"/>
          <p:nvPr/>
        </p:nvSpPr>
        <p:spPr>
          <a:xfrm>
            <a:off x="4313834" y="3493008"/>
            <a:ext cx="16357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Спринты по 2 недели, демо каждого инкремента клиенту.</a:t>
            </a:r>
            <a:endParaRPr lang="en-US" sz="1250" dirty="0"/>
          </a:p>
        </p:txBody>
      </p:sp>
      <p:sp>
        <p:nvSpPr>
          <p:cNvPr id="24" name="a4_dot"/>
          <p:cNvSpPr/>
          <p:nvPr/>
        </p:nvSpPr>
        <p:spPr>
          <a:xfrm>
            <a:off x="6196432" y="210312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5" name="a4_num"/>
          <p:cNvSpPr txBox="1"/>
          <p:nvPr/>
        </p:nvSpPr>
        <p:spPr>
          <a:xfrm>
            <a:off x="6196432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a4_ln"/>
          <p:cNvSpPr/>
          <p:nvPr/>
        </p:nvSpPr>
        <p:spPr>
          <a:xfrm>
            <a:off x="6854800" y="2386584"/>
            <a:ext cx="113278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27" name="a4_t"/>
          <p:cNvSpPr txBox="1"/>
          <p:nvPr/>
        </p:nvSpPr>
        <p:spPr>
          <a:xfrm>
            <a:off x="6196432" y="2880360"/>
            <a:ext cx="16357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Качество и безопасность</a:t>
            </a:r>
            <a:endParaRPr lang="en-US" sz="1250" dirty="0"/>
          </a:p>
        </p:txBody>
      </p:sp>
      <p:sp>
        <p:nvSpPr>
          <p:cNvPr id="28" name="a4_d"/>
          <p:cNvSpPr txBox="1"/>
          <p:nvPr/>
        </p:nvSpPr>
        <p:spPr>
          <a:xfrm>
            <a:off x="6196432" y="3493008"/>
            <a:ext cx="16357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Автотесты, код-ревью, нагрузочные тесты, проверка по OWASP.</a:t>
            </a:r>
            <a:endParaRPr lang="en-US" sz="1250" dirty="0"/>
          </a:p>
        </p:txBody>
      </p:sp>
      <p:sp>
        <p:nvSpPr>
          <p:cNvPr id="29" name="a5_dot"/>
          <p:cNvSpPr/>
          <p:nvPr/>
        </p:nvSpPr>
        <p:spPr>
          <a:xfrm>
            <a:off x="8079029" y="210312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30" name="a5_num"/>
          <p:cNvSpPr txBox="1"/>
          <p:nvPr/>
        </p:nvSpPr>
        <p:spPr>
          <a:xfrm>
            <a:off x="8079029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a5_ln"/>
          <p:cNvSpPr/>
          <p:nvPr/>
        </p:nvSpPr>
        <p:spPr>
          <a:xfrm>
            <a:off x="8737397" y="2386584"/>
            <a:ext cx="113278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32" name="a5_t"/>
          <p:cNvSpPr txBox="1"/>
          <p:nvPr/>
        </p:nvSpPr>
        <p:spPr>
          <a:xfrm>
            <a:off x="8079029" y="2880360"/>
            <a:ext cx="16357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Внедрение</a:t>
            </a:r>
            <a:endParaRPr lang="en-US" sz="1250" dirty="0"/>
          </a:p>
        </p:txBody>
      </p:sp>
      <p:sp>
        <p:nvSpPr>
          <p:cNvPr id="33" name="a5_d"/>
          <p:cNvSpPr txBox="1"/>
          <p:nvPr/>
        </p:nvSpPr>
        <p:spPr>
          <a:xfrm>
            <a:off x="8079029" y="3493008"/>
            <a:ext cx="16357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Миграция данных, обучение пользователей, запуск.</a:t>
            </a:r>
            <a:endParaRPr lang="en-US" sz="1250" dirty="0"/>
          </a:p>
        </p:txBody>
      </p:sp>
      <p:sp>
        <p:nvSpPr>
          <p:cNvPr id="34" name="a6_dot"/>
          <p:cNvSpPr/>
          <p:nvPr/>
        </p:nvSpPr>
        <p:spPr>
          <a:xfrm>
            <a:off x="9961626" y="210312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35" name="a6_num"/>
          <p:cNvSpPr txBox="1"/>
          <p:nvPr/>
        </p:nvSpPr>
        <p:spPr>
          <a:xfrm>
            <a:off x="9961626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a6_t"/>
          <p:cNvSpPr txBox="1"/>
          <p:nvPr/>
        </p:nvSpPr>
        <p:spPr>
          <a:xfrm>
            <a:off x="9961626" y="2880360"/>
            <a:ext cx="16357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Сопровождение</a:t>
            </a:r>
            <a:endParaRPr lang="en-US" sz="1250" dirty="0"/>
          </a:p>
        </p:txBody>
      </p:sp>
      <p:sp>
        <p:nvSpPr>
          <p:cNvPr id="37" name="a6_d"/>
          <p:cNvSpPr txBox="1"/>
          <p:nvPr/>
        </p:nvSpPr>
        <p:spPr>
          <a:xfrm>
            <a:off x="9961626" y="3493008"/>
            <a:ext cx="16357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SLA, мониторинг, развитие функциональности.</a:t>
            </a:r>
            <a:endParaRPr lang="en-US" sz="1250" dirty="0"/>
          </a:p>
        </p:txBody>
      </p:sp>
      <p:sp>
        <p:nvSpPr>
          <p:cNvPr id="38" name="a7_q"/>
          <p:cNvSpPr/>
          <p:nvPr/>
        </p:nvSpPr>
        <p:spPr>
          <a:xfrm>
            <a:off x="548640" y="4892040"/>
            <a:ext cx="11094415" cy="1005840"/>
          </a:xfrm>
          <a:prstGeom prst="roundRect">
            <a:avLst>
              <a:gd name="adj" fmla="val 10909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22960" y="4892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Принцип: </a:t>
            </a:r>
            <a:pPr indent="0" marL="0">
              <a:buNone/>
            </a:pPr>
            <a:r>
              <a:rPr lang="en-US" sz="14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каждый этап заканчивается артефактом, который клиент видит и подписывает — требования, архитектура, демо, отчёт о тестировании, акт внедрения.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/>
      <p:bldP spid="13" grpId="0"/>
      <p:bldP spid="14" grpId="0" animBg="1"/>
      <p:bldP spid="15" grpId="0"/>
      <p:bldP spid="16" grpId="0" animBg="1"/>
      <p:bldP spid="17" grpId="0"/>
      <p:bldP spid="18" grpId="0"/>
      <p:bldP spid="19" grpId="0" animBg="1"/>
      <p:bldP spid="20" grpId="0"/>
      <p:bldP spid="21" grpId="0" animBg="1"/>
      <p:bldP spid="22" grpId="0"/>
      <p:bldP spid="23" grpId="0"/>
      <p:bldP spid="24" grpId="0" animBg="1"/>
      <p:bldP spid="25" grpId="0"/>
      <p:bldP spid="26" grpId="0" animBg="1"/>
      <p:bldP spid="27" grpId="0"/>
      <p:bldP spid="28" grpId="0"/>
      <p:bldP spid="29" grpId="0" animBg="1"/>
      <p:bldP spid="30" grpId="0"/>
      <p:bldP spid="31" grpId="0" animBg="1"/>
      <p:bldP spid="32" grpId="0"/>
      <p:bldP spid="33" grpId="0"/>
      <p:bldP spid="34" grpId="0" animBg="1"/>
      <p:bldP spid="35" grpId="0"/>
      <p:bldP spid="36" grpId="0"/>
      <p:bldP spid="37" grpId="0"/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ERP и CRM-системы: единый контур управления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бизнесом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III · IT SERVICES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IT SERVICES</a:t>
            </a:r>
            <a:endParaRPr lang="en-US" sz="900" dirty="0"/>
          </a:p>
        </p:txBody>
      </p:sp>
      <p:pic>
        <p:nvPicPr>
          <p:cNvPr id="9" name="a1_ui" descr="/home/user/footurex-main/presentation/assets/ui/erp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766560" cy="42291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61081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 интерфейса · демо-данные</a:t>
            </a:r>
            <a:endParaRPr lang="en-US" sz="850" dirty="0"/>
          </a:p>
        </p:txBody>
      </p:sp>
      <p:sp>
        <p:nvSpPr>
          <p:cNvPr id="11" name="a2_ibg"/>
          <p:cNvSpPr/>
          <p:nvPr/>
        </p:nvSpPr>
        <p:spPr>
          <a:xfrm>
            <a:off x="7635240" y="18288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2" name="a2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1938528"/>
            <a:ext cx="237744" cy="237744"/>
          </a:xfrm>
          <a:prstGeom prst="rect">
            <a:avLst/>
          </a:prstGeom>
        </p:spPr>
      </p:pic>
      <p:sp>
        <p:nvSpPr>
          <p:cNvPr id="13" name="a2_t"/>
          <p:cNvSpPr txBox="1"/>
          <p:nvPr/>
        </p:nvSpPr>
        <p:spPr>
          <a:xfrm>
            <a:off x="8229600" y="1810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Продажи и CRM</a:t>
            </a:r>
            <a:endParaRPr lang="en-US" sz="1300" dirty="0"/>
          </a:p>
        </p:txBody>
      </p:sp>
      <p:sp>
        <p:nvSpPr>
          <p:cNvPr id="14" name="a2_d"/>
          <p:cNvSpPr txBox="1"/>
          <p:nvPr/>
        </p:nvSpPr>
        <p:spPr>
          <a:xfrm>
            <a:off x="8229600" y="2075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воронка, сделки, клиенты</a:t>
            </a:r>
            <a:endParaRPr lang="en-US" sz="1100" dirty="0"/>
          </a:p>
        </p:txBody>
      </p:sp>
      <p:sp>
        <p:nvSpPr>
          <p:cNvPr id="15" name="a3_ibg"/>
          <p:cNvSpPr/>
          <p:nvPr/>
        </p:nvSpPr>
        <p:spPr>
          <a:xfrm>
            <a:off x="7635240" y="25146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6" name="a3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2624328"/>
            <a:ext cx="237744" cy="237744"/>
          </a:xfrm>
          <a:prstGeom prst="rect">
            <a:avLst/>
          </a:prstGeom>
        </p:spPr>
      </p:pic>
      <p:sp>
        <p:nvSpPr>
          <p:cNvPr id="17" name="a3_t"/>
          <p:cNvSpPr txBox="1"/>
          <p:nvPr/>
        </p:nvSpPr>
        <p:spPr>
          <a:xfrm>
            <a:off x="8229600" y="2496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Склад</a:t>
            </a:r>
            <a:endParaRPr lang="en-US" sz="1300" dirty="0"/>
          </a:p>
        </p:txBody>
      </p:sp>
      <p:sp>
        <p:nvSpPr>
          <p:cNvPr id="18" name="a3_d"/>
          <p:cNvSpPr txBox="1"/>
          <p:nvPr/>
        </p:nvSpPr>
        <p:spPr>
          <a:xfrm>
            <a:off x="8229600" y="2761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остатки, движение, инвентаризация</a:t>
            </a:r>
            <a:endParaRPr lang="en-US" sz="1100" dirty="0"/>
          </a:p>
        </p:txBody>
      </p:sp>
      <p:sp>
        <p:nvSpPr>
          <p:cNvPr id="19" name="a4_ibg"/>
          <p:cNvSpPr/>
          <p:nvPr/>
        </p:nvSpPr>
        <p:spPr>
          <a:xfrm>
            <a:off x="7635240" y="3200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0" name="a4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3310128"/>
            <a:ext cx="237744" cy="237744"/>
          </a:xfrm>
          <a:prstGeom prst="rect">
            <a:avLst/>
          </a:prstGeom>
        </p:spPr>
      </p:pic>
      <p:sp>
        <p:nvSpPr>
          <p:cNvPr id="21" name="a4_t"/>
          <p:cNvSpPr txBox="1"/>
          <p:nvPr/>
        </p:nvSpPr>
        <p:spPr>
          <a:xfrm>
            <a:off x="8229600" y="3182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Закупки и SRM</a:t>
            </a:r>
            <a:endParaRPr lang="en-US" sz="1300" dirty="0"/>
          </a:p>
        </p:txBody>
      </p:sp>
      <p:sp>
        <p:nvSpPr>
          <p:cNvPr id="22" name="a4_d"/>
          <p:cNvSpPr txBox="1"/>
          <p:nvPr/>
        </p:nvSpPr>
        <p:spPr>
          <a:xfrm>
            <a:off x="8229600" y="34472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поставщики, заказы, оценка</a:t>
            </a:r>
            <a:endParaRPr lang="en-US" sz="1100" dirty="0"/>
          </a:p>
        </p:txBody>
      </p:sp>
      <p:sp>
        <p:nvSpPr>
          <p:cNvPr id="23" name="a5_ibg"/>
          <p:cNvSpPr/>
          <p:nvPr/>
        </p:nvSpPr>
        <p:spPr>
          <a:xfrm>
            <a:off x="7635240" y="38862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4" name="a5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3995928"/>
            <a:ext cx="237744" cy="237744"/>
          </a:xfrm>
          <a:prstGeom prst="rect">
            <a:avLst/>
          </a:prstGeom>
        </p:spPr>
      </p:pic>
      <p:sp>
        <p:nvSpPr>
          <p:cNvPr id="25" name="a5_t"/>
          <p:cNvSpPr txBox="1"/>
          <p:nvPr/>
        </p:nvSpPr>
        <p:spPr>
          <a:xfrm>
            <a:off x="8229600" y="3867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Финансы</a:t>
            </a:r>
            <a:endParaRPr lang="en-US" sz="1300" dirty="0"/>
          </a:p>
        </p:txBody>
      </p:sp>
      <p:sp>
        <p:nvSpPr>
          <p:cNvPr id="26" name="a5_d"/>
          <p:cNvSpPr txBox="1"/>
          <p:nvPr/>
        </p:nvSpPr>
        <p:spPr>
          <a:xfrm>
            <a:off x="8229600" y="41330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платежи, долги, бюджеты</a:t>
            </a:r>
            <a:endParaRPr lang="en-US" sz="1100" dirty="0"/>
          </a:p>
        </p:txBody>
      </p:sp>
      <p:sp>
        <p:nvSpPr>
          <p:cNvPr id="27" name="a6_ibg"/>
          <p:cNvSpPr/>
          <p:nvPr/>
        </p:nvSpPr>
        <p:spPr>
          <a:xfrm>
            <a:off x="7635240" y="45720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8" name="a6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68" y="4681728"/>
            <a:ext cx="237744" cy="237744"/>
          </a:xfrm>
          <a:prstGeom prst="rect">
            <a:avLst/>
          </a:prstGeom>
        </p:spPr>
      </p:pic>
      <p:sp>
        <p:nvSpPr>
          <p:cNvPr id="29" name="a6_t"/>
          <p:cNvSpPr txBox="1"/>
          <p:nvPr/>
        </p:nvSpPr>
        <p:spPr>
          <a:xfrm>
            <a:off x="8229600" y="4553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</a:t>
            </a:r>
            <a:endParaRPr lang="en-US" sz="1300" dirty="0"/>
          </a:p>
        </p:txBody>
      </p:sp>
      <p:sp>
        <p:nvSpPr>
          <p:cNvPr id="30" name="a6_d"/>
          <p:cNvSpPr txBox="1"/>
          <p:nvPr/>
        </p:nvSpPr>
        <p:spPr>
          <a:xfrm>
            <a:off x="8229600" y="4818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штат, графики, KPI</a:t>
            </a:r>
            <a:endParaRPr lang="en-US" sz="1100" dirty="0"/>
          </a:p>
        </p:txBody>
      </p:sp>
      <p:sp>
        <p:nvSpPr>
          <p:cNvPr id="31" name="a7_ibg"/>
          <p:cNvSpPr/>
          <p:nvPr/>
        </p:nvSpPr>
        <p:spPr>
          <a:xfrm>
            <a:off x="7635240" y="52578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2" name="a7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5367528"/>
            <a:ext cx="237744" cy="237744"/>
          </a:xfrm>
          <a:prstGeom prst="rect">
            <a:avLst/>
          </a:prstGeom>
        </p:spPr>
      </p:pic>
      <p:sp>
        <p:nvSpPr>
          <p:cNvPr id="33" name="a7_t"/>
          <p:cNvSpPr txBox="1"/>
          <p:nvPr/>
        </p:nvSpPr>
        <p:spPr>
          <a:xfrm>
            <a:off x="8229600" y="5239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AI-ассистент</a:t>
            </a:r>
            <a:endParaRPr lang="en-US" sz="1300" dirty="0"/>
          </a:p>
        </p:txBody>
      </p:sp>
      <p:sp>
        <p:nvSpPr>
          <p:cNvPr id="34" name="a7_d"/>
          <p:cNvSpPr txBox="1"/>
          <p:nvPr/>
        </p:nvSpPr>
        <p:spPr>
          <a:xfrm>
            <a:off x="8229600" y="5504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ответы и отчёты по запросу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4" grpId="0"/>
      <p:bldP spid="15" grpId="0" animBg="1"/>
      <p:bldP spid="17" grpId="0"/>
      <p:bldP spid="18" grpId="0"/>
      <p:bldP spid="19" grpId="0" animBg="1"/>
      <p:bldP spid="21" grpId="0"/>
      <p:bldP spid="22" grpId="0"/>
      <p:bldP spid="23" grpId="0" animBg="1"/>
      <p:bldP spid="25" grpId="0"/>
      <p:bldP spid="26" grpId="0"/>
      <p:bldP spid="27" grpId="0" animBg="1"/>
      <p:bldP spid="29" grpId="0"/>
      <p:bldP spid="30" grpId="0"/>
      <p:bldP spid="31" grpId="0" animBg="1"/>
      <p:bldP spid="33" grpId="0"/>
      <p:bldP spid="3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Автоматизация малого и среднего бизнеса: отраслевые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пакеты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III · IT SERVICES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IT SERVICES</a:t>
            </a:r>
            <a:endParaRPr lang="en-US" sz="900" dirty="0"/>
          </a:p>
        </p:txBody>
      </p:sp>
      <p:sp>
        <p:nvSpPr>
          <p:cNvPr id="9" name="a1_card"/>
          <p:cNvSpPr/>
          <p:nvPr/>
        </p:nvSpPr>
        <p:spPr>
          <a:xfrm>
            <a:off x="548640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iconbg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1" name="a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67128"/>
            <a:ext cx="237744" cy="237744"/>
          </a:xfrm>
          <a:prstGeom prst="rect">
            <a:avLst/>
          </a:prstGeom>
        </p:spPr>
      </p:pic>
      <p:sp>
        <p:nvSpPr>
          <p:cNvPr id="12" name="a1_t"/>
          <p:cNvSpPr txBox="1"/>
          <p:nvPr/>
        </p:nvSpPr>
        <p:spPr>
          <a:xfrm>
            <a:off x="1371600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Розница</a:t>
            </a:r>
            <a:endParaRPr lang="en-US" sz="1400" dirty="0"/>
          </a:p>
        </p:txBody>
      </p:sp>
      <p:sp>
        <p:nvSpPr>
          <p:cNvPr id="13" name="a1_d"/>
          <p:cNvSpPr txBox="1"/>
          <p:nvPr/>
        </p:nvSpPr>
        <p:spPr>
          <a:xfrm>
            <a:off x="777240" y="2679192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Касса, склад, программа лояльности, аналитика продаж по точкам.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77240" y="3355848"/>
            <a:ext cx="891540" cy="24688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9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3355848"/>
            <a:ext cx="8915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 + ERP</a:t>
            </a:r>
            <a:endParaRPr lang="en-US" sz="850" dirty="0"/>
          </a:p>
        </p:txBody>
      </p:sp>
      <p:sp>
        <p:nvSpPr>
          <p:cNvPr id="16" name="a2_card"/>
          <p:cNvSpPr/>
          <p:nvPr/>
        </p:nvSpPr>
        <p:spPr>
          <a:xfrm>
            <a:off x="4322978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7" name="a2_iconbg"/>
          <p:cNvSpPr/>
          <p:nvPr/>
        </p:nvSpPr>
        <p:spPr>
          <a:xfrm>
            <a:off x="4551578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8" name="a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306" y="2167128"/>
            <a:ext cx="237744" cy="237744"/>
          </a:xfrm>
          <a:prstGeom prst="rect">
            <a:avLst/>
          </a:prstGeom>
        </p:spPr>
      </p:pic>
      <p:sp>
        <p:nvSpPr>
          <p:cNvPr id="19" name="a2_t"/>
          <p:cNvSpPr txBox="1"/>
          <p:nvPr/>
        </p:nvSpPr>
        <p:spPr>
          <a:xfrm>
            <a:off x="5145938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HoReCa</a:t>
            </a:r>
            <a:endParaRPr lang="en-US" sz="1400" dirty="0"/>
          </a:p>
        </p:txBody>
      </p:sp>
      <p:sp>
        <p:nvSpPr>
          <p:cNvPr id="20" name="a2_d"/>
          <p:cNvSpPr txBox="1"/>
          <p:nvPr/>
        </p:nvSpPr>
        <p:spPr>
          <a:xfrm>
            <a:off x="4551578" y="2679192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Заказы, кухня, доставка, учёт продуктов и себестоимости блюд.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51578" y="3355848"/>
            <a:ext cx="1028700" cy="24688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93F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551578" y="3355848"/>
            <a:ext cx="10287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 + склад</a:t>
            </a:r>
            <a:endParaRPr lang="en-US" sz="850" dirty="0"/>
          </a:p>
        </p:txBody>
      </p:sp>
      <p:sp>
        <p:nvSpPr>
          <p:cNvPr id="23" name="a3_card"/>
          <p:cNvSpPr/>
          <p:nvPr/>
        </p:nvSpPr>
        <p:spPr>
          <a:xfrm>
            <a:off x="8097317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4" name="a3_iconbg"/>
          <p:cNvSpPr/>
          <p:nvPr/>
        </p:nvSpPr>
        <p:spPr>
          <a:xfrm>
            <a:off x="8325917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5" name="a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645" y="2167128"/>
            <a:ext cx="237744" cy="237744"/>
          </a:xfrm>
          <a:prstGeom prst="rect">
            <a:avLst/>
          </a:prstGeom>
        </p:spPr>
      </p:pic>
      <p:sp>
        <p:nvSpPr>
          <p:cNvPr id="26" name="a3_t"/>
          <p:cNvSpPr txBox="1"/>
          <p:nvPr/>
        </p:nvSpPr>
        <p:spPr>
          <a:xfrm>
            <a:off x="8920277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Дистрибуция</a:t>
            </a:r>
            <a:endParaRPr lang="en-US" sz="1400" dirty="0"/>
          </a:p>
        </p:txBody>
      </p:sp>
      <p:sp>
        <p:nvSpPr>
          <p:cNvPr id="27" name="a3_d"/>
          <p:cNvSpPr txBox="1"/>
          <p:nvPr/>
        </p:nvSpPr>
        <p:spPr>
          <a:xfrm>
            <a:off x="8325917" y="2679192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Заказы агентов, маршруты, дебиторка.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8325917" y="3355848"/>
            <a:ext cx="891540" cy="24688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93F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325917" y="3355848"/>
            <a:ext cx="8915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 + CRM</a:t>
            </a:r>
            <a:endParaRPr lang="en-US" sz="850" dirty="0"/>
          </a:p>
        </p:txBody>
      </p:sp>
      <p:sp>
        <p:nvSpPr>
          <p:cNvPr id="30" name="a4_card"/>
          <p:cNvSpPr/>
          <p:nvPr/>
        </p:nvSpPr>
        <p:spPr>
          <a:xfrm>
            <a:off x="548640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1" name="a4_iconbg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2" name="a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361688"/>
            <a:ext cx="237744" cy="237744"/>
          </a:xfrm>
          <a:prstGeom prst="rect">
            <a:avLst/>
          </a:prstGeom>
        </p:spPr>
      </p:pic>
      <p:sp>
        <p:nvSpPr>
          <p:cNvPr id="33" name="a4_t"/>
          <p:cNvSpPr txBox="1"/>
          <p:nvPr/>
        </p:nvSpPr>
        <p:spPr>
          <a:xfrm>
            <a:off x="1371600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Клиники и сервисы</a:t>
            </a:r>
            <a:endParaRPr lang="en-US" sz="1400" dirty="0"/>
          </a:p>
        </p:txBody>
      </p:sp>
      <p:sp>
        <p:nvSpPr>
          <p:cNvPr id="34" name="a4_d"/>
          <p:cNvSpPr txBox="1"/>
          <p:nvPr/>
        </p:nvSpPr>
        <p:spPr>
          <a:xfrm>
            <a:off x="777240" y="4873752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Онлайн-запись, карточка клиента, напоминания, оплата.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777240" y="5550408"/>
            <a:ext cx="1234440" cy="24688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93FA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77240" y="555040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+ Telegram</a:t>
            </a:r>
            <a:endParaRPr lang="en-US" sz="850" dirty="0"/>
          </a:p>
        </p:txBody>
      </p:sp>
      <p:sp>
        <p:nvSpPr>
          <p:cNvPr id="37" name="a5_card"/>
          <p:cNvSpPr/>
          <p:nvPr/>
        </p:nvSpPr>
        <p:spPr>
          <a:xfrm>
            <a:off x="4322978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8" name="a5_iconbg"/>
          <p:cNvSpPr/>
          <p:nvPr/>
        </p:nvSpPr>
        <p:spPr>
          <a:xfrm>
            <a:off x="4551578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9" name="a5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306" y="4361688"/>
            <a:ext cx="237744" cy="237744"/>
          </a:xfrm>
          <a:prstGeom prst="rect">
            <a:avLst/>
          </a:prstGeom>
        </p:spPr>
      </p:pic>
      <p:sp>
        <p:nvSpPr>
          <p:cNvPr id="40" name="a5_t"/>
          <p:cNvSpPr txBox="1"/>
          <p:nvPr/>
        </p:nvSpPr>
        <p:spPr>
          <a:xfrm>
            <a:off x="5145938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Образование</a:t>
            </a:r>
            <a:endParaRPr lang="en-US" sz="1400" dirty="0"/>
          </a:p>
        </p:txBody>
      </p:sp>
      <p:sp>
        <p:nvSpPr>
          <p:cNvPr id="41" name="a5_d"/>
          <p:cNvSpPr txBox="1"/>
          <p:nvPr/>
        </p:nvSpPr>
        <p:spPr>
          <a:xfrm>
            <a:off x="4551578" y="4873752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Расписание, оплата обучения, успеваемость, связь с родителями.</a:t>
            </a:r>
            <a:endParaRPr lang="en-US" sz="1250" dirty="0"/>
          </a:p>
        </p:txBody>
      </p:sp>
      <p:sp>
        <p:nvSpPr>
          <p:cNvPr id="42" name="Shape 34"/>
          <p:cNvSpPr/>
          <p:nvPr/>
        </p:nvSpPr>
        <p:spPr>
          <a:xfrm>
            <a:off x="4551578" y="5550408"/>
            <a:ext cx="891540" cy="24688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93FA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4551578" y="5550408"/>
            <a:ext cx="8915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+ LMS</a:t>
            </a:r>
            <a:endParaRPr lang="en-US" sz="850" dirty="0"/>
          </a:p>
        </p:txBody>
      </p:sp>
      <p:sp>
        <p:nvSpPr>
          <p:cNvPr id="44" name="a6_card"/>
          <p:cNvSpPr/>
          <p:nvPr/>
        </p:nvSpPr>
        <p:spPr>
          <a:xfrm>
            <a:off x="8097317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45" name="a6_iconbg"/>
          <p:cNvSpPr/>
          <p:nvPr/>
        </p:nvSpPr>
        <p:spPr>
          <a:xfrm>
            <a:off x="8325917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46" name="a6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645" y="4361688"/>
            <a:ext cx="237744" cy="237744"/>
          </a:xfrm>
          <a:prstGeom prst="rect">
            <a:avLst/>
          </a:prstGeom>
        </p:spPr>
      </p:pic>
      <p:sp>
        <p:nvSpPr>
          <p:cNvPr id="47" name="a6_t"/>
          <p:cNvSpPr txBox="1"/>
          <p:nvPr/>
        </p:nvSpPr>
        <p:spPr>
          <a:xfrm>
            <a:off x="8920277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Производство</a:t>
            </a:r>
            <a:endParaRPr lang="en-US" sz="1400" dirty="0"/>
          </a:p>
        </p:txBody>
      </p:sp>
      <p:sp>
        <p:nvSpPr>
          <p:cNvPr id="48" name="a6_d"/>
          <p:cNvSpPr txBox="1"/>
          <p:nvPr/>
        </p:nvSpPr>
        <p:spPr>
          <a:xfrm>
            <a:off x="8325917" y="4873752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Заказы, сырьё, производственные этапы, качество.</a:t>
            </a:r>
            <a:endParaRPr lang="en-US" sz="1250" dirty="0"/>
          </a:p>
        </p:txBody>
      </p:sp>
      <p:sp>
        <p:nvSpPr>
          <p:cNvPr id="49" name="Shape 40"/>
          <p:cNvSpPr/>
          <p:nvPr/>
        </p:nvSpPr>
        <p:spPr>
          <a:xfrm>
            <a:off x="8325917" y="5550408"/>
            <a:ext cx="480060" cy="24688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93FA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8325917" y="5550408"/>
            <a:ext cx="4800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/>
      <p:bldP spid="13" grpId="0"/>
      <p:bldP spid="16" grpId="0" animBg="1"/>
      <p:bldP spid="17" grpId="0" animBg="1"/>
      <p:bldP spid="19" grpId="0"/>
      <p:bldP spid="20" grpId="0"/>
      <p:bldP spid="23" grpId="0" animBg="1"/>
      <p:bldP spid="24" grpId="0" animBg="1"/>
      <p:bldP spid="26" grpId="0"/>
      <p:bldP spid="27" grpId="0"/>
      <p:bldP spid="30" grpId="0" animBg="1"/>
      <p:bldP spid="31" grpId="0" animBg="1"/>
      <p:bldP spid="33" grpId="0"/>
      <p:bldP spid="34" grpId="0"/>
      <p:bldP spid="37" grpId="0" animBg="1"/>
      <p:bldP spid="38" grpId="0" animBg="1"/>
      <p:bldP spid="40" grpId="0"/>
      <p:bldP spid="41" grpId="0"/>
      <p:bldP spid="44" grpId="0" animBg="1"/>
      <p:bldP spid="45" grpId="0" animBg="1"/>
      <p:bldP spid="47" grpId="0"/>
      <p:bldP spid="4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POS и кассовые решения: от кассы до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аналитики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III · IT SERVICES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IT SERVICES</a:t>
            </a:r>
            <a:endParaRPr lang="en-US" sz="900" dirty="0"/>
          </a:p>
        </p:txBody>
      </p:sp>
      <p:sp>
        <p:nvSpPr>
          <p:cNvPr id="9" name="a1_bg"/>
          <p:cNvSpPr/>
          <p:nvPr/>
        </p:nvSpPr>
        <p:spPr>
          <a:xfrm>
            <a:off x="548640" y="1828800"/>
            <a:ext cx="11094415" cy="713232"/>
          </a:xfrm>
          <a:prstGeom prst="roundRect">
            <a:avLst>
              <a:gd name="adj" fmla="val 15385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lb"/>
          <p:cNvSpPr/>
          <p:nvPr/>
        </p:nvSpPr>
        <p:spPr>
          <a:xfrm>
            <a:off x="640080" y="192024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11" name="a1_lt"/>
          <p:cNvSpPr txBox="1"/>
          <p:nvPr/>
        </p:nvSpPr>
        <p:spPr>
          <a:xfrm>
            <a:off x="749808" y="1920240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Точки продаж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00400" y="1956816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73552" y="1956816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Касса на планшете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15636" y="1956816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88788" y="1956816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Мобильный терминал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30872" y="1956816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04024" y="1956816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Самообслуживание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546107" y="1956816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19259" y="1956816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Онлайн-заказы</a:t>
            </a:r>
            <a:endParaRPr lang="en-US" sz="1100" dirty="0"/>
          </a:p>
        </p:txBody>
      </p:sp>
      <p:sp>
        <p:nvSpPr>
          <p:cNvPr id="20" name="a2_bg"/>
          <p:cNvSpPr/>
          <p:nvPr/>
        </p:nvSpPr>
        <p:spPr>
          <a:xfrm>
            <a:off x="548640" y="2660904"/>
            <a:ext cx="11094415" cy="713232"/>
          </a:xfrm>
          <a:prstGeom prst="roundRect">
            <a:avLst>
              <a:gd name="adj" fmla="val 15385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1" name="a2_lb"/>
          <p:cNvSpPr/>
          <p:nvPr/>
        </p:nvSpPr>
        <p:spPr>
          <a:xfrm>
            <a:off x="640080" y="2752344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22" name="a2_lt"/>
          <p:cNvSpPr txBox="1"/>
          <p:nvPr/>
        </p:nvSpPr>
        <p:spPr>
          <a:xfrm>
            <a:off x="749808" y="27523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Платежи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200400" y="2788920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73552" y="278892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Банковские карты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315636" y="2788920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88788" y="278892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QR-оплата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430872" y="2788920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504024" y="278892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Локальные платёжные системы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546107" y="2788920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619259" y="278892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Наличные</a:t>
            </a:r>
            <a:endParaRPr lang="en-US" sz="1100" dirty="0"/>
          </a:p>
        </p:txBody>
      </p:sp>
      <p:sp>
        <p:nvSpPr>
          <p:cNvPr id="31" name="a3_bg"/>
          <p:cNvSpPr/>
          <p:nvPr/>
        </p:nvSpPr>
        <p:spPr>
          <a:xfrm>
            <a:off x="548640" y="3493008"/>
            <a:ext cx="11094415" cy="713232"/>
          </a:xfrm>
          <a:prstGeom prst="roundRect">
            <a:avLst>
              <a:gd name="adj" fmla="val 15385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2" name="a3_lb"/>
          <p:cNvSpPr/>
          <p:nvPr/>
        </p:nvSpPr>
        <p:spPr>
          <a:xfrm>
            <a:off x="640080" y="3584448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33" name="a3_lt"/>
          <p:cNvSpPr txBox="1"/>
          <p:nvPr/>
        </p:nvSpPr>
        <p:spPr>
          <a:xfrm>
            <a:off x="749808" y="3584448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Фискализация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3200400" y="3621024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273552" y="3621024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Онлайн-ККТ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315636" y="3621024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388788" y="3621024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Электронные чеки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430872" y="3621024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504024" y="3621024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Налоговая отчётность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546107" y="3621024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619259" y="3621024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Сертификация*</a:t>
            </a:r>
            <a:endParaRPr lang="en-US" sz="1100" dirty="0"/>
          </a:p>
        </p:txBody>
      </p:sp>
      <p:sp>
        <p:nvSpPr>
          <p:cNvPr id="42" name="a4_bg"/>
          <p:cNvSpPr/>
          <p:nvPr/>
        </p:nvSpPr>
        <p:spPr>
          <a:xfrm>
            <a:off x="548640" y="4325112"/>
            <a:ext cx="11094415" cy="713232"/>
          </a:xfrm>
          <a:prstGeom prst="roundRect">
            <a:avLst>
              <a:gd name="adj" fmla="val 15385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43" name="a4_lb"/>
          <p:cNvSpPr/>
          <p:nvPr/>
        </p:nvSpPr>
        <p:spPr>
          <a:xfrm>
            <a:off x="640080" y="4416552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44" name="a4_lt"/>
          <p:cNvSpPr txBox="1"/>
          <p:nvPr/>
        </p:nvSpPr>
        <p:spPr>
          <a:xfrm>
            <a:off x="749808" y="4416552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Учёт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3200400" y="4453128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273552" y="4453128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Склад и остатки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315636" y="4453128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388788" y="4453128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Себестоимость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7430872" y="4453128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504024" y="4453128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Лояльность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9546107" y="4453128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19259" y="4453128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</a:t>
            </a:r>
            <a:endParaRPr lang="en-US" sz="1100" dirty="0"/>
          </a:p>
        </p:txBody>
      </p:sp>
      <p:sp>
        <p:nvSpPr>
          <p:cNvPr id="53" name="a5_bg"/>
          <p:cNvSpPr/>
          <p:nvPr/>
        </p:nvSpPr>
        <p:spPr>
          <a:xfrm>
            <a:off x="548640" y="5157216"/>
            <a:ext cx="11094415" cy="713232"/>
          </a:xfrm>
          <a:prstGeom prst="roundRect">
            <a:avLst>
              <a:gd name="adj" fmla="val 15385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54" name="a5_lb"/>
          <p:cNvSpPr/>
          <p:nvPr/>
        </p:nvSpPr>
        <p:spPr>
          <a:xfrm>
            <a:off x="640080" y="5248656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55" name="a5_lt"/>
          <p:cNvSpPr txBox="1"/>
          <p:nvPr/>
        </p:nvSpPr>
        <p:spPr>
          <a:xfrm>
            <a:off x="749808" y="5248656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 и AI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3200400" y="5285232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73552" y="5285232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Дашборды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5315636" y="5285232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388788" y="5285232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Прогноз спроса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7430872" y="5285232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504024" y="5285232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AI-ассистент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9546107" y="5285232"/>
            <a:ext cx="2005508" cy="45720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619259" y="5285232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Отчёты владельцу</a:t>
            </a:r>
            <a:endParaRPr lang="en-US" sz="1100" dirty="0"/>
          </a:p>
        </p:txBody>
      </p:sp>
      <p:sp>
        <p:nvSpPr>
          <p:cNvPr id="64" name="Text 61"/>
          <p:cNvSpPr txBox="1"/>
          <p:nvPr/>
        </p:nvSpPr>
        <p:spPr>
          <a:xfrm>
            <a:off x="548640" y="60167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Соответствие фискальным требованиям РУз и сертификация решения — обязательное условие запуска, требует подтверждения.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20" grpId="0" animBg="1"/>
      <p:bldP spid="21" grpId="0" animBg="1"/>
      <p:bldP spid="22" grpId="0"/>
      <p:bldP spid="31" grpId="0" animBg="1"/>
      <p:bldP spid="32" grpId="0" animBg="1"/>
      <p:bldP spid="33" grpId="0"/>
      <p:bldP spid="42" grpId="0" animBg="1"/>
      <p:bldP spid="43" grpId="0" animBg="1"/>
      <p:bldP spid="44" grpId="0"/>
      <p:bldP spid="53" grpId="0" animBg="1"/>
      <p:bldP spid="54" grpId="0" animBg="1"/>
      <p:bldP spid="5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Разработка веб- и мобильных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приложений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III · IT SERVICES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IT SERVICES</a:t>
            </a:r>
            <a:endParaRPr lang="en-US" sz="900" dirty="0"/>
          </a:p>
        </p:txBody>
      </p:sp>
      <p:sp>
        <p:nvSpPr>
          <p:cNvPr id="9" name="a1_card"/>
          <p:cNvSpPr/>
          <p:nvPr/>
        </p:nvSpPr>
        <p:spPr>
          <a:xfrm>
            <a:off x="548640" y="1828800"/>
            <a:ext cx="2602154" cy="2651760"/>
          </a:xfrm>
          <a:prstGeom prst="roundRect">
            <a:avLst>
              <a:gd name="adj" fmla="val 421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iconbg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1" name="a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67128"/>
            <a:ext cx="237744" cy="237744"/>
          </a:xfrm>
          <a:prstGeom prst="rect">
            <a:avLst/>
          </a:prstGeom>
        </p:spPr>
      </p:pic>
      <p:sp>
        <p:nvSpPr>
          <p:cNvPr id="12" name="a1_t"/>
          <p:cNvSpPr txBox="1"/>
          <p:nvPr/>
        </p:nvSpPr>
        <p:spPr>
          <a:xfrm>
            <a:off x="777240" y="2679192"/>
            <a:ext cx="21449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Веб-платформы</a:t>
            </a:r>
            <a:endParaRPr lang="en-US" sz="1500" dirty="0"/>
          </a:p>
        </p:txBody>
      </p:sp>
      <p:sp>
        <p:nvSpPr>
          <p:cNvPr id="13" name="a1_d"/>
          <p:cNvSpPr txBox="1"/>
          <p:nvPr/>
        </p:nvSpPr>
        <p:spPr>
          <a:xfrm>
            <a:off x="777240" y="3282696"/>
            <a:ext cx="214495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Корпоративные порталы, личные кабинеты, маркетплейсы и B2B-сервисы.</a:t>
            </a:r>
            <a:endParaRPr lang="en-US" sz="1250" dirty="0"/>
          </a:p>
        </p:txBody>
      </p:sp>
      <p:sp>
        <p:nvSpPr>
          <p:cNvPr id="14" name="a2_card"/>
          <p:cNvSpPr/>
          <p:nvPr/>
        </p:nvSpPr>
        <p:spPr>
          <a:xfrm>
            <a:off x="3379394" y="1828800"/>
            <a:ext cx="2602154" cy="2651760"/>
          </a:xfrm>
          <a:prstGeom prst="roundRect">
            <a:avLst>
              <a:gd name="adj" fmla="val 421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5" name="a2_iconbg"/>
          <p:cNvSpPr/>
          <p:nvPr/>
        </p:nvSpPr>
        <p:spPr>
          <a:xfrm>
            <a:off x="3607994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6" name="a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722" y="2167128"/>
            <a:ext cx="237744" cy="237744"/>
          </a:xfrm>
          <a:prstGeom prst="rect">
            <a:avLst/>
          </a:prstGeom>
        </p:spPr>
      </p:pic>
      <p:sp>
        <p:nvSpPr>
          <p:cNvPr id="17" name="a2_t"/>
          <p:cNvSpPr txBox="1"/>
          <p:nvPr/>
        </p:nvSpPr>
        <p:spPr>
          <a:xfrm>
            <a:off x="3607994" y="2679192"/>
            <a:ext cx="21449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Мобильные приложения</a:t>
            </a:r>
            <a:endParaRPr lang="en-US" sz="1500" dirty="0"/>
          </a:p>
        </p:txBody>
      </p:sp>
      <p:sp>
        <p:nvSpPr>
          <p:cNvPr id="18" name="a2_d"/>
          <p:cNvSpPr txBox="1"/>
          <p:nvPr/>
        </p:nvSpPr>
        <p:spPr>
          <a:xfrm>
            <a:off x="3607994" y="3282696"/>
            <a:ext cx="214495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iOS и Android: нативно и кроссплатформенно, с публикацией в сторах.</a:t>
            </a:r>
            <a:endParaRPr lang="en-US" sz="1250" dirty="0"/>
          </a:p>
        </p:txBody>
      </p:sp>
      <p:sp>
        <p:nvSpPr>
          <p:cNvPr id="19" name="a3_card"/>
          <p:cNvSpPr/>
          <p:nvPr/>
        </p:nvSpPr>
        <p:spPr>
          <a:xfrm>
            <a:off x="6210148" y="1828800"/>
            <a:ext cx="2602154" cy="2651760"/>
          </a:xfrm>
          <a:prstGeom prst="roundRect">
            <a:avLst>
              <a:gd name="adj" fmla="val 421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0" name="a3_iconbg"/>
          <p:cNvSpPr/>
          <p:nvPr/>
        </p:nvSpPr>
        <p:spPr>
          <a:xfrm>
            <a:off x="6438748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1" name="a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476" y="2167128"/>
            <a:ext cx="237744" cy="237744"/>
          </a:xfrm>
          <a:prstGeom prst="rect">
            <a:avLst/>
          </a:prstGeom>
        </p:spPr>
      </p:pic>
      <p:sp>
        <p:nvSpPr>
          <p:cNvPr id="22" name="a3_t"/>
          <p:cNvSpPr txBox="1"/>
          <p:nvPr/>
        </p:nvSpPr>
        <p:spPr>
          <a:xfrm>
            <a:off x="6438748" y="2679192"/>
            <a:ext cx="21449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 Mini Apps</a:t>
            </a:r>
            <a:endParaRPr lang="en-US" sz="1500" dirty="0"/>
          </a:p>
        </p:txBody>
      </p:sp>
      <p:sp>
        <p:nvSpPr>
          <p:cNvPr id="23" name="a3_d"/>
          <p:cNvSpPr txBox="1"/>
          <p:nvPr/>
        </p:nvSpPr>
        <p:spPr>
          <a:xfrm>
            <a:off x="6438748" y="3282696"/>
            <a:ext cx="214495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Сервисы и игры внутри Telegram: оплата, авторизация, уведомления.</a:t>
            </a:r>
            <a:endParaRPr lang="en-US" sz="1250" dirty="0"/>
          </a:p>
        </p:txBody>
      </p:sp>
      <p:sp>
        <p:nvSpPr>
          <p:cNvPr id="24" name="a4_card"/>
          <p:cNvSpPr/>
          <p:nvPr/>
        </p:nvSpPr>
        <p:spPr>
          <a:xfrm>
            <a:off x="9040901" y="1828800"/>
            <a:ext cx="2602154" cy="2651760"/>
          </a:xfrm>
          <a:prstGeom prst="roundRect">
            <a:avLst>
              <a:gd name="adj" fmla="val 421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5" name="a4_iconbg"/>
          <p:cNvSpPr/>
          <p:nvPr/>
        </p:nvSpPr>
        <p:spPr>
          <a:xfrm>
            <a:off x="9269501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6" name="a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229" y="2167128"/>
            <a:ext cx="237744" cy="237744"/>
          </a:xfrm>
          <a:prstGeom prst="rect">
            <a:avLst/>
          </a:prstGeom>
        </p:spPr>
      </p:pic>
      <p:sp>
        <p:nvSpPr>
          <p:cNvPr id="27" name="a4_t"/>
          <p:cNvSpPr txBox="1"/>
          <p:nvPr/>
        </p:nvSpPr>
        <p:spPr>
          <a:xfrm>
            <a:off x="9269501" y="2679192"/>
            <a:ext cx="21449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PWA и лендинги</a:t>
            </a:r>
            <a:endParaRPr lang="en-US" sz="1500" dirty="0"/>
          </a:p>
        </p:txBody>
      </p:sp>
      <p:sp>
        <p:nvSpPr>
          <p:cNvPr id="28" name="a4_d"/>
          <p:cNvSpPr txBox="1"/>
          <p:nvPr/>
        </p:nvSpPr>
        <p:spPr>
          <a:xfrm>
            <a:off x="9269501" y="3282696"/>
            <a:ext cx="214495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Быстрые веб-приложения для маркетинга и офлайн-сценариев.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Технологический стек (типовой)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51206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548640" y="51206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1618488" y="5120640"/>
            <a:ext cx="61722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1618488" y="5120640"/>
            <a:ext cx="6172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2345436" y="5120640"/>
            <a:ext cx="75438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2345436" y="5120640"/>
            <a:ext cx="7543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Next.js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3209544" y="5120640"/>
            <a:ext cx="75438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3209544" y="5120640"/>
            <a:ext cx="7543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4073652" y="512064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4073652" y="51206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4869180" y="5120640"/>
            <a:ext cx="41148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4869180" y="51206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5390388" y="5120640"/>
            <a:ext cx="75438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5390388" y="5120640"/>
            <a:ext cx="7543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Flutter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6254496" y="512064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6254496" y="51206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Kotlin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7050024" y="5120640"/>
            <a:ext cx="61722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7050024" y="5120640"/>
            <a:ext cx="6172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Swift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7776972" y="51206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7776972" y="51206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8846820" y="5120640"/>
            <a:ext cx="61722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8846820" y="5120640"/>
            <a:ext cx="6172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Redis</a:t>
            </a:r>
            <a:endParaRPr lang="en-US" sz="950" dirty="0"/>
          </a:p>
        </p:txBody>
      </p:sp>
      <p:sp>
        <p:nvSpPr>
          <p:cNvPr id="52" name="Shape 45"/>
          <p:cNvSpPr/>
          <p:nvPr/>
        </p:nvSpPr>
        <p:spPr>
          <a:xfrm>
            <a:off x="9573768" y="512064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9573768" y="51206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Docker</a:t>
            </a:r>
            <a:endParaRPr lang="en-US" sz="950" dirty="0"/>
          </a:p>
        </p:txBody>
      </p:sp>
      <p:sp>
        <p:nvSpPr>
          <p:cNvPr id="54" name="Shape 47"/>
          <p:cNvSpPr/>
          <p:nvPr/>
        </p:nvSpPr>
        <p:spPr>
          <a:xfrm>
            <a:off x="10369296" y="51206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10369296" y="51206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Kubernetes</a:t>
            </a:r>
            <a:endParaRPr lang="en-US" sz="950" dirty="0"/>
          </a:p>
        </p:txBody>
      </p:sp>
      <p:sp>
        <p:nvSpPr>
          <p:cNvPr id="56" name="Text 49"/>
          <p:cNvSpPr txBox="1"/>
          <p:nvPr/>
        </p:nvSpPr>
        <p:spPr>
          <a:xfrm>
            <a:off x="548640" y="5623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Стек выбирается под задачу клиента и требования к поддержке; перечень — ориентир, не ограничение.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/>
      <p:bldP spid="13" grpId="0"/>
      <p:bldP spid="14" grpId="0" animBg="1"/>
      <p:bldP spid="15" grpId="0" animBg="1"/>
      <p:bldP spid="17" grpId="0"/>
      <p:bldP spid="18" grpId="0"/>
      <p:bldP spid="19" grpId="0" animBg="1"/>
      <p:bldP spid="20" grpId="0" animBg="1"/>
      <p:bldP spid="22" grpId="0"/>
      <p:bldP spid="23" grpId="0"/>
      <p:bldP spid="24" grpId="0" animBg="1"/>
      <p:bldP spid="25" grpId="0" animBg="1"/>
      <p:bldP spid="27" grpId="0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datacenter-ais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15" y="-342900"/>
            <a:ext cx="13410865" cy="75438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Облачная инфраструктура: надёжность, безопасность, локализация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данных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III · IT SERVICES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IT SERVICES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5" name="pnl"/>
          <p:cNvSpPr/>
          <p:nvPr/>
        </p:nvSpPr>
        <p:spPr>
          <a:xfrm>
            <a:off x="411480" y="1737360"/>
            <a:ext cx="5852160" cy="4251960"/>
          </a:xfrm>
          <a:prstGeom prst="roundRect">
            <a:avLst>
              <a:gd name="adj" fmla="val 2581"/>
            </a:avLst>
          </a:prstGeom>
          <a:solidFill>
            <a:srgbClr val="0B0F0E">
              <a:alpha val="85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6" name="a1_ibg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7" name="a1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1995221"/>
            <a:ext cx="261518" cy="261518"/>
          </a:xfrm>
          <a:prstGeom prst="rect">
            <a:avLst/>
          </a:prstGeom>
        </p:spPr>
      </p:pic>
      <p:sp>
        <p:nvSpPr>
          <p:cNvPr id="18" name="a1_t"/>
          <p:cNvSpPr txBox="1"/>
          <p:nvPr/>
        </p:nvSpPr>
        <p:spPr>
          <a:xfrm>
            <a:off x="1234440" y="18562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Гибридное облако</a:t>
            </a:r>
            <a:endParaRPr lang="en-US" sz="1400" dirty="0"/>
          </a:p>
        </p:txBody>
      </p:sp>
      <p:sp>
        <p:nvSpPr>
          <p:cNvPr id="19" name="a1_d"/>
          <p:cNvSpPr txBox="1"/>
          <p:nvPr/>
        </p:nvSpPr>
        <p:spPr>
          <a:xfrm>
            <a:off x="1234440" y="216712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Локальные дата-центры для персональных данных + международные облака для глобальных сервисов</a:t>
            </a:r>
            <a:endParaRPr lang="en-US" sz="1150" dirty="0"/>
          </a:p>
        </p:txBody>
      </p:sp>
      <p:sp>
        <p:nvSpPr>
          <p:cNvPr id="20" name="a2_ibg"/>
          <p:cNvSpPr/>
          <p:nvPr/>
        </p:nvSpPr>
        <p:spPr>
          <a:xfrm>
            <a:off x="548640" y="2898648"/>
            <a:ext cx="502920" cy="50292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1" name="a2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1" y="3019349"/>
            <a:ext cx="261518" cy="261518"/>
          </a:xfrm>
          <a:prstGeom prst="rect">
            <a:avLst/>
          </a:prstGeom>
        </p:spPr>
      </p:pic>
      <p:sp>
        <p:nvSpPr>
          <p:cNvPr id="22" name="a2_t"/>
          <p:cNvSpPr txBox="1"/>
          <p:nvPr/>
        </p:nvSpPr>
        <p:spPr>
          <a:xfrm>
            <a:off x="1234440" y="28803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 и CI/CD</a:t>
            </a:r>
            <a:endParaRPr lang="en-US" sz="1400" dirty="0"/>
          </a:p>
        </p:txBody>
      </p:sp>
      <p:sp>
        <p:nvSpPr>
          <p:cNvPr id="23" name="a2_d"/>
          <p:cNvSpPr txBox="1"/>
          <p:nvPr/>
        </p:nvSpPr>
        <p:spPr>
          <a:xfrm>
            <a:off x="1234440" y="319125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Автоматическая сборка, тесты и выкладка; инфраструктура как код</a:t>
            </a:r>
            <a:endParaRPr lang="en-US" sz="1150" dirty="0"/>
          </a:p>
        </p:txBody>
      </p:sp>
      <p:sp>
        <p:nvSpPr>
          <p:cNvPr id="24" name="a3_ibg"/>
          <p:cNvSpPr/>
          <p:nvPr/>
        </p:nvSpPr>
        <p:spPr>
          <a:xfrm>
            <a:off x="548640" y="3922776"/>
            <a:ext cx="502920" cy="50292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5" name="a3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1" y="4043477"/>
            <a:ext cx="261518" cy="261518"/>
          </a:xfrm>
          <a:prstGeom prst="rect">
            <a:avLst/>
          </a:prstGeom>
        </p:spPr>
      </p:pic>
      <p:sp>
        <p:nvSpPr>
          <p:cNvPr id="26" name="a3_t"/>
          <p:cNvSpPr txBox="1"/>
          <p:nvPr/>
        </p:nvSpPr>
        <p:spPr>
          <a:xfrm>
            <a:off x="1234440" y="39044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</a:t>
            </a:r>
            <a:endParaRPr lang="en-US" sz="1400" dirty="0"/>
          </a:p>
        </p:txBody>
      </p:sp>
      <p:sp>
        <p:nvSpPr>
          <p:cNvPr id="27" name="a3_d"/>
          <p:cNvSpPr txBox="1"/>
          <p:nvPr/>
        </p:nvSpPr>
        <p:spPr>
          <a:xfrm>
            <a:off x="1234440" y="42153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Метрики, логи, алерты, дежурства по SLA</a:t>
            </a:r>
            <a:endParaRPr lang="en-US" sz="1150" dirty="0"/>
          </a:p>
        </p:txBody>
      </p:sp>
      <p:sp>
        <p:nvSpPr>
          <p:cNvPr id="28" name="a4_ibg"/>
          <p:cNvSpPr/>
          <p:nvPr/>
        </p:nvSpPr>
        <p:spPr>
          <a:xfrm>
            <a:off x="548640" y="4946904"/>
            <a:ext cx="502920" cy="50292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9" name="a4_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1" y="5067605"/>
            <a:ext cx="261518" cy="261518"/>
          </a:xfrm>
          <a:prstGeom prst="rect">
            <a:avLst/>
          </a:prstGeom>
        </p:spPr>
      </p:pic>
      <p:sp>
        <p:nvSpPr>
          <p:cNvPr id="30" name="a4_t"/>
          <p:cNvSpPr txBox="1"/>
          <p:nvPr/>
        </p:nvSpPr>
        <p:spPr>
          <a:xfrm>
            <a:off x="1234440" y="49286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1400" dirty="0"/>
          </a:p>
        </p:txBody>
      </p:sp>
      <p:sp>
        <p:nvSpPr>
          <p:cNvPr id="31" name="a4_d"/>
          <p:cNvSpPr txBox="1"/>
          <p:nvPr/>
        </p:nvSpPr>
        <p:spPr>
          <a:xfrm>
            <a:off x="1234440" y="523951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Шифрование, управление доступом, резервные копии и аварийное восстановление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  <p:bldP spid="19" grpId="0"/>
      <p:bldP spid="20" grpId="0" animBg="1"/>
      <p:bldP spid="22" grpId="0"/>
      <p:bldP spid="23" grpId="0"/>
      <p:bldP spid="24" grpId="0" animBg="1"/>
      <p:bldP spid="26" grpId="0"/>
      <p:bldP spid="27" grpId="0"/>
      <p:bldP spid="28" grpId="0" animBg="1"/>
      <p:bldP spid="30" grpId="0"/>
      <p:bldP spid="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Интеграционные решения и API: связываем бизнес с экосистемой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страны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III · IT SERVICES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IT SERVICES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81048" y="2103120"/>
            <a:ext cx="8229600" cy="3657600"/>
          </a:xfrm>
          <a:prstGeom prst="ellipse">
            <a:avLst/>
          </a:prstGeom>
          <a:ln w="12700">
            <a:solidFill>
              <a:srgbClr val="273B51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832708" y="2926080"/>
            <a:ext cx="4526280" cy="2011680"/>
          </a:xfrm>
          <a:prstGeom prst="ellipse">
            <a:avLst/>
          </a:prstGeom>
          <a:ln w="9525">
            <a:solidFill>
              <a:srgbClr val="1824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6095848" y="2103120"/>
            <a:ext cx="914" cy="1828800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6095848" y="2638763"/>
            <a:ext cx="2909603" cy="1293157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95848" y="3931920"/>
            <a:ext cx="4114800" cy="914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95848" y="3931920"/>
            <a:ext cx="2909603" cy="1293157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95848" y="3931920"/>
            <a:ext cx="914" cy="1828800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H="1">
            <a:off x="3186245" y="3931920"/>
            <a:ext cx="2909603" cy="1293157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1981048" y="3931920"/>
            <a:ext cx="4114800" cy="914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H="1" flipV="1">
            <a:off x="3186245" y="2638763"/>
            <a:ext cx="2909603" cy="1293157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9" name="!!hubcore"/>
          <p:cNvSpPr/>
          <p:nvPr/>
        </p:nvSpPr>
        <p:spPr>
          <a:xfrm>
            <a:off x="4907128" y="3474720"/>
            <a:ext cx="2377440" cy="914400"/>
          </a:xfrm>
          <a:prstGeom prst="roundRect">
            <a:avLst>
              <a:gd name="adj" fmla="val 50000"/>
            </a:avLst>
          </a:prstGeom>
          <a:solidFill>
            <a:srgbClr val="142A70"/>
          </a:solidFill>
          <a:ln w="19050">
            <a:solidFill>
              <a:srgbClr val="2550FA"/>
            </a:solidFill>
            <a:prstDash val="solid"/>
          </a:ln>
        </p:spPr>
      </p:sp>
      <p:pic>
        <p:nvPicPr>
          <p:cNvPr id="20" name="!!hublogo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3657600"/>
            <a:ext cx="1737360" cy="3089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907128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22" name="a1_n"/>
          <p:cNvSpPr/>
          <p:nvPr/>
        </p:nvSpPr>
        <p:spPr>
          <a:xfrm>
            <a:off x="4975708" y="1801368"/>
            <a:ext cx="2240280" cy="603504"/>
          </a:xfrm>
          <a:prstGeom prst="roundRect">
            <a:avLst>
              <a:gd name="adj" fmla="val 18182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pic>
        <p:nvPicPr>
          <p:cNvPr id="23" name="a1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724" y="1956816"/>
            <a:ext cx="292608" cy="292608"/>
          </a:xfrm>
          <a:prstGeom prst="rect">
            <a:avLst/>
          </a:prstGeom>
        </p:spPr>
      </p:pic>
      <p:sp>
        <p:nvSpPr>
          <p:cNvPr id="24" name="a1_t"/>
          <p:cNvSpPr txBox="1"/>
          <p:nvPr/>
        </p:nvSpPr>
        <p:spPr>
          <a:xfrm>
            <a:off x="5469484" y="185623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Платёжные системы</a:t>
            </a:r>
            <a:endParaRPr lang="en-US" sz="1100" dirty="0"/>
          </a:p>
        </p:txBody>
      </p:sp>
      <p:sp>
        <p:nvSpPr>
          <p:cNvPr id="25" name="a1_s"/>
          <p:cNvSpPr txBox="1"/>
          <p:nvPr/>
        </p:nvSpPr>
        <p:spPr>
          <a:xfrm>
            <a:off x="5469484" y="2103120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карты, QR, кошельки</a:t>
            </a:r>
            <a:endParaRPr lang="en-US" sz="900" dirty="0"/>
          </a:p>
        </p:txBody>
      </p:sp>
      <p:sp>
        <p:nvSpPr>
          <p:cNvPr id="26" name="a2_n"/>
          <p:cNvSpPr/>
          <p:nvPr/>
        </p:nvSpPr>
        <p:spPr>
          <a:xfrm>
            <a:off x="7885311" y="2337011"/>
            <a:ext cx="2240280" cy="603504"/>
          </a:xfrm>
          <a:prstGeom prst="roundRect">
            <a:avLst>
              <a:gd name="adj" fmla="val 18182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pic>
        <p:nvPicPr>
          <p:cNvPr id="27" name="a2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327" y="2492459"/>
            <a:ext cx="292608" cy="292608"/>
          </a:xfrm>
          <a:prstGeom prst="rect">
            <a:avLst/>
          </a:prstGeom>
        </p:spPr>
      </p:pic>
      <p:sp>
        <p:nvSpPr>
          <p:cNvPr id="28" name="a2_t"/>
          <p:cNvSpPr txBox="1"/>
          <p:nvPr/>
        </p:nvSpPr>
        <p:spPr>
          <a:xfrm>
            <a:off x="8379087" y="2391875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Банки</a:t>
            </a:r>
            <a:endParaRPr lang="en-US" sz="1100" dirty="0"/>
          </a:p>
        </p:txBody>
      </p:sp>
      <p:sp>
        <p:nvSpPr>
          <p:cNvPr id="29" name="a2_s"/>
          <p:cNvSpPr txBox="1"/>
          <p:nvPr/>
        </p:nvSpPr>
        <p:spPr>
          <a:xfrm>
            <a:off x="8379087" y="2638763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выписки, эквайринг</a:t>
            </a:r>
            <a:endParaRPr lang="en-US" sz="900" dirty="0"/>
          </a:p>
        </p:txBody>
      </p:sp>
      <p:sp>
        <p:nvSpPr>
          <p:cNvPr id="30" name="a3_n"/>
          <p:cNvSpPr/>
          <p:nvPr/>
        </p:nvSpPr>
        <p:spPr>
          <a:xfrm>
            <a:off x="9090508" y="3630168"/>
            <a:ext cx="2240280" cy="603504"/>
          </a:xfrm>
          <a:prstGeom prst="roundRect">
            <a:avLst>
              <a:gd name="adj" fmla="val 18182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pic>
        <p:nvPicPr>
          <p:cNvPr id="31" name="a3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8524" y="3785616"/>
            <a:ext cx="292608" cy="292608"/>
          </a:xfrm>
          <a:prstGeom prst="rect">
            <a:avLst/>
          </a:prstGeom>
        </p:spPr>
      </p:pic>
      <p:sp>
        <p:nvSpPr>
          <p:cNvPr id="32" name="a3_t"/>
          <p:cNvSpPr txBox="1"/>
          <p:nvPr/>
        </p:nvSpPr>
        <p:spPr>
          <a:xfrm>
            <a:off x="9584284" y="368503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Налоговые сервисы</a:t>
            </a:r>
            <a:endParaRPr lang="en-US" sz="1100" dirty="0"/>
          </a:p>
        </p:txBody>
      </p:sp>
      <p:sp>
        <p:nvSpPr>
          <p:cNvPr id="33" name="a3_s"/>
          <p:cNvSpPr txBox="1"/>
          <p:nvPr/>
        </p:nvSpPr>
        <p:spPr>
          <a:xfrm>
            <a:off x="9584284" y="3931920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фискализация, отчёты</a:t>
            </a:r>
            <a:endParaRPr lang="en-US" sz="900" dirty="0"/>
          </a:p>
        </p:txBody>
      </p:sp>
      <p:sp>
        <p:nvSpPr>
          <p:cNvPr id="34" name="a4_n"/>
          <p:cNvSpPr/>
          <p:nvPr/>
        </p:nvSpPr>
        <p:spPr>
          <a:xfrm>
            <a:off x="7885311" y="4923325"/>
            <a:ext cx="2240280" cy="603504"/>
          </a:xfrm>
          <a:prstGeom prst="roundRect">
            <a:avLst>
              <a:gd name="adj" fmla="val 18182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pic>
        <p:nvPicPr>
          <p:cNvPr id="35" name="a4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327" y="5078773"/>
            <a:ext cx="292608" cy="292608"/>
          </a:xfrm>
          <a:prstGeom prst="rect">
            <a:avLst/>
          </a:prstGeom>
        </p:spPr>
      </p:pic>
      <p:sp>
        <p:nvSpPr>
          <p:cNvPr id="36" name="a4_t"/>
          <p:cNvSpPr txBox="1"/>
          <p:nvPr/>
        </p:nvSpPr>
        <p:spPr>
          <a:xfrm>
            <a:off x="8379087" y="4978189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Маркетплейсы</a:t>
            </a:r>
            <a:endParaRPr lang="en-US" sz="1100" dirty="0"/>
          </a:p>
        </p:txBody>
      </p:sp>
      <p:sp>
        <p:nvSpPr>
          <p:cNvPr id="37" name="a4_s"/>
          <p:cNvSpPr txBox="1"/>
          <p:nvPr/>
        </p:nvSpPr>
        <p:spPr>
          <a:xfrm>
            <a:off x="8379087" y="5225077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заказы и остатки</a:t>
            </a:r>
            <a:endParaRPr lang="en-US" sz="900" dirty="0"/>
          </a:p>
        </p:txBody>
      </p:sp>
      <p:sp>
        <p:nvSpPr>
          <p:cNvPr id="38" name="a5_n"/>
          <p:cNvSpPr/>
          <p:nvPr/>
        </p:nvSpPr>
        <p:spPr>
          <a:xfrm>
            <a:off x="4975708" y="5458968"/>
            <a:ext cx="2240280" cy="603504"/>
          </a:xfrm>
          <a:prstGeom prst="roundRect">
            <a:avLst>
              <a:gd name="adj" fmla="val 18182"/>
            </a:avLst>
          </a:prstGeom>
          <a:solidFill>
            <a:srgbClr val="0E1629"/>
          </a:solidFill>
          <a:ln w="12700">
            <a:solidFill>
              <a:srgbClr val="2550FA"/>
            </a:solidFill>
            <a:prstDash val="solid"/>
          </a:ln>
        </p:spPr>
      </p:sp>
      <p:pic>
        <p:nvPicPr>
          <p:cNvPr id="39" name="a5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3724" y="5614416"/>
            <a:ext cx="292608" cy="292608"/>
          </a:xfrm>
          <a:prstGeom prst="rect">
            <a:avLst/>
          </a:prstGeom>
        </p:spPr>
      </p:pic>
      <p:sp>
        <p:nvSpPr>
          <p:cNvPr id="40" name="a5_t"/>
          <p:cNvSpPr txBox="1"/>
          <p:nvPr/>
        </p:nvSpPr>
        <p:spPr>
          <a:xfrm>
            <a:off x="5469484" y="551383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 Bot API</a:t>
            </a:r>
            <a:endParaRPr lang="en-US" sz="1100" dirty="0"/>
          </a:p>
        </p:txBody>
      </p:sp>
      <p:sp>
        <p:nvSpPr>
          <p:cNvPr id="41" name="a5_s"/>
          <p:cNvSpPr txBox="1"/>
          <p:nvPr/>
        </p:nvSpPr>
        <p:spPr>
          <a:xfrm>
            <a:off x="5469484" y="5760720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уведомления, Mini Apps</a:t>
            </a:r>
            <a:endParaRPr lang="en-US" sz="900" dirty="0"/>
          </a:p>
        </p:txBody>
      </p:sp>
      <p:sp>
        <p:nvSpPr>
          <p:cNvPr id="42" name="a6_n"/>
          <p:cNvSpPr/>
          <p:nvPr/>
        </p:nvSpPr>
        <p:spPr>
          <a:xfrm>
            <a:off x="2066105" y="4923325"/>
            <a:ext cx="2240280" cy="603504"/>
          </a:xfrm>
          <a:prstGeom prst="roundRect">
            <a:avLst>
              <a:gd name="adj" fmla="val 18182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pic>
        <p:nvPicPr>
          <p:cNvPr id="43" name="a6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4121" y="5078773"/>
            <a:ext cx="292608" cy="292608"/>
          </a:xfrm>
          <a:prstGeom prst="rect">
            <a:avLst/>
          </a:prstGeom>
        </p:spPr>
      </p:pic>
      <p:sp>
        <p:nvSpPr>
          <p:cNvPr id="44" name="a6_t"/>
          <p:cNvSpPr txBox="1"/>
          <p:nvPr/>
        </p:nvSpPr>
        <p:spPr>
          <a:xfrm>
            <a:off x="2559881" y="4978189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Учётные системы</a:t>
            </a:r>
            <a:endParaRPr lang="en-US" sz="1100" dirty="0"/>
          </a:p>
        </p:txBody>
      </p:sp>
      <p:sp>
        <p:nvSpPr>
          <p:cNvPr id="45" name="a6_s"/>
          <p:cNvSpPr txBox="1"/>
          <p:nvPr/>
        </p:nvSpPr>
        <p:spPr>
          <a:xfrm>
            <a:off x="2559881" y="5225077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бухгалтерия, 1С и др.</a:t>
            </a:r>
            <a:endParaRPr lang="en-US" sz="900" dirty="0"/>
          </a:p>
        </p:txBody>
      </p:sp>
      <p:sp>
        <p:nvSpPr>
          <p:cNvPr id="46" name="a7_n"/>
          <p:cNvSpPr/>
          <p:nvPr/>
        </p:nvSpPr>
        <p:spPr>
          <a:xfrm>
            <a:off x="860908" y="3630168"/>
            <a:ext cx="2240280" cy="603504"/>
          </a:xfrm>
          <a:prstGeom prst="roundRect">
            <a:avLst>
              <a:gd name="adj" fmla="val 18182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pic>
        <p:nvPicPr>
          <p:cNvPr id="47" name="a7_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8924" y="3785616"/>
            <a:ext cx="292608" cy="292608"/>
          </a:xfrm>
          <a:prstGeom prst="rect">
            <a:avLst/>
          </a:prstGeom>
        </p:spPr>
      </p:pic>
      <p:sp>
        <p:nvSpPr>
          <p:cNvPr id="48" name="a7_t"/>
          <p:cNvSpPr txBox="1"/>
          <p:nvPr/>
        </p:nvSpPr>
        <p:spPr>
          <a:xfrm>
            <a:off x="1354684" y="368503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Логистика</a:t>
            </a:r>
            <a:endParaRPr lang="en-US" sz="1100" dirty="0"/>
          </a:p>
        </p:txBody>
      </p:sp>
      <p:sp>
        <p:nvSpPr>
          <p:cNvPr id="49" name="a7_s"/>
          <p:cNvSpPr txBox="1"/>
          <p:nvPr/>
        </p:nvSpPr>
        <p:spPr>
          <a:xfrm>
            <a:off x="1354684" y="3931920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доставка, трекинг</a:t>
            </a:r>
            <a:endParaRPr lang="en-US" sz="900" dirty="0"/>
          </a:p>
        </p:txBody>
      </p:sp>
      <p:sp>
        <p:nvSpPr>
          <p:cNvPr id="50" name="a8_n"/>
          <p:cNvSpPr/>
          <p:nvPr/>
        </p:nvSpPr>
        <p:spPr>
          <a:xfrm>
            <a:off x="2066105" y="2337011"/>
            <a:ext cx="2240280" cy="603504"/>
          </a:xfrm>
          <a:prstGeom prst="roundRect">
            <a:avLst>
              <a:gd name="adj" fmla="val 18182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pic>
        <p:nvPicPr>
          <p:cNvPr id="51" name="a8_i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4121" y="2492459"/>
            <a:ext cx="292608" cy="292608"/>
          </a:xfrm>
          <a:prstGeom prst="rect">
            <a:avLst/>
          </a:prstGeom>
        </p:spPr>
      </p:pic>
      <p:sp>
        <p:nvSpPr>
          <p:cNvPr id="52" name="a8_t"/>
          <p:cNvSpPr txBox="1"/>
          <p:nvPr/>
        </p:nvSpPr>
        <p:spPr>
          <a:xfrm>
            <a:off x="2559881" y="2391875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AI-сервисы</a:t>
            </a:r>
            <a:endParaRPr lang="en-US" sz="1100" dirty="0"/>
          </a:p>
        </p:txBody>
      </p:sp>
      <p:sp>
        <p:nvSpPr>
          <p:cNvPr id="53" name="a8_s"/>
          <p:cNvSpPr txBox="1"/>
          <p:nvPr/>
        </p:nvSpPr>
        <p:spPr>
          <a:xfrm>
            <a:off x="2559881" y="2638763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модели и агенты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  <p:bldP spid="25" grpId="0"/>
      <p:bldP spid="26" grpId="0" animBg="1"/>
      <p:bldP spid="28" grpId="0"/>
      <p:bldP spid="29" grpId="0"/>
      <p:bldP spid="30" grpId="0" animBg="1"/>
      <p:bldP spid="32" grpId="0"/>
      <p:bldP spid="33" grpId="0"/>
      <p:bldP spid="34" grpId="0" animBg="1"/>
      <p:bldP spid="36" grpId="0"/>
      <p:bldP spid="37" grpId="0"/>
      <p:bldP spid="38" grpId="0" animBg="1"/>
      <p:bldP spid="40" grpId="0"/>
      <p:bldP spid="41" grpId="0"/>
      <p:bldP spid="42" grpId="0" animBg="1"/>
      <p:bldP spid="44" grpId="0"/>
      <p:bldP spid="45" grpId="0"/>
      <p:bldP spid="46" grpId="0" animBg="1"/>
      <p:bldP spid="48" grpId="0"/>
      <p:bldP spid="49" grpId="0"/>
      <p:bldP spid="50" grpId="0" animBg="1"/>
      <p:bldP spid="52" grpId="0"/>
      <p:bldP spid="5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Модель коммерциализации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IT-услуг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III · IT SERVICES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662111" y="274320"/>
            <a:ext cx="298094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B8C1D4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8780983" y="374904"/>
            <a:ext cx="91440" cy="91440"/>
          </a:xfrm>
          <a:prstGeom prst="ellipse">
            <a:avLst/>
          </a:prstGeom>
          <a:solidFill>
            <a:srgbClr val="B8C1D4"/>
          </a:solidFill>
          <a:ln w="12700">
            <a:solidFill>
              <a:srgbClr val="B8C1D4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8899855" y="2743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УПРАВЛЕНЧЕСКАЯ МОДЕЛЬ · ПРОЕКТ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Корпоративная концепция FootureX Uzbekistan. Ставки, загрузка и себестоимость компанией не предоставлены.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IT SERVICES</a:t>
            </a:r>
            <a:endParaRPr lang="en-US" sz="900" dirty="0"/>
          </a:p>
        </p:txBody>
      </p:sp>
      <p:graphicFrame>
        <p:nvGraphicFramePr>
          <p:cNvPr id="30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5895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463040"/>
                <a:gridCol w="1645920"/>
                <a:gridCol w="123444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Модель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Логика цены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Маржинальность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Риск для компании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Применение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 &amp; Materials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Часы × ставка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Средняя, стабильная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Низкий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Развитие систем, аутсорс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Фиксированная цена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Объём × оценка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Высокая при точной оценке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Высокий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Проекты с ясным ТЗ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Выделенная команда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FTE × месяц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Средняя, предсказуемая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Низкий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Долгие продукты клиентов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Подписка (SaaS)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Тариф × месяц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Высокая при масштабе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Средний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Пакеты для МСБ, AI-продукты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Сопровождение (SLA)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Абонентская плата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Высокая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Низкий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После внедрения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</a:tbl>
          </a:graphicData>
        </a:graphic>
      </p:graphicFrame>
      <p:sp>
        <p:nvSpPr>
          <p:cNvPr id="11" name="a2_ue"/>
          <p:cNvSpPr/>
          <p:nvPr/>
        </p:nvSpPr>
        <p:spPr>
          <a:xfrm>
            <a:off x="8412480" y="1828800"/>
            <a:ext cx="3227832" cy="4069080"/>
          </a:xfrm>
          <a:prstGeom prst="roundRect">
            <a:avLst>
              <a:gd name="adj" fmla="val 3399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613648" y="1993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Юнит-экономика часа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8613648" y="23957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Ставка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613648" y="26334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договор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613648" y="29443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Себестоимость часа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613648" y="31821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ФОТ / (часы × загрузка)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8613648" y="34930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Валовая прибыль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613648" y="37307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ставка − себестоимость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8613648" y="40416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Валовая маржа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613648" y="42793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прибыль / ставка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8613648" y="4754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Значения — требуется подтверждение: ставки и ФОТ не предоставлены.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Стратегия развития IT-направления: этапы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роста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III · IT SERVICES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Корпоративная концепция FootureX Uzbekistan. Численность, выручка и сроки не предоставлены.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IT SERVICES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11094415" cy="0"/>
          </a:xfrm>
          <a:prstGeom prst="line">
            <a:avLst/>
          </a:prstGeom>
          <a:noFill/>
          <a:ln w="19050">
            <a:solidFill>
              <a:srgbClr val="273B51"/>
            </a:solidFill>
            <a:prstDash val="solid"/>
          </a:ln>
        </p:spPr>
      </p:sp>
      <p:sp>
        <p:nvSpPr>
          <p:cNvPr id="11" name="a1_d"/>
          <p:cNvSpPr/>
          <p:nvPr/>
        </p:nvSpPr>
        <p:spPr>
          <a:xfrm>
            <a:off x="566928" y="2642616"/>
            <a:ext cx="201168" cy="201168"/>
          </a:xfrm>
          <a:prstGeom prst="ellipse">
            <a:avLst/>
          </a:prstGeom>
          <a:solidFill>
            <a:srgbClr val="2593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2" name="a1_l"/>
          <p:cNvSpPr txBox="1"/>
          <p:nvPr/>
        </p:nvSpPr>
        <p:spPr>
          <a:xfrm>
            <a:off x="548640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1</a:t>
            </a:r>
            <a:endParaRPr lang="en-US" sz="1500" dirty="0"/>
          </a:p>
        </p:txBody>
      </p:sp>
      <p:sp>
        <p:nvSpPr>
          <p:cNvPr id="13" name="a1_t"/>
          <p:cNvSpPr txBox="1"/>
          <p:nvPr/>
        </p:nvSpPr>
        <p:spPr>
          <a:xfrm>
            <a:off x="548640" y="29992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Ядро команды</a:t>
            </a:r>
            <a:endParaRPr lang="en-US" sz="1350" dirty="0"/>
          </a:p>
        </p:txBody>
      </p:sp>
      <p:sp>
        <p:nvSpPr>
          <p:cNvPr id="14" name="a1_x"/>
          <p:cNvSpPr txBox="1"/>
          <p:nvPr/>
        </p:nvSpPr>
        <p:spPr>
          <a:xfrm>
            <a:off x="548640" y="3447288"/>
            <a:ext cx="25907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Якорные клиенты в Ташкенте, первые ERP/CRM-внедрения, внутренние системы экосистемы.</a:t>
            </a:r>
            <a:endParaRPr lang="en-US" sz="1250" dirty="0"/>
          </a:p>
        </p:txBody>
      </p:sp>
      <p:sp>
        <p:nvSpPr>
          <p:cNvPr id="15" name="a2_d"/>
          <p:cNvSpPr/>
          <p:nvPr/>
        </p:nvSpPr>
        <p:spPr>
          <a:xfrm>
            <a:off x="3340532" y="2642616"/>
            <a:ext cx="201168" cy="201168"/>
          </a:xfrm>
          <a:prstGeom prst="ellipse">
            <a:avLst/>
          </a:prstGeom>
          <a:solidFill>
            <a:srgbClr val="2593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6" name="a2_l"/>
          <p:cNvSpPr txBox="1"/>
          <p:nvPr/>
        </p:nvSpPr>
        <p:spPr>
          <a:xfrm>
            <a:off x="3322244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2</a:t>
            </a:r>
            <a:endParaRPr lang="en-US" sz="1500" dirty="0"/>
          </a:p>
        </p:txBody>
      </p:sp>
      <p:sp>
        <p:nvSpPr>
          <p:cNvPr id="17" name="a2_t"/>
          <p:cNvSpPr txBox="1"/>
          <p:nvPr/>
        </p:nvSpPr>
        <p:spPr>
          <a:xfrm>
            <a:off x="3322244" y="29992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Пакеты для МСБ</a:t>
            </a:r>
            <a:endParaRPr lang="en-US" sz="1350" dirty="0"/>
          </a:p>
        </p:txBody>
      </p:sp>
      <p:sp>
        <p:nvSpPr>
          <p:cNvPr id="18" name="a2_x"/>
          <p:cNvSpPr txBox="1"/>
          <p:nvPr/>
        </p:nvSpPr>
        <p:spPr>
          <a:xfrm>
            <a:off x="3322244" y="3447288"/>
            <a:ext cx="25907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Отраслевые пакеты, POS-решение после сертификации, сопровождение по SLA.</a:t>
            </a:r>
            <a:endParaRPr lang="en-US" sz="1250" dirty="0"/>
          </a:p>
        </p:txBody>
      </p:sp>
      <p:sp>
        <p:nvSpPr>
          <p:cNvPr id="19" name="a3_d"/>
          <p:cNvSpPr/>
          <p:nvPr/>
        </p:nvSpPr>
        <p:spPr>
          <a:xfrm>
            <a:off x="6114136" y="2642616"/>
            <a:ext cx="201168" cy="201168"/>
          </a:xfrm>
          <a:prstGeom prst="ellipse">
            <a:avLst/>
          </a:prstGeom>
          <a:solidFill>
            <a:srgbClr val="2593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20" name="a3_l"/>
          <p:cNvSpPr txBox="1"/>
          <p:nvPr/>
        </p:nvSpPr>
        <p:spPr>
          <a:xfrm>
            <a:off x="6095848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3</a:t>
            </a:r>
            <a:endParaRPr lang="en-US" sz="1500" dirty="0"/>
          </a:p>
        </p:txBody>
      </p:sp>
      <p:sp>
        <p:nvSpPr>
          <p:cNvPr id="21" name="a3_t"/>
          <p:cNvSpPr txBox="1"/>
          <p:nvPr/>
        </p:nvSpPr>
        <p:spPr>
          <a:xfrm>
            <a:off x="6095848" y="29992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Экспорт</a:t>
            </a:r>
            <a:endParaRPr lang="en-US" sz="1350" dirty="0"/>
          </a:p>
        </p:txBody>
      </p:sp>
      <p:sp>
        <p:nvSpPr>
          <p:cNvPr id="22" name="a3_x"/>
          <p:cNvSpPr txBox="1"/>
          <p:nvPr/>
        </p:nvSpPr>
        <p:spPr>
          <a:xfrm>
            <a:off x="6095848" y="3447288"/>
            <a:ext cx="25907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Клиенты в Центральной Азии и СНГ, статус экспортёра IT-услуг.</a:t>
            </a:r>
            <a:endParaRPr lang="en-US" sz="1250" dirty="0"/>
          </a:p>
        </p:txBody>
      </p:sp>
      <p:sp>
        <p:nvSpPr>
          <p:cNvPr id="23" name="a4_d"/>
          <p:cNvSpPr/>
          <p:nvPr/>
        </p:nvSpPr>
        <p:spPr>
          <a:xfrm>
            <a:off x="8887739" y="2642616"/>
            <a:ext cx="201168" cy="201168"/>
          </a:xfrm>
          <a:prstGeom prst="ellipse">
            <a:avLst/>
          </a:prstGeom>
          <a:solidFill>
            <a:srgbClr val="2593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24" name="a4_l"/>
          <p:cNvSpPr txBox="1"/>
          <p:nvPr/>
        </p:nvSpPr>
        <p:spPr>
          <a:xfrm>
            <a:off x="8869451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4</a:t>
            </a:r>
            <a:endParaRPr lang="en-US" sz="1500" dirty="0"/>
          </a:p>
        </p:txBody>
      </p:sp>
      <p:sp>
        <p:nvSpPr>
          <p:cNvPr id="25" name="a4_t"/>
          <p:cNvSpPr txBox="1"/>
          <p:nvPr/>
        </p:nvSpPr>
        <p:spPr>
          <a:xfrm>
            <a:off x="8869451" y="29992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Продуктовая компания</a:t>
            </a:r>
            <a:endParaRPr lang="en-US" sz="1350" dirty="0"/>
          </a:p>
        </p:txBody>
      </p:sp>
      <p:sp>
        <p:nvSpPr>
          <p:cNvPr id="26" name="a4_x"/>
          <p:cNvSpPr txBox="1"/>
          <p:nvPr/>
        </p:nvSpPr>
        <p:spPr>
          <a:xfrm>
            <a:off x="8869451" y="3447288"/>
            <a:ext cx="25907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Растёт доля подписки и SLA, вертикальные продукты.</a:t>
            </a:r>
            <a:endParaRPr lang="en-US" sz="1250" dirty="0"/>
          </a:p>
        </p:txBody>
      </p:sp>
      <p:sp>
        <p:nvSpPr>
          <p:cNvPr id="27" name="a1_card"/>
          <p:cNvSpPr/>
          <p:nvPr/>
        </p:nvSpPr>
        <p:spPr>
          <a:xfrm>
            <a:off x="548640" y="4389120"/>
            <a:ext cx="3515258" cy="1508760"/>
          </a:xfrm>
          <a:prstGeom prst="roundRect">
            <a:avLst>
              <a:gd name="adj" fmla="val 7273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8" name="a1_v"/>
          <p:cNvSpPr txBox="1"/>
          <p:nvPr/>
        </p:nvSpPr>
        <p:spPr>
          <a:xfrm>
            <a:off x="777240" y="4590288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EB4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FTE</a:t>
            </a:r>
            <a:endParaRPr lang="en-US" sz="2200" dirty="0"/>
          </a:p>
        </p:txBody>
      </p:sp>
      <p:sp>
        <p:nvSpPr>
          <p:cNvPr id="29" name="a1_l"/>
          <p:cNvSpPr txBox="1"/>
          <p:nvPr/>
        </p:nvSpPr>
        <p:spPr>
          <a:xfrm>
            <a:off x="777240" y="5321808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численность по этапам — требуется подтверждение</a:t>
            </a:r>
            <a:endParaRPr lang="en-US" sz="1250" dirty="0"/>
          </a:p>
        </p:txBody>
      </p:sp>
      <p:sp>
        <p:nvSpPr>
          <p:cNvPr id="30" name="a2_card"/>
          <p:cNvSpPr/>
          <p:nvPr/>
        </p:nvSpPr>
        <p:spPr>
          <a:xfrm>
            <a:off x="4338218" y="4389120"/>
            <a:ext cx="3515258" cy="1508760"/>
          </a:xfrm>
          <a:prstGeom prst="roundRect">
            <a:avLst>
              <a:gd name="adj" fmla="val 7273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1" name="a2_v"/>
          <p:cNvSpPr txBox="1"/>
          <p:nvPr/>
        </p:nvSpPr>
        <p:spPr>
          <a:xfrm>
            <a:off x="4566818" y="4590288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EB4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Выручка</a:t>
            </a:r>
            <a:endParaRPr lang="en-US" sz="2200" dirty="0"/>
          </a:p>
        </p:txBody>
      </p:sp>
      <p:sp>
        <p:nvSpPr>
          <p:cNvPr id="32" name="a2_l"/>
          <p:cNvSpPr txBox="1"/>
          <p:nvPr/>
        </p:nvSpPr>
        <p:spPr>
          <a:xfrm>
            <a:off x="4566818" y="5321808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этапам — требуется подтверждение</a:t>
            </a:r>
            <a:endParaRPr lang="en-US" sz="1250" dirty="0"/>
          </a:p>
        </p:txBody>
      </p:sp>
      <p:sp>
        <p:nvSpPr>
          <p:cNvPr id="33" name="a3_card"/>
          <p:cNvSpPr/>
          <p:nvPr/>
        </p:nvSpPr>
        <p:spPr>
          <a:xfrm>
            <a:off x="8127797" y="4389120"/>
            <a:ext cx="3515258" cy="1508760"/>
          </a:xfrm>
          <a:prstGeom prst="roundRect">
            <a:avLst>
              <a:gd name="adj" fmla="val 7273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4" name="a3_v"/>
          <p:cNvSpPr txBox="1"/>
          <p:nvPr/>
        </p:nvSpPr>
        <p:spPr>
          <a:xfrm>
            <a:off x="8356397" y="4590288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EB4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Сроки</a:t>
            </a:r>
            <a:endParaRPr lang="en-US" sz="2200" dirty="0"/>
          </a:p>
        </p:txBody>
      </p:sp>
      <p:sp>
        <p:nvSpPr>
          <p:cNvPr id="35" name="a3_l"/>
          <p:cNvSpPr txBox="1"/>
          <p:nvPr/>
        </p:nvSpPr>
        <p:spPr>
          <a:xfrm>
            <a:off x="8356397" y="5321808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даты этапов — требуется подтверждение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  <p:bldP spid="14" grpId="0"/>
      <p:bldP spid="27" grpId="0" animBg="1"/>
      <p:bldP spid="28" grpId="0"/>
      <p:bldP spid="29" grpId="0"/>
      <p:bldP spid="15" grpId="0" animBg="1"/>
      <p:bldP spid="16" grpId="0"/>
      <p:bldP spid="17" grpId="0"/>
      <p:bldP spid="18" grpId="0"/>
      <p:bldP spid="30" grpId="0" animBg="1"/>
      <p:bldP spid="31" grpId="0"/>
      <p:bldP spid="32" grpId="0"/>
      <p:bldP spid="19" grpId="0" animBg="1"/>
      <p:bldP spid="20" grpId="0"/>
      <p:bldP spid="21" grpId="0"/>
      <p:bldP spid="22" grpId="0"/>
      <p:bldP spid="33" grpId="0" animBg="1"/>
      <p:bldP spid="34" grpId="0"/>
      <p:bldP spid="35" grpId="0"/>
      <p:bldP spid="23" grpId="0" animBg="1"/>
      <p:bldP spid="24" grpId="0"/>
      <p:bldP spid="25" grpId="0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ai-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0"/>
            <a:ext cx="12191695" cy="68580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FootureX AI — обзор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направления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IV · ARTIFICIAL INTELLIGENCE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ARTIFICIAL INTELLIGENCE</a:t>
            </a:r>
            <a:endParaRPr lang="en-US" sz="900" dirty="0"/>
          </a:p>
        </p:txBody>
      </p:sp>
      <p:sp>
        <p:nvSpPr>
          <p:cNvPr id="14" name="!!roman"/>
          <p:cNvSpPr txBox="1"/>
          <p:nvPr/>
        </p:nvSpPr>
        <p:spPr>
          <a:xfrm>
            <a:off x="502920" y="17830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IV</a:t>
            </a:r>
            <a:endParaRPr lang="en-US" sz="8800" dirty="0"/>
          </a:p>
        </p:txBody>
      </p:sp>
      <p:sp>
        <p:nvSpPr>
          <p:cNvPr id="15" name="Text 8"/>
          <p:cNvSpPr txBox="1"/>
          <p:nvPr/>
        </p:nvSpPr>
        <p:spPr>
          <a:xfrm>
            <a:off x="548640" y="3154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ИСКУССТВЕННЫЙ ИНТЕЛЛЕКТ</a:t>
            </a:r>
            <a:endParaRPr lang="en-US" sz="1300" dirty="0"/>
          </a:p>
        </p:txBody>
      </p:sp>
      <p:sp>
        <p:nvSpPr>
          <p:cNvPr id="16" name="a1_lead"/>
          <p:cNvSpPr txBox="1"/>
          <p:nvPr/>
        </p:nvSpPr>
        <p:spPr>
          <a:xfrm>
            <a:off x="548640" y="36118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AI-агенты, интеллектуальная автоматизация и аналитика для бизнеса, игр, образования и спорта с ответственностью за результат.</a:t>
            </a:r>
            <a:endParaRPr lang="en-US" sz="1500" dirty="0"/>
          </a:p>
        </p:txBody>
      </p:sp>
      <p:sp>
        <p:nvSpPr>
          <p:cNvPr id="17" name="a2_pv"/>
          <p:cNvSpPr txBox="1"/>
          <p:nvPr/>
        </p:nvSpPr>
        <p:spPr>
          <a:xfrm>
            <a:off x="54864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Агенты</a:t>
            </a:r>
            <a:endParaRPr lang="en-US" sz="1600" dirty="0"/>
          </a:p>
        </p:txBody>
      </p:sp>
      <p:sp>
        <p:nvSpPr>
          <p:cNvPr id="18" name="a2_pl"/>
          <p:cNvSpPr txBox="1"/>
          <p:nvPr/>
        </p:nvSpPr>
        <p:spPr>
          <a:xfrm>
            <a:off x="54864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ассистенты и мультиагентные системы</a:t>
            </a:r>
            <a:endParaRPr lang="en-US" sz="1050" dirty="0"/>
          </a:p>
        </p:txBody>
      </p:sp>
      <p:sp>
        <p:nvSpPr>
          <p:cNvPr id="19" name="a3_pv"/>
          <p:cNvSpPr txBox="1"/>
          <p:nvPr/>
        </p:nvSpPr>
        <p:spPr>
          <a:xfrm>
            <a:off x="228600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ML</a:t>
            </a:r>
            <a:endParaRPr lang="en-US" sz="1600" dirty="0"/>
          </a:p>
        </p:txBody>
      </p:sp>
      <p:sp>
        <p:nvSpPr>
          <p:cNvPr id="20" name="a3_pl"/>
          <p:cNvSpPr txBox="1"/>
          <p:nvPr/>
        </p:nvSpPr>
        <p:spPr>
          <a:xfrm>
            <a:off x="228600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прогнозы и аналитика</a:t>
            </a:r>
            <a:endParaRPr lang="en-US" sz="1050" dirty="0"/>
          </a:p>
        </p:txBody>
      </p:sp>
      <p:sp>
        <p:nvSpPr>
          <p:cNvPr id="21" name="a4_pv"/>
          <p:cNvSpPr txBox="1"/>
          <p:nvPr/>
        </p:nvSpPr>
        <p:spPr>
          <a:xfrm>
            <a:off x="402336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SaaS</a:t>
            </a:r>
            <a:endParaRPr lang="en-US" sz="1600" dirty="0"/>
          </a:p>
        </p:txBody>
      </p:sp>
      <p:sp>
        <p:nvSpPr>
          <p:cNvPr id="22" name="a4_pl"/>
          <p:cNvSpPr txBox="1"/>
          <p:nvPr/>
        </p:nvSpPr>
        <p:spPr>
          <a:xfrm>
            <a:off x="402336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AI-продукты по подписке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Абстрактная 3D-визуализация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Роль искусственного интеллекта в бизнесе: где AI создаёт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стоимость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IV · ARTIFICIAL INTELLIGENCE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914486" y="274320"/>
            <a:ext cx="27285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033358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152230" y="274320"/>
            <a:ext cx="2435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РЫНОЧНЫЕ ДАННЫЕ · ИСТОЧНИКИ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 количественных оценок: McKinsey «The State of AI in 2025». Классификация функций — экспертная оценка FootureX.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ARTIFICIAL INTELLIGENCE</a:t>
            </a:r>
            <a:endParaRPr lang="en-US" sz="900" dirty="0"/>
          </a:p>
        </p:txBody>
      </p:sp>
      <p:sp>
        <p:nvSpPr>
          <p:cNvPr id="10" name="a1_c"/>
          <p:cNvSpPr/>
          <p:nvPr/>
        </p:nvSpPr>
        <p:spPr>
          <a:xfrm>
            <a:off x="548640" y="182880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1" name="a1_ibg"/>
          <p:cNvSpPr/>
          <p:nvPr/>
        </p:nvSpPr>
        <p:spPr>
          <a:xfrm>
            <a:off x="777240" y="2176272"/>
            <a:ext cx="502920" cy="50292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2" name="a1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296973"/>
            <a:ext cx="261518" cy="261518"/>
          </a:xfrm>
          <a:prstGeom prst="rect">
            <a:avLst/>
          </a:prstGeom>
        </p:spPr>
      </p:pic>
      <p:sp>
        <p:nvSpPr>
          <p:cNvPr id="13" name="a1_t"/>
          <p:cNvSpPr txBox="1"/>
          <p:nvPr/>
        </p:nvSpPr>
        <p:spPr>
          <a:xfrm>
            <a:off x="1463040" y="20299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Клиентский сервис</a:t>
            </a:r>
            <a:endParaRPr lang="en-US" sz="1400" dirty="0"/>
          </a:p>
        </p:txBody>
      </p:sp>
      <p:sp>
        <p:nvSpPr>
          <p:cNvPr id="14" name="a1_d"/>
          <p:cNvSpPr txBox="1"/>
          <p:nvPr/>
        </p:nvSpPr>
        <p:spPr>
          <a:xfrm>
            <a:off x="146304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Ответы 24/7, маршрутизация обращений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2084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438912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время ответа</a:t>
            </a:r>
            <a:endParaRPr lang="en-US" sz="1300" dirty="0"/>
          </a:p>
        </p:txBody>
      </p:sp>
      <p:sp>
        <p:nvSpPr>
          <p:cNvPr id="17" name="a2_c"/>
          <p:cNvSpPr/>
          <p:nvPr/>
        </p:nvSpPr>
        <p:spPr>
          <a:xfrm>
            <a:off x="6185916" y="182880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8" name="a2_ibg"/>
          <p:cNvSpPr/>
          <p:nvPr/>
        </p:nvSpPr>
        <p:spPr>
          <a:xfrm>
            <a:off x="6414516" y="2176272"/>
            <a:ext cx="502920" cy="50292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9" name="a2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217" y="2296973"/>
            <a:ext cx="261518" cy="261518"/>
          </a:xfrm>
          <a:prstGeom prst="rect">
            <a:avLst/>
          </a:prstGeom>
        </p:spPr>
      </p:pic>
      <p:sp>
        <p:nvSpPr>
          <p:cNvPr id="20" name="a2_t"/>
          <p:cNvSpPr txBox="1"/>
          <p:nvPr/>
        </p:nvSpPr>
        <p:spPr>
          <a:xfrm>
            <a:off x="7100316" y="20299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Продажи и маркетинг</a:t>
            </a:r>
            <a:endParaRPr lang="en-US" sz="1400" dirty="0"/>
          </a:p>
        </p:txBody>
      </p:sp>
      <p:sp>
        <p:nvSpPr>
          <p:cNvPr id="21" name="a2_d"/>
          <p:cNvSpPr txBox="1"/>
          <p:nvPr/>
        </p:nvSpPr>
        <p:spPr>
          <a:xfrm>
            <a:off x="7100316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Квалификация лидов, персональные предложения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0300716" y="2084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0026396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конверсия</a:t>
            </a:r>
            <a:endParaRPr lang="en-US" sz="1300" dirty="0"/>
          </a:p>
        </p:txBody>
      </p:sp>
      <p:sp>
        <p:nvSpPr>
          <p:cNvPr id="24" name="a3_c"/>
          <p:cNvSpPr/>
          <p:nvPr/>
        </p:nvSpPr>
        <p:spPr>
          <a:xfrm>
            <a:off x="548640" y="320040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5" name="a3_ibg"/>
          <p:cNvSpPr/>
          <p:nvPr/>
        </p:nvSpPr>
        <p:spPr>
          <a:xfrm>
            <a:off x="777240" y="3547872"/>
            <a:ext cx="502920" cy="50292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6" name="a3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3668573"/>
            <a:ext cx="261518" cy="261518"/>
          </a:xfrm>
          <a:prstGeom prst="rect">
            <a:avLst/>
          </a:prstGeom>
        </p:spPr>
      </p:pic>
      <p:sp>
        <p:nvSpPr>
          <p:cNvPr id="27" name="a3_t"/>
          <p:cNvSpPr txBox="1"/>
          <p:nvPr/>
        </p:nvSpPr>
        <p:spPr>
          <a:xfrm>
            <a:off x="1463040" y="34015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Документооборот</a:t>
            </a:r>
            <a:endParaRPr lang="en-US" sz="1400" dirty="0"/>
          </a:p>
        </p:txBody>
      </p:sp>
      <p:sp>
        <p:nvSpPr>
          <p:cNvPr id="28" name="a3_d"/>
          <p:cNvSpPr txBox="1"/>
          <p:nvPr/>
        </p:nvSpPr>
        <p:spPr>
          <a:xfrm>
            <a:off x="146304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Извлечение данных, проверка, шаблоны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4663440" y="3456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438912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трудозатраты</a:t>
            </a:r>
            <a:endParaRPr lang="en-US" sz="1300" dirty="0"/>
          </a:p>
        </p:txBody>
      </p:sp>
      <p:sp>
        <p:nvSpPr>
          <p:cNvPr id="31" name="a4_c"/>
          <p:cNvSpPr/>
          <p:nvPr/>
        </p:nvSpPr>
        <p:spPr>
          <a:xfrm>
            <a:off x="6185916" y="320040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2" name="a4_ibg"/>
          <p:cNvSpPr/>
          <p:nvPr/>
        </p:nvSpPr>
        <p:spPr>
          <a:xfrm>
            <a:off x="6414516" y="3547872"/>
            <a:ext cx="502920" cy="50292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3" name="a4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217" y="3668573"/>
            <a:ext cx="261518" cy="261518"/>
          </a:xfrm>
          <a:prstGeom prst="rect">
            <a:avLst/>
          </a:prstGeom>
        </p:spPr>
      </p:pic>
      <p:sp>
        <p:nvSpPr>
          <p:cNvPr id="34" name="a4_t"/>
          <p:cNvSpPr txBox="1"/>
          <p:nvPr/>
        </p:nvSpPr>
        <p:spPr>
          <a:xfrm>
            <a:off x="7100316" y="34015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Финансы и аналитика</a:t>
            </a:r>
            <a:endParaRPr lang="en-US" sz="1400" dirty="0"/>
          </a:p>
        </p:txBody>
      </p:sp>
      <p:sp>
        <p:nvSpPr>
          <p:cNvPr id="35" name="a4_d"/>
          <p:cNvSpPr txBox="1"/>
          <p:nvPr/>
        </p:nvSpPr>
        <p:spPr>
          <a:xfrm>
            <a:off x="7100316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Прогнозы, отчёты по запросу, аномалии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10300716" y="3456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10026396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точность</a:t>
            </a:r>
            <a:endParaRPr lang="en-US" sz="1300" dirty="0"/>
          </a:p>
        </p:txBody>
      </p:sp>
      <p:sp>
        <p:nvSpPr>
          <p:cNvPr id="38" name="a5_c"/>
          <p:cNvSpPr/>
          <p:nvPr/>
        </p:nvSpPr>
        <p:spPr>
          <a:xfrm>
            <a:off x="548640" y="457200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9" name="a5_ibg"/>
          <p:cNvSpPr/>
          <p:nvPr/>
        </p:nvSpPr>
        <p:spPr>
          <a:xfrm>
            <a:off x="777240" y="4919472"/>
            <a:ext cx="502920" cy="50292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40" name="a5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5040173"/>
            <a:ext cx="261518" cy="261518"/>
          </a:xfrm>
          <a:prstGeom prst="rect">
            <a:avLst/>
          </a:prstGeom>
        </p:spPr>
      </p:pic>
      <p:sp>
        <p:nvSpPr>
          <p:cNvPr id="41" name="a5_t"/>
          <p:cNvSpPr txBox="1"/>
          <p:nvPr/>
        </p:nvSpPr>
        <p:spPr>
          <a:xfrm>
            <a:off x="1463040" y="4773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Операции и склад</a:t>
            </a:r>
            <a:endParaRPr lang="en-US" sz="1400" dirty="0"/>
          </a:p>
        </p:txBody>
      </p:sp>
      <p:sp>
        <p:nvSpPr>
          <p:cNvPr id="42" name="a5_d"/>
          <p:cNvSpPr txBox="1"/>
          <p:nvPr/>
        </p:nvSpPr>
        <p:spPr>
          <a:xfrm>
            <a:off x="1463040" y="5120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Прогноз спроса, закупки, логистика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466344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4389120" y="5074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остатки</a:t>
            </a:r>
            <a:endParaRPr lang="en-US" sz="1300" dirty="0"/>
          </a:p>
        </p:txBody>
      </p:sp>
      <p:sp>
        <p:nvSpPr>
          <p:cNvPr id="45" name="a6_c"/>
          <p:cNvSpPr/>
          <p:nvPr/>
        </p:nvSpPr>
        <p:spPr>
          <a:xfrm>
            <a:off x="6185916" y="457200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46" name="a6_ibg"/>
          <p:cNvSpPr/>
          <p:nvPr/>
        </p:nvSpPr>
        <p:spPr>
          <a:xfrm>
            <a:off x="6414516" y="4919472"/>
            <a:ext cx="502920" cy="50292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47" name="a6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5217" y="5040173"/>
            <a:ext cx="261518" cy="261518"/>
          </a:xfrm>
          <a:prstGeom prst="rect">
            <a:avLst/>
          </a:prstGeom>
        </p:spPr>
      </p:pic>
      <p:sp>
        <p:nvSpPr>
          <p:cNvPr id="48" name="a6_t"/>
          <p:cNvSpPr txBox="1"/>
          <p:nvPr/>
        </p:nvSpPr>
        <p:spPr>
          <a:xfrm>
            <a:off x="7100316" y="4773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HR и обучение</a:t>
            </a:r>
            <a:endParaRPr lang="en-US" sz="1400" dirty="0"/>
          </a:p>
        </p:txBody>
      </p:sp>
      <p:sp>
        <p:nvSpPr>
          <p:cNvPr id="49" name="a6_d"/>
          <p:cNvSpPr txBox="1"/>
          <p:nvPr/>
        </p:nvSpPr>
        <p:spPr>
          <a:xfrm>
            <a:off x="7100316" y="5120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Подбор, адаптация, базы знаний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10300716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51" name="Text 42"/>
          <p:cNvSpPr txBox="1"/>
          <p:nvPr/>
        </p:nvSpPr>
        <p:spPr>
          <a:xfrm>
            <a:off x="10026396" y="5074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скорость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4" grpId="0"/>
      <p:bldP spid="17" grpId="0" animBg="1"/>
      <p:bldP spid="18" grpId="0" animBg="1"/>
      <p:bldP spid="20" grpId="0"/>
      <p:bldP spid="21" grpId="0"/>
      <p:bldP spid="24" grpId="0" animBg="1"/>
      <p:bldP spid="25" grpId="0" animBg="1"/>
      <p:bldP spid="27" grpId="0"/>
      <p:bldP spid="28" grpId="0"/>
      <p:bldP spid="31" grpId="0" animBg="1"/>
      <p:bldP spid="32" grpId="0" animBg="1"/>
      <p:bldP spid="34" grpId="0"/>
      <p:bldP spid="35" grpId="0"/>
      <p:bldP spid="38" grpId="0" animBg="1"/>
      <p:bldP spid="39" grpId="0" animBg="1"/>
      <p:bldP spid="41" grpId="0"/>
      <p:bldP spid="42" grpId="0"/>
      <p:bldP spid="45" grpId="0" animBg="1"/>
      <p:bldP spid="46" grpId="0" animBg="1"/>
      <p:bldP spid="48" grpId="0"/>
      <p:bldP spid="4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AI-агенты и интеллектуальные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ассистенты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IV · ARTIFICIAL INTELLIGENCE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ARTIFICIAL INTELLIGENCE</a:t>
            </a:r>
            <a:endParaRPr lang="en-US" sz="900" dirty="0"/>
          </a:p>
        </p:txBody>
      </p:sp>
      <p:sp>
        <p:nvSpPr>
          <p:cNvPr id="9" name="a1_card"/>
          <p:cNvSpPr/>
          <p:nvPr/>
        </p:nvSpPr>
        <p:spPr>
          <a:xfrm>
            <a:off x="548640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iconbg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1" name="a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67128"/>
            <a:ext cx="237744" cy="237744"/>
          </a:xfrm>
          <a:prstGeom prst="rect">
            <a:avLst/>
          </a:prstGeom>
        </p:spPr>
      </p:pic>
      <p:sp>
        <p:nvSpPr>
          <p:cNvPr id="12" name="a1_t"/>
          <p:cNvSpPr txBox="1"/>
          <p:nvPr/>
        </p:nvSpPr>
        <p:spPr>
          <a:xfrm>
            <a:off x="1371600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Агент поддержки</a:t>
            </a:r>
            <a:endParaRPr lang="en-US" sz="1400" dirty="0"/>
          </a:p>
        </p:txBody>
      </p:sp>
      <p:sp>
        <p:nvSpPr>
          <p:cNvPr id="13" name="a1_d"/>
          <p:cNvSpPr txBox="1"/>
          <p:nvPr/>
        </p:nvSpPr>
        <p:spPr>
          <a:xfrm>
            <a:off x="777240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Отвечает клиентам в Telegram и на сайте, создаёт заявки, передаёт сложные случаи человеку.</a:t>
            </a:r>
            <a:endParaRPr lang="en-US" sz="1250" dirty="0"/>
          </a:p>
        </p:txBody>
      </p:sp>
      <p:sp>
        <p:nvSpPr>
          <p:cNvPr id="14" name="a2_card"/>
          <p:cNvSpPr/>
          <p:nvPr/>
        </p:nvSpPr>
        <p:spPr>
          <a:xfrm>
            <a:off x="4322978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5" name="a2_iconbg"/>
          <p:cNvSpPr/>
          <p:nvPr/>
        </p:nvSpPr>
        <p:spPr>
          <a:xfrm>
            <a:off x="4551578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6" name="a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306" y="2167128"/>
            <a:ext cx="237744" cy="237744"/>
          </a:xfrm>
          <a:prstGeom prst="rect">
            <a:avLst/>
          </a:prstGeom>
        </p:spPr>
      </p:pic>
      <p:sp>
        <p:nvSpPr>
          <p:cNvPr id="17" name="a2_t"/>
          <p:cNvSpPr txBox="1"/>
          <p:nvPr/>
        </p:nvSpPr>
        <p:spPr>
          <a:xfrm>
            <a:off x="5145938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Агент продаж</a:t>
            </a:r>
            <a:endParaRPr lang="en-US" sz="1400" dirty="0"/>
          </a:p>
        </p:txBody>
      </p:sp>
      <p:sp>
        <p:nvSpPr>
          <p:cNvPr id="18" name="a2_d"/>
          <p:cNvSpPr txBox="1"/>
          <p:nvPr/>
        </p:nvSpPr>
        <p:spPr>
          <a:xfrm>
            <a:off x="4551578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Квалифицирует лиды, готовит КП, ведёт сделки в CRM и напоминает менеджерам.</a:t>
            </a:r>
            <a:endParaRPr lang="en-US" sz="1250" dirty="0"/>
          </a:p>
        </p:txBody>
      </p:sp>
      <p:sp>
        <p:nvSpPr>
          <p:cNvPr id="19" name="a3_card"/>
          <p:cNvSpPr/>
          <p:nvPr/>
        </p:nvSpPr>
        <p:spPr>
          <a:xfrm>
            <a:off x="8097317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0" name="a3_iconbg"/>
          <p:cNvSpPr/>
          <p:nvPr/>
        </p:nvSpPr>
        <p:spPr>
          <a:xfrm>
            <a:off x="8325917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1" name="a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645" y="2167128"/>
            <a:ext cx="237744" cy="237744"/>
          </a:xfrm>
          <a:prstGeom prst="rect">
            <a:avLst/>
          </a:prstGeom>
        </p:spPr>
      </p:pic>
      <p:sp>
        <p:nvSpPr>
          <p:cNvPr id="22" name="a3_t"/>
          <p:cNvSpPr txBox="1"/>
          <p:nvPr/>
        </p:nvSpPr>
        <p:spPr>
          <a:xfrm>
            <a:off x="8920277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Агент документов</a:t>
            </a:r>
            <a:endParaRPr lang="en-US" sz="1400" dirty="0"/>
          </a:p>
        </p:txBody>
      </p:sp>
      <p:sp>
        <p:nvSpPr>
          <p:cNvPr id="23" name="a3_d"/>
          <p:cNvSpPr txBox="1"/>
          <p:nvPr/>
        </p:nvSpPr>
        <p:spPr>
          <a:xfrm>
            <a:off x="8325917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Читает договоры и счета, извлекает данные, проверяет по правилам.</a:t>
            </a:r>
            <a:endParaRPr lang="en-US" sz="1250" dirty="0"/>
          </a:p>
        </p:txBody>
      </p:sp>
      <p:sp>
        <p:nvSpPr>
          <p:cNvPr id="24" name="a4_card"/>
          <p:cNvSpPr/>
          <p:nvPr/>
        </p:nvSpPr>
        <p:spPr>
          <a:xfrm>
            <a:off x="548640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5" name="a4_iconbg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6" name="a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361688"/>
            <a:ext cx="237744" cy="237744"/>
          </a:xfrm>
          <a:prstGeom prst="rect">
            <a:avLst/>
          </a:prstGeom>
        </p:spPr>
      </p:pic>
      <p:sp>
        <p:nvSpPr>
          <p:cNvPr id="27" name="a4_t"/>
          <p:cNvSpPr txBox="1"/>
          <p:nvPr/>
        </p:nvSpPr>
        <p:spPr>
          <a:xfrm>
            <a:off x="1371600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Агент аналитики</a:t>
            </a:r>
            <a:endParaRPr lang="en-US" sz="1400" dirty="0"/>
          </a:p>
        </p:txBody>
      </p:sp>
      <p:sp>
        <p:nvSpPr>
          <p:cNvPr id="28" name="a4_d"/>
          <p:cNvSpPr txBox="1"/>
          <p:nvPr/>
        </p:nvSpPr>
        <p:spPr>
          <a:xfrm>
            <a:off x="777240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Отвечает на вопросы о бизнесе по данным ERP: продажи, остатки, долги.</a:t>
            </a:r>
            <a:endParaRPr lang="en-US" sz="1250" dirty="0"/>
          </a:p>
        </p:txBody>
      </p:sp>
      <p:sp>
        <p:nvSpPr>
          <p:cNvPr id="29" name="a5_card"/>
          <p:cNvSpPr/>
          <p:nvPr/>
        </p:nvSpPr>
        <p:spPr>
          <a:xfrm>
            <a:off x="4322978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0" name="a5_iconbg"/>
          <p:cNvSpPr/>
          <p:nvPr/>
        </p:nvSpPr>
        <p:spPr>
          <a:xfrm>
            <a:off x="4551578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1" name="a5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306" y="4361688"/>
            <a:ext cx="237744" cy="237744"/>
          </a:xfrm>
          <a:prstGeom prst="rect">
            <a:avLst/>
          </a:prstGeom>
        </p:spPr>
      </p:pic>
      <p:sp>
        <p:nvSpPr>
          <p:cNvPr id="32" name="a5_t"/>
          <p:cNvSpPr txBox="1"/>
          <p:nvPr/>
        </p:nvSpPr>
        <p:spPr>
          <a:xfrm>
            <a:off x="5145938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HR-ассистент</a:t>
            </a:r>
            <a:endParaRPr lang="en-US" sz="1400" dirty="0"/>
          </a:p>
        </p:txBody>
      </p:sp>
      <p:sp>
        <p:nvSpPr>
          <p:cNvPr id="33" name="a5_d"/>
          <p:cNvSpPr txBox="1"/>
          <p:nvPr/>
        </p:nvSpPr>
        <p:spPr>
          <a:xfrm>
            <a:off x="4551578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Отбор резюме, адаптация новых сотрудников, ответы по внутренним правилам.</a:t>
            </a:r>
            <a:endParaRPr lang="en-US" sz="1250" dirty="0"/>
          </a:p>
        </p:txBody>
      </p:sp>
      <p:sp>
        <p:nvSpPr>
          <p:cNvPr id="34" name="a6_card"/>
          <p:cNvSpPr/>
          <p:nvPr/>
        </p:nvSpPr>
        <p:spPr>
          <a:xfrm>
            <a:off x="8097317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5" name="a6_iconbg"/>
          <p:cNvSpPr/>
          <p:nvPr/>
        </p:nvSpPr>
        <p:spPr>
          <a:xfrm>
            <a:off x="8325917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6" name="a6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645" y="4361688"/>
            <a:ext cx="237744" cy="237744"/>
          </a:xfrm>
          <a:prstGeom prst="rect">
            <a:avLst/>
          </a:prstGeom>
        </p:spPr>
      </p:pic>
      <p:sp>
        <p:nvSpPr>
          <p:cNvPr id="37" name="a6_t"/>
          <p:cNvSpPr txBox="1"/>
          <p:nvPr/>
        </p:nvSpPr>
        <p:spPr>
          <a:xfrm>
            <a:off x="8920277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Операционный агент</a:t>
            </a:r>
            <a:endParaRPr lang="en-US" sz="1400" dirty="0"/>
          </a:p>
        </p:txBody>
      </p:sp>
      <p:sp>
        <p:nvSpPr>
          <p:cNvPr id="38" name="a6_d"/>
          <p:cNvSpPr txBox="1"/>
          <p:nvPr/>
        </p:nvSpPr>
        <p:spPr>
          <a:xfrm>
            <a:off x="8325917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Прогноз закупок, контроль сроков, уведомления о рисках в процессах.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/>
      <p:bldP spid="13" grpId="0"/>
      <p:bldP spid="14" grpId="0" animBg="1"/>
      <p:bldP spid="15" grpId="0" animBg="1"/>
      <p:bldP spid="17" grpId="0"/>
      <p:bldP spid="18" grpId="0"/>
      <p:bldP spid="19" grpId="0" animBg="1"/>
      <p:bldP spid="20" grpId="0" animBg="1"/>
      <p:bldP spid="22" grpId="0"/>
      <p:bldP spid="23" grpId="0"/>
      <p:bldP spid="24" grpId="0" animBg="1"/>
      <p:bldP spid="25" grpId="0" animBg="1"/>
      <p:bldP spid="27" grpId="0"/>
      <p:bldP spid="28" grpId="0"/>
      <p:bldP spid="29" grpId="0" animBg="1"/>
      <p:bldP spid="30" grpId="0" animBg="1"/>
      <p:bldP spid="32" grpId="0"/>
      <p:bldP spid="33" grpId="0"/>
      <p:bldP spid="34" grpId="0" animBg="1"/>
      <p:bldP spid="35" grpId="0" animBg="1"/>
      <p:bldP spid="37" grpId="0"/>
      <p:bldP spid="3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Мультиагентная архитектура: оркестратор, агенты, инструменты,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контроль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IV · ARTIFICIAL INTELLIGENCE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ARTIFICIAL INTELLIGENCE</a:t>
            </a:r>
            <a:endParaRPr lang="en-US" sz="900" dirty="0"/>
          </a:p>
        </p:txBody>
      </p:sp>
      <p:sp>
        <p:nvSpPr>
          <p:cNvPr id="9" name="a1_bg"/>
          <p:cNvSpPr/>
          <p:nvPr/>
        </p:nvSpPr>
        <p:spPr>
          <a:xfrm>
            <a:off x="548640" y="1828800"/>
            <a:ext cx="11094415" cy="603504"/>
          </a:xfrm>
          <a:prstGeom prst="roundRect">
            <a:avLst>
              <a:gd name="adj" fmla="val 18182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lb"/>
          <p:cNvSpPr/>
          <p:nvPr/>
        </p:nvSpPr>
        <p:spPr>
          <a:xfrm>
            <a:off x="640080" y="192024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11" name="a1_lt"/>
          <p:cNvSpPr txBox="1"/>
          <p:nvPr/>
        </p:nvSpPr>
        <p:spPr>
          <a:xfrm>
            <a:off x="749808" y="192024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Интерфейсы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926080" y="1956816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99232" y="1956816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109896" y="1956816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183048" y="1956816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Веб-кабинет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93712" y="1956816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66864" y="1956816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Голос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477527" y="1956816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550679" y="1956816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</a:t>
            </a:r>
            <a:endParaRPr lang="en-US" sz="1100" dirty="0"/>
          </a:p>
        </p:txBody>
      </p:sp>
      <p:sp>
        <p:nvSpPr>
          <p:cNvPr id="20" name="a2_bg"/>
          <p:cNvSpPr/>
          <p:nvPr/>
        </p:nvSpPr>
        <p:spPr>
          <a:xfrm>
            <a:off x="548640" y="2542032"/>
            <a:ext cx="11094415" cy="603504"/>
          </a:xfrm>
          <a:prstGeom prst="roundRect">
            <a:avLst>
              <a:gd name="adj" fmla="val 18182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1" name="a2_lb"/>
          <p:cNvSpPr/>
          <p:nvPr/>
        </p:nvSpPr>
        <p:spPr>
          <a:xfrm>
            <a:off x="640080" y="263347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22" name="a2_lt"/>
          <p:cNvSpPr txBox="1"/>
          <p:nvPr/>
        </p:nvSpPr>
        <p:spPr>
          <a:xfrm>
            <a:off x="749808" y="2633472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Оркестратор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2926080" y="2670048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999232" y="2670048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Планирование задач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109896" y="2670048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183048" y="2670048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Маршрутизация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293712" y="2670048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66864" y="2670048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Память контекста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477527" y="2670048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550679" y="2670048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Эскалация человеку</a:t>
            </a:r>
            <a:endParaRPr lang="en-US" sz="1100" dirty="0"/>
          </a:p>
        </p:txBody>
      </p:sp>
      <p:sp>
        <p:nvSpPr>
          <p:cNvPr id="31" name="a3_bg"/>
          <p:cNvSpPr/>
          <p:nvPr/>
        </p:nvSpPr>
        <p:spPr>
          <a:xfrm>
            <a:off x="548640" y="3255264"/>
            <a:ext cx="11094415" cy="603504"/>
          </a:xfrm>
          <a:prstGeom prst="roundRect">
            <a:avLst>
              <a:gd name="adj" fmla="val 18182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2" name="a3_lb"/>
          <p:cNvSpPr/>
          <p:nvPr/>
        </p:nvSpPr>
        <p:spPr>
          <a:xfrm>
            <a:off x="640080" y="3346704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33" name="a3_lt"/>
          <p:cNvSpPr txBox="1"/>
          <p:nvPr/>
        </p:nvSpPr>
        <p:spPr>
          <a:xfrm>
            <a:off x="749808" y="334670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Агенты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2926080" y="3383280"/>
            <a:ext cx="1637325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999232" y="3383280"/>
            <a:ext cx="14910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Продажи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673133" y="3383280"/>
            <a:ext cx="1637325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46285" y="3383280"/>
            <a:ext cx="14910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20185" y="3383280"/>
            <a:ext cx="1637325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93337" y="3383280"/>
            <a:ext cx="14910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167238" y="3383280"/>
            <a:ext cx="1637325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40390" y="3383280"/>
            <a:ext cx="14910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914291" y="3383280"/>
            <a:ext cx="1637325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987443" y="3383280"/>
            <a:ext cx="14910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Операции</a:t>
            </a:r>
            <a:endParaRPr lang="en-US" sz="1100" dirty="0"/>
          </a:p>
        </p:txBody>
      </p:sp>
      <p:sp>
        <p:nvSpPr>
          <p:cNvPr id="44" name="a4_bg"/>
          <p:cNvSpPr/>
          <p:nvPr/>
        </p:nvSpPr>
        <p:spPr>
          <a:xfrm>
            <a:off x="548640" y="3968496"/>
            <a:ext cx="11094415" cy="603504"/>
          </a:xfrm>
          <a:prstGeom prst="roundRect">
            <a:avLst>
              <a:gd name="adj" fmla="val 18182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45" name="a4_lb"/>
          <p:cNvSpPr/>
          <p:nvPr/>
        </p:nvSpPr>
        <p:spPr>
          <a:xfrm>
            <a:off x="640080" y="405993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46" name="a4_lt"/>
          <p:cNvSpPr txBox="1"/>
          <p:nvPr/>
        </p:nvSpPr>
        <p:spPr>
          <a:xfrm>
            <a:off x="749808" y="4059936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Инструменты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2926080" y="4096512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999232" y="4096512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 / CRM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109896" y="4096512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183048" y="4096512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7293712" y="4096512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366864" y="4096512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Почта и календарь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9477527" y="4096512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550679" y="4096512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Платежи</a:t>
            </a:r>
            <a:endParaRPr lang="en-US" sz="1100" dirty="0"/>
          </a:p>
        </p:txBody>
      </p:sp>
      <p:sp>
        <p:nvSpPr>
          <p:cNvPr id="55" name="a5_bg"/>
          <p:cNvSpPr/>
          <p:nvPr/>
        </p:nvSpPr>
        <p:spPr>
          <a:xfrm>
            <a:off x="548640" y="4681728"/>
            <a:ext cx="11094415" cy="603504"/>
          </a:xfrm>
          <a:prstGeom prst="roundRect">
            <a:avLst>
              <a:gd name="adj" fmla="val 18182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56" name="a5_lb"/>
          <p:cNvSpPr/>
          <p:nvPr/>
        </p:nvSpPr>
        <p:spPr>
          <a:xfrm>
            <a:off x="640080" y="477316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57" name="a5_lt"/>
          <p:cNvSpPr txBox="1"/>
          <p:nvPr/>
        </p:nvSpPr>
        <p:spPr>
          <a:xfrm>
            <a:off x="749808" y="477316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Знания и данные</a:t>
            </a:r>
            <a:endParaRPr lang="en-US" sz="1250" dirty="0"/>
          </a:p>
        </p:txBody>
      </p:sp>
      <p:sp>
        <p:nvSpPr>
          <p:cNvPr id="58" name="Shape 55"/>
          <p:cNvSpPr/>
          <p:nvPr/>
        </p:nvSpPr>
        <p:spPr>
          <a:xfrm>
            <a:off x="2926080" y="4809744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2999232" y="4809744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и поиск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109896" y="4809744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183048" y="4809744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Векторная БД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7293712" y="4809744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7366864" y="4809744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Хранилище данных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9477527" y="4809744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9550679" y="4809744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Политики доступа</a:t>
            </a:r>
            <a:endParaRPr lang="en-US" sz="1100" dirty="0"/>
          </a:p>
        </p:txBody>
      </p:sp>
      <p:sp>
        <p:nvSpPr>
          <p:cNvPr id="66" name="a6_bg"/>
          <p:cNvSpPr/>
          <p:nvPr/>
        </p:nvSpPr>
        <p:spPr>
          <a:xfrm>
            <a:off x="548640" y="5394960"/>
            <a:ext cx="11094415" cy="603504"/>
          </a:xfrm>
          <a:prstGeom prst="roundRect">
            <a:avLst>
              <a:gd name="adj" fmla="val 18182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67" name="a6_lb"/>
          <p:cNvSpPr/>
          <p:nvPr/>
        </p:nvSpPr>
        <p:spPr>
          <a:xfrm>
            <a:off x="640080" y="548640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68" name="a6_lt"/>
          <p:cNvSpPr txBox="1"/>
          <p:nvPr/>
        </p:nvSpPr>
        <p:spPr>
          <a:xfrm>
            <a:off x="749808" y="548640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</a:t>
            </a:r>
            <a:endParaRPr lang="en-US" sz="1250" dirty="0"/>
          </a:p>
        </p:txBody>
      </p:sp>
      <p:sp>
        <p:nvSpPr>
          <p:cNvPr id="69" name="Shape 66"/>
          <p:cNvSpPr/>
          <p:nvPr/>
        </p:nvSpPr>
        <p:spPr>
          <a:xfrm>
            <a:off x="2926080" y="5522976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2999232" y="5522976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Журнал действий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5109896" y="5522976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5183048" y="5522976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Человек в контуре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7293712" y="5522976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7366864" y="5522976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Оценка качества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9477527" y="5522976"/>
            <a:ext cx="2074088" cy="347472"/>
          </a:xfrm>
          <a:prstGeom prst="roundRect">
            <a:avLst>
              <a:gd name="adj" fmla="val 18421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9550679" y="5522976"/>
            <a:ext cx="1927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20" grpId="0" animBg="1"/>
      <p:bldP spid="21" grpId="0" animBg="1"/>
      <p:bldP spid="22" grpId="0"/>
      <p:bldP spid="31" grpId="0" animBg="1"/>
      <p:bldP spid="32" grpId="0" animBg="1"/>
      <p:bldP spid="33" grpId="0"/>
      <p:bldP spid="44" grpId="0" animBg="1"/>
      <p:bldP spid="45" grpId="0" animBg="1"/>
      <p:bldP spid="46" grpId="0"/>
      <p:bldP spid="55" grpId="0" animBg="1"/>
      <p:bldP spid="56" grpId="0" animBg="1"/>
      <p:bldP spid="57" grpId="0"/>
      <p:bldP spid="66" grpId="0" animBg="1"/>
      <p:bldP spid="67" grpId="0" animBg="1"/>
      <p:bldP spid="6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для корпоративной автоматизации: пример мультиагентного контура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продаж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IV · ARTIFICIAL INTELLIGENCE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ARTIFICIAL INTELLIGENCE</a:t>
            </a:r>
            <a:endParaRPr lang="en-US" sz="900" dirty="0"/>
          </a:p>
        </p:txBody>
      </p:sp>
      <p:pic>
        <p:nvPicPr>
          <p:cNvPr id="9" name="a1_ui" descr="/home/user/footurex-main/presentation/assets/ui/ai-cons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949440" cy="3378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3218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 интерфейса · демо-данные</a:t>
            </a:r>
            <a:endParaRPr lang="en-US" sz="850" dirty="0"/>
          </a:p>
        </p:txBody>
      </p:sp>
      <p:sp>
        <p:nvSpPr>
          <p:cNvPr id="11" name="a2_ins"/>
          <p:cNvSpPr/>
          <p:nvPr/>
        </p:nvSpPr>
        <p:spPr>
          <a:xfrm>
            <a:off x="7772400" y="1828800"/>
            <a:ext cx="3867912" cy="4069080"/>
          </a:xfrm>
          <a:prstGeom prst="roundRect">
            <a:avLst>
              <a:gd name="adj" fmla="val 283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01000" y="202996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работает контур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001000" y="2432304"/>
            <a:ext cx="34107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Запрос менеджера в Telegram или веб-кабинете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Оркестратор делит задачу между агентами склада, финансов и продаж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Агенты работают через API ERP и CRM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Скидки и отправку КП подтверждает человек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Каждое действие фиксируется в журнале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для игровой индустрии: от симуляции матча до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LiveOps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IV · ARTIFICIAL INTELLIGENCE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ARTIFICIAL INTELLIGENCE</a:t>
            </a:r>
            <a:endParaRPr lang="en-US" sz="900" dirty="0"/>
          </a:p>
        </p:txBody>
      </p:sp>
      <p:sp>
        <p:nvSpPr>
          <p:cNvPr id="9" name="a1_card"/>
          <p:cNvSpPr/>
          <p:nvPr/>
        </p:nvSpPr>
        <p:spPr>
          <a:xfrm>
            <a:off x="548640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iconbg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1" name="a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67128"/>
            <a:ext cx="237744" cy="237744"/>
          </a:xfrm>
          <a:prstGeom prst="rect">
            <a:avLst/>
          </a:prstGeom>
        </p:spPr>
      </p:pic>
      <p:sp>
        <p:nvSpPr>
          <p:cNvPr id="12" name="a1_t"/>
          <p:cNvSpPr txBox="1"/>
          <p:nvPr/>
        </p:nvSpPr>
        <p:spPr>
          <a:xfrm>
            <a:off x="1371600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Движок симуляции матча</a:t>
            </a:r>
            <a:endParaRPr lang="en-US" sz="1400" dirty="0"/>
          </a:p>
        </p:txBody>
      </p:sp>
      <p:sp>
        <p:nvSpPr>
          <p:cNvPr id="13" name="a1_d"/>
          <p:cNvSpPr txBox="1"/>
          <p:nvPr/>
        </p:nvSpPr>
        <p:spPr>
          <a:xfrm>
            <a:off x="777240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Вероятностная модель матча на основе характеристик игроков, тактики и формы.</a:t>
            </a:r>
            <a:endParaRPr lang="en-US" sz="1250" dirty="0"/>
          </a:p>
        </p:txBody>
      </p:sp>
      <p:sp>
        <p:nvSpPr>
          <p:cNvPr id="14" name="a2_card"/>
          <p:cNvSpPr/>
          <p:nvPr/>
        </p:nvSpPr>
        <p:spPr>
          <a:xfrm>
            <a:off x="4322978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5" name="a2_iconbg"/>
          <p:cNvSpPr/>
          <p:nvPr/>
        </p:nvSpPr>
        <p:spPr>
          <a:xfrm>
            <a:off x="4551578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6" name="a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306" y="2167128"/>
            <a:ext cx="237744" cy="237744"/>
          </a:xfrm>
          <a:prstGeom prst="rect">
            <a:avLst/>
          </a:prstGeom>
        </p:spPr>
      </p:pic>
      <p:sp>
        <p:nvSpPr>
          <p:cNvPr id="17" name="a2_t"/>
          <p:cNvSpPr txBox="1"/>
          <p:nvPr/>
        </p:nvSpPr>
        <p:spPr>
          <a:xfrm>
            <a:off x="5145938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AI-соперники</a:t>
            </a:r>
            <a:endParaRPr lang="en-US" sz="1400" dirty="0"/>
          </a:p>
        </p:txBody>
      </p:sp>
      <p:sp>
        <p:nvSpPr>
          <p:cNvPr id="18" name="a2_d"/>
          <p:cNvSpPr txBox="1"/>
          <p:nvPr/>
        </p:nvSpPr>
        <p:spPr>
          <a:xfrm>
            <a:off x="4551578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Адаптивные соперники для одиночных режимов и тренировок с учётом уровня игрока.</a:t>
            </a:r>
            <a:endParaRPr lang="en-US" sz="1250" dirty="0"/>
          </a:p>
        </p:txBody>
      </p:sp>
      <p:sp>
        <p:nvSpPr>
          <p:cNvPr id="19" name="a3_card"/>
          <p:cNvSpPr/>
          <p:nvPr/>
        </p:nvSpPr>
        <p:spPr>
          <a:xfrm>
            <a:off x="8097317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0" name="a3_iconbg"/>
          <p:cNvSpPr/>
          <p:nvPr/>
        </p:nvSpPr>
        <p:spPr>
          <a:xfrm>
            <a:off x="8325917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1" name="a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645" y="2167128"/>
            <a:ext cx="237744" cy="237744"/>
          </a:xfrm>
          <a:prstGeom prst="rect">
            <a:avLst/>
          </a:prstGeom>
        </p:spPr>
      </p:pic>
      <p:sp>
        <p:nvSpPr>
          <p:cNvPr id="22" name="a3_t"/>
          <p:cNvSpPr txBox="1"/>
          <p:nvPr/>
        </p:nvSpPr>
        <p:spPr>
          <a:xfrm>
            <a:off x="8920277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Персонализация и LiveOps</a:t>
            </a:r>
            <a:endParaRPr lang="en-US" sz="1400" dirty="0"/>
          </a:p>
        </p:txBody>
      </p:sp>
      <p:sp>
        <p:nvSpPr>
          <p:cNvPr id="23" name="a3_d"/>
          <p:cNvSpPr txBox="1"/>
          <p:nvPr/>
        </p:nvSpPr>
        <p:spPr>
          <a:xfrm>
            <a:off x="8325917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Предложения, задания и события под сегмент игрока; A/B-тесты.</a:t>
            </a:r>
            <a:endParaRPr lang="en-US" sz="1250" dirty="0"/>
          </a:p>
        </p:txBody>
      </p:sp>
      <p:sp>
        <p:nvSpPr>
          <p:cNvPr id="24" name="a4_card"/>
          <p:cNvSpPr/>
          <p:nvPr/>
        </p:nvSpPr>
        <p:spPr>
          <a:xfrm>
            <a:off x="548640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5" name="a4_iconbg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6" name="a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361688"/>
            <a:ext cx="237744" cy="237744"/>
          </a:xfrm>
          <a:prstGeom prst="rect">
            <a:avLst/>
          </a:prstGeom>
        </p:spPr>
      </p:pic>
      <p:sp>
        <p:nvSpPr>
          <p:cNvPr id="27" name="a4_t"/>
          <p:cNvSpPr txBox="1"/>
          <p:nvPr/>
        </p:nvSpPr>
        <p:spPr>
          <a:xfrm>
            <a:off x="1371600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Античит и антифрод</a:t>
            </a:r>
            <a:endParaRPr lang="en-US" sz="1400" dirty="0"/>
          </a:p>
        </p:txBody>
      </p:sp>
      <p:sp>
        <p:nvSpPr>
          <p:cNvPr id="28" name="a4_d"/>
          <p:cNvSpPr txBox="1"/>
          <p:nvPr/>
        </p:nvSpPr>
        <p:spPr>
          <a:xfrm>
            <a:off x="777240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Поиск аномалий в поведении, мультиаккаунтов и злоупотреблений на рынке.</a:t>
            </a:r>
            <a:endParaRPr lang="en-US" sz="1250" dirty="0"/>
          </a:p>
        </p:txBody>
      </p:sp>
      <p:sp>
        <p:nvSpPr>
          <p:cNvPr id="29" name="a5_card"/>
          <p:cNvSpPr/>
          <p:nvPr/>
        </p:nvSpPr>
        <p:spPr>
          <a:xfrm>
            <a:off x="4322978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0" name="a5_iconbg"/>
          <p:cNvSpPr/>
          <p:nvPr/>
        </p:nvSpPr>
        <p:spPr>
          <a:xfrm>
            <a:off x="4551578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1" name="a5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306" y="4361688"/>
            <a:ext cx="237744" cy="237744"/>
          </a:xfrm>
          <a:prstGeom prst="rect">
            <a:avLst/>
          </a:prstGeom>
        </p:spPr>
      </p:pic>
      <p:sp>
        <p:nvSpPr>
          <p:cNvPr id="32" name="a5_t"/>
          <p:cNvSpPr txBox="1"/>
          <p:nvPr/>
        </p:nvSpPr>
        <p:spPr>
          <a:xfrm>
            <a:off x="5145938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контента</a:t>
            </a:r>
            <a:endParaRPr lang="en-US" sz="1400" dirty="0"/>
          </a:p>
        </p:txBody>
      </p:sp>
      <p:sp>
        <p:nvSpPr>
          <p:cNvPr id="33" name="a5_d"/>
          <p:cNvSpPr txBox="1"/>
          <p:nvPr/>
        </p:nvSpPr>
        <p:spPr>
          <a:xfrm>
            <a:off x="4551578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Описания игроков, новости лиги, комментарии к матчам — с проверкой редактором.</a:t>
            </a:r>
            <a:endParaRPr lang="en-US" sz="1250" dirty="0"/>
          </a:p>
        </p:txBody>
      </p:sp>
      <p:sp>
        <p:nvSpPr>
          <p:cNvPr id="34" name="a6_card"/>
          <p:cNvSpPr/>
          <p:nvPr/>
        </p:nvSpPr>
        <p:spPr>
          <a:xfrm>
            <a:off x="8097317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5" name="a6_iconbg"/>
          <p:cNvSpPr/>
          <p:nvPr/>
        </p:nvSpPr>
        <p:spPr>
          <a:xfrm>
            <a:off x="8325917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6" name="a6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645" y="4361688"/>
            <a:ext cx="237744" cy="237744"/>
          </a:xfrm>
          <a:prstGeom prst="rect">
            <a:avLst/>
          </a:prstGeom>
        </p:spPr>
      </p:pic>
      <p:sp>
        <p:nvSpPr>
          <p:cNvPr id="37" name="a6_t"/>
          <p:cNvSpPr txBox="1"/>
          <p:nvPr/>
        </p:nvSpPr>
        <p:spPr>
          <a:xfrm>
            <a:off x="8920277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 игроков</a:t>
            </a:r>
            <a:endParaRPr lang="en-US" sz="1400" dirty="0"/>
          </a:p>
        </p:txBody>
      </p:sp>
      <p:sp>
        <p:nvSpPr>
          <p:cNvPr id="38" name="a6_d"/>
          <p:cNvSpPr txBox="1"/>
          <p:nvPr/>
        </p:nvSpPr>
        <p:spPr>
          <a:xfrm>
            <a:off x="8325917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AI-ассистент отвечает на вопросы в Telegram на узбекском, русском и английском.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/>
      <p:bldP spid="13" grpId="0"/>
      <p:bldP spid="14" grpId="0" animBg="1"/>
      <p:bldP spid="15" grpId="0" animBg="1"/>
      <p:bldP spid="17" grpId="0"/>
      <p:bldP spid="18" grpId="0"/>
      <p:bldP spid="19" grpId="0" animBg="1"/>
      <p:bldP spid="20" grpId="0" animBg="1"/>
      <p:bldP spid="22" grpId="0"/>
      <p:bldP spid="23" grpId="0"/>
      <p:bldP spid="24" grpId="0" animBg="1"/>
      <p:bldP spid="25" grpId="0" animBg="1"/>
      <p:bldP spid="27" grpId="0"/>
      <p:bldP spid="28" grpId="0"/>
      <p:bldP spid="29" grpId="0" animBg="1"/>
      <p:bldP spid="30" grpId="0" animBg="1"/>
      <p:bldP spid="32" grpId="0"/>
      <p:bldP spid="33" grpId="0"/>
      <p:bldP spid="34" grpId="0" animBg="1"/>
      <p:bldP spid="35" grpId="0" animBg="1"/>
      <p:bldP spid="37" grpId="0"/>
      <p:bldP spid="3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stadium-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768" y="-171450"/>
            <a:ext cx="12801280" cy="72009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для спортивной аналитики: данные вместо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интуиции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IV · ARTIFICIAL INTELLIGENCE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ARTIFICIAL INTELLIGENCE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5" name="a1_dot"/>
          <p:cNvSpPr/>
          <p:nvPr/>
        </p:nvSpPr>
        <p:spPr>
          <a:xfrm>
            <a:off x="548640" y="205740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16" name="a1_num"/>
          <p:cNvSpPr txBox="1"/>
          <p:nvPr/>
        </p:nvSpPr>
        <p:spPr>
          <a:xfrm>
            <a:off x="54864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01</a:t>
            </a:r>
            <a:endParaRPr lang="en-US" sz="1300" dirty="0"/>
          </a:p>
        </p:txBody>
      </p:sp>
      <p:sp>
        <p:nvSpPr>
          <p:cNvPr id="17" name="a1_ln"/>
          <p:cNvSpPr/>
          <p:nvPr/>
        </p:nvSpPr>
        <p:spPr>
          <a:xfrm>
            <a:off x="1207008" y="2340864"/>
            <a:ext cx="809244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18" name="a1_t"/>
          <p:cNvSpPr txBox="1"/>
          <p:nvPr/>
        </p:nvSpPr>
        <p:spPr>
          <a:xfrm>
            <a:off x="548640" y="2834640"/>
            <a:ext cx="131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Сбор данных</a:t>
            </a:r>
            <a:endParaRPr lang="en-US" sz="1300" dirty="0"/>
          </a:p>
        </p:txBody>
      </p:sp>
      <p:sp>
        <p:nvSpPr>
          <p:cNvPr id="19" name="a1_d"/>
          <p:cNvSpPr txBox="1"/>
          <p:nvPr/>
        </p:nvSpPr>
        <p:spPr>
          <a:xfrm>
            <a:off x="548640" y="3246120"/>
            <a:ext cx="13121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Видео, события матча, GPS и пульс</a:t>
            </a:r>
            <a:endParaRPr lang="en-US" sz="1150" dirty="0"/>
          </a:p>
        </p:txBody>
      </p:sp>
      <p:sp>
        <p:nvSpPr>
          <p:cNvPr id="20" name="a2_dot"/>
          <p:cNvSpPr/>
          <p:nvPr/>
        </p:nvSpPr>
        <p:spPr>
          <a:xfrm>
            <a:off x="2107692" y="205740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1" name="a2_num"/>
          <p:cNvSpPr txBox="1"/>
          <p:nvPr/>
        </p:nvSpPr>
        <p:spPr>
          <a:xfrm>
            <a:off x="210769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a2_ln"/>
          <p:cNvSpPr/>
          <p:nvPr/>
        </p:nvSpPr>
        <p:spPr>
          <a:xfrm>
            <a:off x="2766060" y="2340864"/>
            <a:ext cx="809244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23" name="a2_t"/>
          <p:cNvSpPr txBox="1"/>
          <p:nvPr/>
        </p:nvSpPr>
        <p:spPr>
          <a:xfrm>
            <a:off x="2107692" y="2834640"/>
            <a:ext cx="131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Модели</a:t>
            </a:r>
            <a:endParaRPr lang="en-US" sz="1300" dirty="0"/>
          </a:p>
        </p:txBody>
      </p:sp>
      <p:sp>
        <p:nvSpPr>
          <p:cNvPr id="24" name="a2_d"/>
          <p:cNvSpPr txBox="1"/>
          <p:nvPr/>
        </p:nvSpPr>
        <p:spPr>
          <a:xfrm>
            <a:off x="2107692" y="3246120"/>
            <a:ext cx="13121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Ожидаемые голы, нагрузка, риск травм</a:t>
            </a:r>
            <a:endParaRPr lang="en-US" sz="1150" dirty="0"/>
          </a:p>
        </p:txBody>
      </p:sp>
      <p:sp>
        <p:nvSpPr>
          <p:cNvPr id="25" name="a3_dot"/>
          <p:cNvSpPr/>
          <p:nvPr/>
        </p:nvSpPr>
        <p:spPr>
          <a:xfrm>
            <a:off x="3666744" y="205740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6" name="a3_num"/>
          <p:cNvSpPr txBox="1"/>
          <p:nvPr/>
        </p:nvSpPr>
        <p:spPr>
          <a:xfrm>
            <a:off x="3666744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03</a:t>
            </a:r>
            <a:endParaRPr lang="en-US" sz="1300" dirty="0"/>
          </a:p>
        </p:txBody>
      </p:sp>
      <p:sp>
        <p:nvSpPr>
          <p:cNvPr id="27" name="a3_ln"/>
          <p:cNvSpPr/>
          <p:nvPr/>
        </p:nvSpPr>
        <p:spPr>
          <a:xfrm>
            <a:off x="4325112" y="2340864"/>
            <a:ext cx="809244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28" name="a3_t"/>
          <p:cNvSpPr txBox="1"/>
          <p:nvPr/>
        </p:nvSpPr>
        <p:spPr>
          <a:xfrm>
            <a:off x="3666744" y="2834640"/>
            <a:ext cx="131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Скаутинг</a:t>
            </a:r>
            <a:endParaRPr lang="en-US" sz="1300" dirty="0"/>
          </a:p>
        </p:txBody>
      </p:sp>
      <p:sp>
        <p:nvSpPr>
          <p:cNvPr id="29" name="a3_d"/>
          <p:cNvSpPr txBox="1"/>
          <p:nvPr/>
        </p:nvSpPr>
        <p:spPr>
          <a:xfrm>
            <a:off x="3666744" y="3246120"/>
            <a:ext cx="13121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Сравнение и поиск талантов</a:t>
            </a:r>
            <a:endParaRPr lang="en-US" sz="1150" dirty="0"/>
          </a:p>
        </p:txBody>
      </p:sp>
      <p:sp>
        <p:nvSpPr>
          <p:cNvPr id="30" name="a4_dot"/>
          <p:cNvSpPr/>
          <p:nvPr/>
        </p:nvSpPr>
        <p:spPr>
          <a:xfrm>
            <a:off x="5225796" y="205740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31" name="a4_num"/>
          <p:cNvSpPr txBox="1"/>
          <p:nvPr/>
        </p:nvSpPr>
        <p:spPr>
          <a:xfrm>
            <a:off x="522579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a4_t"/>
          <p:cNvSpPr txBox="1"/>
          <p:nvPr/>
        </p:nvSpPr>
        <p:spPr>
          <a:xfrm>
            <a:off x="5225796" y="2834640"/>
            <a:ext cx="131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Решения</a:t>
            </a:r>
            <a:endParaRPr lang="en-US" sz="1300" dirty="0"/>
          </a:p>
        </p:txBody>
      </p:sp>
      <p:sp>
        <p:nvSpPr>
          <p:cNvPr id="33" name="a4_d"/>
          <p:cNvSpPr txBox="1"/>
          <p:nvPr/>
        </p:nvSpPr>
        <p:spPr>
          <a:xfrm>
            <a:off x="5225796" y="3246120"/>
            <a:ext cx="13121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Тренер получает рекомендации</a:t>
            </a:r>
            <a:endParaRPr lang="en-US" sz="1150" dirty="0"/>
          </a:p>
        </p:txBody>
      </p:sp>
      <p:sp>
        <p:nvSpPr>
          <p:cNvPr id="34" name="a5_p"/>
          <p:cNvSpPr/>
          <p:nvPr/>
        </p:nvSpPr>
        <p:spPr>
          <a:xfrm>
            <a:off x="548640" y="420624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777240" y="4370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Принцип работы с данными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777240" y="47091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спортсменов, особенно несовершеннолетних, обрабатываются только с согласия родителей и в соответствии с законодательством о персональных данных. Модели помогают тренеру, но не заменяют его решение.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 animBg="1"/>
      <p:bldP spid="18" grpId="0"/>
      <p:bldP spid="19" grpId="0"/>
      <p:bldP spid="20" grpId="0" animBg="1"/>
      <p:bldP spid="21" grpId="0"/>
      <p:bldP spid="22" grpId="0" animBg="1"/>
      <p:bldP spid="23" grpId="0"/>
      <p:bldP spid="24" grpId="0"/>
      <p:bldP spid="25" grpId="0" animBg="1"/>
      <p:bldP spid="26" grpId="0"/>
      <p:bldP spid="27" grpId="0" animBg="1"/>
      <p:bldP spid="28" grpId="0"/>
      <p:bldP spid="29" grpId="0"/>
      <p:bldP spid="30" grpId="0" animBg="1"/>
      <p:bldP spid="31" grpId="0"/>
      <p:bldP spid="32" grpId="0"/>
      <p:bldP spid="33" grpId="0"/>
      <p:bldP spid="3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AI-продукты и SaaS-модель: повторяющаяся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выручка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IV · ARTIFICIAL INTELLIGENCE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662111" y="274320"/>
            <a:ext cx="298094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B8C1D4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8780983" y="374904"/>
            <a:ext cx="91440" cy="91440"/>
          </a:xfrm>
          <a:prstGeom prst="ellipse">
            <a:avLst/>
          </a:prstGeom>
          <a:solidFill>
            <a:srgbClr val="B8C1D4"/>
          </a:solidFill>
          <a:ln w="12700">
            <a:solidFill>
              <a:srgbClr val="B8C1D4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8899855" y="2743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УПРАВЛЕНЧЕСКАЯ МОДЕЛЬ · ПРОЕКТ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Корпоративная концепция FootureX Uzbekistan. Тарифы, отток и CAC не утверждены — требуется подтверждение.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ARTIFICIAL INTELLIGENCE</a:t>
            </a:r>
            <a:endParaRPr lang="en-US" sz="900" dirty="0"/>
          </a:p>
        </p:txBody>
      </p:sp>
      <p:sp>
        <p:nvSpPr>
          <p:cNvPr id="10" name="a1_c"/>
          <p:cNvSpPr/>
          <p:nvPr/>
        </p:nvSpPr>
        <p:spPr>
          <a:xfrm>
            <a:off x="548640" y="1828800"/>
            <a:ext cx="2240280" cy="4069080"/>
          </a:xfrm>
          <a:prstGeom prst="roundRect">
            <a:avLst>
              <a:gd name="adj" fmla="val 4898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029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Start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468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цена — требуется подтверждение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15468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AI-ассистент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 + веб-виджет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База знаний компании</a:t>
            </a:r>
            <a:endParaRPr lang="en-US" sz="1150" dirty="0"/>
          </a:p>
        </p:txBody>
      </p:sp>
      <p:sp>
        <p:nvSpPr>
          <p:cNvPr id="14" name="a2_c"/>
          <p:cNvSpPr/>
          <p:nvPr/>
        </p:nvSpPr>
        <p:spPr>
          <a:xfrm>
            <a:off x="2944368" y="1828800"/>
            <a:ext cx="2240280" cy="4069080"/>
          </a:xfrm>
          <a:prstGeom prst="roundRect">
            <a:avLst>
              <a:gd name="adj" fmla="val 4898"/>
            </a:avLst>
          </a:prstGeom>
          <a:solidFill>
            <a:srgbClr val="142A70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145536" y="2029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Business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145536" y="2468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цена — требуется подтверждение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3145536" y="315468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Несколько агентов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с CRM/ERP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 и отчёты</a:t>
            </a:r>
            <a:endParaRPr lang="en-US" sz="1150" dirty="0"/>
          </a:p>
        </p:txBody>
      </p:sp>
      <p:sp>
        <p:nvSpPr>
          <p:cNvPr id="18" name="a3_c"/>
          <p:cNvSpPr/>
          <p:nvPr/>
        </p:nvSpPr>
        <p:spPr>
          <a:xfrm>
            <a:off x="5340096" y="1828800"/>
            <a:ext cx="2240280" cy="4069080"/>
          </a:xfrm>
          <a:prstGeom prst="roundRect">
            <a:avLst>
              <a:gd name="adj" fmla="val 4898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41264" y="2029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541264" y="2468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цена — требуется подтверждение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541264" y="315468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Мультиагентный контур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Выделенная среда и SLA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Аудит и контроль доступа</a:t>
            </a:r>
            <a:endParaRPr lang="en-US" sz="1150" dirty="0"/>
          </a:p>
        </p:txBody>
      </p:sp>
      <p:sp>
        <p:nvSpPr>
          <p:cNvPr id="22" name="a4_ue"/>
          <p:cNvSpPr/>
          <p:nvPr/>
        </p:nvSpPr>
        <p:spPr>
          <a:xfrm>
            <a:off x="7863840" y="1828800"/>
            <a:ext cx="3776472" cy="4069080"/>
          </a:xfrm>
          <a:prstGeom prst="roundRect">
            <a:avLst>
              <a:gd name="adj" fmla="val 290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2440" y="1993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Юнит-экономика SaaS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8092440" y="2423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LTV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092440" y="27157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ARPA × маржа / отток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092440" y="3200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LTV / CAC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92440" y="34930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целевое отношение — требуется подтверждение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092440" y="3977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Окупаемость CAC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092440" y="42702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 / (ARPA × маржа)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092440" y="47548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Валовая маржа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092440" y="50474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1 − (инференс + облако + поддержка) / выручка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8" grpId="0" animBg="1"/>
      <p:bldP spid="2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Безопасность, управление данными и AI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Governance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IV · ARTIFICIAL INTELLIGENCE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662111" y="274320"/>
            <a:ext cx="298094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B8C1D4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8780983" y="374904"/>
            <a:ext cx="91440" cy="91440"/>
          </a:xfrm>
          <a:prstGeom prst="ellipse">
            <a:avLst/>
          </a:prstGeom>
          <a:solidFill>
            <a:srgbClr val="B8C1D4"/>
          </a:solidFill>
          <a:ln w="12700">
            <a:solidFill>
              <a:srgbClr val="B8C1D4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8899855" y="2743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УПРАВЛЕНЧЕСКАЯ МОДЕЛЬ · ПРОЕКТ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ARTIFICIAL INTELLIGENCE</a:t>
            </a:r>
            <a:endParaRPr lang="en-US" sz="900" dirty="0"/>
          </a:p>
        </p:txBody>
      </p:sp>
      <p:sp>
        <p:nvSpPr>
          <p:cNvPr id="9" name="a1_card"/>
          <p:cNvSpPr/>
          <p:nvPr/>
        </p:nvSpPr>
        <p:spPr>
          <a:xfrm>
            <a:off x="548640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iconbg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1" name="a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67128"/>
            <a:ext cx="237744" cy="237744"/>
          </a:xfrm>
          <a:prstGeom prst="rect">
            <a:avLst/>
          </a:prstGeom>
        </p:spPr>
      </p:pic>
      <p:sp>
        <p:nvSpPr>
          <p:cNvPr id="12" name="a1_t"/>
          <p:cNvSpPr txBox="1"/>
          <p:nvPr/>
        </p:nvSpPr>
        <p:spPr>
          <a:xfrm>
            <a:off x="1371600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данных</a:t>
            </a:r>
            <a:endParaRPr lang="en-US" sz="1400" dirty="0"/>
          </a:p>
        </p:txBody>
      </p:sp>
      <p:sp>
        <p:nvSpPr>
          <p:cNvPr id="13" name="a1_d"/>
          <p:cNvSpPr txBox="1"/>
          <p:nvPr/>
        </p:nvSpPr>
        <p:spPr>
          <a:xfrm>
            <a:off x="777240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Шифрование, разграничение доступа, хранение персональных данных граждан РУз в соответствии с законом.</a:t>
            </a:r>
            <a:endParaRPr lang="en-US" sz="1250" dirty="0"/>
          </a:p>
        </p:txBody>
      </p:sp>
      <p:sp>
        <p:nvSpPr>
          <p:cNvPr id="14" name="a2_card"/>
          <p:cNvSpPr/>
          <p:nvPr/>
        </p:nvSpPr>
        <p:spPr>
          <a:xfrm>
            <a:off x="4322978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5" name="a2_iconbg"/>
          <p:cNvSpPr/>
          <p:nvPr/>
        </p:nvSpPr>
        <p:spPr>
          <a:xfrm>
            <a:off x="4551578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6" name="a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306" y="2167128"/>
            <a:ext cx="237744" cy="237744"/>
          </a:xfrm>
          <a:prstGeom prst="rect">
            <a:avLst/>
          </a:prstGeom>
        </p:spPr>
      </p:pic>
      <p:sp>
        <p:nvSpPr>
          <p:cNvPr id="17" name="a2_t"/>
          <p:cNvSpPr txBox="1"/>
          <p:nvPr/>
        </p:nvSpPr>
        <p:spPr>
          <a:xfrm>
            <a:off x="5145938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Человек в контуре</a:t>
            </a:r>
            <a:endParaRPr lang="en-US" sz="1400" dirty="0"/>
          </a:p>
        </p:txBody>
      </p:sp>
      <p:sp>
        <p:nvSpPr>
          <p:cNvPr id="18" name="a2_d"/>
          <p:cNvSpPr txBox="1"/>
          <p:nvPr/>
        </p:nvSpPr>
        <p:spPr>
          <a:xfrm>
            <a:off x="4551578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Критичные решения агентов подтверждает ответственный сотрудник.</a:t>
            </a:r>
            <a:endParaRPr lang="en-US" sz="1250" dirty="0"/>
          </a:p>
        </p:txBody>
      </p:sp>
      <p:sp>
        <p:nvSpPr>
          <p:cNvPr id="19" name="a3_card"/>
          <p:cNvSpPr/>
          <p:nvPr/>
        </p:nvSpPr>
        <p:spPr>
          <a:xfrm>
            <a:off x="8097317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0" name="a3_iconbg"/>
          <p:cNvSpPr/>
          <p:nvPr/>
        </p:nvSpPr>
        <p:spPr>
          <a:xfrm>
            <a:off x="8325917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1" name="a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645" y="2167128"/>
            <a:ext cx="237744" cy="237744"/>
          </a:xfrm>
          <a:prstGeom prst="rect">
            <a:avLst/>
          </a:prstGeom>
        </p:spPr>
      </p:pic>
      <p:sp>
        <p:nvSpPr>
          <p:cNvPr id="22" name="a3_t"/>
          <p:cNvSpPr txBox="1"/>
          <p:nvPr/>
        </p:nvSpPr>
        <p:spPr>
          <a:xfrm>
            <a:off x="8920277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Оценка качества</a:t>
            </a:r>
            <a:endParaRPr lang="en-US" sz="1400" dirty="0"/>
          </a:p>
        </p:txBody>
      </p:sp>
      <p:sp>
        <p:nvSpPr>
          <p:cNvPr id="23" name="a3_d"/>
          <p:cNvSpPr txBox="1"/>
          <p:nvPr/>
        </p:nvSpPr>
        <p:spPr>
          <a:xfrm>
            <a:off x="8325917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Тестовые наборы, метрики точности и регрессионные проверки перед выпуском.</a:t>
            </a:r>
            <a:endParaRPr lang="en-US" sz="1250" dirty="0"/>
          </a:p>
        </p:txBody>
      </p:sp>
      <p:sp>
        <p:nvSpPr>
          <p:cNvPr id="24" name="a4_card"/>
          <p:cNvSpPr/>
          <p:nvPr/>
        </p:nvSpPr>
        <p:spPr>
          <a:xfrm>
            <a:off x="548640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5" name="a4_iconbg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6" name="a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361688"/>
            <a:ext cx="237744" cy="237744"/>
          </a:xfrm>
          <a:prstGeom prst="rect">
            <a:avLst/>
          </a:prstGeom>
        </p:spPr>
      </p:pic>
      <p:sp>
        <p:nvSpPr>
          <p:cNvPr id="27" name="a4_t"/>
          <p:cNvSpPr txBox="1"/>
          <p:nvPr/>
        </p:nvSpPr>
        <p:spPr>
          <a:xfrm>
            <a:off x="1371600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Журнал и аудит</a:t>
            </a:r>
            <a:endParaRPr lang="en-US" sz="1400" dirty="0"/>
          </a:p>
        </p:txBody>
      </p:sp>
      <p:sp>
        <p:nvSpPr>
          <p:cNvPr id="28" name="a4_d"/>
          <p:cNvSpPr txBox="1"/>
          <p:nvPr/>
        </p:nvSpPr>
        <p:spPr>
          <a:xfrm>
            <a:off x="777240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Каждое действие агента записывается и доступно для проверки.</a:t>
            </a:r>
            <a:endParaRPr lang="en-US" sz="1250" dirty="0"/>
          </a:p>
        </p:txBody>
      </p:sp>
      <p:sp>
        <p:nvSpPr>
          <p:cNvPr id="29" name="a5_card"/>
          <p:cNvSpPr/>
          <p:nvPr/>
        </p:nvSpPr>
        <p:spPr>
          <a:xfrm>
            <a:off x="4322978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0" name="a5_iconbg"/>
          <p:cNvSpPr/>
          <p:nvPr/>
        </p:nvSpPr>
        <p:spPr>
          <a:xfrm>
            <a:off x="4551578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1" name="a5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306" y="4361688"/>
            <a:ext cx="237744" cy="237744"/>
          </a:xfrm>
          <a:prstGeom prst="rect">
            <a:avLst/>
          </a:prstGeom>
        </p:spPr>
      </p:pic>
      <p:sp>
        <p:nvSpPr>
          <p:cNvPr id="32" name="a5_t"/>
          <p:cNvSpPr txBox="1"/>
          <p:nvPr/>
        </p:nvSpPr>
        <p:spPr>
          <a:xfrm>
            <a:off x="5145938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Этика и прозрачность</a:t>
            </a:r>
            <a:endParaRPr lang="en-US" sz="1400" dirty="0"/>
          </a:p>
        </p:txBody>
      </p:sp>
      <p:sp>
        <p:nvSpPr>
          <p:cNvPr id="33" name="a5_d"/>
          <p:cNvSpPr txBox="1"/>
          <p:nvPr/>
        </p:nvSpPr>
        <p:spPr>
          <a:xfrm>
            <a:off x="4551578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Пользователь знает, что общается с AI; запрет на манипулятивные сценарии.</a:t>
            </a:r>
            <a:endParaRPr lang="en-US" sz="1250" dirty="0"/>
          </a:p>
        </p:txBody>
      </p:sp>
      <p:sp>
        <p:nvSpPr>
          <p:cNvPr id="34" name="a6_card"/>
          <p:cNvSpPr/>
          <p:nvPr/>
        </p:nvSpPr>
        <p:spPr>
          <a:xfrm>
            <a:off x="8097317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5" name="a6_iconbg"/>
          <p:cNvSpPr/>
          <p:nvPr/>
        </p:nvSpPr>
        <p:spPr>
          <a:xfrm>
            <a:off x="8325917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6" name="a6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645" y="4361688"/>
            <a:ext cx="237744" cy="237744"/>
          </a:xfrm>
          <a:prstGeom prst="rect">
            <a:avLst/>
          </a:prstGeom>
        </p:spPr>
      </p:pic>
      <p:sp>
        <p:nvSpPr>
          <p:cNvPr id="37" name="a6_t"/>
          <p:cNvSpPr txBox="1"/>
          <p:nvPr/>
        </p:nvSpPr>
        <p:spPr>
          <a:xfrm>
            <a:off x="8920277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Стандарты</a:t>
            </a:r>
            <a:endParaRPr lang="en-US" sz="1400" dirty="0"/>
          </a:p>
        </p:txBody>
      </p:sp>
      <p:sp>
        <p:nvSpPr>
          <p:cNvPr id="38" name="a6_d"/>
          <p:cNvSpPr txBox="1"/>
          <p:nvPr/>
        </p:nvSpPr>
        <p:spPr>
          <a:xfrm>
            <a:off x="8325917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Ориентир — NIST AI RMF, ISO/IEC 42001 и 27001; сертификация — цель, не текущий статус.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/>
      <p:bldP spid="13" grpId="0"/>
      <p:bldP spid="14" grpId="0" animBg="1"/>
      <p:bldP spid="15" grpId="0" animBg="1"/>
      <p:bldP spid="17" grpId="0"/>
      <p:bldP spid="18" grpId="0"/>
      <p:bldP spid="19" grpId="0" animBg="1"/>
      <p:bldP spid="20" grpId="0" animBg="1"/>
      <p:bldP spid="22" grpId="0"/>
      <p:bldP spid="23" grpId="0"/>
      <p:bldP spid="24" grpId="0" animBg="1"/>
      <p:bldP spid="25" grpId="0" animBg="1"/>
      <p:bldP spid="27" grpId="0"/>
      <p:bldP spid="28" grpId="0"/>
      <p:bldP spid="29" grpId="0" animBg="1"/>
      <p:bldP spid="30" grpId="0" animBg="1"/>
      <p:bldP spid="32" grpId="0"/>
      <p:bldP spid="33" grpId="0"/>
      <p:bldP spid="34" grpId="0" animBg="1"/>
      <p:bldP spid="35" grpId="0" animBg="1"/>
      <p:bldP spid="37" grpId="0"/>
      <p:bldP spid="3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Долгосрочная AI-стратегия: от услуг к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платформе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IV · ARTIFICIAL INTELLIGENCE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591495" y="2743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710367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829239" y="274320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ВИДЕНИЕ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ARTIFICIAL INTELLIGENCE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94415" cy="0"/>
          </a:xfrm>
          <a:prstGeom prst="line">
            <a:avLst/>
          </a:prstGeom>
          <a:noFill/>
          <a:ln w="19050">
            <a:solidFill>
              <a:srgbClr val="273B51"/>
            </a:solidFill>
            <a:prstDash val="solid"/>
          </a:ln>
        </p:spPr>
      </p:sp>
      <p:sp>
        <p:nvSpPr>
          <p:cNvPr id="10" name="a1_d"/>
          <p:cNvSpPr/>
          <p:nvPr/>
        </p:nvSpPr>
        <p:spPr>
          <a:xfrm>
            <a:off x="566928" y="2642616"/>
            <a:ext cx="201168" cy="201168"/>
          </a:xfrm>
          <a:prstGeom prst="ellipse">
            <a:avLst/>
          </a:prstGeom>
          <a:solidFill>
            <a:srgbClr val="2593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1" name="a1_l"/>
          <p:cNvSpPr txBox="1"/>
          <p:nvPr/>
        </p:nvSpPr>
        <p:spPr>
          <a:xfrm>
            <a:off x="548640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1</a:t>
            </a:r>
            <a:endParaRPr lang="en-US" sz="1500" dirty="0"/>
          </a:p>
        </p:txBody>
      </p:sp>
      <p:sp>
        <p:nvSpPr>
          <p:cNvPr id="12" name="a1_t"/>
          <p:cNvSpPr txBox="1"/>
          <p:nvPr/>
        </p:nvSpPr>
        <p:spPr>
          <a:xfrm>
            <a:off x="548640" y="29992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AI-услуги</a:t>
            </a:r>
            <a:endParaRPr lang="en-US" sz="1350" dirty="0"/>
          </a:p>
        </p:txBody>
      </p:sp>
      <p:sp>
        <p:nvSpPr>
          <p:cNvPr id="13" name="a1_x"/>
          <p:cNvSpPr txBox="1"/>
          <p:nvPr/>
        </p:nvSpPr>
        <p:spPr>
          <a:xfrm>
            <a:off x="548640" y="3447288"/>
            <a:ext cx="25907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Проекты внедрения агентов для клиентов IT-направления; накопление отраслевых решений.</a:t>
            </a:r>
            <a:endParaRPr lang="en-US" sz="1250" dirty="0"/>
          </a:p>
        </p:txBody>
      </p:sp>
      <p:sp>
        <p:nvSpPr>
          <p:cNvPr id="14" name="a2_d"/>
          <p:cNvSpPr/>
          <p:nvPr/>
        </p:nvSpPr>
        <p:spPr>
          <a:xfrm>
            <a:off x="3340532" y="2642616"/>
            <a:ext cx="201168" cy="201168"/>
          </a:xfrm>
          <a:prstGeom prst="ellipse">
            <a:avLst/>
          </a:prstGeom>
          <a:solidFill>
            <a:srgbClr val="2550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5" name="a2_l"/>
          <p:cNvSpPr txBox="1"/>
          <p:nvPr/>
        </p:nvSpPr>
        <p:spPr>
          <a:xfrm>
            <a:off x="3322244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50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2</a:t>
            </a:r>
            <a:endParaRPr lang="en-US" sz="1500" dirty="0"/>
          </a:p>
        </p:txBody>
      </p:sp>
      <p:sp>
        <p:nvSpPr>
          <p:cNvPr id="16" name="a2_t"/>
          <p:cNvSpPr txBox="1"/>
          <p:nvPr/>
        </p:nvSpPr>
        <p:spPr>
          <a:xfrm>
            <a:off x="3322244" y="29992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AI-продукты</a:t>
            </a:r>
            <a:endParaRPr lang="en-US" sz="1350" dirty="0"/>
          </a:p>
        </p:txBody>
      </p:sp>
      <p:sp>
        <p:nvSpPr>
          <p:cNvPr id="17" name="a2_x"/>
          <p:cNvSpPr txBox="1"/>
          <p:nvPr/>
        </p:nvSpPr>
        <p:spPr>
          <a:xfrm>
            <a:off x="3322244" y="3447288"/>
            <a:ext cx="25907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Тиражируемые SaaS-ассистенты для МСБ, образования и ритейла.</a:t>
            </a:r>
            <a:endParaRPr lang="en-US" sz="1250" dirty="0"/>
          </a:p>
        </p:txBody>
      </p:sp>
      <p:sp>
        <p:nvSpPr>
          <p:cNvPr id="18" name="a3_d"/>
          <p:cNvSpPr/>
          <p:nvPr/>
        </p:nvSpPr>
        <p:spPr>
          <a:xfrm>
            <a:off x="6114136" y="2642616"/>
            <a:ext cx="201168" cy="201168"/>
          </a:xfrm>
          <a:prstGeom prst="ellipse">
            <a:avLst/>
          </a:prstGeom>
          <a:solidFill>
            <a:srgbClr val="8EB4FF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9" name="a3_l"/>
          <p:cNvSpPr txBox="1"/>
          <p:nvPr/>
        </p:nvSpPr>
        <p:spPr>
          <a:xfrm>
            <a:off x="6095848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4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3</a:t>
            </a:r>
            <a:endParaRPr lang="en-US" sz="1500" dirty="0"/>
          </a:p>
        </p:txBody>
      </p:sp>
      <p:sp>
        <p:nvSpPr>
          <p:cNvPr id="20" name="a3_t"/>
          <p:cNvSpPr txBox="1"/>
          <p:nvPr/>
        </p:nvSpPr>
        <p:spPr>
          <a:xfrm>
            <a:off x="6095848" y="29992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AI-платформа</a:t>
            </a:r>
            <a:endParaRPr lang="en-US" sz="1350" dirty="0"/>
          </a:p>
        </p:txBody>
      </p:sp>
      <p:sp>
        <p:nvSpPr>
          <p:cNvPr id="21" name="a3_x"/>
          <p:cNvSpPr txBox="1"/>
          <p:nvPr/>
        </p:nvSpPr>
        <p:spPr>
          <a:xfrm>
            <a:off x="6095848" y="3447288"/>
            <a:ext cx="25907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Единая платформа агентов FootureX для игры, академии, клиентов и партнёров.</a:t>
            </a:r>
            <a:endParaRPr lang="en-US" sz="1250" dirty="0"/>
          </a:p>
        </p:txBody>
      </p:sp>
      <p:sp>
        <p:nvSpPr>
          <p:cNvPr id="22" name="a4_d"/>
          <p:cNvSpPr/>
          <p:nvPr/>
        </p:nvSpPr>
        <p:spPr>
          <a:xfrm>
            <a:off x="8887739" y="2642616"/>
            <a:ext cx="201168" cy="201168"/>
          </a:xfrm>
          <a:prstGeom prst="ellipse">
            <a:avLst/>
          </a:prstGeom>
          <a:solidFill>
            <a:srgbClr val="8A93A6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23" name="a4_l"/>
          <p:cNvSpPr txBox="1"/>
          <p:nvPr/>
        </p:nvSpPr>
        <p:spPr>
          <a:xfrm>
            <a:off x="8869451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A93A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4</a:t>
            </a:r>
            <a:endParaRPr lang="en-US" sz="1500" dirty="0"/>
          </a:p>
        </p:txBody>
      </p:sp>
      <p:sp>
        <p:nvSpPr>
          <p:cNvPr id="24" name="a4_t"/>
          <p:cNvSpPr txBox="1"/>
          <p:nvPr/>
        </p:nvSpPr>
        <p:spPr>
          <a:xfrm>
            <a:off x="8869451" y="29992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для спорта и города</a:t>
            </a:r>
            <a:endParaRPr lang="en-US" sz="1350" dirty="0"/>
          </a:p>
        </p:txBody>
      </p:sp>
      <p:sp>
        <p:nvSpPr>
          <p:cNvPr id="25" name="a4_x"/>
          <p:cNvSpPr txBox="1"/>
          <p:nvPr/>
        </p:nvSpPr>
        <p:spPr>
          <a:xfrm>
            <a:off x="8869451" y="3447288"/>
            <a:ext cx="25907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Спортивная аналитика, цифровые сервисы стадиона, управление Smart City.</a:t>
            </a:r>
            <a:endParaRPr lang="en-US" sz="1250" dirty="0"/>
          </a:p>
        </p:txBody>
      </p:sp>
      <p:sp>
        <p:nvSpPr>
          <p:cNvPr id="26" name="a5_k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48463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Условие перехода: </a:t>
            </a:r>
            <a:pPr indent="0" marL="0">
              <a:buNone/>
            </a:pPr>
            <a:r>
              <a:rPr lang="en-US" sz="14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следующий этап — после подтверждённого спроса на предыдущем. Целевые показатели (клиенты, проекты, выручка) — требуется подтверждение.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/>
      <p:bldP spid="14" grpId="0" animBg="1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FootureX Game Development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Studio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 · GAME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082735" y="27432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01607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320479" y="27432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РАЗРАБОТКЕ · FOUNDATION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BX-001 Business Plan / Strategic Business Architecture, v0.0.17.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DEVELOPMENT</a:t>
            </a:r>
            <a:endParaRPr lang="en-US" sz="900" dirty="0"/>
          </a:p>
        </p:txBody>
      </p:sp>
      <p:sp>
        <p:nvSpPr>
          <p:cNvPr id="10" name="!!roman"/>
          <p:cNvSpPr txBox="1"/>
          <p:nvPr/>
        </p:nvSpPr>
        <p:spPr>
          <a:xfrm>
            <a:off x="502920" y="17830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V</a:t>
            </a:r>
            <a:endParaRPr lang="en-US" sz="8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154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ИГР</a:t>
            </a:r>
            <a:endParaRPr lang="en-US" sz="1300" dirty="0"/>
          </a:p>
        </p:txBody>
      </p:sp>
      <p:sp>
        <p:nvSpPr>
          <p:cNvPr id="12" name="a1_lead"/>
          <p:cNvSpPr txBox="1"/>
          <p:nvPr/>
        </p:nvSpPr>
        <p:spPr>
          <a:xfrm>
            <a:off x="548640" y="3611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0F3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Миссия игрового проекта — крупнейшая футбольная цифровая экосистема Центральной Азии с дальнейшим выходом на международный рынок.</a:t>
            </a:r>
            <a:endParaRPr lang="en-US" sz="1500" dirty="0"/>
          </a:p>
        </p:txBody>
      </p:sp>
      <p:sp>
        <p:nvSpPr>
          <p:cNvPr id="13" name="a2_v"/>
          <p:cNvSpPr txBox="1"/>
          <p:nvPr/>
        </p:nvSpPr>
        <p:spPr>
          <a:xfrm>
            <a:off x="548640" y="49377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10–12</a:t>
            </a:r>
            <a:endParaRPr lang="en-US" sz="2000" dirty="0"/>
          </a:p>
        </p:txBody>
      </p:sp>
      <p:sp>
        <p:nvSpPr>
          <p:cNvPr id="14" name="a2_l"/>
          <p:cNvSpPr txBox="1"/>
          <p:nvPr/>
        </p:nvSpPr>
        <p:spPr>
          <a:xfrm>
            <a:off x="548640" y="5349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лет · горизонт стратегии</a:t>
            </a:r>
            <a:endParaRPr lang="en-US" sz="1050" dirty="0"/>
          </a:p>
        </p:txBody>
      </p:sp>
      <p:sp>
        <p:nvSpPr>
          <p:cNvPr id="15" name="a3_v"/>
          <p:cNvSpPr txBox="1"/>
          <p:nvPr/>
        </p:nvSpPr>
        <p:spPr>
          <a:xfrm>
            <a:off x="2194560" y="49377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Telegram</a:t>
            </a:r>
            <a:endParaRPr lang="en-US" sz="1400" dirty="0"/>
          </a:p>
        </p:txBody>
      </p:sp>
      <p:sp>
        <p:nvSpPr>
          <p:cNvPr id="16" name="a3_l"/>
          <p:cNvSpPr txBox="1"/>
          <p:nvPr/>
        </p:nvSpPr>
        <p:spPr>
          <a:xfrm>
            <a:off x="2194560" y="5349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платформа запуска</a:t>
            </a:r>
            <a:endParaRPr lang="en-US" sz="1050" dirty="0"/>
          </a:p>
        </p:txBody>
      </p:sp>
      <p:sp>
        <p:nvSpPr>
          <p:cNvPr id="17" name="a4_v"/>
          <p:cNvSpPr txBox="1"/>
          <p:nvPr/>
        </p:nvSpPr>
        <p:spPr>
          <a:xfrm>
            <a:off x="3840480" y="49377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8" name="a4_l"/>
          <p:cNvSpPr txBox="1"/>
          <p:nvPr/>
        </p:nvSpPr>
        <p:spPr>
          <a:xfrm>
            <a:off x="3840480" y="5349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текущий этап</a:t>
            </a:r>
            <a:endParaRPr lang="en-US" sz="1050" dirty="0"/>
          </a:p>
        </p:txBody>
      </p:sp>
      <p:pic>
        <p:nvPicPr>
          <p:cNvPr id="19" name="!!phoneA" descr="/home/user/footurex-main/presentation/assets/ui/game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783080"/>
            <a:ext cx="1965960" cy="4114800"/>
          </a:xfrm>
          <a:prstGeom prst="rect">
            <a:avLst/>
          </a:prstGeom>
        </p:spPr>
      </p:pic>
      <p:pic>
        <p:nvPicPr>
          <p:cNvPr id="20" name="!!phoneB" descr="/home/user/footurex-main/presentation/assets/ui/game-squ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554480"/>
            <a:ext cx="2162556" cy="4526280"/>
          </a:xfrm>
          <a:prstGeom prst="rect">
            <a:avLst/>
          </a:prstGeom>
        </p:spPr>
      </p:pic>
      <p:pic>
        <p:nvPicPr>
          <p:cNvPr id="21" name="!!phoneC" descr="/home/user/footurex-main/presentation/assets/ui/game-play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783080"/>
            <a:ext cx="1965960" cy="41148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716975" y="59436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 интерфейса · демо-данные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Концепция студии: архитектура экосистемы FootureX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Game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 · GAME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176358" y="27432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95230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414102" y="274320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BX-001 Business Plan / Strategic Business Architecture, v0.0.17.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DEVELOPMENT</a:t>
            </a:r>
            <a:endParaRPr lang="en-US" sz="900" dirty="0"/>
          </a:p>
        </p:txBody>
      </p:sp>
      <p:sp>
        <p:nvSpPr>
          <p:cNvPr id="10" name="a1_c0"/>
          <p:cNvSpPr/>
          <p:nvPr/>
        </p:nvSpPr>
        <p:spPr>
          <a:xfrm>
            <a:off x="548640" y="1828800"/>
            <a:ext cx="2615184" cy="1261872"/>
          </a:xfrm>
          <a:prstGeom prst="roundRect">
            <a:avLst>
              <a:gd name="adj" fmla="val 8696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11" name="a1_i0bg"/>
          <p:cNvSpPr/>
          <p:nvPr/>
        </p:nvSpPr>
        <p:spPr>
          <a:xfrm>
            <a:off x="713232" y="1993392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2" name="a1_i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182" y="2094342"/>
            <a:ext cx="218724" cy="2187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43584" y="19751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Game Core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243584" y="225856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базовый gameplay и симуляция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13232" y="276148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6" name="a1_c1"/>
          <p:cNvSpPr/>
          <p:nvPr/>
        </p:nvSpPr>
        <p:spPr>
          <a:xfrm>
            <a:off x="3374136" y="1828800"/>
            <a:ext cx="2615184" cy="1261872"/>
          </a:xfrm>
          <a:prstGeom prst="roundRect">
            <a:avLst>
              <a:gd name="adj" fmla="val 8696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17" name="a1_i1bg"/>
          <p:cNvSpPr/>
          <p:nvPr/>
        </p:nvSpPr>
        <p:spPr>
          <a:xfrm>
            <a:off x="3538728" y="1993392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8" name="a1_i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678" y="2094342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069080" y="19751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Telegram Ecosystem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069080" y="225856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запуск, вход, уведомления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3538728" y="276148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22" name="a1_c2"/>
          <p:cNvSpPr/>
          <p:nvPr/>
        </p:nvSpPr>
        <p:spPr>
          <a:xfrm>
            <a:off x="6199632" y="1828800"/>
            <a:ext cx="2615184" cy="1261872"/>
          </a:xfrm>
          <a:prstGeom prst="roundRect">
            <a:avLst>
              <a:gd name="adj" fmla="val 8696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23" name="a1_i2bg"/>
          <p:cNvSpPr/>
          <p:nvPr/>
        </p:nvSpPr>
        <p:spPr>
          <a:xfrm>
            <a:off x="6364224" y="1993392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4" name="a1_i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174" y="2094342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894576" y="19751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Economy System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6894576" y="225856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Coins, FTXcoin, баланс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6364224" y="276148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28" name="a1_c3"/>
          <p:cNvSpPr/>
          <p:nvPr/>
        </p:nvSpPr>
        <p:spPr>
          <a:xfrm>
            <a:off x="9025128" y="1828800"/>
            <a:ext cx="2615184" cy="1261872"/>
          </a:xfrm>
          <a:prstGeom prst="roundRect">
            <a:avLst>
              <a:gd name="adj" fmla="val 8696"/>
            </a:avLst>
          </a:prstGeom>
          <a:solidFill>
            <a:srgbClr val="0E1629"/>
          </a:solidFill>
          <a:ln w="9525">
            <a:solidFill>
              <a:srgbClr val="142A70"/>
            </a:solidFill>
            <a:prstDash val="solid"/>
          </a:ln>
        </p:spPr>
      </p:sp>
      <p:sp>
        <p:nvSpPr>
          <p:cNvPr id="29" name="a1_i3bg"/>
          <p:cNvSpPr/>
          <p:nvPr/>
        </p:nvSpPr>
        <p:spPr>
          <a:xfrm>
            <a:off x="9189720" y="1993392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0" name="a1_i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670" y="2094342"/>
            <a:ext cx="218724" cy="21872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20072" y="197510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League System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9720072" y="225856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системные и пользовательские лиги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9189720" y="276148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Expansion</a:t>
            </a:r>
            <a:endParaRPr lang="en-US" sz="900" dirty="0"/>
          </a:p>
        </p:txBody>
      </p:sp>
      <p:sp>
        <p:nvSpPr>
          <p:cNvPr id="34" name="a2_c4"/>
          <p:cNvSpPr/>
          <p:nvPr/>
        </p:nvSpPr>
        <p:spPr>
          <a:xfrm>
            <a:off x="548640" y="3246120"/>
            <a:ext cx="2615184" cy="1261872"/>
          </a:xfrm>
          <a:prstGeom prst="roundRect">
            <a:avLst>
              <a:gd name="adj" fmla="val 8696"/>
            </a:avLst>
          </a:prstGeom>
          <a:solidFill>
            <a:srgbClr val="0E1629"/>
          </a:solidFill>
          <a:ln w="9525">
            <a:solidFill>
              <a:srgbClr val="142A70"/>
            </a:solidFill>
            <a:prstDash val="solid"/>
          </a:ln>
        </p:spPr>
      </p:sp>
      <p:sp>
        <p:nvSpPr>
          <p:cNvPr id="35" name="a2_i4bg"/>
          <p:cNvSpPr/>
          <p:nvPr/>
        </p:nvSpPr>
        <p:spPr>
          <a:xfrm>
            <a:off x="713232" y="3410712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6" name="a2_i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182" y="3511662"/>
            <a:ext cx="218724" cy="21872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243584" y="339242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Marketplace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1243584" y="367588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контролируемый рынок активов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713232" y="417880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Expansion</a:t>
            </a:r>
            <a:endParaRPr lang="en-US" sz="900" dirty="0"/>
          </a:p>
        </p:txBody>
      </p:sp>
      <p:sp>
        <p:nvSpPr>
          <p:cNvPr id="40" name="a2_c5"/>
          <p:cNvSpPr/>
          <p:nvPr/>
        </p:nvSpPr>
        <p:spPr>
          <a:xfrm>
            <a:off x="3374136" y="3246120"/>
            <a:ext cx="2615184" cy="1261872"/>
          </a:xfrm>
          <a:prstGeom prst="roundRect">
            <a:avLst>
              <a:gd name="adj" fmla="val 8696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41" name="a2_i5bg"/>
          <p:cNvSpPr/>
          <p:nvPr/>
        </p:nvSpPr>
        <p:spPr>
          <a:xfrm>
            <a:off x="3538728" y="3410712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42" name="a2_i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678" y="3511662"/>
            <a:ext cx="218724" cy="21872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4069080" y="339242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Progression</a:t>
            </a:r>
            <a:endParaRPr lang="en-US" sz="1250" dirty="0"/>
          </a:p>
        </p:txBody>
      </p:sp>
      <p:sp>
        <p:nvSpPr>
          <p:cNvPr id="44" name="Text 35"/>
          <p:cNvSpPr txBox="1"/>
          <p:nvPr/>
        </p:nvSpPr>
        <p:spPr>
          <a:xfrm>
            <a:off x="4069080" y="367588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тренировки, матчи, Evolution</a:t>
            </a:r>
            <a:endParaRPr lang="en-US" sz="1050" dirty="0"/>
          </a:p>
        </p:txBody>
      </p:sp>
      <p:sp>
        <p:nvSpPr>
          <p:cNvPr id="45" name="Text 36"/>
          <p:cNvSpPr txBox="1"/>
          <p:nvPr/>
        </p:nvSpPr>
        <p:spPr>
          <a:xfrm>
            <a:off x="3538728" y="417880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46" name="a2_c6"/>
          <p:cNvSpPr/>
          <p:nvPr/>
        </p:nvSpPr>
        <p:spPr>
          <a:xfrm>
            <a:off x="6199632" y="3246120"/>
            <a:ext cx="2615184" cy="1261872"/>
          </a:xfrm>
          <a:prstGeom prst="roundRect">
            <a:avLst>
              <a:gd name="adj" fmla="val 8696"/>
            </a:avLst>
          </a:prstGeom>
          <a:solidFill>
            <a:srgbClr val="0E1629"/>
          </a:solidFill>
          <a:ln w="9525">
            <a:solidFill>
              <a:srgbClr val="142A70"/>
            </a:solidFill>
            <a:prstDash val="solid"/>
          </a:ln>
        </p:spPr>
      </p:sp>
      <p:sp>
        <p:nvSpPr>
          <p:cNvPr id="47" name="a2_i6bg"/>
          <p:cNvSpPr/>
          <p:nvPr/>
        </p:nvSpPr>
        <p:spPr>
          <a:xfrm>
            <a:off x="6364224" y="3410712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48" name="a2_i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5174" y="3511662"/>
            <a:ext cx="218724" cy="218724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6894576" y="339242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Social Layer</a:t>
            </a:r>
            <a:endParaRPr lang="en-US" sz="1250" dirty="0"/>
          </a:p>
        </p:txBody>
      </p:sp>
      <p:sp>
        <p:nvSpPr>
          <p:cNvPr id="50" name="Text 40"/>
          <p:cNvSpPr txBox="1"/>
          <p:nvPr/>
        </p:nvSpPr>
        <p:spPr>
          <a:xfrm>
            <a:off x="6894576" y="367588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друзья, клубы, чат, лидерборды</a:t>
            </a:r>
            <a:endParaRPr lang="en-US" sz="1050" dirty="0"/>
          </a:p>
        </p:txBody>
      </p:sp>
      <p:sp>
        <p:nvSpPr>
          <p:cNvPr id="51" name="Text 41"/>
          <p:cNvSpPr txBox="1"/>
          <p:nvPr/>
        </p:nvSpPr>
        <p:spPr>
          <a:xfrm>
            <a:off x="6364224" y="417880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Expansion</a:t>
            </a:r>
            <a:endParaRPr lang="en-US" sz="900" dirty="0"/>
          </a:p>
        </p:txBody>
      </p:sp>
      <p:sp>
        <p:nvSpPr>
          <p:cNvPr id="52" name="a2_c7"/>
          <p:cNvSpPr/>
          <p:nvPr/>
        </p:nvSpPr>
        <p:spPr>
          <a:xfrm>
            <a:off x="9025128" y="3246120"/>
            <a:ext cx="2615184" cy="1261872"/>
          </a:xfrm>
          <a:prstGeom prst="roundRect">
            <a:avLst>
              <a:gd name="adj" fmla="val 8696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3" name="a2_i7bg"/>
          <p:cNvSpPr/>
          <p:nvPr/>
        </p:nvSpPr>
        <p:spPr>
          <a:xfrm>
            <a:off x="9189720" y="3410712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54" name="a2_i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670" y="3511662"/>
            <a:ext cx="218724" cy="218724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9720072" y="339242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Battle Pass</a:t>
            </a:r>
            <a:endParaRPr lang="en-US" sz="1250" dirty="0"/>
          </a:p>
        </p:txBody>
      </p:sp>
      <p:sp>
        <p:nvSpPr>
          <p:cNvPr id="56" name="Text 45"/>
          <p:cNvSpPr txBox="1"/>
          <p:nvPr/>
        </p:nvSpPr>
        <p:spPr>
          <a:xfrm>
            <a:off x="9720072" y="367588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сезоны 14 дней, 100 уровней</a:t>
            </a:r>
            <a:endParaRPr lang="en-US" sz="1050" dirty="0"/>
          </a:p>
        </p:txBody>
      </p:sp>
      <p:sp>
        <p:nvSpPr>
          <p:cNvPr id="57" name="Text 46"/>
          <p:cNvSpPr txBox="1"/>
          <p:nvPr/>
        </p:nvSpPr>
        <p:spPr>
          <a:xfrm>
            <a:off x="9189720" y="417880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58" name="a3_c8"/>
          <p:cNvSpPr/>
          <p:nvPr/>
        </p:nvSpPr>
        <p:spPr>
          <a:xfrm>
            <a:off x="548640" y="4663440"/>
            <a:ext cx="2615184" cy="1261872"/>
          </a:xfrm>
          <a:prstGeom prst="roundRect">
            <a:avLst>
              <a:gd name="adj" fmla="val 8696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9" name="a3_i8bg"/>
          <p:cNvSpPr/>
          <p:nvPr/>
        </p:nvSpPr>
        <p:spPr>
          <a:xfrm>
            <a:off x="713232" y="4828032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60" name="a3_i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182" y="4928982"/>
            <a:ext cx="218724" cy="218724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1243584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LiveOps</a:t>
            </a:r>
            <a:endParaRPr lang="en-US" sz="1250" dirty="0"/>
          </a:p>
        </p:txBody>
      </p:sp>
      <p:sp>
        <p:nvSpPr>
          <p:cNvPr id="62" name="Text 50"/>
          <p:cNvSpPr txBox="1"/>
          <p:nvPr/>
        </p:nvSpPr>
        <p:spPr>
          <a:xfrm>
            <a:off x="1243584" y="509320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события, сезоны, аналитика</a:t>
            </a:r>
            <a:endParaRPr lang="en-US" sz="1050" dirty="0"/>
          </a:p>
        </p:txBody>
      </p:sp>
      <p:sp>
        <p:nvSpPr>
          <p:cNvPr id="63" name="Text 51"/>
          <p:cNvSpPr txBox="1"/>
          <p:nvPr/>
        </p:nvSpPr>
        <p:spPr>
          <a:xfrm>
            <a:off x="713232" y="559612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64" name="a3_c9"/>
          <p:cNvSpPr/>
          <p:nvPr/>
        </p:nvSpPr>
        <p:spPr>
          <a:xfrm>
            <a:off x="3374136" y="4663440"/>
            <a:ext cx="2615184" cy="1261872"/>
          </a:xfrm>
          <a:prstGeom prst="roundRect">
            <a:avLst>
              <a:gd name="adj" fmla="val 8696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65" name="a3_i9bg"/>
          <p:cNvSpPr/>
          <p:nvPr/>
        </p:nvSpPr>
        <p:spPr>
          <a:xfrm>
            <a:off x="3538728" y="4828032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66" name="a3_i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9678" y="4928982"/>
            <a:ext cx="218724" cy="218724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4069080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Platform</a:t>
            </a:r>
            <a:endParaRPr lang="en-US" sz="1250" dirty="0"/>
          </a:p>
        </p:txBody>
      </p:sp>
      <p:sp>
        <p:nvSpPr>
          <p:cNvPr id="68" name="Text 55"/>
          <p:cNvSpPr txBox="1"/>
          <p:nvPr/>
        </p:nvSpPr>
        <p:spPr>
          <a:xfrm>
            <a:off x="4069080" y="509320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сайт — вход в экосистему</a:t>
            </a:r>
            <a:endParaRPr lang="en-US" sz="1050" dirty="0"/>
          </a:p>
        </p:txBody>
      </p:sp>
      <p:sp>
        <p:nvSpPr>
          <p:cNvPr id="69" name="Text 56"/>
          <p:cNvSpPr txBox="1"/>
          <p:nvPr/>
        </p:nvSpPr>
        <p:spPr>
          <a:xfrm>
            <a:off x="3538728" y="559612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 · MVP</a:t>
            </a:r>
            <a:endParaRPr lang="en-US" sz="900" dirty="0"/>
          </a:p>
        </p:txBody>
      </p:sp>
      <p:sp>
        <p:nvSpPr>
          <p:cNvPr id="70" name="a3_c10"/>
          <p:cNvSpPr/>
          <p:nvPr/>
        </p:nvSpPr>
        <p:spPr>
          <a:xfrm>
            <a:off x="6199632" y="4663440"/>
            <a:ext cx="2615184" cy="1261872"/>
          </a:xfrm>
          <a:prstGeom prst="roundRect">
            <a:avLst>
              <a:gd name="adj" fmla="val 8696"/>
            </a:avLst>
          </a:prstGeom>
          <a:solidFill>
            <a:srgbClr val="0E1629"/>
          </a:solidFill>
          <a:ln w="9525">
            <a:solidFill>
              <a:srgbClr val="142A70"/>
            </a:solidFill>
            <a:prstDash val="solid"/>
          </a:ln>
        </p:spPr>
      </p:sp>
      <p:sp>
        <p:nvSpPr>
          <p:cNvPr id="71" name="a3_i10bg"/>
          <p:cNvSpPr/>
          <p:nvPr/>
        </p:nvSpPr>
        <p:spPr>
          <a:xfrm>
            <a:off x="6364224" y="4828032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72" name="a3_i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5174" y="4928982"/>
            <a:ext cx="218724" cy="218724"/>
          </a:xfrm>
          <a:prstGeom prst="rect">
            <a:avLst/>
          </a:prstGeom>
        </p:spPr>
      </p:pic>
      <p:sp>
        <p:nvSpPr>
          <p:cNvPr id="73" name="Text 59"/>
          <p:cNvSpPr txBox="1"/>
          <p:nvPr/>
        </p:nvSpPr>
        <p:spPr>
          <a:xfrm>
            <a:off x="6894576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 Direction</a:t>
            </a:r>
            <a:endParaRPr lang="en-US" sz="1250" dirty="0"/>
          </a:p>
        </p:txBody>
      </p:sp>
      <p:sp>
        <p:nvSpPr>
          <p:cNvPr id="74" name="Text 60"/>
          <p:cNvSpPr txBox="1"/>
          <p:nvPr/>
        </p:nvSpPr>
        <p:spPr>
          <a:xfrm>
            <a:off x="6894576" y="509320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контент и медиа</a:t>
            </a:r>
            <a:endParaRPr lang="en-US" sz="1050" dirty="0"/>
          </a:p>
        </p:txBody>
      </p:sp>
      <p:sp>
        <p:nvSpPr>
          <p:cNvPr id="75" name="Text 61"/>
          <p:cNvSpPr txBox="1"/>
          <p:nvPr/>
        </p:nvSpPr>
        <p:spPr>
          <a:xfrm>
            <a:off x="6364224" y="559612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Expansion</a:t>
            </a:r>
            <a:endParaRPr lang="en-US" sz="900" dirty="0"/>
          </a:p>
        </p:txBody>
      </p:sp>
      <p:sp>
        <p:nvSpPr>
          <p:cNvPr id="76" name="a3_c11"/>
          <p:cNvSpPr/>
          <p:nvPr/>
        </p:nvSpPr>
        <p:spPr>
          <a:xfrm>
            <a:off x="9025128" y="4663440"/>
            <a:ext cx="2615184" cy="1261872"/>
          </a:xfrm>
          <a:prstGeom prst="roundRect">
            <a:avLst>
              <a:gd name="adj" fmla="val 869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77" name="a3_i11bg"/>
          <p:cNvSpPr/>
          <p:nvPr/>
        </p:nvSpPr>
        <p:spPr>
          <a:xfrm>
            <a:off x="9189720" y="4828032"/>
            <a:ext cx="420624" cy="420624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78" name="a3_i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0670" y="4928982"/>
            <a:ext cx="218724" cy="218724"/>
          </a:xfrm>
          <a:prstGeom prst="rect">
            <a:avLst/>
          </a:prstGeom>
        </p:spPr>
      </p:pic>
      <p:sp>
        <p:nvSpPr>
          <p:cNvPr id="79" name="Text 64"/>
          <p:cNvSpPr txBox="1"/>
          <p:nvPr/>
        </p:nvSpPr>
        <p:spPr>
          <a:xfrm>
            <a:off x="9720072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Blockchain</a:t>
            </a:r>
            <a:endParaRPr lang="en-US" sz="1250" dirty="0"/>
          </a:p>
        </p:txBody>
      </p:sp>
      <p:sp>
        <p:nvSpPr>
          <p:cNvPr id="80" name="Text 65"/>
          <p:cNvSpPr txBox="1"/>
          <p:nvPr/>
        </p:nvSpPr>
        <p:spPr>
          <a:xfrm>
            <a:off x="9720072" y="509320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TON, цифровое владение</a:t>
            </a:r>
            <a:endParaRPr lang="en-US" sz="1050" dirty="0"/>
          </a:p>
        </p:txBody>
      </p:sp>
      <p:sp>
        <p:nvSpPr>
          <p:cNvPr id="81" name="Text 66"/>
          <p:cNvSpPr txBox="1"/>
          <p:nvPr/>
        </p:nvSpPr>
        <p:spPr>
          <a:xfrm>
            <a:off x="9189720" y="559612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После подтверждения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6" grpId="0" animBg="1"/>
      <p:bldP spid="17" grpId="0" animBg="1"/>
      <p:bldP spid="22" grpId="0" animBg="1"/>
      <p:bldP spid="23" grpId="0" animBg="1"/>
      <p:bldP spid="28" grpId="0" animBg="1"/>
      <p:bldP spid="29" grpId="0" animBg="1"/>
      <p:bldP spid="34" grpId="0" animBg="1"/>
      <p:bldP spid="35" grpId="0" animBg="1"/>
      <p:bldP spid="40" grpId="0" animBg="1"/>
      <p:bldP spid="41" grpId="0" animBg="1"/>
      <p:bldP spid="46" grpId="0" animBg="1"/>
      <p:bldP spid="47" grpId="0" animBg="1"/>
      <p:bldP spid="52" grpId="0" animBg="1"/>
      <p:bldP spid="53" grpId="0" animBg="1"/>
      <p:bldP spid="58" grpId="0" animBg="1"/>
      <p:bldP spid="59" grpId="0" animBg="1"/>
      <p:bldP spid="64" grpId="0" animBg="1"/>
      <p:bldP spid="65" grpId="0" animBg="1"/>
      <p:bldP spid="70" grpId="0" animBg="1"/>
      <p:bldP spid="71" grpId="0" animBg="1"/>
      <p:bldP spid="76" grpId="0" animBg="1"/>
      <p:bldP spid="7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Продуктовая стратегия: цели, модель, аудитория,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география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 · GAME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176358" y="27432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95230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414102" y="274320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BX-001 Business Plan / Strategic Business Architecture, v0.0.17.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DEVELOPMENT</a:t>
            </a:r>
            <a:endParaRPr lang="en-US" sz="900" dirty="0"/>
          </a:p>
        </p:txBody>
      </p:sp>
      <p:sp>
        <p:nvSpPr>
          <p:cNvPr id="10" name="a1_c"/>
          <p:cNvSpPr/>
          <p:nvPr/>
        </p:nvSpPr>
        <p:spPr>
          <a:xfrm>
            <a:off x="548640" y="1828800"/>
            <a:ext cx="3108960" cy="4069080"/>
          </a:xfrm>
          <a:prstGeom prst="roundRect">
            <a:avLst>
              <a:gd name="adj" fmla="val 3529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Цели BX-001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377440"/>
            <a:ext cx="2743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Узнаваемая интеллектуальная собственность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Устойчивая игровая экономика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Инфраструктура киберспорта и лиг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реальных спортивных проектов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Платформа развития молодёжи и футбольных талантов</a:t>
            </a:r>
            <a:endParaRPr lang="en-US" sz="1150" dirty="0"/>
          </a:p>
        </p:txBody>
      </p:sp>
      <p:sp>
        <p:nvSpPr>
          <p:cNvPr id="13" name="a2_c"/>
          <p:cNvSpPr/>
          <p:nvPr/>
        </p:nvSpPr>
        <p:spPr>
          <a:xfrm>
            <a:off x="3840480" y="1828800"/>
            <a:ext cx="2514600" cy="4069080"/>
          </a:xfrm>
          <a:prstGeom prst="roundRect">
            <a:avLst>
              <a:gd name="adj" fmla="val 436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41648" y="19659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Бизнес-модель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041648" y="2377440"/>
            <a:ext cx="2148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Freemium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Service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Seasonal Economy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Controlled Marketplace</a:t>
            </a:r>
            <a:endParaRPr lang="en-US" sz="1150" dirty="0"/>
          </a:p>
        </p:txBody>
      </p:sp>
      <p:sp>
        <p:nvSpPr>
          <p:cNvPr id="16" name="a3_c"/>
          <p:cNvSpPr/>
          <p:nvPr/>
        </p:nvSpPr>
        <p:spPr>
          <a:xfrm>
            <a:off x="6537960" y="1828800"/>
            <a:ext cx="5102352" cy="2331720"/>
          </a:xfrm>
          <a:prstGeom prst="roundRect">
            <a:avLst>
              <a:gd name="adj" fmla="val 470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39128" y="1965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Целевая аудитория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739128" y="23957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12–17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882128" y="24323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школьники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9162288" y="23957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18–24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0305288" y="24323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студенты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739128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16–30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882128" y="32369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football gamers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9162288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15–35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0305288" y="32369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пользователи Telegram</a:t>
            </a:r>
            <a:endParaRPr lang="en-US" sz="1150" dirty="0"/>
          </a:p>
        </p:txBody>
      </p:sp>
      <p:sp>
        <p:nvSpPr>
          <p:cNvPr id="26" name="a4_c"/>
          <p:cNvSpPr/>
          <p:nvPr/>
        </p:nvSpPr>
        <p:spPr>
          <a:xfrm>
            <a:off x="6537960" y="4343400"/>
            <a:ext cx="5102352" cy="1554480"/>
          </a:xfrm>
          <a:prstGeom prst="roundRect">
            <a:avLst>
              <a:gd name="adj" fmla="val 7059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39128" y="4480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География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739128" y="498348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42A70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739128" y="49834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Ташкент и Узбекистан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229600" y="5212080"/>
            <a:ext cx="100584" cy="0"/>
          </a:xfrm>
          <a:prstGeom prst="line">
            <a:avLst/>
          </a:prstGeom>
          <a:noFill/>
          <a:ln w="15875">
            <a:solidFill>
              <a:srgbClr val="2593FA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339328" y="498348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39328" y="49834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СНГ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9829800" y="5212080"/>
            <a:ext cx="100584" cy="0"/>
          </a:xfrm>
          <a:prstGeom prst="line">
            <a:avLst/>
          </a:prstGeom>
          <a:noFill/>
          <a:ln w="15875">
            <a:solidFill>
              <a:srgbClr val="2593FA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9939528" y="498348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939528" y="49834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Международный рынок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6" grpId="0" animBg="1"/>
      <p:bldP spid="2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Football Manager — основной игровой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продукт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 · GAME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176358" y="27432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95230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414102" y="274320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BX-004 Game System Design, v0.0.19.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DEVELOPMENT</a:t>
            </a:r>
            <a:endParaRPr lang="en-US" sz="900" dirty="0"/>
          </a:p>
        </p:txBody>
      </p:sp>
      <p:pic>
        <p:nvPicPr>
          <p:cNvPr id="10" name="!!phoneA" descr="/home/user/footurex-main/presentation/assets/ui/game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987804" cy="41605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58704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 интерфейса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788920" y="1828800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142A70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788920" y="182880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Football Manager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10912" y="1828800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142A70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010912" y="182880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Ecosystem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232904" y="1828800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142A70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232904" y="182880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Progression Platform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9454896" y="1828800"/>
            <a:ext cx="2130552" cy="384048"/>
          </a:xfrm>
          <a:prstGeom prst="roundRect">
            <a:avLst>
              <a:gd name="adj" fmla="val 50000"/>
            </a:avLst>
          </a:prstGeom>
          <a:solidFill>
            <a:srgbClr val="142A70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454896" y="182880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Football Universe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749040" y="2743200"/>
            <a:ext cx="7040880" cy="2834640"/>
          </a:xfrm>
          <a:prstGeom prst="ellipse">
            <a:avLst/>
          </a:prstGeom>
          <a:ln w="12700">
            <a:solidFill>
              <a:srgbClr val="273B51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17220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REPEAT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5806440" y="4233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игровой цикл · BX-004</a:t>
            </a:r>
            <a:endParaRPr lang="en-US" sz="1000" dirty="0"/>
          </a:p>
        </p:txBody>
      </p:sp>
      <p:sp>
        <p:nvSpPr>
          <p:cNvPr id="23" name="a1_l"/>
          <p:cNvSpPr/>
          <p:nvPr/>
        </p:nvSpPr>
        <p:spPr>
          <a:xfrm>
            <a:off x="6528816" y="254203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24" name="a1_t"/>
          <p:cNvSpPr txBox="1"/>
          <p:nvPr/>
        </p:nvSpPr>
        <p:spPr>
          <a:xfrm>
            <a:off x="6528816" y="254203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Login</a:t>
            </a:r>
            <a:endParaRPr lang="en-US" sz="950" dirty="0"/>
          </a:p>
        </p:txBody>
      </p:sp>
      <p:sp>
        <p:nvSpPr>
          <p:cNvPr id="25" name="a2_l"/>
          <p:cNvSpPr/>
          <p:nvPr/>
        </p:nvSpPr>
        <p:spPr>
          <a:xfrm>
            <a:off x="8598079" y="2812716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26" name="a2_t"/>
          <p:cNvSpPr txBox="1"/>
          <p:nvPr/>
        </p:nvSpPr>
        <p:spPr>
          <a:xfrm>
            <a:off x="8598079" y="281271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Daily Systems</a:t>
            </a:r>
            <a:endParaRPr lang="en-US" sz="950" dirty="0"/>
          </a:p>
        </p:txBody>
      </p:sp>
      <p:sp>
        <p:nvSpPr>
          <p:cNvPr id="27" name="a3_l"/>
          <p:cNvSpPr/>
          <p:nvPr/>
        </p:nvSpPr>
        <p:spPr>
          <a:xfrm>
            <a:off x="9876953" y="3521376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28" name="a3_t"/>
          <p:cNvSpPr txBox="1"/>
          <p:nvPr/>
        </p:nvSpPr>
        <p:spPr>
          <a:xfrm>
            <a:off x="9876953" y="352137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Training</a:t>
            </a:r>
            <a:endParaRPr lang="en-US" sz="950" dirty="0"/>
          </a:p>
        </p:txBody>
      </p:sp>
      <p:sp>
        <p:nvSpPr>
          <p:cNvPr id="29" name="a4_l"/>
          <p:cNvSpPr/>
          <p:nvPr/>
        </p:nvSpPr>
        <p:spPr>
          <a:xfrm>
            <a:off x="9876953" y="4397328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30" name="a4_t"/>
          <p:cNvSpPr txBox="1"/>
          <p:nvPr/>
        </p:nvSpPr>
        <p:spPr>
          <a:xfrm>
            <a:off x="9876953" y="43973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Squad Management</a:t>
            </a:r>
            <a:endParaRPr lang="en-US" sz="950" dirty="0"/>
          </a:p>
        </p:txBody>
      </p:sp>
      <p:sp>
        <p:nvSpPr>
          <p:cNvPr id="31" name="a5_l"/>
          <p:cNvSpPr/>
          <p:nvPr/>
        </p:nvSpPr>
        <p:spPr>
          <a:xfrm>
            <a:off x="8598079" y="5105988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32" name="a5_t"/>
          <p:cNvSpPr txBox="1"/>
          <p:nvPr/>
        </p:nvSpPr>
        <p:spPr>
          <a:xfrm>
            <a:off x="8598079" y="510598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Matches</a:t>
            </a:r>
            <a:endParaRPr lang="en-US" sz="950" dirty="0"/>
          </a:p>
        </p:txBody>
      </p:sp>
      <p:sp>
        <p:nvSpPr>
          <p:cNvPr id="33" name="a6_l"/>
          <p:cNvSpPr/>
          <p:nvPr/>
        </p:nvSpPr>
        <p:spPr>
          <a:xfrm>
            <a:off x="6528816" y="537667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34" name="a6_t"/>
          <p:cNvSpPr txBox="1"/>
          <p:nvPr/>
        </p:nvSpPr>
        <p:spPr>
          <a:xfrm>
            <a:off x="6528816" y="537667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Rewards</a:t>
            </a:r>
            <a:endParaRPr lang="en-US" sz="950" dirty="0"/>
          </a:p>
        </p:txBody>
      </p:sp>
      <p:sp>
        <p:nvSpPr>
          <p:cNvPr id="35" name="a7_l"/>
          <p:cNvSpPr/>
          <p:nvPr/>
        </p:nvSpPr>
        <p:spPr>
          <a:xfrm>
            <a:off x="4459553" y="5105988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36" name="a7_t"/>
          <p:cNvSpPr txBox="1"/>
          <p:nvPr/>
        </p:nvSpPr>
        <p:spPr>
          <a:xfrm>
            <a:off x="4459553" y="510598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 Progression</a:t>
            </a:r>
            <a:endParaRPr lang="en-US" sz="950" dirty="0"/>
          </a:p>
        </p:txBody>
      </p:sp>
      <p:sp>
        <p:nvSpPr>
          <p:cNvPr id="37" name="a8_l"/>
          <p:cNvSpPr/>
          <p:nvPr/>
        </p:nvSpPr>
        <p:spPr>
          <a:xfrm>
            <a:off x="3180679" y="4397328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38" name="a8_t"/>
          <p:cNvSpPr txBox="1"/>
          <p:nvPr/>
        </p:nvSpPr>
        <p:spPr>
          <a:xfrm>
            <a:off x="3180679" y="43973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8. Marketplace</a:t>
            </a:r>
            <a:endParaRPr lang="en-US" sz="950" dirty="0"/>
          </a:p>
        </p:txBody>
      </p:sp>
      <p:sp>
        <p:nvSpPr>
          <p:cNvPr id="39" name="a9_l"/>
          <p:cNvSpPr/>
          <p:nvPr/>
        </p:nvSpPr>
        <p:spPr>
          <a:xfrm>
            <a:off x="3180679" y="3521376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40" name="a9_t"/>
          <p:cNvSpPr txBox="1"/>
          <p:nvPr/>
        </p:nvSpPr>
        <p:spPr>
          <a:xfrm>
            <a:off x="3180679" y="352137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9. Events</a:t>
            </a:r>
            <a:endParaRPr lang="en-US" sz="950" dirty="0"/>
          </a:p>
        </p:txBody>
      </p:sp>
      <p:sp>
        <p:nvSpPr>
          <p:cNvPr id="41" name="a10_l"/>
          <p:cNvSpPr/>
          <p:nvPr/>
        </p:nvSpPr>
        <p:spPr>
          <a:xfrm>
            <a:off x="4459553" y="2812716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42" name="a10_t"/>
          <p:cNvSpPr txBox="1"/>
          <p:nvPr/>
        </p:nvSpPr>
        <p:spPr>
          <a:xfrm>
            <a:off x="4459553" y="281271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10. League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/>
      <p:bldP spid="39" grpId="0" animBg="1"/>
      <p:bldP spid="40" grpId="0"/>
      <p:bldP spid="41" grpId="0" animBg="1"/>
      <p:bldP spid="4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Архитектура игрового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приложения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 · GAME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176358" y="27432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95230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414102" y="274320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BX-005 Technical Architecture, v0.0.79; BX-007 Telegram Web App Architecture, v0.1.21.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DEVELOPMENT</a:t>
            </a:r>
            <a:endParaRPr lang="en-US" sz="900" dirty="0"/>
          </a:p>
        </p:txBody>
      </p:sp>
      <p:sp>
        <p:nvSpPr>
          <p:cNvPr id="10" name="a1_bg"/>
          <p:cNvSpPr/>
          <p:nvPr/>
        </p:nvSpPr>
        <p:spPr>
          <a:xfrm>
            <a:off x="548640" y="1783080"/>
            <a:ext cx="11094415" cy="512064"/>
          </a:xfrm>
          <a:prstGeom prst="roundRect">
            <a:avLst>
              <a:gd name="adj" fmla="val 21429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1" name="a1_lb"/>
          <p:cNvSpPr/>
          <p:nvPr/>
        </p:nvSpPr>
        <p:spPr>
          <a:xfrm>
            <a:off x="640080" y="1874520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12" name="a1_lt"/>
          <p:cNvSpPr txBox="1"/>
          <p:nvPr/>
        </p:nvSpPr>
        <p:spPr>
          <a:xfrm>
            <a:off x="749808" y="1874520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 (BX-007)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971800" y="1911096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44952" y="1911096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 Bot · шлюз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144186" y="1911096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17338" y="1911096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App · интерфейс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316572" y="1911096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89724" y="1911096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Links · рефералы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488957" y="1911096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562109" y="1911096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Уведомления</a:t>
            </a:r>
            <a:endParaRPr lang="en-US" sz="1050" dirty="0"/>
          </a:p>
        </p:txBody>
      </p:sp>
      <p:sp>
        <p:nvSpPr>
          <p:cNvPr id="21" name="a2_bg"/>
          <p:cNvSpPr/>
          <p:nvPr/>
        </p:nvSpPr>
        <p:spPr>
          <a:xfrm>
            <a:off x="548640" y="2368296"/>
            <a:ext cx="11094415" cy="512064"/>
          </a:xfrm>
          <a:prstGeom prst="roundRect">
            <a:avLst>
              <a:gd name="adj" fmla="val 21429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2" name="a2_lb"/>
          <p:cNvSpPr/>
          <p:nvPr/>
        </p:nvSpPr>
        <p:spPr>
          <a:xfrm>
            <a:off x="640080" y="2459736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23" name="a2_lt"/>
          <p:cNvSpPr txBox="1"/>
          <p:nvPr/>
        </p:nvSpPr>
        <p:spPr>
          <a:xfrm>
            <a:off x="749808" y="2459736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Вход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2971800" y="2496312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044952" y="2496312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144186" y="2496312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217338" y="2496312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 Layer · JWT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316572" y="2496312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89724" y="2496312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Rate Limiting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488957" y="2496312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562109" y="2496312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Versioning</a:t>
            </a:r>
            <a:endParaRPr lang="en-US" sz="1050" dirty="0"/>
          </a:p>
        </p:txBody>
      </p:sp>
      <p:sp>
        <p:nvSpPr>
          <p:cNvPr id="32" name="a3_bg"/>
          <p:cNvSpPr/>
          <p:nvPr/>
        </p:nvSpPr>
        <p:spPr>
          <a:xfrm>
            <a:off x="548640" y="2953512"/>
            <a:ext cx="11094415" cy="512064"/>
          </a:xfrm>
          <a:prstGeom prst="roundRect">
            <a:avLst>
              <a:gd name="adj" fmla="val 21429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3" name="a3_lb"/>
          <p:cNvSpPr/>
          <p:nvPr/>
        </p:nvSpPr>
        <p:spPr>
          <a:xfrm>
            <a:off x="640080" y="3044952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34" name="a3_lt"/>
          <p:cNvSpPr txBox="1"/>
          <p:nvPr/>
        </p:nvSpPr>
        <p:spPr>
          <a:xfrm>
            <a:off x="749808" y="3044952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Services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2971800" y="3081528"/>
            <a:ext cx="1628181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044952" y="3081528"/>
            <a:ext cx="14818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 · User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709709" y="3081528"/>
            <a:ext cx="1628181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782861" y="3081528"/>
            <a:ext cx="14818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 · League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447617" y="3081528"/>
            <a:ext cx="1628181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520769" y="3081528"/>
            <a:ext cx="14818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Economy · Marketplace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185526" y="3081528"/>
            <a:ext cx="1628181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58678" y="3081528"/>
            <a:ext cx="14818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9923435" y="3081528"/>
            <a:ext cx="1628181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996587" y="3081528"/>
            <a:ext cx="14818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 · LiveOps</a:t>
            </a:r>
            <a:endParaRPr lang="en-US" sz="1050" dirty="0"/>
          </a:p>
        </p:txBody>
      </p:sp>
      <p:sp>
        <p:nvSpPr>
          <p:cNvPr id="45" name="a4_bg"/>
          <p:cNvSpPr/>
          <p:nvPr/>
        </p:nvSpPr>
        <p:spPr>
          <a:xfrm>
            <a:off x="548640" y="3538728"/>
            <a:ext cx="11094415" cy="512064"/>
          </a:xfrm>
          <a:prstGeom prst="roundRect">
            <a:avLst>
              <a:gd name="adj" fmla="val 21429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46" name="a4_lb"/>
          <p:cNvSpPr/>
          <p:nvPr/>
        </p:nvSpPr>
        <p:spPr>
          <a:xfrm>
            <a:off x="640080" y="3630168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47" name="a4_lt"/>
          <p:cNvSpPr txBox="1"/>
          <p:nvPr/>
        </p:nvSpPr>
        <p:spPr>
          <a:xfrm>
            <a:off x="749808" y="3630168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2971800" y="3666744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3044952" y="3666744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 · экономика, матчи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5144186" y="3666744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217338" y="3666744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Redis · сессии, очереди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7316572" y="3666744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389724" y="3666744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RabbitMQ / Kafka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9488957" y="3666744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562109" y="3666744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WebSocket Gateway</a:t>
            </a:r>
            <a:endParaRPr lang="en-US" sz="1050" dirty="0"/>
          </a:p>
        </p:txBody>
      </p:sp>
      <p:sp>
        <p:nvSpPr>
          <p:cNvPr id="56" name="a5_bg"/>
          <p:cNvSpPr/>
          <p:nvPr/>
        </p:nvSpPr>
        <p:spPr>
          <a:xfrm>
            <a:off x="548640" y="4123944"/>
            <a:ext cx="11094415" cy="512064"/>
          </a:xfrm>
          <a:prstGeom prst="roundRect">
            <a:avLst>
              <a:gd name="adj" fmla="val 21429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57" name="a5_lb"/>
          <p:cNvSpPr/>
          <p:nvPr/>
        </p:nvSpPr>
        <p:spPr>
          <a:xfrm>
            <a:off x="640080" y="4215384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58" name="a5_lt"/>
          <p:cNvSpPr txBox="1"/>
          <p:nvPr/>
        </p:nvSpPr>
        <p:spPr>
          <a:xfrm>
            <a:off x="749808" y="4215384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 Pipeline</a:t>
            </a:r>
            <a:endParaRPr lang="en-US" sz="1250" dirty="0"/>
          </a:p>
        </p:txBody>
      </p:sp>
      <p:sp>
        <p:nvSpPr>
          <p:cNvPr id="59" name="Shape 56"/>
          <p:cNvSpPr/>
          <p:nvPr/>
        </p:nvSpPr>
        <p:spPr>
          <a:xfrm>
            <a:off x="2971800" y="4251960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3044952" y="4251960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Queue → Matchmaking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5144186" y="4251960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217338" y="4251960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 → Simulation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7316572" y="4251960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7389724" y="4251960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→ Storage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9488957" y="4251960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9562109" y="4251960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Rewards</a:t>
            </a:r>
            <a:endParaRPr lang="en-US" sz="1050" dirty="0"/>
          </a:p>
        </p:txBody>
      </p:sp>
      <p:sp>
        <p:nvSpPr>
          <p:cNvPr id="67" name="a6_bg"/>
          <p:cNvSpPr/>
          <p:nvPr/>
        </p:nvSpPr>
        <p:spPr>
          <a:xfrm>
            <a:off x="548640" y="4709160"/>
            <a:ext cx="11094415" cy="512064"/>
          </a:xfrm>
          <a:prstGeom prst="roundRect">
            <a:avLst>
              <a:gd name="adj" fmla="val 21429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68" name="a6_lb"/>
          <p:cNvSpPr/>
          <p:nvPr/>
        </p:nvSpPr>
        <p:spPr>
          <a:xfrm>
            <a:off x="640080" y="4800600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69" name="a6_lt"/>
          <p:cNvSpPr txBox="1"/>
          <p:nvPr/>
        </p:nvSpPr>
        <p:spPr>
          <a:xfrm>
            <a:off x="749808" y="4800600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Эксплуатация</a:t>
            </a:r>
            <a:endParaRPr lang="en-US" sz="1250" dirty="0"/>
          </a:p>
        </p:txBody>
      </p:sp>
      <p:sp>
        <p:nvSpPr>
          <p:cNvPr id="70" name="Shape 67"/>
          <p:cNvSpPr/>
          <p:nvPr/>
        </p:nvSpPr>
        <p:spPr>
          <a:xfrm>
            <a:off x="2971800" y="4837176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3044952" y="4837176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Docker · оркестрация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5144186" y="4837176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5217338" y="4837176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7316572" y="4837176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389724" y="4837176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Резервное копирование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9488957" y="4837176"/>
            <a:ext cx="2062658" cy="25603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9562109" y="4837176"/>
            <a:ext cx="1916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Аудит и антифрод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Принципы BX-005: Scalability · Modularity · Security First · API-Driven · Observability · Fault Tolerance · критическая логика — на сервере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21" grpId="0" animBg="1"/>
      <p:bldP spid="22" grpId="0" animBg="1"/>
      <p:bldP spid="23" grpId="0"/>
      <p:bldP spid="32" grpId="0" animBg="1"/>
      <p:bldP spid="33" grpId="0" animBg="1"/>
      <p:bldP spid="34" grpId="0"/>
      <p:bldP spid="45" grpId="0" animBg="1"/>
      <p:bldP spid="46" grpId="0" animBg="1"/>
      <p:bldP spid="47" grpId="0"/>
      <p:bldP spid="56" grpId="0" animBg="1"/>
      <p:bldP spid="57" grpId="0" animBg="1"/>
      <p:bldP spid="58" grpId="0"/>
      <p:bldP spid="67" grpId="0" animBg="1"/>
      <p:bldP spid="68" grpId="0" animBg="1"/>
      <p:bldP spid="6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Создание команды и управление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составом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 · GAME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176358" y="27432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95230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414102" y="274320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BX-004 Game System Design, v0.0.19.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DEVELOPMENT</a:t>
            </a:r>
            <a:endParaRPr lang="en-US" sz="900" dirty="0"/>
          </a:p>
        </p:txBody>
      </p:sp>
      <p:pic>
        <p:nvPicPr>
          <p:cNvPr id="10" name="!!phoneA" descr="/home/user/footurex-main/presentation/assets/ui/game-squ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91640"/>
            <a:ext cx="1987804" cy="41605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80960" y="59893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 · имена вымышлены</a:t>
            </a:r>
            <a:endParaRPr lang="en-US" sz="850" dirty="0"/>
          </a:p>
        </p:txBody>
      </p:sp>
      <p:sp>
        <p:nvSpPr>
          <p:cNvPr id="12" name="a1_c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49808" y="1965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59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Squad System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749808" y="2359152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Основной состав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Резерв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Молодёжный состав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Тактические настройки</a:t>
            </a:r>
            <a:endParaRPr lang="en-US" sz="1150" dirty="0"/>
          </a:p>
        </p:txBody>
      </p:sp>
      <p:sp>
        <p:nvSpPr>
          <p:cNvPr id="15" name="a2_c"/>
          <p:cNvSpPr/>
          <p:nvPr/>
        </p:nvSpPr>
        <p:spPr>
          <a:xfrm>
            <a:off x="4251960" y="18288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453128" y="1965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59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Tactical System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4453128" y="2359152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Formation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Pressing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Defensive Line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Attack Focus</a:t>
            </a:r>
            <a:endParaRPr lang="en-US" sz="1150" dirty="0"/>
          </a:p>
        </p:txBody>
      </p:sp>
      <p:sp>
        <p:nvSpPr>
          <p:cNvPr id="18" name="a3_c"/>
          <p:cNvSpPr/>
          <p:nvPr/>
        </p:nvSpPr>
        <p:spPr>
          <a:xfrm>
            <a:off x="548640" y="3913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49808" y="4050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59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Chemistry System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749808" y="4443984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Лига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Страна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Клубные связи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Специальные комбинации</a:t>
            </a:r>
            <a:endParaRPr lang="en-US" sz="1150" dirty="0"/>
          </a:p>
        </p:txBody>
      </p:sp>
      <p:sp>
        <p:nvSpPr>
          <p:cNvPr id="21" name="a4_c"/>
          <p:cNvSpPr/>
          <p:nvPr/>
        </p:nvSpPr>
        <p:spPr>
          <a:xfrm>
            <a:off x="4251960" y="3913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453128" y="4050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59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Player Identity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4453128" y="4443984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Level · Reputation · Rank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Club History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Achievements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Seasonal Stats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8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Развитие футболистов и игровые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характеристики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 · GAME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176358" y="27432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95230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414102" y="274320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BX-004 Game System Design, v0.0.19. Редкость — BX-013 v1.0.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DEVELOPMENT</a:t>
            </a:r>
            <a:endParaRPr lang="en-US" sz="900" dirty="0"/>
          </a:p>
        </p:txBody>
      </p:sp>
      <p:pic>
        <p:nvPicPr>
          <p:cNvPr id="10" name="!!phoneA" descr="/home/user/footurex-main/presentation/assets/ui/game-p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987804" cy="41605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58704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 · имена вымышлены</a:t>
            </a:r>
            <a:endParaRPr lang="en-US" sz="850" dirty="0"/>
          </a:p>
        </p:txBody>
      </p:sp>
      <p:sp>
        <p:nvSpPr>
          <p:cNvPr id="12" name="a1_c"/>
          <p:cNvSpPr/>
          <p:nvPr/>
        </p:nvSpPr>
        <p:spPr>
          <a:xfrm>
            <a:off x="2788920" y="1828800"/>
            <a:ext cx="4206240" cy="2148840"/>
          </a:xfrm>
          <a:prstGeom prst="roundRect">
            <a:avLst>
              <a:gd name="adj" fmla="val 510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990088" y="1947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Характеристики · 8 открытых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2990088" y="235915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990088" y="235915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Pace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959352" y="235915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959352" y="235915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Shooting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928616" y="235915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928616" y="235915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Passing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897880" y="235915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897880" y="235915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Dribbling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990088" y="2743200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2990088" y="274320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Defense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959352" y="2743200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959352" y="274320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Physical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4928616" y="2743200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928616" y="274320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Stamina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897880" y="2743200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897880" y="274320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</a:t>
            </a:r>
            <a:endParaRPr lang="en-US" sz="850" dirty="0"/>
          </a:p>
        </p:txBody>
      </p:sp>
      <p:sp>
        <p:nvSpPr>
          <p:cNvPr id="30" name="Text 26"/>
          <p:cNvSpPr txBox="1"/>
          <p:nvPr/>
        </p:nvSpPr>
        <p:spPr>
          <a:xfrm>
            <a:off x="2990088" y="3200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Скрытые: Mentality · Consistency · Pressure Resistance · Chemistry Adaptation · Injury Resistance</a:t>
            </a:r>
            <a:endParaRPr lang="en-US" sz="1050" dirty="0"/>
          </a:p>
        </p:txBody>
      </p:sp>
      <p:sp>
        <p:nvSpPr>
          <p:cNvPr id="31" name="a2_c"/>
          <p:cNvSpPr/>
          <p:nvPr/>
        </p:nvSpPr>
        <p:spPr>
          <a:xfrm>
            <a:off x="2788920" y="411480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2990088" y="4233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Progression System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2990088" y="459943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Тренировки и матчи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Специальные тренеры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Игровые события</a:t>
            </a:r>
            <a:endParaRPr lang="en-US" sz="11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Evolution System</a:t>
            </a:r>
            <a:endParaRPr lang="en-US" sz="1150" dirty="0"/>
          </a:p>
        </p:txBody>
      </p:sp>
      <p:sp>
        <p:nvSpPr>
          <p:cNvPr id="34" name="a3_c"/>
          <p:cNvSpPr/>
          <p:nvPr/>
        </p:nvSpPr>
        <p:spPr>
          <a:xfrm>
            <a:off x="7178040" y="1828800"/>
            <a:ext cx="4462272" cy="4069080"/>
          </a:xfrm>
          <a:prstGeom prst="roundRect">
            <a:avLst>
              <a:gd name="adj" fmla="val 2697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379208" y="1947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Редкость: расхождение версий</a:t>
            </a:r>
            <a:endParaRPr lang="en-US" sz="1250" dirty="0"/>
          </a:p>
        </p:txBody>
      </p:sp>
      <p:sp>
        <p:nvSpPr>
          <p:cNvPr id="36" name="Text 32"/>
          <p:cNvSpPr txBox="1"/>
          <p:nvPr/>
        </p:nvSpPr>
        <p:spPr>
          <a:xfrm>
            <a:off x="7379208" y="23317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BX-004 · v0.0.19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7379208" y="2578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 · Rare · Elite · Legendary · Iconic</a:t>
            </a:r>
            <a:endParaRPr lang="en-US" sz="1150" dirty="0"/>
          </a:p>
        </p:txBody>
      </p:sp>
      <p:sp>
        <p:nvSpPr>
          <p:cNvPr id="38" name="Text 34"/>
          <p:cNvSpPr txBox="1"/>
          <p:nvPr/>
        </p:nvSpPr>
        <p:spPr>
          <a:xfrm>
            <a:off x="7379208" y="3017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BX-013 · v1.0 · утверждено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379208" y="3310128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273B51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452360" y="3310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7379208" y="3639312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273B51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7452360" y="3639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Uncommon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7379208" y="3968496"/>
            <a:ext cx="2057400" cy="256032"/>
          </a:xfrm>
          <a:prstGeom prst="roundRect">
            <a:avLst>
              <a:gd name="adj" fmla="val 21429"/>
            </a:avLst>
          </a:prstGeom>
          <a:solidFill>
            <a:srgbClr val="142A70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7452360" y="39684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Rare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7379208" y="4297680"/>
            <a:ext cx="2514600" cy="256032"/>
          </a:xfrm>
          <a:prstGeom prst="roundRect">
            <a:avLst>
              <a:gd name="adj" fmla="val 21429"/>
            </a:avLst>
          </a:prstGeom>
          <a:solidFill>
            <a:srgbClr val="142A70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7452360" y="4297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Epic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7379208" y="4626864"/>
            <a:ext cx="2971800" cy="256032"/>
          </a:xfrm>
          <a:prstGeom prst="roundRect">
            <a:avLst>
              <a:gd name="adj" fmla="val 21429"/>
            </a:avLst>
          </a:prstGeom>
          <a:solidFill>
            <a:srgbClr val="2550FA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7452360" y="4626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Legendary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7379208" y="4956048"/>
            <a:ext cx="3429000" cy="256032"/>
          </a:xfrm>
          <a:prstGeom prst="roundRect">
            <a:avLst>
              <a:gd name="adj" fmla="val 21429"/>
            </a:avLst>
          </a:prstGeom>
          <a:solidFill>
            <a:srgbClr val="2550FA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7452360" y="4956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Immortal</a:t>
            </a:r>
            <a:endParaRPr lang="en-US" sz="950" dirty="0"/>
          </a:p>
        </p:txBody>
      </p:sp>
      <p:sp>
        <p:nvSpPr>
          <p:cNvPr id="51" name="Text 47"/>
          <p:cNvSpPr txBox="1"/>
          <p:nvPr/>
        </p:nvSpPr>
        <p:spPr>
          <a:xfrm>
            <a:off x="7379208" y="5349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Elite — отдельная сезонная/премиальная категория. Применяется BX-013; BX-004 требует обновления.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1" grpId="0" animBg="1"/>
      <p:bldP spid="3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Лиги, PvP и турниры: соревновательная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структура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 · GAME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176358" y="27432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95230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414102" y="274320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BX-004 Game System Design, v0.0.19. Цены лиг и взносы — BX-013 v1.0.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DEVELOPMENT</a:t>
            </a:r>
            <a:endParaRPr lang="en-US" sz="900" dirty="0"/>
          </a:p>
        </p:txBody>
      </p:sp>
      <p:pic>
        <p:nvPicPr>
          <p:cNvPr id="10" name="!!phoneA" descr="/home/user/footurex-main/presentation/assets/ui/game-leag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91640"/>
            <a:ext cx="1987804" cy="41605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0" y="59893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 интерфейса</a:t>
            </a:r>
            <a:endParaRPr lang="en-US" sz="850" dirty="0"/>
          </a:p>
        </p:txBody>
      </p:sp>
      <p:sp>
        <p:nvSpPr>
          <p:cNvPr id="12" name="a1_c"/>
          <p:cNvSpPr/>
          <p:nvPr/>
        </p:nvSpPr>
        <p:spPr>
          <a:xfrm>
            <a:off x="548640" y="1828800"/>
            <a:ext cx="3794760" cy="1874520"/>
          </a:xfrm>
          <a:prstGeom prst="roundRect">
            <a:avLst>
              <a:gd name="adj" fmla="val 585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49808" y="1947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Типы матчей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49808" y="233172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9808" y="23317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Match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441448" y="233172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441448" y="23317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Ranked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49808" y="2734056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49808" y="273405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Tournament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441448" y="2734056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441448" y="273405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League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49808" y="313639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49808" y="31363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Friendly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441448" y="313639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441448" y="31363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 Match</a:t>
            </a:r>
            <a:endParaRPr lang="en-US" sz="900" dirty="0"/>
          </a:p>
        </p:txBody>
      </p:sp>
      <p:sp>
        <p:nvSpPr>
          <p:cNvPr id="26" name="a2_c"/>
          <p:cNvSpPr/>
          <p:nvPr/>
        </p:nvSpPr>
        <p:spPr>
          <a:xfrm>
            <a:off x="4526280" y="1828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727448" y="1947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Типы лиг · PvP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4727448" y="2286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 · Private · Competitive · Sponsored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4727448" y="27889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Матчмейкинг: ранг, сила команды, скрытый MMR, поведение, регион задержки</a:t>
            </a:r>
            <a:endParaRPr lang="en-US" sz="1050" dirty="0"/>
          </a:p>
        </p:txBody>
      </p:sp>
      <p:graphicFrame>
        <p:nvGraphicFramePr>
          <p:cNvPr id="49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7498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55448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Лига (BX-013)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Создание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Взнос / 7 дней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Создателю · фонд · казна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Системная (ранги 19–100)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бесплатно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Fan League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69 FTXcoin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 FTXcoin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 · 2 · 1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 League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109 FTXcoin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 FTXcoin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 · 3 · 2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Master League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149 FTXcoin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 FTXcoin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 · 5 · 2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31" name="Text 26"/>
          <p:cNvSpPr txBox="1"/>
          <p:nvPr/>
        </p:nvSpPr>
        <p:spPr>
          <a:xfrm>
            <a:off x="548640" y="55961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 места до лимита 48 — 20 FTXcoin · взносы — оборот внутриигровой валюты, не выручка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Внутриигровая экономика: валюты отдельно от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выручки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 · GAME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176358" y="27432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95230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414102" y="274320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BX-003 Economy Design Document, v0.1.01; BX-013 Approved Services Catalog, v1.0 (июнь 2026). Терминология — FootureX Brand Book v1.0.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DEVELOPMENT</a:t>
            </a:r>
            <a:endParaRPr lang="en-US" sz="900" dirty="0"/>
          </a:p>
        </p:txBody>
      </p:sp>
      <p:graphicFrame>
        <p:nvGraphicFramePr>
          <p:cNvPr id="50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452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783080"/>
                <a:gridCol w="2880360"/>
                <a:gridCol w="11887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Валюта / механизм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Тип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Роль в экосистеме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Документ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Coins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мягкая внутриигровая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улучшения, контракты, покупки, восстановление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BX-003, BX-013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FTXcoin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премиальная, без листинга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наборы, лиги, создание игроков; не выводится в деньги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BX-013 · брендбук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Telegram Stars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платёжный механизм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Premium Pass, премиум-функции, косметика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BX-003, BX-013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TON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внешний механизм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платежи; будущие blockchain-операции и цифровое владение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BX-003, BX-013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FOOTX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внешний токен (поздний этап)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перспектива; рыночная стоимость, листинг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BX-013 · брендбук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</a:tbl>
          </a:graphicData>
        </a:graphic>
      </p:graphicFrame>
      <p:sp>
        <p:nvSpPr>
          <p:cNvPr id="11" name="a2_c"/>
          <p:cNvSpPr/>
          <p:nvPr/>
        </p:nvSpPr>
        <p:spPr>
          <a:xfrm>
            <a:off x="548640" y="4617720"/>
            <a:ext cx="7452360" cy="1280160"/>
          </a:xfrm>
          <a:prstGeom prst="roundRect">
            <a:avLst>
              <a:gd name="adj" fmla="val 857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9808" y="47091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Coins: источники → сток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50292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Матчи · ежедневные награды · задания · достижения · сезоны · события  →  Upgrades · Contracts · League Participation · Crafting · Repair · Reroll</a:t>
            </a:r>
            <a:endParaRPr lang="en-US" sz="1050" dirty="0"/>
          </a:p>
        </p:txBody>
      </p:sp>
      <p:sp>
        <p:nvSpPr>
          <p:cNvPr id="14" name="a3_c"/>
          <p:cNvSpPr/>
          <p:nvPr/>
        </p:nvSpPr>
        <p:spPr>
          <a:xfrm>
            <a:off x="8183880" y="1828800"/>
            <a:ext cx="3456432" cy="2148840"/>
          </a:xfrm>
          <a:prstGeom prst="roundRect">
            <a:avLst>
              <a:gd name="adj" fmla="val 510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385048" y="1947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Принципы BX-003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85048" y="2313432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эмиссии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Баланс источников и расходов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гиперинфляции и чрезмерного pay-to-win</a:t>
            </a:r>
            <a:endParaRPr lang="en-US" sz="105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ценности прогресса</a:t>
            </a:r>
            <a:endParaRPr lang="en-US" sz="1050" dirty="0"/>
          </a:p>
        </p:txBody>
      </p:sp>
      <p:sp>
        <p:nvSpPr>
          <p:cNvPr id="17" name="a4_c"/>
          <p:cNvSpPr/>
          <p:nvPr/>
        </p:nvSpPr>
        <p:spPr>
          <a:xfrm>
            <a:off x="8183880" y="4114800"/>
            <a:ext cx="3456432" cy="1783080"/>
          </a:xfrm>
          <a:prstGeom prst="roundRect">
            <a:avLst>
              <a:gd name="adj" fmla="val 6154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385048" y="4224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Требует единой редакции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385048" y="4553712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Роль FTXcoin различается в BX-003, BX-013 и брендбуке (премиальная валюта / управление, стейкинг, призовые). Stars и TON: валюта или платёжный механизм.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Marketplace и цифровые активы: контролируемый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рынок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 · GAME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176358" y="27432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95230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414102" y="274320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BX-013 Approved Services Catalog, v1.0 (июнь 2026) — заменяет цены BX-010. Blockchain — BX-003, BX-008.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DEVELOPMENT</a:t>
            </a:r>
            <a:endParaRPr lang="en-US" sz="900" dirty="0"/>
          </a:p>
        </p:txBody>
      </p:sp>
      <p:pic>
        <p:nvPicPr>
          <p:cNvPr id="10" name="!!phoneA" descr="/home/user/footurex-main/presentation/assets/ui/game-mar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987804" cy="41605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58704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 · имена вымышлены</a:t>
            </a:r>
            <a:endParaRPr lang="en-US" sz="850" dirty="0"/>
          </a:p>
        </p:txBody>
      </p:sp>
      <p:sp>
        <p:nvSpPr>
          <p:cNvPr id="12" name="a1_c"/>
          <p:cNvSpPr/>
          <p:nvPr/>
        </p:nvSpPr>
        <p:spPr>
          <a:xfrm>
            <a:off x="2788920" y="1828800"/>
            <a:ext cx="2788920" cy="1508760"/>
          </a:xfrm>
          <a:prstGeom prst="roundRect">
            <a:avLst>
              <a:gd name="adj" fmla="val 7273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971800" y="1938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50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Revenue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71800" y="23774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Реальные денежные поступления через Telegram Stars / TON</a:t>
            </a:r>
            <a:endParaRPr lang="en-US" sz="1100" dirty="0"/>
          </a:p>
        </p:txBody>
      </p:sp>
      <p:sp>
        <p:nvSpPr>
          <p:cNvPr id="15" name="a2_c"/>
          <p:cNvSpPr/>
          <p:nvPr/>
        </p:nvSpPr>
        <p:spPr>
          <a:xfrm>
            <a:off x="5760720" y="1828800"/>
            <a:ext cx="2788920" cy="1508760"/>
          </a:xfrm>
          <a:prstGeom prst="roundRect">
            <a:avLst>
              <a:gd name="adj" fmla="val 7273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43600" y="1938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Sink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943600" y="23774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Расход внутренней валюты — сам по себе не выручка</a:t>
            </a:r>
            <a:endParaRPr lang="en-US" sz="1100" dirty="0"/>
          </a:p>
        </p:txBody>
      </p:sp>
      <p:sp>
        <p:nvSpPr>
          <p:cNvPr id="18" name="a3_c"/>
          <p:cNvSpPr/>
          <p:nvPr/>
        </p:nvSpPr>
        <p:spPr>
          <a:xfrm>
            <a:off x="8732520" y="1828800"/>
            <a:ext cx="2788920" cy="1508760"/>
          </a:xfrm>
          <a:prstGeom prst="roundRect">
            <a:avLst>
              <a:gd name="adj" fmla="val 7273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915400" y="1938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4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Оборот P2P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8915400" y="23774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Обмен между пользователями внутри платформы</a:t>
            </a:r>
            <a:endParaRPr lang="en-US" sz="1100" dirty="0"/>
          </a:p>
        </p:txBody>
      </p:sp>
      <p:sp>
        <p:nvSpPr>
          <p:cNvPr id="21" name="a4_c"/>
          <p:cNvSpPr/>
          <p:nvPr/>
        </p:nvSpPr>
        <p:spPr>
          <a:xfrm>
            <a:off x="2788920" y="3520440"/>
            <a:ext cx="4297680" cy="2377440"/>
          </a:xfrm>
          <a:prstGeom prst="roundRect">
            <a:avLst>
              <a:gd name="adj" fmla="val 4615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990088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Механики Marketplace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2990088" y="4023360"/>
            <a:ext cx="3931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Продажа игроков и активов</a:t>
            </a:r>
            <a:endParaRPr lang="en-US" sz="11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Аренда</a:t>
            </a:r>
            <a:endParaRPr lang="en-US" sz="11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Крафт и слияние</a:t>
            </a:r>
            <a:endParaRPr lang="en-US" sz="11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Скаутинг</a:t>
            </a:r>
            <a:endParaRPr lang="en-US" sz="11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Коллекционные дропы и косметика</a:t>
            </a:r>
            <a:endParaRPr lang="en-US" sz="1100" dirty="0"/>
          </a:p>
        </p:txBody>
      </p:sp>
      <p:sp>
        <p:nvSpPr>
          <p:cNvPr id="24" name="a5_c"/>
          <p:cNvSpPr/>
          <p:nvPr/>
        </p:nvSpPr>
        <p:spPr>
          <a:xfrm>
            <a:off x="7269480" y="3520440"/>
            <a:ext cx="4370832" cy="2377440"/>
          </a:xfrm>
          <a:prstGeom prst="roundRect">
            <a:avLst>
              <a:gd name="adj" fmla="val 4615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470648" y="3639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Исключено каталогом BX-013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7470648" y="4023360"/>
            <a:ext cx="4023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 FTXcoin в реальные деньги</a:t>
            </a:r>
            <a:endParaRPr lang="en-US" sz="11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Конвертация Coins → FTXcoin</a:t>
            </a:r>
            <a:endParaRPr lang="en-US" sz="11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Нечестные лутбоксы</a:t>
            </a:r>
            <a:endParaRPr lang="en-US" sz="11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Ставки</a:t>
            </a:r>
            <a:endParaRPr lang="en-US" sz="11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Blockchain — не обязательное условие участия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8" grpId="0" animBg="1"/>
      <p:bldP spid="21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LiveOps, сезоны и удержание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игроков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 · GAME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176358" y="27432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95230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414102" y="274320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BX-004 Game System Design, v0.0.19. Battle Pass — BX-013 v1.0.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DEVELOPMENT</a:t>
            </a:r>
            <a:endParaRPr lang="en-US" sz="900" dirty="0"/>
          </a:p>
        </p:txBody>
      </p:sp>
      <p:pic>
        <p:nvPicPr>
          <p:cNvPr id="10" name="!!phoneA" descr="/home/user/footurex-main/presentation/assets/ui/game-sea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91640"/>
            <a:ext cx="1987804" cy="41605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0" y="59893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 интерфейса</a:t>
            </a:r>
            <a:endParaRPr lang="en-US" sz="850" dirty="0"/>
          </a:p>
        </p:txBody>
      </p:sp>
      <p:sp>
        <p:nvSpPr>
          <p:cNvPr id="12" name="a1_c"/>
          <p:cNvSpPr/>
          <p:nvPr/>
        </p:nvSpPr>
        <p:spPr>
          <a:xfrm>
            <a:off x="548640" y="182880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49808" y="1947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Retention Systems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749808" y="2313432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Rewards</a:t>
            </a:r>
            <a:endParaRPr lang="en-US" sz="1100" dirty="0"/>
          </a:p>
          <a:p>
            <a:pPr marL="203200" indent="-2032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Missions</a:t>
            </a:r>
            <a:endParaRPr lang="en-US" sz="1100" dirty="0"/>
          </a:p>
          <a:p>
            <a:pPr marL="203200" indent="-2032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Leagues</a:t>
            </a:r>
            <a:endParaRPr lang="en-US" sz="1100" dirty="0"/>
          </a:p>
          <a:p>
            <a:pPr marL="203200" indent="-2032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Battle Pass</a:t>
            </a:r>
            <a:endParaRPr lang="en-US" sz="1100" dirty="0"/>
          </a:p>
          <a:p>
            <a:pPr marL="203200" indent="-2032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Tournaments</a:t>
            </a:r>
            <a:endParaRPr lang="en-US" sz="1100" dirty="0"/>
          </a:p>
        </p:txBody>
      </p:sp>
      <p:sp>
        <p:nvSpPr>
          <p:cNvPr id="15" name="a2_c"/>
          <p:cNvSpPr/>
          <p:nvPr/>
        </p:nvSpPr>
        <p:spPr>
          <a:xfrm>
            <a:off x="4389120" y="1828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90288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Battle Pass · BX-013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90288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$3.99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4590288" y="2971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Premium Pass · сезон 14 дней · 100 уровней · Free Pass — бесплатно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Player Experience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44622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42A70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44622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Tutorial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1920240" y="4654296"/>
            <a:ext cx="118872" cy="0"/>
          </a:xfrm>
          <a:prstGeom prst="line">
            <a:avLst/>
          </a:prstGeom>
          <a:noFill/>
          <a:ln w="15875">
            <a:solidFill>
              <a:srgbClr val="2593FA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2039112" y="44622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039112" y="44622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Starter Squad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410712" y="4654296"/>
            <a:ext cx="118872" cy="0"/>
          </a:xfrm>
          <a:prstGeom prst="line">
            <a:avLst/>
          </a:prstGeom>
          <a:noFill/>
          <a:ln w="15875">
            <a:solidFill>
              <a:srgbClr val="2593FA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3529584" y="44622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529584" y="44622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Match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901184" y="4654296"/>
            <a:ext cx="118872" cy="0"/>
          </a:xfrm>
          <a:prstGeom prst="line">
            <a:avLst/>
          </a:prstGeom>
          <a:noFill/>
          <a:ln w="15875">
            <a:solidFill>
              <a:srgbClr val="2593FA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5020056" y="44622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020056" y="44622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Rewards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91656" y="4654296"/>
            <a:ext cx="118872" cy="0"/>
          </a:xfrm>
          <a:prstGeom prst="line">
            <a:avLst/>
          </a:prstGeom>
          <a:noFill/>
          <a:ln w="15875">
            <a:solidFill>
              <a:srgbClr val="2593FA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6510528" y="44622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510528" y="44622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League Intro</a:t>
            </a:r>
            <a:endParaRPr lang="en-US" sz="950" dirty="0"/>
          </a:p>
        </p:txBody>
      </p:sp>
      <p:sp>
        <p:nvSpPr>
          <p:cNvPr id="34" name="a3_c"/>
          <p:cNvSpPr/>
          <p:nvPr/>
        </p:nvSpPr>
        <p:spPr>
          <a:xfrm>
            <a:off x="548640" y="5074920"/>
            <a:ext cx="7452360" cy="822960"/>
          </a:xfrm>
          <a:prstGeom prst="roundRect">
            <a:avLst>
              <a:gd name="adj" fmla="val 13333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49808" y="50749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Принцип BX-004: </a:t>
            </a:r>
            <a:pPr indent="0" marL="0">
              <a:buNone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пользователь возвращается ради интересного игрового опыта, а не из-за искусственного принуждения. Anti-Cheat — серверная проверка, поведенческий анализ.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3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План развития и выпуска игрового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продукта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 · GAME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176358" y="27432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95230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414102" y="274320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BX-001 Business Plan / Strategic Business Architecture, v0.0.17. Переходы между этапами — BX-008 Investment &amp; Partnership Strategy, v0.4.92.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DEVELOPMENT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11094415" cy="0"/>
          </a:xfrm>
          <a:prstGeom prst="line">
            <a:avLst/>
          </a:prstGeom>
          <a:noFill/>
          <a:ln w="19050">
            <a:solidFill>
              <a:srgbClr val="273B51"/>
            </a:solidFill>
            <a:prstDash val="solid"/>
          </a:ln>
        </p:spPr>
      </p:sp>
      <p:sp>
        <p:nvSpPr>
          <p:cNvPr id="11" name="a1_d"/>
          <p:cNvSpPr/>
          <p:nvPr/>
        </p:nvSpPr>
        <p:spPr>
          <a:xfrm>
            <a:off x="566928" y="2596896"/>
            <a:ext cx="201168" cy="201168"/>
          </a:xfrm>
          <a:prstGeom prst="ellipse">
            <a:avLst/>
          </a:prstGeom>
          <a:solidFill>
            <a:srgbClr val="2593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2" name="a1_l"/>
          <p:cNvSpPr txBox="1"/>
          <p:nvPr/>
        </p:nvSpPr>
        <p:spPr>
          <a:xfrm>
            <a:off x="548640" y="213055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3" name="a1_t"/>
          <p:cNvSpPr txBox="1"/>
          <p:nvPr/>
        </p:nvSpPr>
        <p:spPr>
          <a:xfrm>
            <a:off x="548640" y="2953512"/>
            <a:ext cx="259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Запуск</a:t>
            </a:r>
            <a:endParaRPr lang="en-US" sz="1350" dirty="0"/>
          </a:p>
        </p:txBody>
      </p:sp>
      <p:sp>
        <p:nvSpPr>
          <p:cNvPr id="14" name="a1_x"/>
          <p:cNvSpPr txBox="1"/>
          <p:nvPr/>
        </p:nvSpPr>
        <p:spPr>
          <a:xfrm>
            <a:off x="548640" y="3374136"/>
            <a:ext cx="25907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 Web App · базовый gameplay · регистрация · экономика · первые сезоны · тестовые турниры · MVP сайта</a:t>
            </a:r>
            <a:endParaRPr lang="en-US" sz="1150" dirty="0"/>
          </a:p>
        </p:txBody>
      </p:sp>
      <p:sp>
        <p:nvSpPr>
          <p:cNvPr id="15" name="a2_d"/>
          <p:cNvSpPr/>
          <p:nvPr/>
        </p:nvSpPr>
        <p:spPr>
          <a:xfrm>
            <a:off x="3340532" y="2596896"/>
            <a:ext cx="201168" cy="201168"/>
          </a:xfrm>
          <a:prstGeom prst="ellipse">
            <a:avLst/>
          </a:prstGeom>
          <a:solidFill>
            <a:srgbClr val="2550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6" name="a2_l"/>
          <p:cNvSpPr txBox="1"/>
          <p:nvPr/>
        </p:nvSpPr>
        <p:spPr>
          <a:xfrm>
            <a:off x="3322244" y="213055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50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17" name="a2_t"/>
          <p:cNvSpPr txBox="1"/>
          <p:nvPr/>
        </p:nvSpPr>
        <p:spPr>
          <a:xfrm>
            <a:off x="3322244" y="2953512"/>
            <a:ext cx="259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Экосистема</a:t>
            </a:r>
            <a:endParaRPr lang="en-US" sz="1350" dirty="0"/>
          </a:p>
        </p:txBody>
      </p:sp>
      <p:sp>
        <p:nvSpPr>
          <p:cNvPr id="18" name="a2_x"/>
          <p:cNvSpPr txBox="1"/>
          <p:nvPr/>
        </p:nvSpPr>
        <p:spPr>
          <a:xfrm>
            <a:off x="3322244" y="3374136"/>
            <a:ext cx="25907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Marketplace · League System · Social Systems · события · аналитика · масштабирование</a:t>
            </a:r>
            <a:endParaRPr lang="en-US" sz="1150" dirty="0"/>
          </a:p>
        </p:txBody>
      </p:sp>
      <p:sp>
        <p:nvSpPr>
          <p:cNvPr id="19" name="a3_d"/>
          <p:cNvSpPr/>
          <p:nvPr/>
        </p:nvSpPr>
        <p:spPr>
          <a:xfrm>
            <a:off x="6114136" y="2596896"/>
            <a:ext cx="201168" cy="201168"/>
          </a:xfrm>
          <a:prstGeom prst="ellipse">
            <a:avLst/>
          </a:prstGeom>
          <a:solidFill>
            <a:srgbClr val="8EB4FF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20" name="a3_l"/>
          <p:cNvSpPr txBox="1"/>
          <p:nvPr/>
        </p:nvSpPr>
        <p:spPr>
          <a:xfrm>
            <a:off x="6095848" y="213055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EB4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Growth</a:t>
            </a:r>
            <a:endParaRPr lang="en-US" sz="1400" dirty="0"/>
          </a:p>
        </p:txBody>
      </p:sp>
      <p:sp>
        <p:nvSpPr>
          <p:cNvPr id="21" name="a3_t"/>
          <p:cNvSpPr txBox="1"/>
          <p:nvPr/>
        </p:nvSpPr>
        <p:spPr>
          <a:xfrm>
            <a:off x="6095848" y="2953512"/>
            <a:ext cx="259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Рост</a:t>
            </a:r>
            <a:endParaRPr lang="en-US" sz="1350" dirty="0"/>
          </a:p>
        </p:txBody>
      </p:sp>
      <p:sp>
        <p:nvSpPr>
          <p:cNvPr id="22" name="a3_x"/>
          <p:cNvSpPr txBox="1"/>
          <p:nvPr/>
        </p:nvSpPr>
        <p:spPr>
          <a:xfrm>
            <a:off x="6095848" y="3374136"/>
            <a:ext cx="25907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После подтверждения retention, экономики и аудитории: новые рынки, инфраструктура, конкурентные системы</a:t>
            </a:r>
            <a:endParaRPr lang="en-US" sz="1150" dirty="0"/>
          </a:p>
        </p:txBody>
      </p:sp>
      <p:sp>
        <p:nvSpPr>
          <p:cNvPr id="23" name="a4_d"/>
          <p:cNvSpPr/>
          <p:nvPr/>
        </p:nvSpPr>
        <p:spPr>
          <a:xfrm>
            <a:off x="8887739" y="2596896"/>
            <a:ext cx="201168" cy="201168"/>
          </a:xfrm>
          <a:prstGeom prst="ellipse">
            <a:avLst/>
          </a:prstGeom>
          <a:solidFill>
            <a:srgbClr val="8A93A6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24" name="a4_l"/>
          <p:cNvSpPr txBox="1"/>
          <p:nvPr/>
        </p:nvSpPr>
        <p:spPr>
          <a:xfrm>
            <a:off x="8869451" y="213055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Ecosystem+</a:t>
            </a:r>
            <a:endParaRPr lang="en-US" sz="1400" dirty="0"/>
          </a:p>
        </p:txBody>
      </p:sp>
      <p:sp>
        <p:nvSpPr>
          <p:cNvPr id="25" name="a4_t"/>
          <p:cNvSpPr txBox="1"/>
          <p:nvPr/>
        </p:nvSpPr>
        <p:spPr>
          <a:xfrm>
            <a:off x="8869451" y="2953512"/>
            <a:ext cx="259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Расширение</a:t>
            </a:r>
            <a:endParaRPr lang="en-US" sz="1350" dirty="0"/>
          </a:p>
        </p:txBody>
      </p:sp>
      <p:sp>
        <p:nvSpPr>
          <p:cNvPr id="26" name="a4_x"/>
          <p:cNvSpPr txBox="1"/>
          <p:nvPr/>
        </p:nvSpPr>
        <p:spPr>
          <a:xfrm>
            <a:off x="8869451" y="3374136"/>
            <a:ext cx="25907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Медиа, киберспорт, blockchain-интеграции, партнёрства, футбольная инфраструктура</a:t>
            </a:r>
            <a:endParaRPr lang="en-US" sz="1150" dirty="0"/>
          </a:p>
        </p:txBody>
      </p:sp>
      <p:sp>
        <p:nvSpPr>
          <p:cNvPr id="27" name="a5_g"/>
          <p:cNvSpPr/>
          <p:nvPr/>
        </p:nvSpPr>
        <p:spPr>
          <a:xfrm>
            <a:off x="548640" y="4892040"/>
            <a:ext cx="11094415" cy="1005840"/>
          </a:xfrm>
          <a:prstGeom prst="roundRect">
            <a:avLst>
              <a:gd name="adj" fmla="val 10909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4892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Условие перехода (BX-008): </a:t>
            </a:r>
            <a:pPr indent="0" marL="0">
              <a:buNone/>
            </a:pPr>
            <a:r>
              <a:rPr lang="en-US" sz="13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рост инвестиций и масштаба — только после подтверждения удержания пользователей, работоспособности экономики и стабильной аудитории. Даты этапов — требуется подтверждение команды.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3" grpId="0" animBg="1"/>
      <p:bldP spid="24" grpId="0"/>
      <p:bldP spid="25" grpId="0"/>
      <p:bldP spid="26" grpId="0"/>
      <p:bldP spid="2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arena-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0"/>
            <a:ext cx="12191695" cy="68580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FootureX Game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Community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 · GAME COMMUNITY &amp; ESPORTS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COMMUNITY &amp; ESPORTS</a:t>
            </a:r>
            <a:endParaRPr lang="en-US" sz="900" dirty="0"/>
          </a:p>
        </p:txBody>
      </p:sp>
      <p:sp>
        <p:nvSpPr>
          <p:cNvPr id="14" name="!!roman"/>
          <p:cNvSpPr txBox="1"/>
          <p:nvPr/>
        </p:nvSpPr>
        <p:spPr>
          <a:xfrm>
            <a:off x="502920" y="17830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VI</a:t>
            </a:r>
            <a:endParaRPr lang="en-US" sz="8800" dirty="0"/>
          </a:p>
        </p:txBody>
      </p:sp>
      <p:sp>
        <p:nvSpPr>
          <p:cNvPr id="15" name="Text 8"/>
          <p:cNvSpPr txBox="1"/>
          <p:nvPr/>
        </p:nvSpPr>
        <p:spPr>
          <a:xfrm>
            <a:off x="548640" y="3154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СООБЩЕСТВО И КИБЕРСПОРТ</a:t>
            </a:r>
            <a:endParaRPr lang="en-US" sz="1300" dirty="0"/>
          </a:p>
        </p:txBody>
      </p:sp>
      <p:sp>
        <p:nvSpPr>
          <p:cNvPr id="16" name="a1_lead"/>
          <p:cNvSpPr txBox="1"/>
          <p:nvPr/>
        </p:nvSpPr>
        <p:spPr>
          <a:xfrm>
            <a:off x="548640" y="36118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Сообщество — главный актив игры: игроки становятся клубами, клубы — соперниками, соперники — зрителями и авторами контента.</a:t>
            </a:r>
            <a:endParaRPr lang="en-US" sz="1500" dirty="0"/>
          </a:p>
        </p:txBody>
      </p:sp>
      <p:sp>
        <p:nvSpPr>
          <p:cNvPr id="17" name="a2_pv"/>
          <p:cNvSpPr txBox="1"/>
          <p:nvPr/>
        </p:nvSpPr>
        <p:spPr>
          <a:xfrm>
            <a:off x="54864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Telegram</a:t>
            </a:r>
            <a:endParaRPr lang="en-US" sz="1600" dirty="0"/>
          </a:p>
        </p:txBody>
      </p:sp>
      <p:sp>
        <p:nvSpPr>
          <p:cNvPr id="18" name="a2_pl"/>
          <p:cNvSpPr txBox="1"/>
          <p:nvPr/>
        </p:nvSpPr>
        <p:spPr>
          <a:xfrm>
            <a:off x="54864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каналы и чаты клубов</a:t>
            </a:r>
            <a:endParaRPr lang="en-US" sz="1050" dirty="0"/>
          </a:p>
        </p:txBody>
      </p:sp>
      <p:sp>
        <p:nvSpPr>
          <p:cNvPr id="19" name="a3_pv"/>
          <p:cNvSpPr txBox="1"/>
          <p:nvPr/>
        </p:nvSpPr>
        <p:spPr>
          <a:xfrm>
            <a:off x="228600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Турниры</a:t>
            </a:r>
            <a:endParaRPr lang="en-US" sz="1600" dirty="0"/>
          </a:p>
        </p:txBody>
      </p:sp>
      <p:sp>
        <p:nvSpPr>
          <p:cNvPr id="20" name="a3_pl"/>
          <p:cNvSpPr txBox="1"/>
          <p:nvPr/>
        </p:nvSpPr>
        <p:spPr>
          <a:xfrm>
            <a:off x="228600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недельных кубков до чемпионатов</a:t>
            </a:r>
            <a:endParaRPr lang="en-US" sz="1050" dirty="0"/>
          </a:p>
        </p:txBody>
      </p:sp>
      <p:sp>
        <p:nvSpPr>
          <p:cNvPr id="21" name="a4_pv"/>
          <p:cNvSpPr txBox="1"/>
          <p:nvPr/>
        </p:nvSpPr>
        <p:spPr>
          <a:xfrm>
            <a:off x="402336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Медиа</a:t>
            </a:r>
            <a:endParaRPr lang="en-US" sz="1600" dirty="0"/>
          </a:p>
        </p:txBody>
      </p:sp>
      <p:sp>
        <p:nvSpPr>
          <p:cNvPr id="22" name="a4_pl"/>
          <p:cNvSpPr txBox="1"/>
          <p:nvPr/>
        </p:nvSpPr>
        <p:spPr>
          <a:xfrm>
            <a:off x="402336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стримы, обзоры, авторы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Формирование игрового сообщества: от знакомства до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амбассадоров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 · GAME COMMUNITY &amp; ESPORTS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COMMUNITY &amp; ESPORTS</a:t>
            </a:r>
            <a:endParaRPr lang="en-US" sz="900" dirty="0"/>
          </a:p>
        </p:txBody>
      </p:sp>
      <p:sp>
        <p:nvSpPr>
          <p:cNvPr id="9" name="a1_f"/>
          <p:cNvSpPr/>
          <p:nvPr/>
        </p:nvSpPr>
        <p:spPr>
          <a:xfrm>
            <a:off x="548640" y="1828800"/>
            <a:ext cx="6949440" cy="694944"/>
          </a:xfrm>
          <a:prstGeom prst="roundRect">
            <a:avLst>
              <a:gd name="adj" fmla="val 13158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10" name="a1_t"/>
          <p:cNvSpPr txBox="1"/>
          <p:nvPr/>
        </p:nvSpPr>
        <p:spPr>
          <a:xfrm>
            <a:off x="548640" y="1828800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Охват</a:t>
            </a:r>
            <a:endParaRPr lang="en-US" sz="1400" dirty="0"/>
          </a:p>
        </p:txBody>
      </p:sp>
      <p:sp>
        <p:nvSpPr>
          <p:cNvPr id="11" name="a1_d"/>
          <p:cNvSpPr txBox="1"/>
          <p:nvPr/>
        </p:nvSpPr>
        <p:spPr>
          <a:xfrm>
            <a:off x="7818120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Telegram-каналы, медиа, авторы</a:t>
            </a:r>
            <a:endParaRPr lang="en-US" sz="1200" dirty="0"/>
          </a:p>
        </p:txBody>
      </p:sp>
      <p:sp>
        <p:nvSpPr>
          <p:cNvPr id="12" name="a1_k"/>
          <p:cNvSpPr txBox="1"/>
          <p:nvPr/>
        </p:nvSpPr>
        <p:spPr>
          <a:xfrm>
            <a:off x="7818120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Метрика: охват и переходы</a:t>
            </a:r>
            <a:endParaRPr lang="en-US" sz="1050" dirty="0"/>
          </a:p>
        </p:txBody>
      </p:sp>
      <p:sp>
        <p:nvSpPr>
          <p:cNvPr id="13" name="a2_f"/>
          <p:cNvSpPr/>
          <p:nvPr/>
        </p:nvSpPr>
        <p:spPr>
          <a:xfrm>
            <a:off x="1005840" y="2651760"/>
            <a:ext cx="6035040" cy="694944"/>
          </a:xfrm>
          <a:prstGeom prst="roundRect">
            <a:avLst>
              <a:gd name="adj" fmla="val 13158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14" name="a2_t"/>
          <p:cNvSpPr txBox="1"/>
          <p:nvPr/>
        </p:nvSpPr>
        <p:spPr>
          <a:xfrm>
            <a:off x="1005840" y="265176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Игроки</a:t>
            </a:r>
            <a:endParaRPr lang="en-US" sz="1400" dirty="0"/>
          </a:p>
        </p:txBody>
      </p:sp>
      <p:sp>
        <p:nvSpPr>
          <p:cNvPr id="15" name="a2_d"/>
          <p:cNvSpPr txBox="1"/>
          <p:nvPr/>
        </p:nvSpPr>
        <p:spPr>
          <a:xfrm>
            <a:off x="7818120" y="2724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Запуск игры из Telegram в один клик</a:t>
            </a:r>
            <a:endParaRPr lang="en-US" sz="1200" dirty="0"/>
          </a:p>
        </p:txBody>
      </p:sp>
      <p:sp>
        <p:nvSpPr>
          <p:cNvPr id="16" name="a2_k"/>
          <p:cNvSpPr txBox="1"/>
          <p:nvPr/>
        </p:nvSpPr>
        <p:spPr>
          <a:xfrm>
            <a:off x="7818120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Метрика: установки → активные</a:t>
            </a:r>
            <a:endParaRPr lang="en-US" sz="1050" dirty="0"/>
          </a:p>
        </p:txBody>
      </p:sp>
      <p:sp>
        <p:nvSpPr>
          <p:cNvPr id="17" name="a3_f"/>
          <p:cNvSpPr/>
          <p:nvPr/>
        </p:nvSpPr>
        <p:spPr>
          <a:xfrm>
            <a:off x="1463040" y="3474720"/>
            <a:ext cx="5120640" cy="694944"/>
          </a:xfrm>
          <a:prstGeom prst="roundRect">
            <a:avLst>
              <a:gd name="adj" fmla="val 13158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18" name="a3_t"/>
          <p:cNvSpPr txBox="1"/>
          <p:nvPr/>
        </p:nvSpPr>
        <p:spPr>
          <a:xfrm>
            <a:off x="1463040" y="3474720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Активное ядро</a:t>
            </a:r>
            <a:endParaRPr lang="en-US" sz="1400" dirty="0"/>
          </a:p>
        </p:txBody>
      </p:sp>
      <p:sp>
        <p:nvSpPr>
          <p:cNvPr id="19" name="a3_d"/>
          <p:cNvSpPr txBox="1"/>
          <p:nvPr/>
        </p:nvSpPr>
        <p:spPr>
          <a:xfrm>
            <a:off x="7818120" y="3547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Клубы, чаты, совместные цели и события</a:t>
            </a:r>
            <a:endParaRPr lang="en-US" sz="1200" dirty="0"/>
          </a:p>
        </p:txBody>
      </p:sp>
      <p:sp>
        <p:nvSpPr>
          <p:cNvPr id="20" name="a3_k"/>
          <p:cNvSpPr txBox="1"/>
          <p:nvPr/>
        </p:nvSpPr>
        <p:spPr>
          <a:xfrm>
            <a:off x="7818120" y="3858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Метрика: DAU/MAU</a:t>
            </a:r>
            <a:endParaRPr lang="en-US" sz="1050" dirty="0"/>
          </a:p>
        </p:txBody>
      </p:sp>
      <p:sp>
        <p:nvSpPr>
          <p:cNvPr id="21" name="a4_f"/>
          <p:cNvSpPr/>
          <p:nvPr/>
        </p:nvSpPr>
        <p:spPr>
          <a:xfrm>
            <a:off x="1920240" y="4297680"/>
            <a:ext cx="4206240" cy="694944"/>
          </a:xfrm>
          <a:prstGeom prst="roundRect">
            <a:avLst>
              <a:gd name="adj" fmla="val 13158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22" name="a4_t"/>
          <p:cNvSpPr txBox="1"/>
          <p:nvPr/>
        </p:nvSpPr>
        <p:spPr>
          <a:xfrm>
            <a:off x="1920240" y="429768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Соревнующиеся</a:t>
            </a:r>
            <a:endParaRPr lang="en-US" sz="1400" dirty="0"/>
          </a:p>
        </p:txBody>
      </p:sp>
      <p:sp>
        <p:nvSpPr>
          <p:cNvPr id="23" name="a4_d"/>
          <p:cNvSpPr txBox="1"/>
          <p:nvPr/>
        </p:nvSpPr>
        <p:spPr>
          <a:xfrm>
            <a:off x="781812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Недельные кубки, лиги, рейтинги</a:t>
            </a:r>
            <a:endParaRPr lang="en-US" sz="1200" dirty="0"/>
          </a:p>
        </p:txBody>
      </p:sp>
      <p:sp>
        <p:nvSpPr>
          <p:cNvPr id="24" name="a4_k"/>
          <p:cNvSpPr txBox="1"/>
          <p:nvPr/>
        </p:nvSpPr>
        <p:spPr>
          <a:xfrm>
            <a:off x="7818120" y="4681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Метрика: участники турниров</a:t>
            </a:r>
            <a:endParaRPr lang="en-US" sz="1050" dirty="0"/>
          </a:p>
        </p:txBody>
      </p:sp>
      <p:sp>
        <p:nvSpPr>
          <p:cNvPr id="25" name="a5_f"/>
          <p:cNvSpPr/>
          <p:nvPr/>
        </p:nvSpPr>
        <p:spPr>
          <a:xfrm>
            <a:off x="2377440" y="5120640"/>
            <a:ext cx="3291840" cy="694944"/>
          </a:xfrm>
          <a:prstGeom prst="roundRect">
            <a:avLst>
              <a:gd name="adj" fmla="val 13158"/>
            </a:avLst>
          </a:prstGeom>
          <a:solidFill>
            <a:srgbClr val="142A70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26" name="a5_t"/>
          <p:cNvSpPr txBox="1"/>
          <p:nvPr/>
        </p:nvSpPr>
        <p:spPr>
          <a:xfrm>
            <a:off x="2377440" y="5120640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Амбассадоры</a:t>
            </a:r>
            <a:endParaRPr lang="en-US" sz="1400" dirty="0"/>
          </a:p>
        </p:txBody>
      </p:sp>
      <p:sp>
        <p:nvSpPr>
          <p:cNvPr id="27" name="a5_d"/>
          <p:cNvSpPr txBox="1"/>
          <p:nvPr/>
        </p:nvSpPr>
        <p:spPr>
          <a:xfrm>
            <a:off x="7818120" y="5193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Авторы, капитаны клубов, модераторы</a:t>
            </a:r>
            <a:endParaRPr lang="en-US" sz="1200" dirty="0"/>
          </a:p>
        </p:txBody>
      </p:sp>
      <p:sp>
        <p:nvSpPr>
          <p:cNvPr id="28" name="a5_k"/>
          <p:cNvSpPr txBox="1"/>
          <p:nvPr/>
        </p:nvSpPr>
        <p:spPr>
          <a:xfrm>
            <a:off x="7818120" y="5504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Метрика: контент и рефералы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25" grpId="0" animBg="1"/>
      <p:bldP spid="26" grpId="0"/>
      <p:bldP spid="27" grpId="0"/>
      <p:bldP spid="2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Развитие киберспортивного направления: четыре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ступени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 · GAME COMMUNITY &amp; ESPORTS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COMMUNITY &amp; ESPORTS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94415" cy="0"/>
          </a:xfrm>
          <a:prstGeom prst="line">
            <a:avLst/>
          </a:prstGeom>
          <a:noFill/>
          <a:ln w="19050">
            <a:solidFill>
              <a:srgbClr val="273B51"/>
            </a:solidFill>
            <a:prstDash val="solid"/>
          </a:ln>
        </p:spPr>
      </p:sp>
      <p:sp>
        <p:nvSpPr>
          <p:cNvPr id="10" name="a1_d"/>
          <p:cNvSpPr/>
          <p:nvPr/>
        </p:nvSpPr>
        <p:spPr>
          <a:xfrm>
            <a:off x="566928" y="2642616"/>
            <a:ext cx="201168" cy="201168"/>
          </a:xfrm>
          <a:prstGeom prst="ellipse">
            <a:avLst/>
          </a:prstGeom>
          <a:solidFill>
            <a:srgbClr val="2593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1" name="a1_l"/>
          <p:cNvSpPr txBox="1"/>
          <p:nvPr/>
        </p:nvSpPr>
        <p:spPr>
          <a:xfrm>
            <a:off x="548640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Ступень 1</a:t>
            </a:r>
            <a:endParaRPr lang="en-US" sz="1500" dirty="0"/>
          </a:p>
        </p:txBody>
      </p:sp>
      <p:sp>
        <p:nvSpPr>
          <p:cNvPr id="12" name="a1_t"/>
          <p:cNvSpPr txBox="1"/>
          <p:nvPr/>
        </p:nvSpPr>
        <p:spPr>
          <a:xfrm>
            <a:off x="548640" y="2999232"/>
            <a:ext cx="259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Турниры в игре</a:t>
            </a:r>
            <a:endParaRPr lang="en-US" sz="1350" dirty="0"/>
          </a:p>
        </p:txBody>
      </p:sp>
      <p:sp>
        <p:nvSpPr>
          <p:cNvPr id="13" name="a1_x"/>
          <p:cNvSpPr txBox="1"/>
          <p:nvPr/>
        </p:nvSpPr>
        <p:spPr>
          <a:xfrm>
            <a:off x="548640" y="3493008"/>
            <a:ext cx="25907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Недельные кубки и сезонные финалы FootureX Game с внутриигровыми призами.</a:t>
            </a:r>
            <a:endParaRPr lang="en-US" sz="1250" dirty="0"/>
          </a:p>
        </p:txBody>
      </p:sp>
      <p:sp>
        <p:nvSpPr>
          <p:cNvPr id="14" name="a2_d"/>
          <p:cNvSpPr/>
          <p:nvPr/>
        </p:nvSpPr>
        <p:spPr>
          <a:xfrm>
            <a:off x="3340532" y="2642616"/>
            <a:ext cx="201168" cy="201168"/>
          </a:xfrm>
          <a:prstGeom prst="ellipse">
            <a:avLst/>
          </a:prstGeom>
          <a:solidFill>
            <a:srgbClr val="2550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5" name="a2_l"/>
          <p:cNvSpPr txBox="1"/>
          <p:nvPr/>
        </p:nvSpPr>
        <p:spPr>
          <a:xfrm>
            <a:off x="3322244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50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Ступень 2</a:t>
            </a:r>
            <a:endParaRPr lang="en-US" sz="1500" dirty="0"/>
          </a:p>
        </p:txBody>
      </p:sp>
      <p:sp>
        <p:nvSpPr>
          <p:cNvPr id="16" name="a2_t"/>
          <p:cNvSpPr txBox="1"/>
          <p:nvPr/>
        </p:nvSpPr>
        <p:spPr>
          <a:xfrm>
            <a:off x="3322244" y="2999232"/>
            <a:ext cx="259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Любительские лиги</a:t>
            </a:r>
            <a:endParaRPr lang="en-US" sz="1350" dirty="0"/>
          </a:p>
        </p:txBody>
      </p:sp>
      <p:sp>
        <p:nvSpPr>
          <p:cNvPr id="17" name="a2_x"/>
          <p:cNvSpPr txBox="1"/>
          <p:nvPr/>
        </p:nvSpPr>
        <p:spPr>
          <a:xfrm>
            <a:off x="3322244" y="3493008"/>
            <a:ext cx="25907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Лиги университетов, школ и компаний; онлайн-квалификации, офлайн-финалы.</a:t>
            </a:r>
            <a:endParaRPr lang="en-US" sz="1250" dirty="0"/>
          </a:p>
        </p:txBody>
      </p:sp>
      <p:sp>
        <p:nvSpPr>
          <p:cNvPr id="18" name="a3_d"/>
          <p:cNvSpPr/>
          <p:nvPr/>
        </p:nvSpPr>
        <p:spPr>
          <a:xfrm>
            <a:off x="6114136" y="2642616"/>
            <a:ext cx="201168" cy="201168"/>
          </a:xfrm>
          <a:prstGeom prst="ellipse">
            <a:avLst/>
          </a:prstGeom>
          <a:solidFill>
            <a:srgbClr val="8EB4FF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9" name="a3_l"/>
          <p:cNvSpPr txBox="1"/>
          <p:nvPr/>
        </p:nvSpPr>
        <p:spPr>
          <a:xfrm>
            <a:off x="6095848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4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Ступень 3</a:t>
            </a:r>
            <a:endParaRPr lang="en-US" sz="1500" dirty="0"/>
          </a:p>
        </p:txBody>
      </p:sp>
      <p:sp>
        <p:nvSpPr>
          <p:cNvPr id="20" name="a3_t"/>
          <p:cNvSpPr txBox="1"/>
          <p:nvPr/>
        </p:nvSpPr>
        <p:spPr>
          <a:xfrm>
            <a:off x="6095848" y="2999232"/>
            <a:ext cx="259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Региональные чемпионаты</a:t>
            </a:r>
            <a:endParaRPr lang="en-US" sz="1350" dirty="0"/>
          </a:p>
        </p:txBody>
      </p:sp>
      <p:sp>
        <p:nvSpPr>
          <p:cNvPr id="21" name="a3_x"/>
          <p:cNvSpPr txBox="1"/>
          <p:nvPr/>
        </p:nvSpPr>
        <p:spPr>
          <a:xfrm>
            <a:off x="6095848" y="3493008"/>
            <a:ext cx="25907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Regional Cup по регионам Узбекистана с финалом в Ташкенте.</a:t>
            </a:r>
            <a:endParaRPr lang="en-US" sz="1250" dirty="0"/>
          </a:p>
        </p:txBody>
      </p:sp>
      <p:sp>
        <p:nvSpPr>
          <p:cNvPr id="22" name="a4_d"/>
          <p:cNvSpPr/>
          <p:nvPr/>
        </p:nvSpPr>
        <p:spPr>
          <a:xfrm>
            <a:off x="8887739" y="2642616"/>
            <a:ext cx="201168" cy="201168"/>
          </a:xfrm>
          <a:prstGeom prst="ellipse">
            <a:avLst/>
          </a:prstGeom>
          <a:solidFill>
            <a:srgbClr val="B8C1D4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23" name="a4_l"/>
          <p:cNvSpPr txBox="1"/>
          <p:nvPr/>
        </p:nvSpPr>
        <p:spPr>
          <a:xfrm>
            <a:off x="8869451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1D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Ступень 4</a:t>
            </a:r>
            <a:endParaRPr lang="en-US" sz="1500" dirty="0"/>
          </a:p>
        </p:txBody>
      </p:sp>
      <p:sp>
        <p:nvSpPr>
          <p:cNvPr id="24" name="a4_t"/>
          <p:cNvSpPr txBox="1"/>
          <p:nvPr/>
        </p:nvSpPr>
        <p:spPr>
          <a:xfrm>
            <a:off x="8869451" y="2999232"/>
            <a:ext cx="259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Партнёрские и международные</a:t>
            </a:r>
            <a:endParaRPr lang="en-US" sz="1350" dirty="0"/>
          </a:p>
        </p:txBody>
      </p:sp>
      <p:sp>
        <p:nvSpPr>
          <p:cNvPr id="25" name="a4_x"/>
          <p:cNvSpPr txBox="1"/>
          <p:nvPr/>
        </p:nvSpPr>
        <p:spPr>
          <a:xfrm>
            <a:off x="8869451" y="3493008"/>
            <a:ext cx="25907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Совместные турниры с федерацией, площадками и брендами; Центральная Азия.</a:t>
            </a:r>
            <a:endParaRPr lang="en-US" sz="1250" dirty="0"/>
          </a:p>
        </p:txBody>
      </p:sp>
      <p:sp>
        <p:nvSpPr>
          <p:cNvPr id="26" name="a5_n"/>
          <p:cNvSpPr/>
          <p:nvPr/>
        </p:nvSpPr>
        <p:spPr>
          <a:xfrm>
            <a:off x="548640" y="4800600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Дисциплины: </a:t>
            </a:r>
            <a:pPr indent="0" marL="0">
              <a:buNone/>
            </a:pPr>
            <a:r>
              <a:rPr lang="en-US" sz="13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Game — собственная дисциплина; дополнительно — популярные в регионе футбольные симуляторы и мобильные тайтлы по лицензиям их правообладателей.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/>
      <p:bldP spid="14" grpId="0" animBg="1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Форматы киберспортивных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турниров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 · GAME COMMUNITY &amp; ESPORTS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COMMUNITY &amp; ESPORTS</a:t>
            </a:r>
            <a:endParaRPr lang="en-US" sz="900" dirty="0"/>
          </a:p>
        </p:txBody>
      </p:sp>
      <p:graphicFrame>
        <p:nvGraphicFramePr>
          <p:cNvPr id="57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1417320"/>
                <a:gridCol w="1965960"/>
                <a:gridCol w="1828800"/>
                <a:gridCol w="1856232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Формат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Участники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Частота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Площадка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Призы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Монетизация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Недельный кубок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Все игроки, 64–256 клубов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Каждую неделю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Онлайн, в игре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Внутриигровые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Удержание, покупки в игре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Сезонный финал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Топ клубов Элиты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Раз в сезон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Онлайн + трансляция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Внутриигровые и брендовые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Спонсор финала, медиа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Лига университетов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Команды вузов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Семестр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Онлайн + офлайн-финал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Брендовые, стипендии*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Партнёры-работодатели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FootureX Regional Cup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Регионы Узбекистана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Раз в год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Офлайн-финал в Ташкенте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Денежные*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Титульный спонсор, билеты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Партнёрский чемпионат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Приглашённые команды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 соглашению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Арена партнёра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 регламенту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Спонсорство, права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436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Денежные призы и стипендии — в соответствии с законодательством РУз; требует юридического подтверждения.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map-m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v-right" descr="/home/user/footurex-main/presentation/assets/renders/ov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Региональные соревнования: FootureX Regional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Cup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 · GAME COMMUNITY &amp; ESPORTS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COMMUNITY &amp; ESPORTS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548640" y="55961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3D-карта: Natural Earth · схематично</a:t>
            </a:r>
            <a:endParaRPr lang="en-US" sz="850" dirty="0"/>
          </a:p>
        </p:txBody>
      </p:sp>
      <p:sp>
        <p:nvSpPr>
          <p:cNvPr id="15" name="Text 8"/>
          <p:cNvSpPr txBox="1"/>
          <p:nvPr/>
        </p:nvSpPr>
        <p:spPr>
          <a:xfrm>
            <a:off x="672084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Структура кубка</a:t>
            </a:r>
            <a:endParaRPr lang="en-US" sz="1500" dirty="0"/>
          </a:p>
        </p:txBody>
      </p:sp>
      <p:sp>
        <p:nvSpPr>
          <p:cNvPr id="16" name="a1_dot"/>
          <p:cNvSpPr/>
          <p:nvPr/>
        </p:nvSpPr>
        <p:spPr>
          <a:xfrm>
            <a:off x="6720840" y="228600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17" name="a1_num"/>
          <p:cNvSpPr txBox="1"/>
          <p:nvPr/>
        </p:nvSpPr>
        <p:spPr>
          <a:xfrm>
            <a:off x="672084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a1_ln"/>
          <p:cNvSpPr/>
          <p:nvPr/>
        </p:nvSpPr>
        <p:spPr>
          <a:xfrm>
            <a:off x="7379208" y="2569464"/>
            <a:ext cx="957072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19" name="a1_t"/>
          <p:cNvSpPr txBox="1"/>
          <p:nvPr/>
        </p:nvSpPr>
        <p:spPr>
          <a:xfrm>
            <a:off x="6720840" y="3063240"/>
            <a:ext cx="1459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Онлайн</a:t>
            </a:r>
            <a:endParaRPr lang="en-US" sz="1300" dirty="0"/>
          </a:p>
        </p:txBody>
      </p:sp>
      <p:sp>
        <p:nvSpPr>
          <p:cNvPr id="20" name="a1_d"/>
          <p:cNvSpPr txBox="1"/>
          <p:nvPr/>
        </p:nvSpPr>
        <p:spPr>
          <a:xfrm>
            <a:off x="6720840" y="3429000"/>
            <a:ext cx="1459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квалификации</a:t>
            </a:r>
            <a:endParaRPr lang="en-US" sz="1100" dirty="0"/>
          </a:p>
        </p:txBody>
      </p:sp>
      <p:sp>
        <p:nvSpPr>
          <p:cNvPr id="21" name="a2_dot"/>
          <p:cNvSpPr/>
          <p:nvPr/>
        </p:nvSpPr>
        <p:spPr>
          <a:xfrm>
            <a:off x="8427720" y="228600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2" name="a2_num"/>
          <p:cNvSpPr txBox="1"/>
          <p:nvPr/>
        </p:nvSpPr>
        <p:spPr>
          <a:xfrm>
            <a:off x="842772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02</a:t>
            </a:r>
            <a:endParaRPr lang="en-US" sz="1300" dirty="0"/>
          </a:p>
        </p:txBody>
      </p:sp>
      <p:sp>
        <p:nvSpPr>
          <p:cNvPr id="23" name="a2_ln"/>
          <p:cNvSpPr/>
          <p:nvPr/>
        </p:nvSpPr>
        <p:spPr>
          <a:xfrm>
            <a:off x="9086088" y="2569464"/>
            <a:ext cx="957072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24" name="a2_t"/>
          <p:cNvSpPr txBox="1"/>
          <p:nvPr/>
        </p:nvSpPr>
        <p:spPr>
          <a:xfrm>
            <a:off x="8427720" y="3063240"/>
            <a:ext cx="1459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Регионы</a:t>
            </a:r>
            <a:endParaRPr lang="en-US" sz="1300" dirty="0"/>
          </a:p>
        </p:txBody>
      </p:sp>
      <p:sp>
        <p:nvSpPr>
          <p:cNvPr id="25" name="a2_d"/>
          <p:cNvSpPr txBox="1"/>
          <p:nvPr/>
        </p:nvSpPr>
        <p:spPr>
          <a:xfrm>
            <a:off x="8427720" y="3429000"/>
            <a:ext cx="1459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финалы зон</a:t>
            </a:r>
            <a:endParaRPr lang="en-US" sz="1100" dirty="0"/>
          </a:p>
        </p:txBody>
      </p:sp>
      <p:sp>
        <p:nvSpPr>
          <p:cNvPr id="26" name="a3_dot"/>
          <p:cNvSpPr/>
          <p:nvPr/>
        </p:nvSpPr>
        <p:spPr>
          <a:xfrm>
            <a:off x="10134600" y="228600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7" name="a3_num"/>
          <p:cNvSpPr txBox="1"/>
          <p:nvPr/>
        </p:nvSpPr>
        <p:spPr>
          <a:xfrm>
            <a:off x="1013460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a3_t"/>
          <p:cNvSpPr txBox="1"/>
          <p:nvPr/>
        </p:nvSpPr>
        <p:spPr>
          <a:xfrm>
            <a:off x="10134600" y="3063240"/>
            <a:ext cx="1459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Ташкент</a:t>
            </a:r>
            <a:endParaRPr lang="en-US" sz="1300" dirty="0"/>
          </a:p>
        </p:txBody>
      </p:sp>
      <p:sp>
        <p:nvSpPr>
          <p:cNvPr id="29" name="a3_d"/>
          <p:cNvSpPr txBox="1"/>
          <p:nvPr/>
        </p:nvSpPr>
        <p:spPr>
          <a:xfrm>
            <a:off x="10134600" y="3429000"/>
            <a:ext cx="1459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гранд-финал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672084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Зоны квалификаций (проект)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720840" y="43434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720840" y="4343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Ташкент и Ташкентская обл.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9208008" y="43434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9208008" y="4343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Самарканд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720840" y="48463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720840" y="4846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Бухара и Навои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9208008" y="48463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9208008" y="4846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Ферганская долина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720840" y="5349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720840" y="5349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Кашкадарья и Сурхандарья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9208008" y="5349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9208008" y="5349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Хорезм и Каракалпакстан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 animBg="1"/>
      <p:bldP spid="19" grpId="0"/>
      <p:bldP spid="20" grpId="0"/>
      <p:bldP spid="21" grpId="0" animBg="1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Международные киберспортивные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мероприятия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 · GAME COMMUNITY &amp; ESPORTS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503359" y="2743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622231" y="374904"/>
            <a:ext cx="91440" cy="91440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741103" y="274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АМБИЦИЯ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COMMUNITY &amp; ESPORTS</a:t>
            </a:r>
            <a:endParaRPr lang="en-US" sz="900" dirty="0"/>
          </a:p>
        </p:txBody>
      </p:sp>
      <p:sp>
        <p:nvSpPr>
          <p:cNvPr id="9" name="a1_card"/>
          <p:cNvSpPr/>
          <p:nvPr/>
        </p:nvSpPr>
        <p:spPr>
          <a:xfrm>
            <a:off x="548640" y="1828800"/>
            <a:ext cx="543290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iconbg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1" name="a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67128"/>
            <a:ext cx="237744" cy="237744"/>
          </a:xfrm>
          <a:prstGeom prst="rect">
            <a:avLst/>
          </a:prstGeom>
        </p:spPr>
      </p:pic>
      <p:sp>
        <p:nvSpPr>
          <p:cNvPr id="12" name="a1_t"/>
          <p:cNvSpPr txBox="1"/>
          <p:nvPr/>
        </p:nvSpPr>
        <p:spPr>
          <a:xfrm>
            <a:off x="1371600" y="2039112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 Asia Cup</a:t>
            </a:r>
            <a:endParaRPr lang="en-US" sz="1400" dirty="0"/>
          </a:p>
        </p:txBody>
      </p:sp>
      <p:sp>
        <p:nvSpPr>
          <p:cNvPr id="13" name="a1_d"/>
          <p:cNvSpPr txBox="1"/>
          <p:nvPr/>
        </p:nvSpPr>
        <p:spPr>
          <a:xfrm>
            <a:off x="777240" y="2679192"/>
            <a:ext cx="49757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Турнир FootureX Game для игроков Узбекистана, Казахстана, Кыргызстана, Таджикистана и Туркменистана.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77240" y="3355848"/>
            <a:ext cx="754380" cy="24688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B8C1D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3355848"/>
            <a:ext cx="7543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Амбиция</a:t>
            </a:r>
            <a:endParaRPr lang="en-US" sz="850" dirty="0"/>
          </a:p>
        </p:txBody>
      </p:sp>
      <p:sp>
        <p:nvSpPr>
          <p:cNvPr id="16" name="a2_card"/>
          <p:cNvSpPr/>
          <p:nvPr/>
        </p:nvSpPr>
        <p:spPr>
          <a:xfrm>
            <a:off x="6210148" y="1828800"/>
            <a:ext cx="543290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7" name="a2_iconbg"/>
          <p:cNvSpPr/>
          <p:nvPr/>
        </p:nvSpPr>
        <p:spPr>
          <a:xfrm>
            <a:off x="6438748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8" name="a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476" y="2167128"/>
            <a:ext cx="237744" cy="237744"/>
          </a:xfrm>
          <a:prstGeom prst="rect">
            <a:avLst/>
          </a:prstGeom>
        </p:spPr>
      </p:pic>
      <p:sp>
        <p:nvSpPr>
          <p:cNvPr id="19" name="a2_t"/>
          <p:cNvSpPr txBox="1"/>
          <p:nvPr/>
        </p:nvSpPr>
        <p:spPr>
          <a:xfrm>
            <a:off x="7033108" y="2039112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Онлайн-турниры для диаспоры</a:t>
            </a:r>
            <a:endParaRPr lang="en-US" sz="1400" dirty="0"/>
          </a:p>
        </p:txBody>
      </p:sp>
      <p:sp>
        <p:nvSpPr>
          <p:cNvPr id="20" name="a2_d"/>
          <p:cNvSpPr txBox="1"/>
          <p:nvPr/>
        </p:nvSpPr>
        <p:spPr>
          <a:xfrm>
            <a:off x="6438748" y="2679192"/>
            <a:ext cx="49757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Сезонные кубки для узбекоязычной и русскоязычной аудитории за рубежом.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38748" y="3355848"/>
            <a:ext cx="891540" cy="24688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8EB4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38748" y="3355848"/>
            <a:ext cx="8915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Концепция</a:t>
            </a:r>
            <a:endParaRPr lang="en-US" sz="850" dirty="0"/>
          </a:p>
        </p:txBody>
      </p:sp>
      <p:sp>
        <p:nvSpPr>
          <p:cNvPr id="23" name="a3_card"/>
          <p:cNvSpPr/>
          <p:nvPr/>
        </p:nvSpPr>
        <p:spPr>
          <a:xfrm>
            <a:off x="548640" y="4023360"/>
            <a:ext cx="543290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4" name="a3_iconbg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5" name="a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361688"/>
            <a:ext cx="237744" cy="237744"/>
          </a:xfrm>
          <a:prstGeom prst="rect">
            <a:avLst/>
          </a:prstGeom>
        </p:spPr>
      </p:pic>
      <p:sp>
        <p:nvSpPr>
          <p:cNvPr id="26" name="a3_t"/>
          <p:cNvSpPr txBox="1"/>
          <p:nvPr/>
        </p:nvSpPr>
        <p:spPr>
          <a:xfrm>
            <a:off x="1371600" y="4233672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Через национальную ассоциацию</a:t>
            </a:r>
            <a:endParaRPr lang="en-US" sz="1400" dirty="0"/>
          </a:p>
        </p:txBody>
      </p:sp>
      <p:sp>
        <p:nvSpPr>
          <p:cNvPr id="27" name="a3_d"/>
          <p:cNvSpPr txBox="1"/>
          <p:nvPr/>
        </p:nvSpPr>
        <p:spPr>
          <a:xfrm>
            <a:off x="777240" y="4873752"/>
            <a:ext cx="49757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Участие в азиатских турнирах — по правилам национальной ассоциации и AESF.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777240" y="5550408"/>
            <a:ext cx="1645920" cy="24688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8EB4F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77240" y="555040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Требует согласования</a:t>
            </a:r>
            <a:endParaRPr lang="en-US" sz="850" dirty="0"/>
          </a:p>
        </p:txBody>
      </p:sp>
      <p:sp>
        <p:nvSpPr>
          <p:cNvPr id="30" name="a4_card"/>
          <p:cNvSpPr/>
          <p:nvPr/>
        </p:nvSpPr>
        <p:spPr>
          <a:xfrm>
            <a:off x="6210148" y="4023360"/>
            <a:ext cx="543290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1" name="a4_iconbg"/>
          <p:cNvSpPr/>
          <p:nvPr/>
        </p:nvSpPr>
        <p:spPr>
          <a:xfrm>
            <a:off x="6438748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2" name="a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476" y="4361688"/>
            <a:ext cx="237744" cy="237744"/>
          </a:xfrm>
          <a:prstGeom prst="rect">
            <a:avLst/>
          </a:prstGeom>
        </p:spPr>
      </p:pic>
      <p:sp>
        <p:nvSpPr>
          <p:cNvPr id="33" name="a4_t"/>
          <p:cNvSpPr txBox="1"/>
          <p:nvPr/>
        </p:nvSpPr>
        <p:spPr>
          <a:xfrm>
            <a:off x="7033108" y="4233672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Шоу-матчи и партнёрства</a:t>
            </a:r>
            <a:endParaRPr lang="en-US" sz="1400" dirty="0"/>
          </a:p>
        </p:txBody>
      </p:sp>
      <p:sp>
        <p:nvSpPr>
          <p:cNvPr id="34" name="a4_d"/>
          <p:cNvSpPr txBox="1"/>
          <p:nvPr/>
        </p:nvSpPr>
        <p:spPr>
          <a:xfrm>
            <a:off x="6438748" y="4873752"/>
            <a:ext cx="49757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Совместные события с футбольными клубами, блогерами и брендами.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6438748" y="5550408"/>
            <a:ext cx="891540" cy="24688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8EB4F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438748" y="5550408"/>
            <a:ext cx="8915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Концепция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/>
      <p:bldP spid="13" grpId="0"/>
      <p:bldP spid="16" grpId="0" animBg="1"/>
      <p:bldP spid="17" grpId="0" animBg="1"/>
      <p:bldP spid="19" grpId="0"/>
      <p:bldP spid="20" grpId="0"/>
      <p:bldP spid="23" grpId="0" animBg="1"/>
      <p:bldP spid="24" grpId="0" animBg="1"/>
      <p:bldP spid="26" grpId="0"/>
      <p:bldP spid="27" grpId="0"/>
      <p:bldP spid="30" grpId="0" animBg="1"/>
      <p:bldP spid="31" grpId="0" animBg="1"/>
      <p:bldP spid="33" grpId="0"/>
      <p:bldP spid="3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arena-st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8" y="-171450"/>
            <a:ext cx="12801280" cy="72009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Esports-команда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FootureX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 · GAME COMMUNITY &amp; ESPORTS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COMMUNITY &amp; ESPORTS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5" name="a1_ibg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6" name="a1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1995221"/>
            <a:ext cx="261518" cy="261518"/>
          </a:xfrm>
          <a:prstGeom prst="rect">
            <a:avLst/>
          </a:prstGeom>
        </p:spPr>
      </p:pic>
      <p:sp>
        <p:nvSpPr>
          <p:cNvPr id="17" name="a1_t"/>
          <p:cNvSpPr txBox="1"/>
          <p:nvPr/>
        </p:nvSpPr>
        <p:spPr>
          <a:xfrm>
            <a:off x="1234440" y="1856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Основной состав</a:t>
            </a:r>
            <a:endParaRPr lang="en-US" sz="1400" dirty="0"/>
          </a:p>
        </p:txBody>
      </p:sp>
      <p:sp>
        <p:nvSpPr>
          <p:cNvPr id="18" name="a1_d"/>
          <p:cNvSpPr txBox="1"/>
          <p:nvPr/>
        </p:nvSpPr>
        <p:spPr>
          <a:xfrm>
            <a:off x="1234440" y="2167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Футбольные симуляторы — ядро бренда FootureX</a:t>
            </a:r>
            <a:endParaRPr lang="en-US" sz="1200" dirty="0"/>
          </a:p>
        </p:txBody>
      </p:sp>
      <p:sp>
        <p:nvSpPr>
          <p:cNvPr id="19" name="a2_ibg"/>
          <p:cNvSpPr/>
          <p:nvPr/>
        </p:nvSpPr>
        <p:spPr>
          <a:xfrm>
            <a:off x="548640" y="2862072"/>
            <a:ext cx="502920" cy="50292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0" name="a2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1" y="2982773"/>
            <a:ext cx="261518" cy="261518"/>
          </a:xfrm>
          <a:prstGeom prst="rect">
            <a:avLst/>
          </a:prstGeom>
        </p:spPr>
      </p:pic>
      <p:sp>
        <p:nvSpPr>
          <p:cNvPr id="21" name="a2_t"/>
          <p:cNvSpPr txBox="1"/>
          <p:nvPr/>
        </p:nvSpPr>
        <p:spPr>
          <a:xfrm>
            <a:off x="1234440" y="28437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Мобильные дисциплины</a:t>
            </a:r>
            <a:endParaRPr lang="en-US" sz="1400" dirty="0"/>
          </a:p>
        </p:txBody>
      </p:sp>
      <p:sp>
        <p:nvSpPr>
          <p:cNvPr id="22" name="a2_d"/>
          <p:cNvSpPr txBox="1"/>
          <p:nvPr/>
        </p:nvSpPr>
        <p:spPr>
          <a:xfrm>
            <a:off x="1234440" y="3154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Популярные в регионе тайтлы — по анализу аудитории</a:t>
            </a:r>
            <a:endParaRPr lang="en-US" sz="1200" dirty="0"/>
          </a:p>
        </p:txBody>
      </p:sp>
      <p:sp>
        <p:nvSpPr>
          <p:cNvPr id="23" name="a3_ibg"/>
          <p:cNvSpPr/>
          <p:nvPr/>
        </p:nvSpPr>
        <p:spPr>
          <a:xfrm>
            <a:off x="548640" y="3849624"/>
            <a:ext cx="502920" cy="50292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4" name="a3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1" y="3970325"/>
            <a:ext cx="261518" cy="261518"/>
          </a:xfrm>
          <a:prstGeom prst="rect">
            <a:avLst/>
          </a:prstGeom>
        </p:spPr>
      </p:pic>
      <p:sp>
        <p:nvSpPr>
          <p:cNvPr id="25" name="a3_t"/>
          <p:cNvSpPr txBox="1"/>
          <p:nvPr/>
        </p:nvSpPr>
        <p:spPr>
          <a:xfrm>
            <a:off x="1234440" y="38313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Академия игроков</a:t>
            </a:r>
            <a:endParaRPr lang="en-US" sz="1400" dirty="0"/>
          </a:p>
        </p:txBody>
      </p:sp>
      <p:sp>
        <p:nvSpPr>
          <p:cNvPr id="26" name="a3_d"/>
          <p:cNvSpPr txBox="1"/>
          <p:nvPr/>
        </p:nvSpPr>
        <p:spPr>
          <a:xfrm>
            <a:off x="1234440" y="41422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Лучшие игроки FootureX Game и вузовских лиг</a:t>
            </a:r>
            <a:endParaRPr lang="en-US" sz="1200" dirty="0"/>
          </a:p>
        </p:txBody>
      </p:sp>
      <p:sp>
        <p:nvSpPr>
          <p:cNvPr id="27" name="a4_ibg"/>
          <p:cNvSpPr/>
          <p:nvPr/>
        </p:nvSpPr>
        <p:spPr>
          <a:xfrm>
            <a:off x="548640" y="4837176"/>
            <a:ext cx="502920" cy="50292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8" name="a4_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1" y="4957877"/>
            <a:ext cx="261518" cy="261518"/>
          </a:xfrm>
          <a:prstGeom prst="rect">
            <a:avLst/>
          </a:prstGeom>
        </p:spPr>
      </p:pic>
      <p:sp>
        <p:nvSpPr>
          <p:cNvPr id="29" name="a4_t"/>
          <p:cNvSpPr txBox="1"/>
          <p:nvPr/>
        </p:nvSpPr>
        <p:spPr>
          <a:xfrm>
            <a:off x="1234440" y="48188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Контент-команда</a:t>
            </a:r>
            <a:endParaRPr lang="en-US" sz="1400" dirty="0"/>
          </a:p>
        </p:txBody>
      </p:sp>
      <p:sp>
        <p:nvSpPr>
          <p:cNvPr id="30" name="a4_d"/>
          <p:cNvSpPr txBox="1"/>
          <p:nvPr/>
        </p:nvSpPr>
        <p:spPr>
          <a:xfrm>
            <a:off x="1234440" y="51297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Стримеры, аналитики, видеопродакшн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  <p:bldP spid="18" grpId="0"/>
      <p:bldP spid="19" grpId="0" animBg="1"/>
      <p:bldP spid="21" grpId="0"/>
      <p:bldP spid="22" grpId="0"/>
      <p:bldP spid="23" grpId="0" animBg="1"/>
      <p:bldP spid="25" grpId="0"/>
      <p:bldP spid="26" grpId="0"/>
      <p:bldP spid="27" grpId="0" animBg="1"/>
      <p:bldP spid="29" grpId="0"/>
      <p:bldP spid="3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Стриминг, медиа и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контент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 · GAME COMMUNITY &amp; ESPORTS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082735" y="27432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01607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320479" y="27432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РАЗРАБОТКЕ · FOUNDATION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BX-006 Website Architecture, v0.0.38; BX-001 (Media Direction). Каналы контента — концепция.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COMMUNITY &amp; ESPORTS</a:t>
            </a:r>
            <a:endParaRPr lang="en-US" sz="900" dirty="0"/>
          </a:p>
        </p:txBody>
      </p:sp>
      <p:pic>
        <p:nvPicPr>
          <p:cNvPr id="10" name="!!desk" descr="/home/user/footurex-main/presentation/assets/ui/web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035040" cy="3352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5257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 главной страницы · BX-006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690372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Разделы сайта (BX-006)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903720" y="2212848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903720" y="221284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Home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854696" y="2212848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854696" y="221284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About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8805672" y="2212848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805672" y="221284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Ecosystem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9756648" y="2212848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756648" y="221284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10707624" y="2212848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142A70"/>
          </a:solidFill>
          <a:ln w="6350">
            <a:solidFill>
              <a:srgbClr val="2593F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707624" y="221284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903720" y="2596896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903720" y="259689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7854696" y="2596896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854696" y="259689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8805672" y="2596896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805672" y="259689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FAQ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9756648" y="2596896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756648" y="259689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10707624" y="2596896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0707624" y="259689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App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6903720" y="3154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Каналы контента · концепция</a:t>
            </a:r>
            <a:endParaRPr lang="en-US" sz="1250" dirty="0"/>
          </a:p>
        </p:txBody>
      </p:sp>
      <p:sp>
        <p:nvSpPr>
          <p:cNvPr id="34" name="Text 30"/>
          <p:cNvSpPr txBox="1"/>
          <p:nvPr/>
        </p:nvSpPr>
        <p:spPr>
          <a:xfrm>
            <a:off x="6903720" y="35204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 — новости, результаты, анонсы</a:t>
            </a:r>
            <a:endParaRPr lang="en-US" sz="11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Трансляции финалов с комментаторами</a:t>
            </a:r>
            <a:endParaRPr lang="en-US" sz="11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Короткие видео: голы, моменты, реакции</a:t>
            </a:r>
            <a:endParaRPr lang="en-US" sz="11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Подкасты и разборы тактики</a:t>
            </a:r>
            <a:endParaRPr lang="en-US" sz="11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Студия трансляций — после запуска лиг</a:t>
            </a:r>
            <a:endParaRPr lang="en-US" sz="11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Партнёрская программа для авторов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Спонсорство и коммерческие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партнёрства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 · GAME COMMUNITY &amp; ESPORTS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COMMUNITY &amp; ESPORTS</a:t>
            </a:r>
            <a:endParaRPr lang="en-US" sz="900" dirty="0"/>
          </a:p>
        </p:txBody>
      </p:sp>
      <p:sp>
        <p:nvSpPr>
          <p:cNvPr id="9" name="a1_c"/>
          <p:cNvSpPr/>
          <p:nvPr/>
        </p:nvSpPr>
        <p:spPr>
          <a:xfrm>
            <a:off x="548640" y="1828800"/>
            <a:ext cx="6766560" cy="868680"/>
          </a:xfrm>
          <a:prstGeom prst="roundRect">
            <a:avLst>
              <a:gd name="adj" fmla="val 12632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121408"/>
            <a:ext cx="274320" cy="27432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11" name="a1_t"/>
          <p:cNvSpPr txBox="1"/>
          <p:nvPr/>
        </p:nvSpPr>
        <p:spPr>
          <a:xfrm>
            <a:off x="123444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Титульный партнёр</a:t>
            </a:r>
            <a:endParaRPr lang="en-US" sz="1400" dirty="0"/>
          </a:p>
        </p:txBody>
      </p:sp>
      <p:sp>
        <p:nvSpPr>
          <p:cNvPr id="12" name="a1_d"/>
          <p:cNvSpPr txBox="1"/>
          <p:nvPr/>
        </p:nvSpPr>
        <p:spPr>
          <a:xfrm>
            <a:off x="3657600" y="18288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Название турнира, главный экран, интеграция в игру, права на контент</a:t>
            </a:r>
            <a:endParaRPr lang="en-US" sz="1150" dirty="0"/>
          </a:p>
        </p:txBody>
      </p:sp>
      <p:sp>
        <p:nvSpPr>
          <p:cNvPr id="13" name="a2_c"/>
          <p:cNvSpPr/>
          <p:nvPr/>
        </p:nvSpPr>
        <p:spPr>
          <a:xfrm>
            <a:off x="548640" y="2834640"/>
            <a:ext cx="6766560" cy="868680"/>
          </a:xfrm>
          <a:prstGeom prst="roundRect">
            <a:avLst>
              <a:gd name="adj" fmla="val 12632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3127248"/>
            <a:ext cx="274320" cy="27432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15" name="a2_t"/>
          <p:cNvSpPr txBox="1"/>
          <p:nvPr/>
        </p:nvSpPr>
        <p:spPr>
          <a:xfrm>
            <a:off x="1234440" y="2834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Официальные партнёры</a:t>
            </a:r>
            <a:endParaRPr lang="en-US" sz="1400" dirty="0"/>
          </a:p>
        </p:txBody>
      </p:sp>
      <p:sp>
        <p:nvSpPr>
          <p:cNvPr id="16" name="a2_d"/>
          <p:cNvSpPr txBox="1"/>
          <p:nvPr/>
        </p:nvSpPr>
        <p:spPr>
          <a:xfrm>
            <a:off x="3657600" y="28346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Логотип в трансляциях, активации на площадке, призы</a:t>
            </a:r>
            <a:endParaRPr lang="en-US" sz="1150" dirty="0"/>
          </a:p>
        </p:txBody>
      </p:sp>
      <p:sp>
        <p:nvSpPr>
          <p:cNvPr id="17" name="a3_c"/>
          <p:cNvSpPr/>
          <p:nvPr/>
        </p:nvSpPr>
        <p:spPr>
          <a:xfrm>
            <a:off x="548640" y="3840480"/>
            <a:ext cx="6766560" cy="868680"/>
          </a:xfrm>
          <a:prstGeom prst="roundRect">
            <a:avLst>
              <a:gd name="adj" fmla="val 12632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4133088"/>
            <a:ext cx="274320" cy="274320"/>
          </a:xfrm>
          <a:prstGeom prst="ellipse">
            <a:avLst/>
          </a:prstGeom>
          <a:solidFill>
            <a:srgbClr val="B8C1D4"/>
          </a:solidFill>
          <a:ln w="12700">
            <a:solidFill>
              <a:srgbClr val="B8C1D4"/>
            </a:solidFill>
            <a:prstDash val="solid"/>
          </a:ln>
        </p:spPr>
      </p:sp>
      <p:sp>
        <p:nvSpPr>
          <p:cNvPr id="19" name="a3_t"/>
          <p:cNvSpPr txBox="1"/>
          <p:nvPr/>
        </p:nvSpPr>
        <p:spPr>
          <a:xfrm>
            <a:off x="1234440" y="3840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Технологические партнёры</a:t>
            </a:r>
            <a:endParaRPr lang="en-US" sz="1400" dirty="0"/>
          </a:p>
        </p:txBody>
      </p:sp>
      <p:sp>
        <p:nvSpPr>
          <p:cNvPr id="20" name="a3_d"/>
          <p:cNvSpPr txBox="1"/>
          <p:nvPr/>
        </p:nvSpPr>
        <p:spPr>
          <a:xfrm>
            <a:off x="3657600" y="38404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Железо, связь, облако — в обмен на демонстрацию</a:t>
            </a:r>
            <a:endParaRPr lang="en-US" sz="1150" dirty="0"/>
          </a:p>
        </p:txBody>
      </p:sp>
      <p:sp>
        <p:nvSpPr>
          <p:cNvPr id="21" name="a4_c"/>
          <p:cNvSpPr/>
          <p:nvPr/>
        </p:nvSpPr>
        <p:spPr>
          <a:xfrm>
            <a:off x="548640" y="4846320"/>
            <a:ext cx="6766560" cy="868680"/>
          </a:xfrm>
          <a:prstGeom prst="roundRect">
            <a:avLst>
              <a:gd name="adj" fmla="val 12632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5138928"/>
            <a:ext cx="274320" cy="274320"/>
          </a:xfrm>
          <a:prstGeom prst="ellipse">
            <a:avLst/>
          </a:prstGeom>
          <a:solidFill>
            <a:srgbClr val="B8C1D4"/>
          </a:solidFill>
          <a:ln w="12700">
            <a:solidFill>
              <a:srgbClr val="B8C1D4"/>
            </a:solidFill>
            <a:prstDash val="solid"/>
          </a:ln>
        </p:spPr>
      </p:sp>
      <p:sp>
        <p:nvSpPr>
          <p:cNvPr id="23" name="a4_t"/>
          <p:cNvSpPr txBox="1"/>
          <p:nvPr/>
        </p:nvSpPr>
        <p:spPr>
          <a:xfrm>
            <a:off x="1234440" y="48463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Медиапартнёры</a:t>
            </a:r>
            <a:endParaRPr lang="en-US" sz="1400" dirty="0"/>
          </a:p>
        </p:txBody>
      </p:sp>
      <p:sp>
        <p:nvSpPr>
          <p:cNvPr id="24" name="a4_d"/>
          <p:cNvSpPr txBox="1"/>
          <p:nvPr/>
        </p:nvSpPr>
        <p:spPr>
          <a:xfrm>
            <a:off x="3657600" y="48463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Охват и распространение контента</a:t>
            </a:r>
            <a:endParaRPr lang="en-US" sz="1150" dirty="0"/>
          </a:p>
        </p:txBody>
      </p:sp>
      <p:sp>
        <p:nvSpPr>
          <p:cNvPr id="25" name="a2_ins"/>
          <p:cNvSpPr/>
          <p:nvPr/>
        </p:nvSpPr>
        <p:spPr>
          <a:xfrm>
            <a:off x="7589520" y="1828800"/>
            <a:ext cx="4050792" cy="3886200"/>
          </a:xfrm>
          <a:prstGeom prst="roundRect">
            <a:avLst>
              <a:gd name="adj" fmla="val 282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18120" y="2029968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получает партнёр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818120" y="2432304"/>
            <a:ext cx="35935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Молодая цифровая аудитория Узбекистана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в игру, а не только логотип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Измеримые показатели: просмотры, участники, клики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Связь с футбольным брендом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принимаются: ставки и азартные игры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3" grpId="0" animBg="1"/>
      <p:bldP spid="15" grpId="0"/>
      <p:bldP spid="16" grpId="0"/>
      <p:bldP spid="25" grpId="0" animBg="1"/>
      <p:bldP spid="17" grpId="0" animBg="1"/>
      <p:bldP spid="19" grpId="0"/>
      <p:bldP spid="20" grpId="0"/>
      <p:bldP spid="21" grpId="0" animBg="1"/>
      <p:bldP spid="23" grpId="0"/>
      <p:bldP spid="2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Экономическая модель Esports: двигатель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аудитории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 · GAME COMMUNITY &amp; ESPORTS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176358" y="27432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95230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414102" y="274320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BX-001 (дополнительные источники дохода), BX-004 (типы лиг), BX-013 v1.0 (взносы лиг), BX-008 (стадия Ecosystem Expansion).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GAME COMMUNITY &amp; ESPORTS</a:t>
            </a:r>
            <a:endParaRPr lang="en-US" sz="900" dirty="0"/>
          </a:p>
        </p:txBody>
      </p:sp>
      <p:sp>
        <p:nvSpPr>
          <p:cNvPr id="10" name="a1_c"/>
          <p:cNvSpPr/>
          <p:nvPr/>
        </p:nvSpPr>
        <p:spPr>
          <a:xfrm>
            <a:off x="54864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Внутри игры · BX-013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33172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Fan / Pro / Master: взнос 5 / 8 / 12 FTXcoin за сезон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Делится: создатель · призовой фонд · казна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Казна — сток валюты, не выручка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Системные лиги бесплатны</a:t>
            </a:r>
            <a:endParaRPr lang="en-US" sz="1100" dirty="0"/>
          </a:p>
        </p:txBody>
      </p:sp>
      <p:sp>
        <p:nvSpPr>
          <p:cNvPr id="13" name="a2_c"/>
          <p:cNvSpPr/>
          <p:nvPr/>
        </p:nvSpPr>
        <p:spPr>
          <a:xfrm>
            <a:off x="429768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98848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Денежные источники · BX-001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498848" y="233172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Спонсорство и Sponsored-лиги (BX-004)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Турнирные билеты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Медиа и трансляции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Цифровой мерч</a:t>
            </a:r>
            <a:endParaRPr lang="en-US" sz="1100" dirty="0"/>
          </a:p>
        </p:txBody>
      </p:sp>
      <p:sp>
        <p:nvSpPr>
          <p:cNvPr id="16" name="a3_c"/>
          <p:cNvSpPr/>
          <p:nvPr/>
        </p:nvSpPr>
        <p:spPr>
          <a:xfrm>
            <a:off x="8046720" y="1828800"/>
            <a:ext cx="3593592" cy="3108960"/>
          </a:xfrm>
          <a:prstGeom prst="roundRect">
            <a:avLst>
              <a:gd name="adj" fmla="val 3529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47888" y="194767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Объёмы и маржа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247888" y="2331720"/>
            <a:ext cx="322783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Выручка, затраты на площадки, продакшн и призы — не заданы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Стадия: Ecosystem Expansion (BX-008)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 направления — аудитория и удержание</a:t>
            </a:r>
            <a:endParaRPr lang="en-US" sz="1100" dirty="0"/>
          </a:p>
        </p:txBody>
      </p:sp>
      <p:sp>
        <p:nvSpPr>
          <p:cNvPr id="19" name="a4_c"/>
          <p:cNvSpPr/>
          <p:nvPr/>
        </p:nvSpPr>
        <p:spPr>
          <a:xfrm>
            <a:off x="548640" y="512064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51206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Принцип: </a:t>
            </a:r>
            <a:pPr indent="0" marL="0">
              <a:buNone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мероприятия должны окупать свои прямые затраты; ставки и азартные механики исключены (BX-013).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6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FootureX Game Dev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Academy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 · EDUCATION &amp; ACADEMY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EDUCATION &amp; ACADEMY</a:t>
            </a:r>
            <a:endParaRPr lang="en-US" sz="900" dirty="0"/>
          </a:p>
        </p:txBody>
      </p:sp>
      <p:sp>
        <p:nvSpPr>
          <p:cNvPr id="9" name="!!roman"/>
          <p:cNvSpPr txBox="1"/>
          <p:nvPr/>
        </p:nvSpPr>
        <p:spPr>
          <a:xfrm>
            <a:off x="502920" y="17830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VII</a:t>
            </a:r>
            <a:endParaRPr lang="en-US" sz="8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154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ОБРАЗОВАНИЕ И АКАДЕМИЯ</a:t>
            </a:r>
            <a:endParaRPr lang="en-US" sz="1300" dirty="0"/>
          </a:p>
        </p:txBody>
      </p:sp>
      <p:sp>
        <p:nvSpPr>
          <p:cNvPr id="11" name="a1_lead"/>
          <p:cNvSpPr txBox="1"/>
          <p:nvPr/>
        </p:nvSpPr>
        <p:spPr>
          <a:xfrm>
            <a:off x="548640" y="36118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Обучение разработке игр, программированию, game design, 3D, UI/UX и искусственному интеллекту — на реальных проектах студии.</a:t>
            </a:r>
            <a:endParaRPr lang="en-US" sz="1500" dirty="0"/>
          </a:p>
        </p:txBody>
      </p:sp>
      <p:sp>
        <p:nvSpPr>
          <p:cNvPr id="12" name="a2_v"/>
          <p:cNvSpPr txBox="1"/>
          <p:nvPr/>
        </p:nvSpPr>
        <p:spPr>
          <a:xfrm>
            <a:off x="548640" y="5074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</a:t>
            </a:r>
            <a:endParaRPr lang="en-US" sz="2200" dirty="0"/>
          </a:p>
        </p:txBody>
      </p:sp>
      <p:sp>
        <p:nvSpPr>
          <p:cNvPr id="13" name="a2_l"/>
          <p:cNvSpPr txBox="1"/>
          <p:nvPr/>
        </p:nvSpPr>
        <p:spPr>
          <a:xfrm>
            <a:off x="548640" y="54864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программ</a:t>
            </a:r>
            <a:endParaRPr lang="en-US" sz="1050" dirty="0"/>
          </a:p>
        </p:txBody>
      </p:sp>
      <p:sp>
        <p:nvSpPr>
          <p:cNvPr id="14" name="a3_v"/>
          <p:cNvSpPr txBox="1"/>
          <p:nvPr/>
        </p:nvSpPr>
        <p:spPr>
          <a:xfrm>
            <a:off x="2057400" y="5074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15" name="a3_l"/>
          <p:cNvSpPr txBox="1"/>
          <p:nvPr/>
        </p:nvSpPr>
        <p:spPr>
          <a:xfrm>
            <a:off x="2057400" y="54864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студии FootureX</a:t>
            </a:r>
            <a:endParaRPr lang="en-US" sz="1050" dirty="0"/>
          </a:p>
        </p:txBody>
      </p:sp>
      <p:sp>
        <p:nvSpPr>
          <p:cNvPr id="16" name="a4_v"/>
          <p:cNvSpPr txBox="1"/>
          <p:nvPr/>
        </p:nvSpPr>
        <p:spPr>
          <a:xfrm>
            <a:off x="3566160" y="5074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Карьера</a:t>
            </a:r>
            <a:endParaRPr lang="en-US" sz="1500" dirty="0"/>
          </a:p>
        </p:txBody>
      </p:sp>
      <p:sp>
        <p:nvSpPr>
          <p:cNvPr id="17" name="a4_l"/>
          <p:cNvSpPr txBox="1"/>
          <p:nvPr/>
        </p:nvSpPr>
        <p:spPr>
          <a:xfrm>
            <a:off x="3566160" y="54864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стажировки и найм</a:t>
            </a:r>
            <a:endParaRPr lang="en-US" sz="1050" dirty="0"/>
          </a:p>
        </p:txBody>
      </p:sp>
      <p:pic>
        <p:nvPicPr>
          <p:cNvPr id="18" name="!!ui" descr="/home/user/footurex-main/presentation/assets/ui/l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920240"/>
            <a:ext cx="6382512" cy="310261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716975" y="52578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 интерфейса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Образовательная концепция: учиться,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создавая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 · EDUCATION &amp; ACADEMY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EDUCATION &amp; ACADEMY</a:t>
            </a:r>
            <a:endParaRPr lang="en-US" sz="900" dirty="0"/>
          </a:p>
        </p:txBody>
      </p:sp>
      <p:sp>
        <p:nvSpPr>
          <p:cNvPr id="9" name="a1_c"/>
          <p:cNvSpPr/>
          <p:nvPr/>
        </p:nvSpPr>
        <p:spPr>
          <a:xfrm>
            <a:off x="54864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a1_en"/>
          <p:cNvSpPr txBox="1"/>
          <p:nvPr/>
        </p:nvSpPr>
        <p:spPr>
          <a:xfrm>
            <a:off x="77724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Learn</a:t>
            </a:r>
            <a:endParaRPr lang="en-US" sz="2400" dirty="0"/>
          </a:p>
        </p:txBody>
      </p:sp>
      <p:sp>
        <p:nvSpPr>
          <p:cNvPr id="12" name="a1_ru"/>
          <p:cNvSpPr txBox="1"/>
          <p:nvPr/>
        </p:nvSpPr>
        <p:spPr>
          <a:xfrm>
            <a:off x="77724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Основы</a:t>
            </a:r>
            <a:endParaRPr lang="en-US" sz="1500" dirty="0"/>
          </a:p>
        </p:txBody>
      </p:sp>
      <p:sp>
        <p:nvSpPr>
          <p:cNvPr id="13" name="a1_t"/>
          <p:cNvSpPr txBox="1"/>
          <p:nvPr/>
        </p:nvSpPr>
        <p:spPr>
          <a:xfrm>
            <a:off x="777240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Программирование, математика игр, инструменты, теория дизайна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182112" y="3429000"/>
            <a:ext cx="146304" cy="0"/>
          </a:xfrm>
          <a:prstGeom prst="line">
            <a:avLst/>
          </a:prstGeom>
          <a:noFill/>
          <a:ln w="19050">
            <a:solidFill>
              <a:srgbClr val="2593FA"/>
            </a:solidFill>
            <a:prstDash val="solid"/>
            <a:tailEnd type="triangle"/>
          </a:ln>
        </p:spPr>
      </p:sp>
      <p:sp>
        <p:nvSpPr>
          <p:cNvPr id="15" name="a2_c"/>
          <p:cNvSpPr/>
          <p:nvPr/>
        </p:nvSpPr>
        <p:spPr>
          <a:xfrm>
            <a:off x="3355848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84448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a2_en"/>
          <p:cNvSpPr txBox="1"/>
          <p:nvPr/>
        </p:nvSpPr>
        <p:spPr>
          <a:xfrm>
            <a:off x="3584448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Build</a:t>
            </a:r>
            <a:endParaRPr lang="en-US" sz="2400" dirty="0"/>
          </a:p>
        </p:txBody>
      </p:sp>
      <p:sp>
        <p:nvSpPr>
          <p:cNvPr id="18" name="a2_ru"/>
          <p:cNvSpPr txBox="1"/>
          <p:nvPr/>
        </p:nvSpPr>
        <p:spPr>
          <a:xfrm>
            <a:off x="3584448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Проекты</a:t>
            </a:r>
            <a:endParaRPr lang="en-US" sz="1500" dirty="0"/>
          </a:p>
        </p:txBody>
      </p:sp>
      <p:sp>
        <p:nvSpPr>
          <p:cNvPr id="19" name="a2_t"/>
          <p:cNvSpPr txBox="1"/>
          <p:nvPr/>
        </p:nvSpPr>
        <p:spPr>
          <a:xfrm>
            <a:off x="3584448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Индивидуальные проекты с код-ревью наставников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89320" y="3429000"/>
            <a:ext cx="146304" cy="0"/>
          </a:xfrm>
          <a:prstGeom prst="line">
            <a:avLst/>
          </a:prstGeom>
          <a:noFill/>
          <a:ln w="19050">
            <a:solidFill>
              <a:srgbClr val="2593FA"/>
            </a:solidFill>
            <a:prstDash val="solid"/>
            <a:tailEnd type="triangle"/>
          </a:ln>
        </p:spPr>
      </p:sp>
      <p:sp>
        <p:nvSpPr>
          <p:cNvPr id="21" name="a3_c"/>
          <p:cNvSpPr/>
          <p:nvPr/>
        </p:nvSpPr>
        <p:spPr>
          <a:xfrm>
            <a:off x="6163056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91656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a3_en"/>
          <p:cNvSpPr txBox="1"/>
          <p:nvPr/>
        </p:nvSpPr>
        <p:spPr>
          <a:xfrm>
            <a:off x="6391656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Ship</a:t>
            </a:r>
            <a:endParaRPr lang="en-US" sz="2400" dirty="0"/>
          </a:p>
        </p:txBody>
      </p:sp>
      <p:sp>
        <p:nvSpPr>
          <p:cNvPr id="24" name="a3_ru"/>
          <p:cNvSpPr txBox="1"/>
          <p:nvPr/>
        </p:nvSpPr>
        <p:spPr>
          <a:xfrm>
            <a:off x="6391656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Релиз</a:t>
            </a:r>
            <a:endParaRPr lang="en-US" sz="1500" dirty="0"/>
          </a:p>
        </p:txBody>
      </p:sp>
      <p:sp>
        <p:nvSpPr>
          <p:cNvPr id="25" name="a3_t"/>
          <p:cNvSpPr txBox="1"/>
          <p:nvPr/>
        </p:nvSpPr>
        <p:spPr>
          <a:xfrm>
            <a:off x="6391656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Командный проект в формате студии: спринты, тесты, выпуск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796528" y="3429000"/>
            <a:ext cx="146304" cy="0"/>
          </a:xfrm>
          <a:prstGeom prst="line">
            <a:avLst/>
          </a:prstGeom>
          <a:noFill/>
          <a:ln w="19050">
            <a:solidFill>
              <a:srgbClr val="2593FA"/>
            </a:solidFill>
            <a:prstDash val="solid"/>
            <a:tailEnd type="triangle"/>
          </a:ln>
        </p:spPr>
      </p:sp>
      <p:sp>
        <p:nvSpPr>
          <p:cNvPr id="27" name="a4_c"/>
          <p:cNvSpPr/>
          <p:nvPr/>
        </p:nvSpPr>
        <p:spPr>
          <a:xfrm>
            <a:off x="8970264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142A70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98864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a4_en"/>
          <p:cNvSpPr txBox="1"/>
          <p:nvPr/>
        </p:nvSpPr>
        <p:spPr>
          <a:xfrm>
            <a:off x="9198864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Hire</a:t>
            </a:r>
            <a:endParaRPr lang="en-US" sz="2400" dirty="0"/>
          </a:p>
        </p:txBody>
      </p:sp>
      <p:sp>
        <p:nvSpPr>
          <p:cNvPr id="30" name="a4_ru"/>
          <p:cNvSpPr txBox="1"/>
          <p:nvPr/>
        </p:nvSpPr>
        <p:spPr>
          <a:xfrm>
            <a:off x="9198864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Карьера</a:t>
            </a:r>
            <a:endParaRPr lang="en-US" sz="1500" dirty="0"/>
          </a:p>
        </p:txBody>
      </p:sp>
      <p:sp>
        <p:nvSpPr>
          <p:cNvPr id="31" name="a4_t"/>
          <p:cNvSpPr txBox="1"/>
          <p:nvPr/>
        </p:nvSpPr>
        <p:spPr>
          <a:xfrm>
            <a:off x="9198864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Стажировка в FootureX или у партнёров, портфолио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Преподают практики индустрии; каждый модуль заканчивается работающим результатом в портфолио.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3" grpId="0"/>
      <p:bldP spid="15" grpId="0" animBg="1"/>
      <p:bldP spid="17" grpId="0"/>
      <p:bldP spid="18" grpId="0"/>
      <p:bldP spid="19" grpId="0"/>
      <p:bldP spid="21" grpId="0" animBg="1"/>
      <p:bldP spid="23" grpId="0"/>
      <p:bldP spid="24" grpId="0"/>
      <p:bldP spid="25" grpId="0"/>
      <p:bldP spid="27" grpId="0" animBg="1"/>
      <p:bldP spid="29" grpId="0"/>
      <p:bldP spid="30" grpId="0"/>
      <p:bldP spid="3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Программы подготовки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разработчиков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 · EDUCATION &amp; ACADEMY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EDUCATION &amp; ACADEMY</a:t>
            </a:r>
            <a:endParaRPr lang="en-US" sz="900" dirty="0"/>
          </a:p>
        </p:txBody>
      </p:sp>
      <p:graphicFrame>
        <p:nvGraphicFramePr>
          <p:cNvPr id="66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920240"/>
                <a:gridCol w="45079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Программа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Длительность*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Формат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Результат выпускника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Game Programmer · Unity / C#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 месяцев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Кампус + онлайн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Junior-разработчик игр, 2 проекта в портфолио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Game Designer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 месяцев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Кампус + онлайн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Документация, баланс, прототипы механик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3D Artist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 месяцев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Кампус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Модели, текстуры, оптимизация под движок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UI/UX для игр и приложений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 месяцев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Онлайн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Интерфейсы, прототипы, юзабилити-тесты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AI Engineer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 месяцев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Кампус + онлайн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ML-модели, AI-агенты, интеграции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Junior Game Lab (12–16 лет)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 месяца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Кампус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Первая игра, основы логики и дизайна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253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Длительность, форматы и учебные планы — проектные, подлежат утверждению. Требования к лицензированию образовательной деятельности — требуют юридической проверки.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Game Design и 3D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Development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 · EDUCATION &amp; ACADEMY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EDUCATION &amp; ACADEMY</a:t>
            </a:r>
            <a:endParaRPr lang="en-US" sz="900" dirty="0"/>
          </a:p>
        </p:txBody>
      </p:sp>
      <p:sp>
        <p:nvSpPr>
          <p:cNvPr id="9" name="a1_c"/>
          <p:cNvSpPr/>
          <p:nvPr/>
        </p:nvSpPr>
        <p:spPr>
          <a:xfrm>
            <a:off x="548640" y="1828800"/>
            <a:ext cx="5440680" cy="4069080"/>
          </a:xfrm>
          <a:prstGeom prst="roundRect">
            <a:avLst>
              <a:gd name="adj" fmla="val 269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t"/>
          <p:cNvSpPr txBox="1"/>
          <p:nvPr/>
        </p:nvSpPr>
        <p:spPr>
          <a:xfrm>
            <a:off x="82296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Game Design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06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25877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Механики и системы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8529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loop, прогрессия, правила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32278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Баланс и экономика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4930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источники, стоки, монетизация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38679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Уровни и контент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1330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построение опыта игрока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526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45079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Прототипирование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47731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быстрые проверки идей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166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325880" y="5148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 и тесты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1325880" y="5413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метрики, A/B, плейтесты</a:t>
            </a:r>
            <a:endParaRPr lang="en-US" sz="1100" dirty="0"/>
          </a:p>
        </p:txBody>
      </p:sp>
      <p:sp>
        <p:nvSpPr>
          <p:cNvPr id="26" name="a2_c"/>
          <p:cNvSpPr/>
          <p:nvPr/>
        </p:nvSpPr>
        <p:spPr>
          <a:xfrm>
            <a:off x="6185916" y="1828800"/>
            <a:ext cx="5440680" cy="4069080"/>
          </a:xfrm>
          <a:prstGeom prst="roundRect">
            <a:avLst>
              <a:gd name="adj" fmla="val 269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7" name="a2_t"/>
          <p:cNvSpPr txBox="1"/>
          <p:nvPr/>
        </p:nvSpPr>
        <p:spPr>
          <a:xfrm>
            <a:off x="6460236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3D Development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460236" y="2606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01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963156" y="25877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Моделирование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6963156" y="28529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персонажи, окружение, объекты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460236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02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963156" y="32278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Текстуры и материалы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6963156" y="34930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PBR-пайплайн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460236" y="3886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03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963156" y="38679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Риггинг и анимация</a:t>
            </a:r>
            <a:endParaRPr lang="en-US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6963156" y="41330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движение персонажей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60236" y="4526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04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963156" y="45079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Оптимизация</a:t>
            </a:r>
            <a:endParaRPr lang="en-US" sz="1350" dirty="0"/>
          </a:p>
        </p:txBody>
      </p:sp>
      <p:sp>
        <p:nvSpPr>
          <p:cNvPr id="39" name="Text 36"/>
          <p:cNvSpPr txBox="1"/>
          <p:nvPr/>
        </p:nvSpPr>
        <p:spPr>
          <a:xfrm>
            <a:off x="6963156" y="47731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мобильные устройства и WebGL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460236" y="5166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05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963156" y="5148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Визуализация</a:t>
            </a:r>
            <a:endParaRPr lang="en-US" sz="1350" dirty="0"/>
          </a:p>
        </p:txBody>
      </p:sp>
      <p:sp>
        <p:nvSpPr>
          <p:cNvPr id="42" name="Text 39"/>
          <p:cNvSpPr txBox="1"/>
          <p:nvPr/>
        </p:nvSpPr>
        <p:spPr>
          <a:xfrm>
            <a:off x="6963156" y="5413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рендер, презентации, архитектура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26" grpId="0" animBg="1"/>
      <p:bldP spid="2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и программирование: фундамент цифровых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профессий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 · EDUCATION &amp; ACADEMY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EDUCATION &amp; ACADEMY</a:t>
            </a:r>
            <a:endParaRPr lang="en-US" sz="900" dirty="0"/>
          </a:p>
        </p:txBody>
      </p:sp>
      <p:sp>
        <p:nvSpPr>
          <p:cNvPr id="9" name="a1_card"/>
          <p:cNvSpPr/>
          <p:nvPr/>
        </p:nvSpPr>
        <p:spPr>
          <a:xfrm>
            <a:off x="548640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iconbg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1" name="a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67128"/>
            <a:ext cx="237744" cy="237744"/>
          </a:xfrm>
          <a:prstGeom prst="rect">
            <a:avLst/>
          </a:prstGeom>
        </p:spPr>
      </p:pic>
      <p:sp>
        <p:nvSpPr>
          <p:cNvPr id="12" name="a1_t"/>
          <p:cNvSpPr txBox="1"/>
          <p:nvPr/>
        </p:nvSpPr>
        <p:spPr>
          <a:xfrm>
            <a:off x="1371600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Основы программирования</a:t>
            </a:r>
            <a:endParaRPr lang="en-US" sz="1400" dirty="0"/>
          </a:p>
        </p:txBody>
      </p:sp>
      <p:sp>
        <p:nvSpPr>
          <p:cNvPr id="13" name="a1_d"/>
          <p:cNvSpPr txBox="1"/>
          <p:nvPr/>
        </p:nvSpPr>
        <p:spPr>
          <a:xfrm>
            <a:off x="777240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Алгоритмы, структуры данных, Git, командная работа.</a:t>
            </a:r>
            <a:endParaRPr lang="en-US" sz="1250" dirty="0"/>
          </a:p>
        </p:txBody>
      </p:sp>
      <p:sp>
        <p:nvSpPr>
          <p:cNvPr id="14" name="a2_card"/>
          <p:cNvSpPr/>
          <p:nvPr/>
        </p:nvSpPr>
        <p:spPr>
          <a:xfrm>
            <a:off x="4322978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5" name="a2_iconbg"/>
          <p:cNvSpPr/>
          <p:nvPr/>
        </p:nvSpPr>
        <p:spPr>
          <a:xfrm>
            <a:off x="4551578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6" name="a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306" y="2167128"/>
            <a:ext cx="237744" cy="237744"/>
          </a:xfrm>
          <a:prstGeom prst="rect">
            <a:avLst/>
          </a:prstGeom>
        </p:spPr>
      </p:pic>
      <p:sp>
        <p:nvSpPr>
          <p:cNvPr id="17" name="a2_t"/>
          <p:cNvSpPr txBox="1"/>
          <p:nvPr/>
        </p:nvSpPr>
        <p:spPr>
          <a:xfrm>
            <a:off x="5145938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C# и Unity</a:t>
            </a:r>
            <a:endParaRPr lang="en-US" sz="1400" dirty="0"/>
          </a:p>
        </p:txBody>
      </p:sp>
      <p:sp>
        <p:nvSpPr>
          <p:cNvPr id="18" name="a2_d"/>
          <p:cNvSpPr txBox="1"/>
          <p:nvPr/>
        </p:nvSpPr>
        <p:spPr>
          <a:xfrm>
            <a:off x="4551578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Игровая логика, физика, UI, сеть, сборка под платформы.</a:t>
            </a:r>
            <a:endParaRPr lang="en-US" sz="1250" dirty="0"/>
          </a:p>
        </p:txBody>
      </p:sp>
      <p:sp>
        <p:nvSpPr>
          <p:cNvPr id="19" name="a3_card"/>
          <p:cNvSpPr/>
          <p:nvPr/>
        </p:nvSpPr>
        <p:spPr>
          <a:xfrm>
            <a:off x="8097317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0" name="a3_iconbg"/>
          <p:cNvSpPr/>
          <p:nvPr/>
        </p:nvSpPr>
        <p:spPr>
          <a:xfrm>
            <a:off x="8325917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1" name="a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645" y="2167128"/>
            <a:ext cx="237744" cy="237744"/>
          </a:xfrm>
          <a:prstGeom prst="rect">
            <a:avLst/>
          </a:prstGeom>
        </p:spPr>
      </p:pic>
      <p:sp>
        <p:nvSpPr>
          <p:cNvPr id="22" name="a3_t"/>
          <p:cNvSpPr txBox="1"/>
          <p:nvPr/>
        </p:nvSpPr>
        <p:spPr>
          <a:xfrm>
            <a:off x="8920277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Веб и Telegram Mini Apps</a:t>
            </a:r>
            <a:endParaRPr lang="en-US" sz="1400" dirty="0"/>
          </a:p>
        </p:txBody>
      </p:sp>
      <p:sp>
        <p:nvSpPr>
          <p:cNvPr id="23" name="a3_d"/>
          <p:cNvSpPr txBox="1"/>
          <p:nvPr/>
        </p:nvSpPr>
        <p:spPr>
          <a:xfrm>
            <a:off x="8325917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TypeScript, React, WebGL — формат FootureX Game.</a:t>
            </a:r>
            <a:endParaRPr lang="en-US" sz="1250" dirty="0"/>
          </a:p>
        </p:txBody>
      </p:sp>
      <p:sp>
        <p:nvSpPr>
          <p:cNvPr id="24" name="a4_card"/>
          <p:cNvSpPr/>
          <p:nvPr/>
        </p:nvSpPr>
        <p:spPr>
          <a:xfrm>
            <a:off x="548640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5" name="a4_iconbg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6" name="a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361688"/>
            <a:ext cx="237744" cy="237744"/>
          </a:xfrm>
          <a:prstGeom prst="rect">
            <a:avLst/>
          </a:prstGeom>
        </p:spPr>
      </p:pic>
      <p:sp>
        <p:nvSpPr>
          <p:cNvPr id="27" name="a4_t"/>
          <p:cNvSpPr txBox="1"/>
          <p:nvPr/>
        </p:nvSpPr>
        <p:spPr>
          <a:xfrm>
            <a:off x="1371600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Машинное обучение</a:t>
            </a:r>
            <a:endParaRPr lang="en-US" sz="1400" dirty="0"/>
          </a:p>
        </p:txBody>
      </p:sp>
      <p:sp>
        <p:nvSpPr>
          <p:cNvPr id="28" name="a4_d"/>
          <p:cNvSpPr txBox="1"/>
          <p:nvPr/>
        </p:nvSpPr>
        <p:spPr>
          <a:xfrm>
            <a:off x="777240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Python, данные, классические модели, оценка качества.</a:t>
            </a:r>
            <a:endParaRPr lang="en-US" sz="1250" dirty="0"/>
          </a:p>
        </p:txBody>
      </p:sp>
      <p:sp>
        <p:nvSpPr>
          <p:cNvPr id="29" name="a5_card"/>
          <p:cNvSpPr/>
          <p:nvPr/>
        </p:nvSpPr>
        <p:spPr>
          <a:xfrm>
            <a:off x="4322978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0" name="a5_iconbg"/>
          <p:cNvSpPr/>
          <p:nvPr/>
        </p:nvSpPr>
        <p:spPr>
          <a:xfrm>
            <a:off x="4551578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1" name="a5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306" y="4361688"/>
            <a:ext cx="237744" cy="237744"/>
          </a:xfrm>
          <a:prstGeom prst="rect">
            <a:avLst/>
          </a:prstGeom>
        </p:spPr>
      </p:pic>
      <p:sp>
        <p:nvSpPr>
          <p:cNvPr id="32" name="a5_t"/>
          <p:cNvSpPr txBox="1"/>
          <p:nvPr/>
        </p:nvSpPr>
        <p:spPr>
          <a:xfrm>
            <a:off x="5145938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AI-агенты</a:t>
            </a:r>
            <a:endParaRPr lang="en-US" sz="1400" dirty="0"/>
          </a:p>
        </p:txBody>
      </p:sp>
      <p:sp>
        <p:nvSpPr>
          <p:cNvPr id="33" name="a5_d"/>
          <p:cNvSpPr txBox="1"/>
          <p:nvPr/>
        </p:nvSpPr>
        <p:spPr>
          <a:xfrm>
            <a:off x="4551578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 с языковыми моделями, RAG, инструменты, безопасность.</a:t>
            </a:r>
            <a:endParaRPr lang="en-US" sz="1250" dirty="0"/>
          </a:p>
        </p:txBody>
      </p:sp>
      <p:sp>
        <p:nvSpPr>
          <p:cNvPr id="34" name="a6_card"/>
          <p:cNvSpPr/>
          <p:nvPr/>
        </p:nvSpPr>
        <p:spPr>
          <a:xfrm>
            <a:off x="8097317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5" name="a6_iconbg"/>
          <p:cNvSpPr/>
          <p:nvPr/>
        </p:nvSpPr>
        <p:spPr>
          <a:xfrm>
            <a:off x="8325917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6" name="a6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645" y="4361688"/>
            <a:ext cx="237744" cy="237744"/>
          </a:xfrm>
          <a:prstGeom prst="rect">
            <a:avLst/>
          </a:prstGeom>
        </p:spPr>
      </p:pic>
      <p:sp>
        <p:nvSpPr>
          <p:cNvPr id="37" name="a6_t"/>
          <p:cNvSpPr txBox="1"/>
          <p:nvPr/>
        </p:nvSpPr>
        <p:spPr>
          <a:xfrm>
            <a:off x="8920277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Ответственный AI</a:t>
            </a:r>
            <a:endParaRPr lang="en-US" sz="1400" dirty="0"/>
          </a:p>
        </p:txBody>
      </p:sp>
      <p:sp>
        <p:nvSpPr>
          <p:cNvPr id="38" name="a6_d"/>
          <p:cNvSpPr txBox="1"/>
          <p:nvPr/>
        </p:nvSpPr>
        <p:spPr>
          <a:xfrm>
            <a:off x="8325917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Этика, защита данных, тестирование и контроль.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/>
      <p:bldP spid="13" grpId="0"/>
      <p:bldP spid="14" grpId="0" animBg="1"/>
      <p:bldP spid="15" grpId="0" animBg="1"/>
      <p:bldP spid="17" grpId="0"/>
      <p:bldP spid="18" grpId="0"/>
      <p:bldP spid="19" grpId="0" animBg="1"/>
      <p:bldP spid="20" grpId="0" animBg="1"/>
      <p:bldP spid="22" grpId="0"/>
      <p:bldP spid="23" grpId="0"/>
      <p:bldP spid="24" grpId="0" animBg="1"/>
      <p:bldP spid="25" grpId="0" animBg="1"/>
      <p:bldP spid="27" grpId="0"/>
      <p:bldP spid="28" grpId="0"/>
      <p:bldP spid="29" grpId="0" animBg="1"/>
      <p:bldP spid="30" grpId="0" animBg="1"/>
      <p:bldP spid="32" grpId="0"/>
      <p:bldP spid="33" grpId="0"/>
      <p:bldP spid="34" grpId="0" animBg="1"/>
      <p:bldP spid="35" grpId="0" animBg="1"/>
      <p:bldP spid="37" grpId="0"/>
      <p:bldP spid="3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Практика и подготовка кадров: путь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студента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 · EDUCATION &amp; ACADEMY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092233" y="274320"/>
            <a:ext cx="1550822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11105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329977" y="274320"/>
            <a:ext cx="125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ФАЗА 1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EDUCATION &amp; ACADEMY</a:t>
            </a:r>
            <a:endParaRPr lang="en-US" sz="900" dirty="0"/>
          </a:p>
        </p:txBody>
      </p:sp>
      <p:sp>
        <p:nvSpPr>
          <p:cNvPr id="9" name="a1_dot"/>
          <p:cNvSpPr/>
          <p:nvPr/>
        </p:nvSpPr>
        <p:spPr>
          <a:xfrm>
            <a:off x="548640" y="210312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10" name="a1_num"/>
          <p:cNvSpPr txBox="1"/>
          <p:nvPr/>
        </p:nvSpPr>
        <p:spPr>
          <a:xfrm>
            <a:off x="54864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a1_ln"/>
          <p:cNvSpPr/>
          <p:nvPr/>
        </p:nvSpPr>
        <p:spPr>
          <a:xfrm>
            <a:off x="1207008" y="2386584"/>
            <a:ext cx="113278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12" name="a1_t"/>
          <p:cNvSpPr txBox="1"/>
          <p:nvPr/>
        </p:nvSpPr>
        <p:spPr>
          <a:xfrm>
            <a:off x="548640" y="288036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Отбор</a:t>
            </a:r>
            <a:endParaRPr lang="en-US" sz="1250" dirty="0"/>
          </a:p>
        </p:txBody>
      </p:sp>
      <p:sp>
        <p:nvSpPr>
          <p:cNvPr id="13" name="a1_d"/>
          <p:cNvSpPr txBox="1"/>
          <p:nvPr/>
        </p:nvSpPr>
        <p:spPr>
          <a:xfrm>
            <a:off x="548640" y="3337560"/>
            <a:ext cx="16357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 логики, мотивационное интервью.</a:t>
            </a:r>
            <a:endParaRPr lang="en-US" sz="1250" dirty="0"/>
          </a:p>
        </p:txBody>
      </p:sp>
      <p:sp>
        <p:nvSpPr>
          <p:cNvPr id="14" name="a2_dot"/>
          <p:cNvSpPr/>
          <p:nvPr/>
        </p:nvSpPr>
        <p:spPr>
          <a:xfrm>
            <a:off x="2431237" y="210312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15" name="a2_num"/>
          <p:cNvSpPr txBox="1"/>
          <p:nvPr/>
        </p:nvSpPr>
        <p:spPr>
          <a:xfrm>
            <a:off x="2431237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a2_ln"/>
          <p:cNvSpPr/>
          <p:nvPr/>
        </p:nvSpPr>
        <p:spPr>
          <a:xfrm>
            <a:off x="3089605" y="2386584"/>
            <a:ext cx="113278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17" name="a2_t"/>
          <p:cNvSpPr txBox="1"/>
          <p:nvPr/>
        </p:nvSpPr>
        <p:spPr>
          <a:xfrm>
            <a:off x="2431237" y="288036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Базовый модуль</a:t>
            </a:r>
            <a:endParaRPr lang="en-US" sz="1250" dirty="0"/>
          </a:p>
        </p:txBody>
      </p:sp>
      <p:sp>
        <p:nvSpPr>
          <p:cNvPr id="18" name="a2_d"/>
          <p:cNvSpPr txBox="1"/>
          <p:nvPr/>
        </p:nvSpPr>
        <p:spPr>
          <a:xfrm>
            <a:off x="2431237" y="3337560"/>
            <a:ext cx="16357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Основы профессии и инструменты.</a:t>
            </a:r>
            <a:endParaRPr lang="en-US" sz="1250" dirty="0"/>
          </a:p>
        </p:txBody>
      </p:sp>
      <p:sp>
        <p:nvSpPr>
          <p:cNvPr id="19" name="a3_dot"/>
          <p:cNvSpPr/>
          <p:nvPr/>
        </p:nvSpPr>
        <p:spPr>
          <a:xfrm>
            <a:off x="4313834" y="210312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0" name="a3_num"/>
          <p:cNvSpPr txBox="1"/>
          <p:nvPr/>
        </p:nvSpPr>
        <p:spPr>
          <a:xfrm>
            <a:off x="431383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a3_ln"/>
          <p:cNvSpPr/>
          <p:nvPr/>
        </p:nvSpPr>
        <p:spPr>
          <a:xfrm>
            <a:off x="4972202" y="2386584"/>
            <a:ext cx="113278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22" name="a3_t"/>
          <p:cNvSpPr txBox="1"/>
          <p:nvPr/>
        </p:nvSpPr>
        <p:spPr>
          <a:xfrm>
            <a:off x="4313834" y="288036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Проекты</a:t>
            </a:r>
            <a:endParaRPr lang="en-US" sz="1250" dirty="0"/>
          </a:p>
        </p:txBody>
      </p:sp>
      <p:sp>
        <p:nvSpPr>
          <p:cNvPr id="23" name="a3_d"/>
          <p:cNvSpPr txBox="1"/>
          <p:nvPr/>
        </p:nvSpPr>
        <p:spPr>
          <a:xfrm>
            <a:off x="4313834" y="3337560"/>
            <a:ext cx="16357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Индивидуальные работы с ревью.</a:t>
            </a:r>
            <a:endParaRPr lang="en-US" sz="1250" dirty="0"/>
          </a:p>
        </p:txBody>
      </p:sp>
      <p:sp>
        <p:nvSpPr>
          <p:cNvPr id="24" name="a4_dot"/>
          <p:cNvSpPr/>
          <p:nvPr/>
        </p:nvSpPr>
        <p:spPr>
          <a:xfrm>
            <a:off x="6196432" y="210312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5" name="a4_num"/>
          <p:cNvSpPr txBox="1"/>
          <p:nvPr/>
        </p:nvSpPr>
        <p:spPr>
          <a:xfrm>
            <a:off x="6196432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a4_ln"/>
          <p:cNvSpPr/>
          <p:nvPr/>
        </p:nvSpPr>
        <p:spPr>
          <a:xfrm>
            <a:off x="6854800" y="2386584"/>
            <a:ext cx="113278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27" name="a4_t"/>
          <p:cNvSpPr txBox="1"/>
          <p:nvPr/>
        </p:nvSpPr>
        <p:spPr>
          <a:xfrm>
            <a:off x="6196432" y="288036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Студия</a:t>
            </a:r>
            <a:endParaRPr lang="en-US" sz="1250" dirty="0"/>
          </a:p>
        </p:txBody>
      </p:sp>
      <p:sp>
        <p:nvSpPr>
          <p:cNvPr id="28" name="a4_d"/>
          <p:cNvSpPr txBox="1"/>
          <p:nvPr/>
        </p:nvSpPr>
        <p:spPr>
          <a:xfrm>
            <a:off x="6196432" y="3337560"/>
            <a:ext cx="16357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Командный проект по процессам FootureX.</a:t>
            </a:r>
            <a:endParaRPr lang="en-US" sz="1250" dirty="0"/>
          </a:p>
        </p:txBody>
      </p:sp>
      <p:sp>
        <p:nvSpPr>
          <p:cNvPr id="29" name="a5_dot"/>
          <p:cNvSpPr/>
          <p:nvPr/>
        </p:nvSpPr>
        <p:spPr>
          <a:xfrm>
            <a:off x="8079029" y="210312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30" name="a5_num"/>
          <p:cNvSpPr txBox="1"/>
          <p:nvPr/>
        </p:nvSpPr>
        <p:spPr>
          <a:xfrm>
            <a:off x="8079029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a5_ln"/>
          <p:cNvSpPr/>
          <p:nvPr/>
        </p:nvSpPr>
        <p:spPr>
          <a:xfrm>
            <a:off x="8737397" y="2386584"/>
            <a:ext cx="113278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32" name="a5_t"/>
          <p:cNvSpPr txBox="1"/>
          <p:nvPr/>
        </p:nvSpPr>
        <p:spPr>
          <a:xfrm>
            <a:off x="8079029" y="288036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Демо-день</a:t>
            </a:r>
            <a:endParaRPr lang="en-US" sz="1250" dirty="0"/>
          </a:p>
        </p:txBody>
      </p:sp>
      <p:sp>
        <p:nvSpPr>
          <p:cNvPr id="33" name="a5_d"/>
          <p:cNvSpPr txBox="1"/>
          <p:nvPr/>
        </p:nvSpPr>
        <p:spPr>
          <a:xfrm>
            <a:off x="8079029" y="3337560"/>
            <a:ext cx="16357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перед работодателями.</a:t>
            </a:r>
            <a:endParaRPr lang="en-US" sz="1250" dirty="0"/>
          </a:p>
        </p:txBody>
      </p:sp>
      <p:sp>
        <p:nvSpPr>
          <p:cNvPr id="34" name="a6_dot"/>
          <p:cNvSpPr/>
          <p:nvPr/>
        </p:nvSpPr>
        <p:spPr>
          <a:xfrm>
            <a:off x="9961626" y="2103120"/>
            <a:ext cx="566928" cy="566928"/>
          </a:xfrm>
          <a:prstGeom prst="ellipse">
            <a:avLst/>
          </a:prstGeom>
          <a:solidFill>
            <a:srgbClr val="2550FA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35" name="a6_num"/>
          <p:cNvSpPr txBox="1"/>
          <p:nvPr/>
        </p:nvSpPr>
        <p:spPr>
          <a:xfrm>
            <a:off x="9961626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a6_t"/>
          <p:cNvSpPr txBox="1"/>
          <p:nvPr/>
        </p:nvSpPr>
        <p:spPr>
          <a:xfrm>
            <a:off x="9961626" y="288036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Карьера</a:t>
            </a:r>
            <a:endParaRPr lang="en-US" sz="1250" dirty="0"/>
          </a:p>
        </p:txBody>
      </p:sp>
      <p:sp>
        <p:nvSpPr>
          <p:cNvPr id="37" name="a6_d"/>
          <p:cNvSpPr txBox="1"/>
          <p:nvPr/>
        </p:nvSpPr>
        <p:spPr>
          <a:xfrm>
            <a:off x="9961626" y="3337560"/>
            <a:ext cx="16357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Стажировка и найм в FootureX или у партнёров.</a:t>
            </a:r>
            <a:endParaRPr lang="en-US" sz="1250" dirty="0"/>
          </a:p>
        </p:txBody>
      </p:sp>
      <p:sp>
        <p:nvSpPr>
          <p:cNvPr id="38" name="a1_card"/>
          <p:cNvSpPr/>
          <p:nvPr/>
        </p:nvSpPr>
        <p:spPr>
          <a:xfrm>
            <a:off x="548640" y="4434840"/>
            <a:ext cx="3515258" cy="1463040"/>
          </a:xfrm>
          <a:prstGeom prst="roundRect">
            <a:avLst>
              <a:gd name="adj" fmla="val 75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9" name="a1_v"/>
          <p:cNvSpPr txBox="1"/>
          <p:nvPr/>
        </p:nvSpPr>
        <p:spPr>
          <a:xfrm>
            <a:off x="777240" y="4636008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Набор</a:t>
            </a:r>
            <a:endParaRPr lang="en-US" sz="2400" dirty="0"/>
          </a:p>
        </p:txBody>
      </p:sp>
      <p:sp>
        <p:nvSpPr>
          <p:cNvPr id="40" name="a1_l"/>
          <p:cNvSpPr txBox="1"/>
          <p:nvPr/>
        </p:nvSpPr>
        <p:spPr>
          <a:xfrm>
            <a:off x="777240" y="53675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численность потоков — требуется подтверждение</a:t>
            </a:r>
            <a:endParaRPr lang="en-US" sz="1250" dirty="0"/>
          </a:p>
        </p:txBody>
      </p:sp>
      <p:sp>
        <p:nvSpPr>
          <p:cNvPr id="41" name="a2_card"/>
          <p:cNvSpPr/>
          <p:nvPr/>
        </p:nvSpPr>
        <p:spPr>
          <a:xfrm>
            <a:off x="4338218" y="4434840"/>
            <a:ext cx="3515258" cy="1463040"/>
          </a:xfrm>
          <a:prstGeom prst="roundRect">
            <a:avLst>
              <a:gd name="adj" fmla="val 75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42" name="a2_v"/>
          <p:cNvSpPr txBox="1"/>
          <p:nvPr/>
        </p:nvSpPr>
        <p:spPr>
          <a:xfrm>
            <a:off x="4566818" y="4636008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Студия</a:t>
            </a:r>
            <a:endParaRPr lang="en-US" sz="2400" dirty="0"/>
          </a:p>
        </p:txBody>
      </p:sp>
      <p:sp>
        <p:nvSpPr>
          <p:cNvPr id="43" name="a2_l"/>
          <p:cNvSpPr txBox="1"/>
          <p:nvPr/>
        </p:nvSpPr>
        <p:spPr>
          <a:xfrm>
            <a:off x="4566818" y="53675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практика на реальных продуктах FootureX и клиентов</a:t>
            </a:r>
            <a:endParaRPr lang="en-US" sz="1250" dirty="0"/>
          </a:p>
        </p:txBody>
      </p:sp>
      <p:sp>
        <p:nvSpPr>
          <p:cNvPr id="44" name="a3_card"/>
          <p:cNvSpPr/>
          <p:nvPr/>
        </p:nvSpPr>
        <p:spPr>
          <a:xfrm>
            <a:off x="8127797" y="4434840"/>
            <a:ext cx="3515258" cy="1463040"/>
          </a:xfrm>
          <a:prstGeom prst="roundRect">
            <a:avLst>
              <a:gd name="adj" fmla="val 75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45" name="a3_v"/>
          <p:cNvSpPr txBox="1"/>
          <p:nvPr/>
        </p:nvSpPr>
        <p:spPr>
          <a:xfrm>
            <a:off x="8356397" y="4636008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Партнёры</a:t>
            </a:r>
            <a:endParaRPr lang="en-US" sz="2400" dirty="0"/>
          </a:p>
        </p:txBody>
      </p:sp>
      <p:sp>
        <p:nvSpPr>
          <p:cNvPr id="46" name="a3_l"/>
          <p:cNvSpPr txBox="1"/>
          <p:nvPr/>
        </p:nvSpPr>
        <p:spPr>
          <a:xfrm>
            <a:off x="8356397" y="53675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целевые работодатели: IT-компании, студии, банки, телеком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/>
      <p:bldP spid="13" grpId="0"/>
      <p:bldP spid="38" grpId="0" animBg="1"/>
      <p:bldP spid="39" grpId="0"/>
      <p:bldP spid="40" grpId="0"/>
      <p:bldP spid="14" grpId="0" animBg="1"/>
      <p:bldP spid="15" grpId="0"/>
      <p:bldP spid="16" grpId="0" animBg="1"/>
      <p:bldP spid="17" grpId="0"/>
      <p:bldP spid="18" grpId="0"/>
      <p:bldP spid="41" grpId="0" animBg="1"/>
      <p:bldP spid="42" grpId="0"/>
      <p:bldP spid="43" grpId="0"/>
      <p:bldP spid="19" grpId="0" animBg="1"/>
      <p:bldP spid="20" grpId="0"/>
      <p:bldP spid="21" grpId="0" animBg="1"/>
      <p:bldP spid="22" grpId="0"/>
      <p:bldP spid="23" grpId="0"/>
      <p:bldP spid="44" grpId="0" animBg="1"/>
      <p:bldP spid="45" grpId="0"/>
      <p:bldP spid="46" grpId="0"/>
      <p:bldP spid="24" grpId="0" animBg="1"/>
      <p:bldP spid="25" grpId="0"/>
      <p:bldP spid="26" grpId="0" animBg="1"/>
      <p:bldP spid="27" grpId="0"/>
      <p:bldP spid="28" grpId="0"/>
      <p:bldP spid="29" grpId="0" animBg="1"/>
      <p:bldP spid="30" grpId="0"/>
      <p:bldP spid="31" grpId="0" animBg="1"/>
      <p:bldP spid="32" grpId="0"/>
      <p:bldP spid="33" grpId="0"/>
      <p:bldP spid="34" grpId="0" animBg="1"/>
      <p:bldP spid="35" grpId="0"/>
      <p:bldP spid="36" grpId="0"/>
      <p:bldP spid="3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Монетизация образовательного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направления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 · EDUCATION &amp; ACADEMY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662111" y="274320"/>
            <a:ext cx="298094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B8C1D4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8780983" y="374904"/>
            <a:ext cx="91440" cy="91440"/>
          </a:xfrm>
          <a:prstGeom prst="ellipse">
            <a:avLst/>
          </a:prstGeom>
          <a:solidFill>
            <a:srgbClr val="B8C1D4"/>
          </a:solidFill>
          <a:ln w="12700">
            <a:solidFill>
              <a:srgbClr val="B8C1D4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8899855" y="2743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УПРАВЛЕНЧЕСКАЯ МОДЕЛЬ · ПРОЕКТ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Корпоративная концепция FootureX Uzbekistan; цель BX-001 — платформа развития молодёжи и талантов. Цены и набор не предоставлены.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EDUCATION &amp; ACADEMY</a:t>
            </a:r>
            <a:endParaRPr lang="en-US" sz="900" dirty="0"/>
          </a:p>
        </p:txBody>
      </p:sp>
      <p:sp>
        <p:nvSpPr>
          <p:cNvPr id="10" name="a1_dot"/>
          <p:cNvSpPr/>
          <p:nvPr/>
        </p:nvSpPr>
        <p:spPr>
          <a:xfrm>
            <a:off x="548640" y="201168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11" name="a1_num"/>
          <p:cNvSpPr txBox="1"/>
          <p:nvPr/>
        </p:nvSpPr>
        <p:spPr>
          <a:xfrm>
            <a:off x="54864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a1_ln"/>
          <p:cNvSpPr/>
          <p:nvPr/>
        </p:nvSpPr>
        <p:spPr>
          <a:xfrm>
            <a:off x="1207008" y="2295144"/>
            <a:ext cx="150930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13" name="a1_t"/>
          <p:cNvSpPr txBox="1"/>
          <p:nvPr/>
        </p:nvSpPr>
        <p:spPr>
          <a:xfrm>
            <a:off x="548640" y="2788920"/>
            <a:ext cx="20122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Слушатели</a:t>
            </a:r>
            <a:endParaRPr lang="en-US" sz="1450" dirty="0"/>
          </a:p>
        </p:txBody>
      </p:sp>
      <p:sp>
        <p:nvSpPr>
          <p:cNvPr id="14" name="a1_d"/>
          <p:cNvSpPr txBox="1"/>
          <p:nvPr/>
        </p:nvSpPr>
        <p:spPr>
          <a:xfrm>
            <a:off x="548640" y="3383280"/>
            <a:ext cx="20122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Набор по программам и потокам</a:t>
            </a:r>
            <a:endParaRPr lang="en-US" sz="1250" dirty="0"/>
          </a:p>
        </p:txBody>
      </p:sp>
      <p:sp>
        <p:nvSpPr>
          <p:cNvPr id="15" name="a2_dot"/>
          <p:cNvSpPr/>
          <p:nvPr/>
        </p:nvSpPr>
        <p:spPr>
          <a:xfrm>
            <a:off x="2807757" y="201168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16" name="a2_num"/>
          <p:cNvSpPr txBox="1"/>
          <p:nvPr/>
        </p:nvSpPr>
        <p:spPr>
          <a:xfrm>
            <a:off x="2807757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a2_ln"/>
          <p:cNvSpPr/>
          <p:nvPr/>
        </p:nvSpPr>
        <p:spPr>
          <a:xfrm>
            <a:off x="3466125" y="2295144"/>
            <a:ext cx="150930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18" name="a2_t"/>
          <p:cNvSpPr txBox="1"/>
          <p:nvPr/>
        </p:nvSpPr>
        <p:spPr>
          <a:xfrm>
            <a:off x="2807757" y="2788920"/>
            <a:ext cx="20122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Цена</a:t>
            </a:r>
            <a:endParaRPr lang="en-US" sz="1450" dirty="0"/>
          </a:p>
        </p:txBody>
      </p:sp>
      <p:sp>
        <p:nvSpPr>
          <p:cNvPr id="19" name="a2_d"/>
          <p:cNvSpPr txBox="1"/>
          <p:nvPr/>
        </p:nvSpPr>
        <p:spPr>
          <a:xfrm>
            <a:off x="2807757" y="3383280"/>
            <a:ext cx="20122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Стоимость программы, рассрочка, гранты</a:t>
            </a:r>
            <a:endParaRPr lang="en-US" sz="1250" dirty="0"/>
          </a:p>
        </p:txBody>
      </p:sp>
      <p:sp>
        <p:nvSpPr>
          <p:cNvPr id="20" name="a3_dot"/>
          <p:cNvSpPr/>
          <p:nvPr/>
        </p:nvSpPr>
        <p:spPr>
          <a:xfrm>
            <a:off x="5066873" y="201168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1" name="a3_num"/>
          <p:cNvSpPr txBox="1"/>
          <p:nvPr/>
        </p:nvSpPr>
        <p:spPr>
          <a:xfrm>
            <a:off x="5066873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a3_ln"/>
          <p:cNvSpPr/>
          <p:nvPr/>
        </p:nvSpPr>
        <p:spPr>
          <a:xfrm>
            <a:off x="5725241" y="2295144"/>
            <a:ext cx="150930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23" name="a3_t"/>
          <p:cNvSpPr txBox="1"/>
          <p:nvPr/>
        </p:nvSpPr>
        <p:spPr>
          <a:xfrm>
            <a:off x="5066873" y="2788920"/>
            <a:ext cx="20122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Выручка B2C</a:t>
            </a:r>
            <a:endParaRPr lang="en-US" sz="1450" dirty="0"/>
          </a:p>
        </p:txBody>
      </p:sp>
      <p:sp>
        <p:nvSpPr>
          <p:cNvPr id="24" name="a3_d"/>
          <p:cNvSpPr txBox="1"/>
          <p:nvPr/>
        </p:nvSpPr>
        <p:spPr>
          <a:xfrm>
            <a:off x="5066873" y="3383280"/>
            <a:ext cx="20122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Слушатели × цена</a:t>
            </a:r>
            <a:endParaRPr lang="en-US" sz="1250" dirty="0"/>
          </a:p>
        </p:txBody>
      </p:sp>
      <p:sp>
        <p:nvSpPr>
          <p:cNvPr id="25" name="a4_dot"/>
          <p:cNvSpPr/>
          <p:nvPr/>
        </p:nvSpPr>
        <p:spPr>
          <a:xfrm>
            <a:off x="7325990" y="201168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6" name="a4_num"/>
          <p:cNvSpPr txBox="1"/>
          <p:nvPr/>
        </p:nvSpPr>
        <p:spPr>
          <a:xfrm>
            <a:off x="732599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a4_ln"/>
          <p:cNvSpPr/>
          <p:nvPr/>
        </p:nvSpPr>
        <p:spPr>
          <a:xfrm>
            <a:off x="7984358" y="2295144"/>
            <a:ext cx="150930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28" name="a4_t"/>
          <p:cNvSpPr txBox="1"/>
          <p:nvPr/>
        </p:nvSpPr>
        <p:spPr>
          <a:xfrm>
            <a:off x="7325990" y="2788920"/>
            <a:ext cx="20122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B2B</a:t>
            </a:r>
            <a:endParaRPr lang="en-US" sz="1450" dirty="0"/>
          </a:p>
        </p:txBody>
      </p:sp>
      <p:sp>
        <p:nvSpPr>
          <p:cNvPr id="29" name="a4_d"/>
          <p:cNvSpPr txBox="1"/>
          <p:nvPr/>
        </p:nvSpPr>
        <p:spPr>
          <a:xfrm>
            <a:off x="7325990" y="3383280"/>
            <a:ext cx="20122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Корпоративное обучение, интенсивы</a:t>
            </a:r>
            <a:endParaRPr lang="en-US" sz="1250" dirty="0"/>
          </a:p>
        </p:txBody>
      </p:sp>
      <p:sp>
        <p:nvSpPr>
          <p:cNvPr id="30" name="a5_dot"/>
          <p:cNvSpPr/>
          <p:nvPr/>
        </p:nvSpPr>
        <p:spPr>
          <a:xfrm>
            <a:off x="9585107" y="201168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31" name="a5_num"/>
          <p:cNvSpPr txBox="1"/>
          <p:nvPr/>
        </p:nvSpPr>
        <p:spPr>
          <a:xfrm>
            <a:off x="9585107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a5_t"/>
          <p:cNvSpPr txBox="1"/>
          <p:nvPr/>
        </p:nvSpPr>
        <p:spPr>
          <a:xfrm>
            <a:off x="9585107" y="2788920"/>
            <a:ext cx="20122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Маржа</a:t>
            </a:r>
            <a:endParaRPr lang="en-US" sz="1450" dirty="0"/>
          </a:p>
        </p:txBody>
      </p:sp>
      <p:sp>
        <p:nvSpPr>
          <p:cNvPr id="33" name="a5_d"/>
          <p:cNvSpPr txBox="1"/>
          <p:nvPr/>
        </p:nvSpPr>
        <p:spPr>
          <a:xfrm>
            <a:off x="9585107" y="3383280"/>
            <a:ext cx="20122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Выручка − преподаватели − контент − площадки</a:t>
            </a:r>
            <a:endParaRPr lang="en-US" sz="1250" dirty="0"/>
          </a:p>
        </p:txBody>
      </p:sp>
      <p:graphicFrame>
        <p:nvGraphicFramePr>
          <p:cNvPr id="70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  <a:gridCol w="341071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Источник выручки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Модель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Значение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B2C: оплата обучения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слушатели × стоимость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B2B: корпоративные программы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договор с работодателем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Гранты и программы поддержки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 условиям программ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Сертификация и интенсивы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цена × участники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/>
      <p:bldP spid="14" grpId="0"/>
      <p:bldP spid="15" grpId="0" animBg="1"/>
      <p:bldP spid="16" grpId="0"/>
      <p:bldP spid="17" grpId="0" animBg="1"/>
      <p:bldP spid="18" grpId="0"/>
      <p:bldP spid="19" grpId="0"/>
      <p:bldP spid="20" grpId="0" animBg="1"/>
      <p:bldP spid="21" grpId="0"/>
      <p:bldP spid="22" grpId="0" animBg="1"/>
      <p:bldP spid="23" grpId="0"/>
      <p:bldP spid="24" grpId="0"/>
      <p:bldP spid="25" grpId="0" animBg="1"/>
      <p:bldP spid="26" grpId="0"/>
      <p:bldP spid="27" grpId="0" animBg="1"/>
      <p:bldP spid="28" grpId="0"/>
      <p:bldP spid="29" grpId="0"/>
      <p:bldP spid="30" grpId="0" animBg="1"/>
      <p:bldP spid="31" grpId="0"/>
      <p:bldP spid="32" grpId="0"/>
      <p:bldP spid="3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Масштабирование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академии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 · EDUCATION &amp; ACADEMY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591495" y="2743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710367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829239" y="274320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ВИДЕНИЕ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EDUCATION &amp; ACADEMY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94415" cy="0"/>
          </a:xfrm>
          <a:prstGeom prst="line">
            <a:avLst/>
          </a:prstGeom>
          <a:noFill/>
          <a:ln w="19050">
            <a:solidFill>
              <a:srgbClr val="273B51"/>
            </a:solidFill>
            <a:prstDash val="solid"/>
          </a:ln>
        </p:spPr>
      </p:sp>
      <p:sp>
        <p:nvSpPr>
          <p:cNvPr id="10" name="a1_d"/>
          <p:cNvSpPr/>
          <p:nvPr/>
        </p:nvSpPr>
        <p:spPr>
          <a:xfrm>
            <a:off x="566928" y="2642616"/>
            <a:ext cx="201168" cy="201168"/>
          </a:xfrm>
          <a:prstGeom prst="ellipse">
            <a:avLst/>
          </a:prstGeom>
          <a:solidFill>
            <a:srgbClr val="2593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1" name="a1_l"/>
          <p:cNvSpPr txBox="1"/>
          <p:nvPr/>
        </p:nvSpPr>
        <p:spPr>
          <a:xfrm>
            <a:off x="548640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1</a:t>
            </a:r>
            <a:endParaRPr lang="en-US" sz="1500" dirty="0"/>
          </a:p>
        </p:txBody>
      </p:sp>
      <p:sp>
        <p:nvSpPr>
          <p:cNvPr id="12" name="a1_t"/>
          <p:cNvSpPr txBox="1"/>
          <p:nvPr/>
        </p:nvSpPr>
        <p:spPr>
          <a:xfrm>
            <a:off x="548640" y="29992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 · Ташкент</a:t>
            </a:r>
            <a:endParaRPr lang="en-US" sz="1350" dirty="0"/>
          </a:p>
        </p:txBody>
      </p:sp>
      <p:sp>
        <p:nvSpPr>
          <p:cNvPr id="13" name="a1_x"/>
          <p:cNvSpPr txBox="1"/>
          <p:nvPr/>
        </p:nvSpPr>
        <p:spPr>
          <a:xfrm>
            <a:off x="548640" y="3447288"/>
            <a:ext cx="25907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Первые программы, отработка методики.</a:t>
            </a:r>
            <a:endParaRPr lang="en-US" sz="1250" dirty="0"/>
          </a:p>
        </p:txBody>
      </p:sp>
      <p:sp>
        <p:nvSpPr>
          <p:cNvPr id="14" name="a2_d"/>
          <p:cNvSpPr/>
          <p:nvPr/>
        </p:nvSpPr>
        <p:spPr>
          <a:xfrm>
            <a:off x="3340532" y="2642616"/>
            <a:ext cx="201168" cy="201168"/>
          </a:xfrm>
          <a:prstGeom prst="ellipse">
            <a:avLst/>
          </a:prstGeom>
          <a:solidFill>
            <a:srgbClr val="2550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5" name="a2_l"/>
          <p:cNvSpPr txBox="1"/>
          <p:nvPr/>
        </p:nvSpPr>
        <p:spPr>
          <a:xfrm>
            <a:off x="3322244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550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2</a:t>
            </a:r>
            <a:endParaRPr lang="en-US" sz="1500" dirty="0"/>
          </a:p>
        </p:txBody>
      </p:sp>
      <p:sp>
        <p:nvSpPr>
          <p:cNvPr id="16" name="a2_t"/>
          <p:cNvSpPr txBox="1"/>
          <p:nvPr/>
        </p:nvSpPr>
        <p:spPr>
          <a:xfrm>
            <a:off x="3322244" y="29992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Онлайн</a:t>
            </a:r>
            <a:endParaRPr lang="en-US" sz="1350" dirty="0"/>
          </a:p>
        </p:txBody>
      </p:sp>
      <p:sp>
        <p:nvSpPr>
          <p:cNvPr id="17" name="a2_x"/>
          <p:cNvSpPr txBox="1"/>
          <p:nvPr/>
        </p:nvSpPr>
        <p:spPr>
          <a:xfrm>
            <a:off x="3322244" y="3447288"/>
            <a:ext cx="25907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Все программы онлайн, слушатели из регионов Узбекистана.</a:t>
            </a:r>
            <a:endParaRPr lang="en-US" sz="1250" dirty="0"/>
          </a:p>
        </p:txBody>
      </p:sp>
      <p:sp>
        <p:nvSpPr>
          <p:cNvPr id="18" name="a3_d"/>
          <p:cNvSpPr/>
          <p:nvPr/>
        </p:nvSpPr>
        <p:spPr>
          <a:xfrm>
            <a:off x="6114136" y="2642616"/>
            <a:ext cx="201168" cy="201168"/>
          </a:xfrm>
          <a:prstGeom prst="ellipse">
            <a:avLst/>
          </a:prstGeom>
          <a:solidFill>
            <a:srgbClr val="8EB4FF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9" name="a3_l"/>
          <p:cNvSpPr txBox="1"/>
          <p:nvPr/>
        </p:nvSpPr>
        <p:spPr>
          <a:xfrm>
            <a:off x="6095848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4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3</a:t>
            </a:r>
            <a:endParaRPr lang="en-US" sz="1500" dirty="0"/>
          </a:p>
        </p:txBody>
      </p:sp>
      <p:sp>
        <p:nvSpPr>
          <p:cNvPr id="20" name="a3_t"/>
          <p:cNvSpPr txBox="1"/>
          <p:nvPr/>
        </p:nvSpPr>
        <p:spPr>
          <a:xfrm>
            <a:off x="6095848" y="29992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Регионы</a:t>
            </a:r>
            <a:endParaRPr lang="en-US" sz="1350" dirty="0"/>
          </a:p>
        </p:txBody>
      </p:sp>
      <p:sp>
        <p:nvSpPr>
          <p:cNvPr id="21" name="a3_x"/>
          <p:cNvSpPr txBox="1"/>
          <p:nvPr/>
        </p:nvSpPr>
        <p:spPr>
          <a:xfrm>
            <a:off x="6095848" y="3447288"/>
            <a:ext cx="25907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Партнёрские площадки в вузах и IT-хабах регионов.</a:t>
            </a:r>
            <a:endParaRPr lang="en-US" sz="1250" dirty="0"/>
          </a:p>
        </p:txBody>
      </p:sp>
      <p:sp>
        <p:nvSpPr>
          <p:cNvPr id="22" name="a4_d"/>
          <p:cNvSpPr/>
          <p:nvPr/>
        </p:nvSpPr>
        <p:spPr>
          <a:xfrm>
            <a:off x="8887739" y="2642616"/>
            <a:ext cx="201168" cy="201168"/>
          </a:xfrm>
          <a:prstGeom prst="ellipse">
            <a:avLst/>
          </a:prstGeom>
          <a:solidFill>
            <a:srgbClr val="8A93A6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23" name="a4_l"/>
          <p:cNvSpPr txBox="1"/>
          <p:nvPr/>
        </p:nvSpPr>
        <p:spPr>
          <a:xfrm>
            <a:off x="8869451" y="2176272"/>
            <a:ext cx="2636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A93A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4</a:t>
            </a:r>
            <a:endParaRPr lang="en-US" sz="1500" dirty="0"/>
          </a:p>
        </p:txBody>
      </p:sp>
      <p:sp>
        <p:nvSpPr>
          <p:cNvPr id="24" name="a4_t"/>
          <p:cNvSpPr txBox="1"/>
          <p:nvPr/>
        </p:nvSpPr>
        <p:spPr>
          <a:xfrm>
            <a:off x="8869451" y="2999232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Центральная Азия</a:t>
            </a:r>
            <a:endParaRPr lang="en-US" sz="1350" dirty="0"/>
          </a:p>
        </p:txBody>
      </p:sp>
      <p:sp>
        <p:nvSpPr>
          <p:cNvPr id="25" name="a4_x"/>
          <p:cNvSpPr txBox="1"/>
          <p:nvPr/>
        </p:nvSpPr>
        <p:spPr>
          <a:xfrm>
            <a:off x="8869451" y="3447288"/>
            <a:ext cx="25907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Программы на русском и английском для соседних стран.</a:t>
            </a:r>
            <a:endParaRPr lang="en-US" sz="1250" dirty="0"/>
          </a:p>
        </p:txBody>
      </p:sp>
      <p:sp>
        <p:nvSpPr>
          <p:cNvPr id="26" name="a5_k"/>
          <p:cNvSpPr/>
          <p:nvPr/>
        </p:nvSpPr>
        <p:spPr>
          <a:xfrm>
            <a:off x="548640" y="4754880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475488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Принцип: </a:t>
            </a:r>
            <a:pPr indent="0" marL="0">
              <a:buNone/>
            </a:pPr>
            <a:r>
              <a:rPr lang="en-US" sz="14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масштабируем методику и онлайн-платформу, а не здания — капитальные затраты на учебные пространства ограничены арендой и оснащением.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/>
      <p:bldP spid="14" grpId="0" animBg="1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stadium-interi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FC FootureX — концепция профессионального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клуба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VIII · FOOTBALL DEVELOPMENT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FOOTBALL DEVELOPMENT</a:t>
            </a:r>
            <a:endParaRPr lang="en-US" sz="900" dirty="0"/>
          </a:p>
        </p:txBody>
      </p:sp>
      <p:sp>
        <p:nvSpPr>
          <p:cNvPr id="14" name="!!roman"/>
          <p:cNvSpPr txBox="1"/>
          <p:nvPr/>
        </p:nvSpPr>
        <p:spPr>
          <a:xfrm>
            <a:off x="502920" y="17830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VIII</a:t>
            </a:r>
            <a:endParaRPr lang="en-US" sz="8800" dirty="0"/>
          </a:p>
        </p:txBody>
      </p:sp>
      <p:sp>
        <p:nvSpPr>
          <p:cNvPr id="15" name="Text 8"/>
          <p:cNvSpPr txBox="1"/>
          <p:nvPr/>
        </p:nvSpPr>
        <p:spPr>
          <a:xfrm>
            <a:off x="548640" y="3154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 ФУТБОЛА</a:t>
            </a:r>
            <a:endParaRPr lang="en-US" sz="1300" dirty="0"/>
          </a:p>
        </p:txBody>
      </p:sp>
      <p:sp>
        <p:nvSpPr>
          <p:cNvPr id="16" name="a1_lead"/>
          <p:cNvSpPr txBox="1"/>
          <p:nvPr/>
        </p:nvSpPr>
        <p:spPr>
          <a:xfrm>
            <a:off x="548640" y="36118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Профессиональный футбольный клуб, который соединяет спортивный результат, данные и цифровую аудиторию бренда FootureX.</a:t>
            </a:r>
            <a:endParaRPr lang="en-US" sz="1500" dirty="0"/>
          </a:p>
        </p:txBody>
      </p:sp>
      <p:sp>
        <p:nvSpPr>
          <p:cNvPr id="17" name="a2_pv"/>
          <p:cNvSpPr txBox="1"/>
          <p:nvPr/>
        </p:nvSpPr>
        <p:spPr>
          <a:xfrm>
            <a:off x="54864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Клуб</a:t>
            </a:r>
            <a:endParaRPr lang="en-US" sz="1600" dirty="0"/>
          </a:p>
        </p:txBody>
      </p:sp>
      <p:sp>
        <p:nvSpPr>
          <p:cNvPr id="18" name="a2_pl"/>
          <p:cNvSpPr txBox="1"/>
          <p:nvPr/>
        </p:nvSpPr>
        <p:spPr>
          <a:xfrm>
            <a:off x="54864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основная команда и молодёжь</a:t>
            </a:r>
            <a:endParaRPr lang="en-US" sz="1050" dirty="0"/>
          </a:p>
        </p:txBody>
      </p:sp>
      <p:sp>
        <p:nvSpPr>
          <p:cNvPr id="19" name="a3_pv"/>
          <p:cNvSpPr txBox="1"/>
          <p:nvPr/>
        </p:nvSpPr>
        <p:spPr>
          <a:xfrm>
            <a:off x="228600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Данные</a:t>
            </a:r>
            <a:endParaRPr lang="en-US" sz="1600" dirty="0"/>
          </a:p>
        </p:txBody>
      </p:sp>
      <p:sp>
        <p:nvSpPr>
          <p:cNvPr id="20" name="a3_pl"/>
          <p:cNvSpPr txBox="1"/>
          <p:nvPr/>
        </p:nvSpPr>
        <p:spPr>
          <a:xfrm>
            <a:off x="228600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AI-аналитика в каждом решении</a:t>
            </a:r>
            <a:endParaRPr lang="en-US" sz="1050" dirty="0"/>
          </a:p>
        </p:txBody>
      </p:sp>
      <p:sp>
        <p:nvSpPr>
          <p:cNvPr id="21" name="a4_pv"/>
          <p:cNvSpPr txBox="1"/>
          <p:nvPr/>
        </p:nvSpPr>
        <p:spPr>
          <a:xfrm>
            <a:off x="402336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Бренд</a:t>
            </a:r>
            <a:endParaRPr lang="en-US" sz="1600" dirty="0"/>
          </a:p>
        </p:txBody>
      </p:sp>
      <p:sp>
        <p:nvSpPr>
          <p:cNvPr id="22" name="a4_pl"/>
          <p:cNvSpPr txBox="1"/>
          <p:nvPr/>
        </p:nvSpPr>
        <p:spPr>
          <a:xfrm>
            <a:off x="402336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цифровая и реальная аудитория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Стратегия формирования команды: путь по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лигам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VIII · FOOTBALL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Uzbekistan Super League — 16 клубов (сезон 2026). Требования лицензирования — по регламентам ПФЛ и АФУ, требуют подтверждения.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FOOTBALL DEVELOPMENT</a:t>
            </a:r>
            <a:endParaRPr lang="en-US" sz="900" dirty="0"/>
          </a:p>
        </p:txBody>
      </p:sp>
      <p:sp>
        <p:nvSpPr>
          <p:cNvPr id="10" name="a4_l"/>
          <p:cNvSpPr/>
          <p:nvPr/>
        </p:nvSpPr>
        <p:spPr>
          <a:xfrm>
            <a:off x="2194560" y="1874520"/>
            <a:ext cx="3840480" cy="841248"/>
          </a:xfrm>
          <a:prstGeom prst="roundRect">
            <a:avLst>
              <a:gd name="adj" fmla="val 10870"/>
            </a:avLst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11" name="a4_t"/>
          <p:cNvSpPr txBox="1"/>
          <p:nvPr/>
        </p:nvSpPr>
        <p:spPr>
          <a:xfrm>
            <a:off x="2423160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Суперлига · 16 клубов</a:t>
            </a:r>
            <a:endParaRPr lang="en-US" sz="1500" dirty="0"/>
          </a:p>
        </p:txBody>
      </p:sp>
      <p:sp>
        <p:nvSpPr>
          <p:cNvPr id="12" name="a4_d"/>
          <p:cNvSpPr txBox="1"/>
          <p:nvPr/>
        </p:nvSpPr>
        <p:spPr>
          <a:xfrm>
            <a:off x="242316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 горизонта 10+ лет</a:t>
            </a:r>
            <a:endParaRPr lang="en-US" sz="1150" dirty="0"/>
          </a:p>
        </p:txBody>
      </p:sp>
      <p:sp>
        <p:nvSpPr>
          <p:cNvPr id="13" name="a3_l"/>
          <p:cNvSpPr/>
          <p:nvPr/>
        </p:nvSpPr>
        <p:spPr>
          <a:xfrm>
            <a:off x="1783080" y="2880360"/>
            <a:ext cx="4663440" cy="841248"/>
          </a:xfrm>
          <a:prstGeom prst="roundRect">
            <a:avLst>
              <a:gd name="adj" fmla="val 10870"/>
            </a:avLst>
          </a:prstGeom>
          <a:solidFill>
            <a:srgbClr val="0E1629"/>
          </a:solidFill>
          <a:ln w="15875">
            <a:solidFill>
              <a:srgbClr val="2550FA"/>
            </a:solidFill>
            <a:prstDash val="solid"/>
          </a:ln>
        </p:spPr>
      </p:sp>
      <p:sp>
        <p:nvSpPr>
          <p:cNvPr id="14" name="a3_t"/>
          <p:cNvSpPr txBox="1"/>
          <p:nvPr/>
        </p:nvSpPr>
        <p:spPr>
          <a:xfrm>
            <a:off x="2011680" y="2880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550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Про-лига</a:t>
            </a:r>
            <a:endParaRPr lang="en-US" sz="1500" dirty="0"/>
          </a:p>
        </p:txBody>
      </p:sp>
      <p:sp>
        <p:nvSpPr>
          <p:cNvPr id="15" name="a3_d"/>
          <p:cNvSpPr txBox="1"/>
          <p:nvPr/>
        </p:nvSpPr>
        <p:spPr>
          <a:xfrm>
            <a:off x="2011680" y="3337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Профессиональный статус, лицензия</a:t>
            </a:r>
            <a:endParaRPr lang="en-US" sz="1150" dirty="0"/>
          </a:p>
        </p:txBody>
      </p:sp>
      <p:sp>
        <p:nvSpPr>
          <p:cNvPr id="16" name="a2_l"/>
          <p:cNvSpPr/>
          <p:nvPr/>
        </p:nvSpPr>
        <p:spPr>
          <a:xfrm>
            <a:off x="1371600" y="3886200"/>
            <a:ext cx="5486400" cy="841248"/>
          </a:xfrm>
          <a:prstGeom prst="roundRect">
            <a:avLst>
              <a:gd name="adj" fmla="val 10870"/>
            </a:avLst>
          </a:prstGeom>
          <a:solidFill>
            <a:srgbClr val="0E1629"/>
          </a:solidFill>
          <a:ln w="15875">
            <a:solidFill>
              <a:srgbClr val="8EB4FF"/>
            </a:solidFill>
            <a:prstDash val="solid"/>
          </a:ln>
        </p:spPr>
      </p:sp>
      <p:sp>
        <p:nvSpPr>
          <p:cNvPr id="17" name="a2_t"/>
          <p:cNvSpPr txBox="1"/>
          <p:nvPr/>
        </p:nvSpPr>
        <p:spPr>
          <a:xfrm>
            <a:off x="1600200" y="3886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Низшие лиги</a:t>
            </a:r>
            <a:endParaRPr lang="en-US" sz="1500" dirty="0"/>
          </a:p>
        </p:txBody>
      </p:sp>
      <p:sp>
        <p:nvSpPr>
          <p:cNvPr id="18" name="a2_d"/>
          <p:cNvSpPr txBox="1"/>
          <p:nvPr/>
        </p:nvSpPr>
        <p:spPr>
          <a:xfrm>
            <a:off x="160020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Первый официальный уровень</a:t>
            </a:r>
            <a:endParaRPr lang="en-US" sz="1150" dirty="0"/>
          </a:p>
        </p:txBody>
      </p:sp>
      <p:sp>
        <p:nvSpPr>
          <p:cNvPr id="19" name="a1_l"/>
          <p:cNvSpPr/>
          <p:nvPr/>
        </p:nvSpPr>
        <p:spPr>
          <a:xfrm>
            <a:off x="960120" y="4892040"/>
            <a:ext cx="6309360" cy="841248"/>
          </a:xfrm>
          <a:prstGeom prst="roundRect">
            <a:avLst>
              <a:gd name="adj" fmla="val 10870"/>
            </a:avLst>
          </a:prstGeom>
          <a:solidFill>
            <a:srgbClr val="0E1629"/>
          </a:solidFill>
          <a:ln w="15875">
            <a:solidFill>
              <a:srgbClr val="B8C1D4"/>
            </a:solidFill>
            <a:prstDash val="solid"/>
          </a:ln>
        </p:spPr>
      </p:sp>
      <p:sp>
        <p:nvSpPr>
          <p:cNvPr id="20" name="a1_t"/>
          <p:cNvSpPr txBox="1"/>
          <p:nvPr/>
        </p:nvSpPr>
        <p:spPr>
          <a:xfrm>
            <a:off x="1188720" y="4892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Любительский уровень</a:t>
            </a:r>
            <a:endParaRPr lang="en-US" sz="1500" dirty="0"/>
          </a:p>
        </p:txBody>
      </p:sp>
      <p:sp>
        <p:nvSpPr>
          <p:cNvPr id="21" name="a1_d"/>
          <p:cNvSpPr txBox="1"/>
          <p:nvPr/>
        </p:nvSpPr>
        <p:spPr>
          <a:xfrm>
            <a:off x="1188720" y="53492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Старт: команда, тренерский штаб, база</a:t>
            </a:r>
            <a:endParaRPr lang="en-US" sz="1150" dirty="0"/>
          </a:p>
        </p:txBody>
      </p:sp>
      <p:sp>
        <p:nvSpPr>
          <p:cNvPr id="22" name="a2_ins"/>
          <p:cNvSpPr/>
          <p:nvPr/>
        </p:nvSpPr>
        <p:spPr>
          <a:xfrm>
            <a:off x="8001000" y="1874520"/>
            <a:ext cx="3639312" cy="3977640"/>
          </a:xfrm>
          <a:prstGeom prst="roundRect">
            <a:avLst>
              <a:gd name="adj" fmla="val 3015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0" y="207568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Принципы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2478024"/>
            <a:ext cx="318211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 растёт только вслед за результатом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Ставка на воспитанников Football Academy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Решения по составу — с опорой на данные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Соответствие лицензионным требованиям — до заявки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16" grpId="0" animBg="1"/>
      <p:bldP spid="17" grpId="0"/>
      <p:bldP spid="18" grpId="0"/>
      <p:bldP spid="22" grpId="0" animBg="1"/>
      <p:bldP spid="13" grpId="0" animBg="1"/>
      <p:bldP spid="14" grpId="0"/>
      <p:bldP spid="15" grpId="0"/>
      <p:bldP spid="10" grpId="0" animBg="1"/>
      <p:bldP spid="11" grpId="0"/>
      <p:bldP spid="1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Организационная структура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клуба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VIII · FOOTBALL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662111" y="274320"/>
            <a:ext cx="298094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B8C1D4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8780983" y="374904"/>
            <a:ext cx="91440" cy="91440"/>
          </a:xfrm>
          <a:prstGeom prst="ellipse">
            <a:avLst/>
          </a:prstGeom>
          <a:solidFill>
            <a:srgbClr val="B8C1D4"/>
          </a:solidFill>
          <a:ln w="12700">
            <a:solidFill>
              <a:srgbClr val="B8C1D4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8899855" y="2743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УПРАВЛЕНЧЕСКАЯ МОДЕЛЬ · ПРОЕКТ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FOOTBALL DEVELOPMENT</a:t>
            </a:r>
            <a:endParaRPr lang="en-US" sz="900" dirty="0"/>
          </a:p>
        </p:txBody>
      </p:sp>
      <p:sp>
        <p:nvSpPr>
          <p:cNvPr id="9" name="a1_b"/>
          <p:cNvSpPr/>
          <p:nvPr/>
        </p:nvSpPr>
        <p:spPr>
          <a:xfrm>
            <a:off x="4727448" y="182880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18888" y="1920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Совет клуба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18888" y="2231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стратегия и бюджет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99048" y="2514600"/>
            <a:ext cx="0" cy="22860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13" name="a2_b"/>
          <p:cNvSpPr/>
          <p:nvPr/>
        </p:nvSpPr>
        <p:spPr>
          <a:xfrm>
            <a:off x="4727448" y="274320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0E1629"/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18888" y="2834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Генеральный директор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818888" y="31455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клубом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99048" y="3429000"/>
            <a:ext cx="0" cy="27432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11680" y="3703320"/>
            <a:ext cx="8165592" cy="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11680" y="3703320"/>
            <a:ext cx="0" cy="18288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19" name="a3_b"/>
          <p:cNvSpPr/>
          <p:nvPr/>
        </p:nvSpPr>
        <p:spPr>
          <a:xfrm>
            <a:off x="548640" y="388620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38862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Спортивный директор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Главный тренер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882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Академия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193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Скаутинг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504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Аналитика и AI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5815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Медицина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094476" y="3703320"/>
            <a:ext cx="0" cy="18288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27" name="a4_b"/>
          <p:cNvSpPr/>
          <p:nvPr/>
        </p:nvSpPr>
        <p:spPr>
          <a:xfrm>
            <a:off x="4631436" y="388620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22876" y="38862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Коммерческий директор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4905756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Маркетинг и бренд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4905756" y="4882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Партнёрства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905756" y="5193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Билеты и болельщики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4905756" y="5504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Медиа и digital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10177272" y="3703320"/>
            <a:ext cx="0" cy="18288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34" name="a5_b"/>
          <p:cNvSpPr/>
          <p:nvPr/>
        </p:nvSpPr>
        <p:spPr>
          <a:xfrm>
            <a:off x="8714232" y="388620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805672" y="38862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Операционный директор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8988552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Финансы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8988552" y="4882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Юридический блок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8988552" y="5193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Инфраструктура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8988552" y="5504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Лицензирование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9" grpId="0" animBg="1"/>
      <p:bldP spid="27" grpId="0" animBg="1"/>
      <p:bldP spid="3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academy-aeri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8" y="-171450"/>
            <a:ext cx="12801280" cy="72009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FootureX Football Academy — детско-юношеская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академия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VIII · FOOTBALL DEVELOPMENT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FOOTBALL DEVELOPMENT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5" name="a1_card"/>
          <p:cNvSpPr/>
          <p:nvPr/>
        </p:nvSpPr>
        <p:spPr>
          <a:xfrm>
            <a:off x="548640" y="1828800"/>
            <a:ext cx="2766060" cy="1760220"/>
          </a:xfrm>
          <a:prstGeom prst="roundRect">
            <a:avLst>
              <a:gd name="adj" fmla="val 623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6" name="a1_iconbg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7" name="a1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167128"/>
            <a:ext cx="237744" cy="237744"/>
          </a:xfrm>
          <a:prstGeom prst="rect">
            <a:avLst/>
          </a:prstGeom>
        </p:spPr>
      </p:pic>
      <p:sp>
        <p:nvSpPr>
          <p:cNvPr id="18" name="a1_t"/>
          <p:cNvSpPr txBox="1"/>
          <p:nvPr/>
        </p:nvSpPr>
        <p:spPr>
          <a:xfrm>
            <a:off x="137160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Подготовка игроков</a:t>
            </a:r>
            <a:endParaRPr lang="en-US" sz="1400" dirty="0"/>
          </a:p>
        </p:txBody>
      </p:sp>
      <p:sp>
        <p:nvSpPr>
          <p:cNvPr id="19" name="a1_d"/>
          <p:cNvSpPr txBox="1"/>
          <p:nvPr/>
        </p:nvSpPr>
        <p:spPr>
          <a:xfrm>
            <a:off x="777240" y="2679192"/>
            <a:ext cx="230886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Возрастные группы от 8 до 19 лет, единая игровая модель.</a:t>
            </a:r>
            <a:endParaRPr lang="en-US" sz="1200" dirty="0"/>
          </a:p>
        </p:txBody>
      </p:sp>
      <p:sp>
        <p:nvSpPr>
          <p:cNvPr id="20" name="a2_card"/>
          <p:cNvSpPr/>
          <p:nvPr/>
        </p:nvSpPr>
        <p:spPr>
          <a:xfrm>
            <a:off x="3543300" y="1828800"/>
            <a:ext cx="2766060" cy="1760220"/>
          </a:xfrm>
          <a:prstGeom prst="roundRect">
            <a:avLst>
              <a:gd name="adj" fmla="val 623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1" name="a2_iconbg"/>
          <p:cNvSpPr/>
          <p:nvPr/>
        </p:nvSpPr>
        <p:spPr>
          <a:xfrm>
            <a:off x="3771900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2" name="a2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1628" y="2167128"/>
            <a:ext cx="237744" cy="237744"/>
          </a:xfrm>
          <a:prstGeom prst="rect">
            <a:avLst/>
          </a:prstGeom>
        </p:spPr>
      </p:pic>
      <p:sp>
        <p:nvSpPr>
          <p:cNvPr id="23" name="a2_t"/>
          <p:cNvSpPr txBox="1"/>
          <p:nvPr/>
        </p:nvSpPr>
        <p:spPr>
          <a:xfrm>
            <a:off x="436626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Скаутинг</a:t>
            </a:r>
            <a:endParaRPr lang="en-US" sz="1400" dirty="0"/>
          </a:p>
        </p:txBody>
      </p:sp>
      <p:sp>
        <p:nvSpPr>
          <p:cNvPr id="24" name="a2_d"/>
          <p:cNvSpPr txBox="1"/>
          <p:nvPr/>
        </p:nvSpPr>
        <p:spPr>
          <a:xfrm>
            <a:off x="3771900" y="2679192"/>
            <a:ext cx="230886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Фестивали в регионах и цифровой отбор.</a:t>
            </a:r>
            <a:endParaRPr lang="en-US" sz="1200" dirty="0"/>
          </a:p>
        </p:txBody>
      </p:sp>
      <p:sp>
        <p:nvSpPr>
          <p:cNvPr id="25" name="a3_card"/>
          <p:cNvSpPr/>
          <p:nvPr/>
        </p:nvSpPr>
        <p:spPr>
          <a:xfrm>
            <a:off x="548640" y="3817620"/>
            <a:ext cx="2766060" cy="1760220"/>
          </a:xfrm>
          <a:prstGeom prst="roundRect">
            <a:avLst>
              <a:gd name="adj" fmla="val 623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6" name="a3_iconbg"/>
          <p:cNvSpPr/>
          <p:nvPr/>
        </p:nvSpPr>
        <p:spPr>
          <a:xfrm>
            <a:off x="777240" y="404622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7" name="a3_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4155948"/>
            <a:ext cx="237744" cy="237744"/>
          </a:xfrm>
          <a:prstGeom prst="rect">
            <a:avLst/>
          </a:prstGeom>
        </p:spPr>
      </p:pic>
      <p:sp>
        <p:nvSpPr>
          <p:cNvPr id="28" name="a3_t"/>
          <p:cNvSpPr txBox="1"/>
          <p:nvPr/>
        </p:nvSpPr>
        <p:spPr>
          <a:xfrm>
            <a:off x="1371600" y="402793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Спортивная аналитика</a:t>
            </a:r>
            <a:endParaRPr lang="en-US" sz="1400" dirty="0"/>
          </a:p>
        </p:txBody>
      </p:sp>
      <p:sp>
        <p:nvSpPr>
          <p:cNvPr id="29" name="a3_d"/>
          <p:cNvSpPr txBox="1"/>
          <p:nvPr/>
        </p:nvSpPr>
        <p:spPr>
          <a:xfrm>
            <a:off x="777240" y="4668012"/>
            <a:ext cx="230886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о развитии каждого игрока.</a:t>
            </a:r>
            <a:endParaRPr lang="en-US" sz="1200" dirty="0"/>
          </a:p>
        </p:txBody>
      </p:sp>
      <p:sp>
        <p:nvSpPr>
          <p:cNvPr id="30" name="a4_card"/>
          <p:cNvSpPr/>
          <p:nvPr/>
        </p:nvSpPr>
        <p:spPr>
          <a:xfrm>
            <a:off x="3543300" y="3817620"/>
            <a:ext cx="2766060" cy="1760220"/>
          </a:xfrm>
          <a:prstGeom prst="roundRect">
            <a:avLst>
              <a:gd name="adj" fmla="val 623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1" name="a4_iconbg"/>
          <p:cNvSpPr/>
          <p:nvPr/>
        </p:nvSpPr>
        <p:spPr>
          <a:xfrm>
            <a:off x="3771900" y="404622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2" name="a4_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1628" y="4155948"/>
            <a:ext cx="237744" cy="237744"/>
          </a:xfrm>
          <a:prstGeom prst="rect">
            <a:avLst/>
          </a:prstGeom>
        </p:spPr>
      </p:pic>
      <p:sp>
        <p:nvSpPr>
          <p:cNvPr id="33" name="a4_t"/>
          <p:cNvSpPr txBox="1"/>
          <p:nvPr/>
        </p:nvSpPr>
        <p:spPr>
          <a:xfrm>
            <a:off x="4366260" y="402793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Партнёрства</a:t>
            </a:r>
            <a:endParaRPr lang="en-US" sz="1400" dirty="0"/>
          </a:p>
        </p:txBody>
      </p:sp>
      <p:sp>
        <p:nvSpPr>
          <p:cNvPr id="34" name="a4_d"/>
          <p:cNvSpPr txBox="1"/>
          <p:nvPr/>
        </p:nvSpPr>
        <p:spPr>
          <a:xfrm>
            <a:off x="3771900" y="4668012"/>
            <a:ext cx="2308860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Обмен методикой с зарубежными академиями.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/>
      <p:bldP spid="19" grpId="0"/>
      <p:bldP spid="20" grpId="0" animBg="1"/>
      <p:bldP spid="21" grpId="0" animBg="1"/>
      <p:bldP spid="23" grpId="0"/>
      <p:bldP spid="24" grpId="0"/>
      <p:bldP spid="25" grpId="0" animBg="1"/>
      <p:bldP spid="26" grpId="0" animBg="1"/>
      <p:bldP spid="28" grpId="0"/>
      <p:bldP spid="29" grpId="0"/>
      <p:bldP spid="30" grpId="0" animBg="1"/>
      <p:bldP spid="31" grpId="0" animBg="1"/>
      <p:bldP spid="33" grpId="0"/>
      <p:bldP spid="3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Подготовка молодых футболистов: путь от 8 до 19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лет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VIII · FOOTBALL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FOOTBALL DEVELOPMENT</a:t>
            </a:r>
            <a:endParaRPr lang="en-US" sz="900" dirty="0"/>
          </a:p>
        </p:txBody>
      </p:sp>
      <p:sp>
        <p:nvSpPr>
          <p:cNvPr id="9" name="a1_b"/>
          <p:cNvSpPr/>
          <p:nvPr/>
        </p:nvSpPr>
        <p:spPr>
          <a:xfrm>
            <a:off x="548640" y="43434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E1629"/>
          </a:solidFill>
          <a:ln w="15875">
            <a:solidFill>
              <a:srgbClr val="B8C1D4"/>
            </a:solidFill>
            <a:prstDash val="solid"/>
          </a:ln>
        </p:spPr>
      </p:sp>
      <p:sp>
        <p:nvSpPr>
          <p:cNvPr id="10" name="a1_a"/>
          <p:cNvSpPr txBox="1"/>
          <p:nvPr/>
        </p:nvSpPr>
        <p:spPr>
          <a:xfrm>
            <a:off x="749808" y="45079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1D4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U8–U10</a:t>
            </a:r>
            <a:endParaRPr lang="en-US" sz="1800" dirty="0"/>
          </a:p>
        </p:txBody>
      </p:sp>
      <p:sp>
        <p:nvSpPr>
          <p:cNvPr id="11" name="a1_t"/>
          <p:cNvSpPr txBox="1"/>
          <p:nvPr/>
        </p:nvSpPr>
        <p:spPr>
          <a:xfrm>
            <a:off x="749808" y="4937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Основы</a:t>
            </a:r>
            <a:endParaRPr lang="en-US" sz="1400" dirty="0"/>
          </a:p>
        </p:txBody>
      </p:sp>
      <p:sp>
        <p:nvSpPr>
          <p:cNvPr id="12" name="a1_d"/>
          <p:cNvSpPr txBox="1"/>
          <p:nvPr/>
        </p:nvSpPr>
        <p:spPr>
          <a:xfrm>
            <a:off x="749808" y="5257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Любовь к игре, координация, техника владения мячом</a:t>
            </a:r>
            <a:endParaRPr lang="en-US" sz="1100" dirty="0"/>
          </a:p>
        </p:txBody>
      </p:sp>
      <p:sp>
        <p:nvSpPr>
          <p:cNvPr id="13" name="a2_b"/>
          <p:cNvSpPr/>
          <p:nvPr/>
        </p:nvSpPr>
        <p:spPr>
          <a:xfrm>
            <a:off x="3355848" y="36576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0E1629"/>
          </a:solidFill>
          <a:ln w="15875">
            <a:solidFill>
              <a:srgbClr val="2550FA"/>
            </a:solidFill>
            <a:prstDash val="solid"/>
          </a:ln>
        </p:spPr>
      </p:sp>
      <p:sp>
        <p:nvSpPr>
          <p:cNvPr id="14" name="a2_a"/>
          <p:cNvSpPr txBox="1"/>
          <p:nvPr/>
        </p:nvSpPr>
        <p:spPr>
          <a:xfrm>
            <a:off x="3557016" y="38221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50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U11–U14</a:t>
            </a:r>
            <a:endParaRPr lang="en-US" sz="1800" dirty="0"/>
          </a:p>
        </p:txBody>
      </p:sp>
      <p:sp>
        <p:nvSpPr>
          <p:cNvPr id="15" name="a2_t"/>
          <p:cNvSpPr txBox="1"/>
          <p:nvPr/>
        </p:nvSpPr>
        <p:spPr>
          <a:xfrm>
            <a:off x="3557016" y="4251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</a:t>
            </a:r>
            <a:endParaRPr lang="en-US" sz="1400" dirty="0"/>
          </a:p>
        </p:txBody>
      </p:sp>
      <p:sp>
        <p:nvSpPr>
          <p:cNvPr id="16" name="a2_d"/>
          <p:cNvSpPr txBox="1"/>
          <p:nvPr/>
        </p:nvSpPr>
        <p:spPr>
          <a:xfrm>
            <a:off x="3557016" y="4572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Техника, понимание игры, позиционные принципы</a:t>
            </a:r>
            <a:endParaRPr lang="en-US" sz="1100" dirty="0"/>
          </a:p>
        </p:txBody>
      </p:sp>
      <p:sp>
        <p:nvSpPr>
          <p:cNvPr id="17" name="a3_b"/>
          <p:cNvSpPr/>
          <p:nvPr/>
        </p:nvSpPr>
        <p:spPr>
          <a:xfrm>
            <a:off x="6163056" y="2971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0E1629"/>
          </a:solidFill>
          <a:ln w="15875">
            <a:solidFill>
              <a:srgbClr val="8EB4FF"/>
            </a:solidFill>
            <a:prstDash val="solid"/>
          </a:ln>
        </p:spPr>
      </p:sp>
      <p:sp>
        <p:nvSpPr>
          <p:cNvPr id="18" name="a3_a"/>
          <p:cNvSpPr txBox="1"/>
          <p:nvPr/>
        </p:nvSpPr>
        <p:spPr>
          <a:xfrm>
            <a:off x="6364224" y="31363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EB4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U15–U17</a:t>
            </a:r>
            <a:endParaRPr lang="en-US" sz="1800" dirty="0"/>
          </a:p>
        </p:txBody>
      </p:sp>
      <p:sp>
        <p:nvSpPr>
          <p:cNvPr id="19" name="a3_t"/>
          <p:cNvSpPr txBox="1"/>
          <p:nvPr/>
        </p:nvSpPr>
        <p:spPr>
          <a:xfrm>
            <a:off x="6364224" y="3566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20" name="a3_d"/>
          <p:cNvSpPr txBox="1"/>
          <p:nvPr/>
        </p:nvSpPr>
        <p:spPr>
          <a:xfrm>
            <a:off x="6364224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Тактика, физическая подготовка, соревнования</a:t>
            </a:r>
            <a:endParaRPr lang="en-US" sz="1100" dirty="0"/>
          </a:p>
        </p:txBody>
      </p:sp>
      <p:sp>
        <p:nvSpPr>
          <p:cNvPr id="21" name="a4_b"/>
          <p:cNvSpPr/>
          <p:nvPr/>
        </p:nvSpPr>
        <p:spPr>
          <a:xfrm>
            <a:off x="8970264" y="228600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2" name="a4_a"/>
          <p:cNvSpPr txBox="1"/>
          <p:nvPr/>
        </p:nvSpPr>
        <p:spPr>
          <a:xfrm>
            <a:off x="9171432" y="24505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U18–U19</a:t>
            </a:r>
            <a:endParaRPr lang="en-US" sz="1800" dirty="0"/>
          </a:p>
        </p:txBody>
      </p:sp>
      <p:sp>
        <p:nvSpPr>
          <p:cNvPr id="23" name="a4_t"/>
          <p:cNvSpPr txBox="1"/>
          <p:nvPr/>
        </p:nvSpPr>
        <p:spPr>
          <a:xfrm>
            <a:off x="9171432" y="2880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Переход</a:t>
            </a:r>
            <a:endParaRPr lang="en-US" sz="1400" dirty="0"/>
          </a:p>
        </p:txBody>
      </p:sp>
      <p:sp>
        <p:nvSpPr>
          <p:cNvPr id="24" name="a4_d"/>
          <p:cNvSpPr txBox="1"/>
          <p:nvPr/>
        </p:nvSpPr>
        <p:spPr>
          <a:xfrm>
            <a:off x="9171432" y="3200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Игровая практика на взрослом уровне, профессиональный быт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1874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Учёба в школе и языки — обязательная часть программы на всех этапах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  <p:bldP spid="23" grpId="0"/>
      <p:bldP spid="2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Система поиска талантов: охват всей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страны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VIII · FOOTBALL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FOOTBALL DEVELOPMENT</a:t>
            </a:r>
            <a:endParaRPr lang="en-US" sz="900" dirty="0"/>
          </a:p>
        </p:txBody>
      </p:sp>
      <p:sp>
        <p:nvSpPr>
          <p:cNvPr id="9" name="a1_f"/>
          <p:cNvSpPr/>
          <p:nvPr/>
        </p:nvSpPr>
        <p:spPr>
          <a:xfrm>
            <a:off x="548640" y="1828800"/>
            <a:ext cx="6766560" cy="676656"/>
          </a:xfrm>
          <a:prstGeom prst="roundRect">
            <a:avLst>
              <a:gd name="adj" fmla="val 13514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10" name="a1_t"/>
          <p:cNvSpPr txBox="1"/>
          <p:nvPr/>
        </p:nvSpPr>
        <p:spPr>
          <a:xfrm>
            <a:off x="548640" y="18288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Фестивали и школьные турниры</a:t>
            </a:r>
            <a:endParaRPr lang="en-US" sz="1300" dirty="0"/>
          </a:p>
        </p:txBody>
      </p:sp>
      <p:sp>
        <p:nvSpPr>
          <p:cNvPr id="11" name="a1_d"/>
          <p:cNvSpPr txBox="1"/>
          <p:nvPr/>
        </p:nvSpPr>
        <p:spPr>
          <a:xfrm>
            <a:off x="548640" y="22128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регионы Узбекистана</a:t>
            </a:r>
            <a:endParaRPr lang="en-US" sz="1000" dirty="0"/>
          </a:p>
        </p:txBody>
      </p:sp>
      <p:sp>
        <p:nvSpPr>
          <p:cNvPr id="12" name="a2_f"/>
          <p:cNvSpPr/>
          <p:nvPr/>
        </p:nvSpPr>
        <p:spPr>
          <a:xfrm>
            <a:off x="1051560" y="2633472"/>
            <a:ext cx="5760720" cy="676656"/>
          </a:xfrm>
          <a:prstGeom prst="roundRect">
            <a:avLst>
              <a:gd name="adj" fmla="val 13514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13" name="a2_t"/>
          <p:cNvSpPr txBox="1"/>
          <p:nvPr/>
        </p:nvSpPr>
        <p:spPr>
          <a:xfrm>
            <a:off x="1051560" y="26334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Видео- и цифровой отбор</a:t>
            </a:r>
            <a:endParaRPr lang="en-US" sz="1300" dirty="0"/>
          </a:p>
        </p:txBody>
      </p:sp>
      <p:sp>
        <p:nvSpPr>
          <p:cNvPr id="14" name="a2_d"/>
          <p:cNvSpPr txBox="1"/>
          <p:nvPr/>
        </p:nvSpPr>
        <p:spPr>
          <a:xfrm>
            <a:off x="1051560" y="30175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загрузка видео, тесты, данные</a:t>
            </a:r>
            <a:endParaRPr lang="en-US" sz="1000" dirty="0"/>
          </a:p>
        </p:txBody>
      </p:sp>
      <p:sp>
        <p:nvSpPr>
          <p:cNvPr id="15" name="a3_f"/>
          <p:cNvSpPr/>
          <p:nvPr/>
        </p:nvSpPr>
        <p:spPr>
          <a:xfrm>
            <a:off x="1554480" y="3438144"/>
            <a:ext cx="4754880" cy="676656"/>
          </a:xfrm>
          <a:prstGeom prst="roundRect">
            <a:avLst>
              <a:gd name="adj" fmla="val 13514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16" name="a3_t"/>
          <p:cNvSpPr txBox="1"/>
          <p:nvPr/>
        </p:nvSpPr>
        <p:spPr>
          <a:xfrm>
            <a:off x="1554480" y="34381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Просмотровые сборы</a:t>
            </a:r>
            <a:endParaRPr lang="en-US" sz="1300" dirty="0"/>
          </a:p>
        </p:txBody>
      </p:sp>
      <p:sp>
        <p:nvSpPr>
          <p:cNvPr id="17" name="a3_d"/>
          <p:cNvSpPr txBox="1"/>
          <p:nvPr/>
        </p:nvSpPr>
        <p:spPr>
          <a:xfrm>
            <a:off x="1554480" y="3822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Ташкенте и регионах</a:t>
            </a:r>
            <a:endParaRPr lang="en-US" sz="1000" dirty="0"/>
          </a:p>
        </p:txBody>
      </p:sp>
      <p:sp>
        <p:nvSpPr>
          <p:cNvPr id="18" name="a4_f"/>
          <p:cNvSpPr/>
          <p:nvPr/>
        </p:nvSpPr>
        <p:spPr>
          <a:xfrm>
            <a:off x="2057400" y="4242816"/>
            <a:ext cx="3749040" cy="676656"/>
          </a:xfrm>
          <a:prstGeom prst="roundRect">
            <a:avLst>
              <a:gd name="adj" fmla="val 13514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19" name="a4_t"/>
          <p:cNvSpPr txBox="1"/>
          <p:nvPr/>
        </p:nvSpPr>
        <p:spPr>
          <a:xfrm>
            <a:off x="2057400" y="42428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Пробный период</a:t>
            </a:r>
            <a:endParaRPr lang="en-US" sz="1300" dirty="0"/>
          </a:p>
        </p:txBody>
      </p:sp>
      <p:sp>
        <p:nvSpPr>
          <p:cNvPr id="20" name="a4_d"/>
          <p:cNvSpPr txBox="1"/>
          <p:nvPr/>
        </p:nvSpPr>
        <p:spPr>
          <a:xfrm>
            <a:off x="2057400" y="4626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тренировки в группе</a:t>
            </a:r>
            <a:endParaRPr lang="en-US" sz="1000" dirty="0"/>
          </a:p>
        </p:txBody>
      </p:sp>
      <p:sp>
        <p:nvSpPr>
          <p:cNvPr id="21" name="a5_f"/>
          <p:cNvSpPr/>
          <p:nvPr/>
        </p:nvSpPr>
        <p:spPr>
          <a:xfrm>
            <a:off x="2560320" y="5047488"/>
            <a:ext cx="2743200" cy="676656"/>
          </a:xfrm>
          <a:prstGeom prst="roundRect">
            <a:avLst>
              <a:gd name="adj" fmla="val 13514"/>
            </a:avLst>
          </a:prstGeom>
          <a:solidFill>
            <a:srgbClr val="142A70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22" name="a5_t"/>
          <p:cNvSpPr txBox="1"/>
          <p:nvPr/>
        </p:nvSpPr>
        <p:spPr>
          <a:xfrm>
            <a:off x="2560320" y="50474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Зачисление</a:t>
            </a:r>
            <a:endParaRPr lang="en-US" sz="1300" dirty="0"/>
          </a:p>
        </p:txBody>
      </p:sp>
      <p:sp>
        <p:nvSpPr>
          <p:cNvPr id="23" name="a5_d"/>
          <p:cNvSpPr txBox="1"/>
          <p:nvPr/>
        </p:nvSpPr>
        <p:spPr>
          <a:xfrm>
            <a:off x="2560320" y="5431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индивидуальный план развития</a:t>
            </a:r>
            <a:endParaRPr lang="en-US" sz="1000" dirty="0"/>
          </a:p>
        </p:txBody>
      </p:sp>
      <p:sp>
        <p:nvSpPr>
          <p:cNvPr id="24" name="a2_ins"/>
          <p:cNvSpPr/>
          <p:nvPr/>
        </p:nvSpPr>
        <p:spPr>
          <a:xfrm>
            <a:off x="7680960" y="1828800"/>
            <a:ext cx="3959352" cy="4023360"/>
          </a:xfrm>
          <a:prstGeom prst="roundRect">
            <a:avLst>
              <a:gd name="adj" fmla="val 277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09560" y="2029968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Этика отбора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909560" y="2432304"/>
            <a:ext cx="3502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Просмотры бесплатны для семей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Согласие родителей на участие и обработку данных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персональных данных несовершеннолетних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Прозрачные критерии зачисления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 animBg="1"/>
      <p:bldP spid="13" grpId="0"/>
      <p:bldP spid="14" grpId="0"/>
      <p:bldP spid="24" grpId="0" animBg="1"/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Спортивная аналитика и AI в академии и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клубе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VIII · FOOTBALL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FOOTBALL DEVELOPMENT</a:t>
            </a:r>
            <a:endParaRPr lang="en-US" sz="900" dirty="0"/>
          </a:p>
        </p:txBody>
      </p:sp>
      <p:sp>
        <p:nvSpPr>
          <p:cNvPr id="9" name="a1_card"/>
          <p:cNvSpPr/>
          <p:nvPr/>
        </p:nvSpPr>
        <p:spPr>
          <a:xfrm>
            <a:off x="548640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iconbg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1" name="a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67128"/>
            <a:ext cx="237744" cy="237744"/>
          </a:xfrm>
          <a:prstGeom prst="rect">
            <a:avLst/>
          </a:prstGeom>
        </p:spPr>
      </p:pic>
      <p:sp>
        <p:nvSpPr>
          <p:cNvPr id="12" name="a1_t"/>
          <p:cNvSpPr txBox="1"/>
          <p:nvPr/>
        </p:nvSpPr>
        <p:spPr>
          <a:xfrm>
            <a:off x="1371600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Видеоаналитика</a:t>
            </a:r>
            <a:endParaRPr lang="en-US" sz="1400" dirty="0"/>
          </a:p>
        </p:txBody>
      </p:sp>
      <p:sp>
        <p:nvSpPr>
          <p:cNvPr id="13" name="a1_d"/>
          <p:cNvSpPr txBox="1"/>
          <p:nvPr/>
        </p:nvSpPr>
        <p:spPr>
          <a:xfrm>
            <a:off x="777240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Автоматическая разметка эпизодов, разборы для тренеров и игроков.</a:t>
            </a:r>
            <a:endParaRPr lang="en-US" sz="1250" dirty="0"/>
          </a:p>
        </p:txBody>
      </p:sp>
      <p:sp>
        <p:nvSpPr>
          <p:cNvPr id="14" name="a2_card"/>
          <p:cNvSpPr/>
          <p:nvPr/>
        </p:nvSpPr>
        <p:spPr>
          <a:xfrm>
            <a:off x="4322978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5" name="a2_iconbg"/>
          <p:cNvSpPr/>
          <p:nvPr/>
        </p:nvSpPr>
        <p:spPr>
          <a:xfrm>
            <a:off x="4551578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6" name="a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306" y="2167128"/>
            <a:ext cx="237744" cy="237744"/>
          </a:xfrm>
          <a:prstGeom prst="rect">
            <a:avLst/>
          </a:prstGeom>
        </p:spPr>
      </p:pic>
      <p:sp>
        <p:nvSpPr>
          <p:cNvPr id="17" name="a2_t"/>
          <p:cNvSpPr txBox="1"/>
          <p:nvPr/>
        </p:nvSpPr>
        <p:spPr>
          <a:xfrm>
            <a:off x="5145938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Нагрузка и здоровье</a:t>
            </a:r>
            <a:endParaRPr lang="en-US" sz="1400" dirty="0"/>
          </a:p>
        </p:txBody>
      </p:sp>
      <p:sp>
        <p:nvSpPr>
          <p:cNvPr id="18" name="a2_d"/>
          <p:cNvSpPr txBox="1"/>
          <p:nvPr/>
        </p:nvSpPr>
        <p:spPr>
          <a:xfrm>
            <a:off x="4551578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 и пульс: дозирование нагрузки, профилактика травм.</a:t>
            </a:r>
            <a:endParaRPr lang="en-US" sz="1250" dirty="0"/>
          </a:p>
        </p:txBody>
      </p:sp>
      <p:sp>
        <p:nvSpPr>
          <p:cNvPr id="19" name="a3_card"/>
          <p:cNvSpPr/>
          <p:nvPr/>
        </p:nvSpPr>
        <p:spPr>
          <a:xfrm>
            <a:off x="8097317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0" name="a3_iconbg"/>
          <p:cNvSpPr/>
          <p:nvPr/>
        </p:nvSpPr>
        <p:spPr>
          <a:xfrm>
            <a:off x="8325917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1" name="a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645" y="2167128"/>
            <a:ext cx="237744" cy="237744"/>
          </a:xfrm>
          <a:prstGeom prst="rect">
            <a:avLst/>
          </a:prstGeom>
        </p:spPr>
      </p:pic>
      <p:sp>
        <p:nvSpPr>
          <p:cNvPr id="22" name="a3_t"/>
          <p:cNvSpPr txBox="1"/>
          <p:nvPr/>
        </p:nvSpPr>
        <p:spPr>
          <a:xfrm>
            <a:off x="8920277" y="203911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Профиль развития</a:t>
            </a:r>
            <a:endParaRPr lang="en-US" sz="1400" dirty="0"/>
          </a:p>
        </p:txBody>
      </p:sp>
      <p:sp>
        <p:nvSpPr>
          <p:cNvPr id="23" name="a3_d"/>
          <p:cNvSpPr txBox="1"/>
          <p:nvPr/>
        </p:nvSpPr>
        <p:spPr>
          <a:xfrm>
            <a:off x="8325917" y="267919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Динамика технических, физических и тактических показателей.</a:t>
            </a:r>
            <a:endParaRPr lang="en-US" sz="1250" dirty="0"/>
          </a:p>
        </p:txBody>
      </p:sp>
      <p:sp>
        <p:nvSpPr>
          <p:cNvPr id="24" name="a4_card"/>
          <p:cNvSpPr/>
          <p:nvPr/>
        </p:nvSpPr>
        <p:spPr>
          <a:xfrm>
            <a:off x="548640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5" name="a4_iconbg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6" name="a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361688"/>
            <a:ext cx="237744" cy="237744"/>
          </a:xfrm>
          <a:prstGeom prst="rect">
            <a:avLst/>
          </a:prstGeom>
        </p:spPr>
      </p:pic>
      <p:sp>
        <p:nvSpPr>
          <p:cNvPr id="27" name="a4_t"/>
          <p:cNvSpPr txBox="1"/>
          <p:nvPr/>
        </p:nvSpPr>
        <p:spPr>
          <a:xfrm>
            <a:off x="1371600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Скаутинговые модели</a:t>
            </a:r>
            <a:endParaRPr lang="en-US" sz="1400" dirty="0"/>
          </a:p>
        </p:txBody>
      </p:sp>
      <p:sp>
        <p:nvSpPr>
          <p:cNvPr id="28" name="a4_d"/>
          <p:cNvSpPr txBox="1"/>
          <p:nvPr/>
        </p:nvSpPr>
        <p:spPr>
          <a:xfrm>
            <a:off x="777240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Сравнение игроков с эталонными профилями позиций.</a:t>
            </a:r>
            <a:endParaRPr lang="en-US" sz="1250" dirty="0"/>
          </a:p>
        </p:txBody>
      </p:sp>
      <p:sp>
        <p:nvSpPr>
          <p:cNvPr id="29" name="a5_card"/>
          <p:cNvSpPr/>
          <p:nvPr/>
        </p:nvSpPr>
        <p:spPr>
          <a:xfrm>
            <a:off x="4322978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0" name="a5_iconbg"/>
          <p:cNvSpPr/>
          <p:nvPr/>
        </p:nvSpPr>
        <p:spPr>
          <a:xfrm>
            <a:off x="4551578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1" name="a5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306" y="4361688"/>
            <a:ext cx="237744" cy="237744"/>
          </a:xfrm>
          <a:prstGeom prst="rect">
            <a:avLst/>
          </a:prstGeom>
        </p:spPr>
      </p:pic>
      <p:sp>
        <p:nvSpPr>
          <p:cNvPr id="32" name="a5_t"/>
          <p:cNvSpPr txBox="1"/>
          <p:nvPr/>
        </p:nvSpPr>
        <p:spPr>
          <a:xfrm>
            <a:off x="5145938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Тактические модели</a:t>
            </a:r>
            <a:endParaRPr lang="en-US" sz="1400" dirty="0"/>
          </a:p>
        </p:txBody>
      </p:sp>
      <p:sp>
        <p:nvSpPr>
          <p:cNvPr id="33" name="a5_d"/>
          <p:cNvSpPr txBox="1"/>
          <p:nvPr/>
        </p:nvSpPr>
        <p:spPr>
          <a:xfrm>
            <a:off x="4551578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соперников, моделирование игровых схем.</a:t>
            </a:r>
            <a:endParaRPr lang="en-US" sz="1250" dirty="0"/>
          </a:p>
        </p:txBody>
      </p:sp>
      <p:sp>
        <p:nvSpPr>
          <p:cNvPr id="34" name="a6_card"/>
          <p:cNvSpPr/>
          <p:nvPr/>
        </p:nvSpPr>
        <p:spPr>
          <a:xfrm>
            <a:off x="8097317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5" name="a6_iconbg"/>
          <p:cNvSpPr/>
          <p:nvPr/>
        </p:nvSpPr>
        <p:spPr>
          <a:xfrm>
            <a:off x="8325917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6" name="a6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645" y="4361688"/>
            <a:ext cx="237744" cy="237744"/>
          </a:xfrm>
          <a:prstGeom prst="rect">
            <a:avLst/>
          </a:prstGeom>
        </p:spPr>
      </p:pic>
      <p:sp>
        <p:nvSpPr>
          <p:cNvPr id="37" name="a6_t"/>
          <p:cNvSpPr txBox="1"/>
          <p:nvPr/>
        </p:nvSpPr>
        <p:spPr>
          <a:xfrm>
            <a:off x="8920277" y="4233672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данных</a:t>
            </a:r>
            <a:endParaRPr lang="en-US" sz="1400" dirty="0"/>
          </a:p>
        </p:txBody>
      </p:sp>
      <p:sp>
        <p:nvSpPr>
          <p:cNvPr id="38" name="a6_d"/>
          <p:cNvSpPr txBox="1"/>
          <p:nvPr/>
        </p:nvSpPr>
        <p:spPr>
          <a:xfrm>
            <a:off x="8325917" y="4873752"/>
            <a:ext cx="308853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Согласие, обезличивание, ограниченный доступ.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/>
      <p:bldP spid="13" grpId="0"/>
      <p:bldP spid="14" grpId="0" animBg="1"/>
      <p:bldP spid="15" grpId="0" animBg="1"/>
      <p:bldP spid="17" grpId="0"/>
      <p:bldP spid="18" grpId="0"/>
      <p:bldP spid="19" grpId="0" animBg="1"/>
      <p:bldP spid="20" grpId="0" animBg="1"/>
      <p:bldP spid="22" grpId="0"/>
      <p:bldP spid="23" grpId="0"/>
      <p:bldP spid="24" grpId="0" animBg="1"/>
      <p:bldP spid="25" grpId="0" animBg="1"/>
      <p:bldP spid="27" grpId="0"/>
      <p:bldP spid="28" grpId="0"/>
      <p:bldP spid="29" grpId="0" animBg="1"/>
      <p:bldP spid="30" grpId="0" animBg="1"/>
      <p:bldP spid="32" grpId="0"/>
      <p:bldP spid="33" grpId="0"/>
      <p:bldP spid="34" grpId="0" animBg="1"/>
      <p:bldP spid="35" grpId="0" animBg="1"/>
      <p:bldP spid="37" grpId="0"/>
      <p:bldP spid="3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Подготовка игроков к профессиональной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карьере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VIII · FOOTBALL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FOOTBALL DEVELOPMENT</a:t>
            </a:r>
            <a:endParaRPr lang="en-US" sz="900" dirty="0"/>
          </a:p>
        </p:txBody>
      </p:sp>
      <p:sp>
        <p:nvSpPr>
          <p:cNvPr id="9" name="a1_card"/>
          <p:cNvSpPr/>
          <p:nvPr/>
        </p:nvSpPr>
        <p:spPr>
          <a:xfrm>
            <a:off x="548640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num"/>
          <p:cNvSpPr txBox="1"/>
          <p:nvPr/>
        </p:nvSpPr>
        <p:spPr>
          <a:xfrm>
            <a:off x="777240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a1_t"/>
          <p:cNvSpPr txBox="1"/>
          <p:nvPr/>
        </p:nvSpPr>
        <p:spPr>
          <a:xfrm>
            <a:off x="777240" y="2514600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Образование и языки</a:t>
            </a:r>
            <a:endParaRPr lang="en-US" sz="1500" dirty="0"/>
          </a:p>
        </p:txBody>
      </p:sp>
      <p:sp>
        <p:nvSpPr>
          <p:cNvPr id="12" name="a1_d"/>
          <p:cNvSpPr txBox="1"/>
          <p:nvPr/>
        </p:nvSpPr>
        <p:spPr>
          <a:xfrm>
            <a:off x="777240" y="2880360"/>
            <a:ext cx="30885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Школьная программа, английский — условие международной карьеры.</a:t>
            </a:r>
            <a:endParaRPr lang="en-US" sz="1250" dirty="0"/>
          </a:p>
        </p:txBody>
      </p:sp>
      <p:sp>
        <p:nvSpPr>
          <p:cNvPr id="13" name="a2_card"/>
          <p:cNvSpPr/>
          <p:nvPr/>
        </p:nvSpPr>
        <p:spPr>
          <a:xfrm>
            <a:off x="4322978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4" name="a2_num"/>
          <p:cNvSpPr txBox="1"/>
          <p:nvPr/>
        </p:nvSpPr>
        <p:spPr>
          <a:xfrm>
            <a:off x="4551578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a2_t"/>
          <p:cNvSpPr txBox="1"/>
          <p:nvPr/>
        </p:nvSpPr>
        <p:spPr>
          <a:xfrm>
            <a:off x="4551578" y="2514600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Медицина и питание</a:t>
            </a:r>
            <a:endParaRPr lang="en-US" sz="1500" dirty="0"/>
          </a:p>
        </p:txBody>
      </p:sp>
      <p:sp>
        <p:nvSpPr>
          <p:cNvPr id="16" name="a2_d"/>
          <p:cNvSpPr txBox="1"/>
          <p:nvPr/>
        </p:nvSpPr>
        <p:spPr>
          <a:xfrm>
            <a:off x="4551578" y="2880360"/>
            <a:ext cx="30885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Медицинский контроль, восстановление, спортивное питание.</a:t>
            </a:r>
            <a:endParaRPr lang="en-US" sz="1250" dirty="0"/>
          </a:p>
        </p:txBody>
      </p:sp>
      <p:sp>
        <p:nvSpPr>
          <p:cNvPr id="17" name="a3_card"/>
          <p:cNvSpPr/>
          <p:nvPr/>
        </p:nvSpPr>
        <p:spPr>
          <a:xfrm>
            <a:off x="8097317" y="182880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8" name="a3_num"/>
          <p:cNvSpPr txBox="1"/>
          <p:nvPr/>
        </p:nvSpPr>
        <p:spPr>
          <a:xfrm>
            <a:off x="8325917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a3_t"/>
          <p:cNvSpPr txBox="1"/>
          <p:nvPr/>
        </p:nvSpPr>
        <p:spPr>
          <a:xfrm>
            <a:off x="8325917" y="2514600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Психология</a:t>
            </a:r>
            <a:endParaRPr lang="en-US" sz="1500" dirty="0"/>
          </a:p>
        </p:txBody>
      </p:sp>
      <p:sp>
        <p:nvSpPr>
          <p:cNvPr id="20" name="a3_d"/>
          <p:cNvSpPr txBox="1"/>
          <p:nvPr/>
        </p:nvSpPr>
        <p:spPr>
          <a:xfrm>
            <a:off x="8325917" y="2880360"/>
            <a:ext cx="30885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Устойчивость к давлению, лидерство, командная культура.</a:t>
            </a:r>
            <a:endParaRPr lang="en-US" sz="1250" dirty="0"/>
          </a:p>
        </p:txBody>
      </p:sp>
      <p:sp>
        <p:nvSpPr>
          <p:cNvPr id="21" name="a4_card"/>
          <p:cNvSpPr/>
          <p:nvPr/>
        </p:nvSpPr>
        <p:spPr>
          <a:xfrm>
            <a:off x="548640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2" name="a4_num"/>
          <p:cNvSpPr txBox="1"/>
          <p:nvPr/>
        </p:nvSpPr>
        <p:spPr>
          <a:xfrm>
            <a:off x="777240" y="4206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a4_t"/>
          <p:cNvSpPr txBox="1"/>
          <p:nvPr/>
        </p:nvSpPr>
        <p:spPr>
          <a:xfrm>
            <a:off x="777240" y="4709160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Медиа и бренд</a:t>
            </a:r>
            <a:endParaRPr lang="en-US" sz="1500" dirty="0"/>
          </a:p>
        </p:txBody>
      </p:sp>
      <p:sp>
        <p:nvSpPr>
          <p:cNvPr id="24" name="a4_d"/>
          <p:cNvSpPr txBox="1"/>
          <p:nvPr/>
        </p:nvSpPr>
        <p:spPr>
          <a:xfrm>
            <a:off x="777240" y="5074920"/>
            <a:ext cx="30885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Поведение в соцсетях и интервью, личный бренд игрока.</a:t>
            </a:r>
            <a:endParaRPr lang="en-US" sz="1250" dirty="0"/>
          </a:p>
        </p:txBody>
      </p:sp>
      <p:sp>
        <p:nvSpPr>
          <p:cNvPr id="25" name="a5_card"/>
          <p:cNvSpPr/>
          <p:nvPr/>
        </p:nvSpPr>
        <p:spPr>
          <a:xfrm>
            <a:off x="4322978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6" name="a5_num"/>
          <p:cNvSpPr txBox="1"/>
          <p:nvPr/>
        </p:nvSpPr>
        <p:spPr>
          <a:xfrm>
            <a:off x="4551578" y="4206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a5_t"/>
          <p:cNvSpPr txBox="1"/>
          <p:nvPr/>
        </p:nvSpPr>
        <p:spPr>
          <a:xfrm>
            <a:off x="4551578" y="4709160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Финансы и право</a:t>
            </a:r>
            <a:endParaRPr lang="en-US" sz="1500" dirty="0"/>
          </a:p>
        </p:txBody>
      </p:sp>
      <p:sp>
        <p:nvSpPr>
          <p:cNvPr id="28" name="a5_d"/>
          <p:cNvSpPr txBox="1"/>
          <p:nvPr/>
        </p:nvSpPr>
        <p:spPr>
          <a:xfrm>
            <a:off x="4551578" y="5074920"/>
            <a:ext cx="30885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Контракты, налоги, финансовая грамотность игрока и семьи.</a:t>
            </a:r>
            <a:endParaRPr lang="en-US" sz="1250" dirty="0"/>
          </a:p>
        </p:txBody>
      </p:sp>
      <p:sp>
        <p:nvSpPr>
          <p:cNvPr id="29" name="a6_card"/>
          <p:cNvSpPr/>
          <p:nvPr/>
        </p:nvSpPr>
        <p:spPr>
          <a:xfrm>
            <a:off x="8097317" y="4023360"/>
            <a:ext cx="354573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0" name="a6_num"/>
          <p:cNvSpPr txBox="1"/>
          <p:nvPr/>
        </p:nvSpPr>
        <p:spPr>
          <a:xfrm>
            <a:off x="8325917" y="4206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a6_t"/>
          <p:cNvSpPr txBox="1"/>
          <p:nvPr/>
        </p:nvSpPr>
        <p:spPr>
          <a:xfrm>
            <a:off x="8325917" y="4709160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Карьерное сопровождение</a:t>
            </a:r>
            <a:endParaRPr lang="en-US" sz="1500" dirty="0"/>
          </a:p>
        </p:txBody>
      </p:sp>
      <p:sp>
        <p:nvSpPr>
          <p:cNvPr id="32" name="a6_d"/>
          <p:cNvSpPr txBox="1"/>
          <p:nvPr/>
        </p:nvSpPr>
        <p:spPr>
          <a:xfrm>
            <a:off x="8325917" y="5074920"/>
            <a:ext cx="30885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интересов игрока по правилам ФИФА о посредниках.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25" grpId="0" animBg="1"/>
      <p:bldP spid="26" grpId="0"/>
      <p:bldP spid="27" grpId="0"/>
      <p:bldP spid="28" grpId="0"/>
      <p:bldP spid="29" grpId="0" animBg="1"/>
      <p:bldP spid="30" grpId="0"/>
      <p:bldP spid="31" grpId="0"/>
      <p:bldP spid="3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Международные футбольные партнёрства: целевые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форматы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VIII · FOOTBALL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503359" y="2743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622231" y="374904"/>
            <a:ext cx="91440" cy="91440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741103" y="274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АМБИЦИЯ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FOOTBALL DEVELOPMENT</a:t>
            </a:r>
            <a:endParaRPr lang="en-US" sz="900" dirty="0"/>
          </a:p>
        </p:txBody>
      </p:sp>
      <p:sp>
        <p:nvSpPr>
          <p:cNvPr id="9" name="a1_card"/>
          <p:cNvSpPr/>
          <p:nvPr/>
        </p:nvSpPr>
        <p:spPr>
          <a:xfrm>
            <a:off x="548640" y="1828800"/>
            <a:ext cx="543290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iconbg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1" name="a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67128"/>
            <a:ext cx="237744" cy="237744"/>
          </a:xfrm>
          <a:prstGeom prst="rect">
            <a:avLst/>
          </a:prstGeom>
        </p:spPr>
      </p:pic>
      <p:sp>
        <p:nvSpPr>
          <p:cNvPr id="12" name="a1_t"/>
          <p:cNvSpPr txBox="1"/>
          <p:nvPr/>
        </p:nvSpPr>
        <p:spPr>
          <a:xfrm>
            <a:off x="1371600" y="2039112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Методическое партнёрство</a:t>
            </a:r>
            <a:endParaRPr lang="en-US" sz="1400" dirty="0"/>
          </a:p>
        </p:txBody>
      </p:sp>
      <p:sp>
        <p:nvSpPr>
          <p:cNvPr id="13" name="a1_d"/>
          <p:cNvSpPr txBox="1"/>
          <p:nvPr/>
        </p:nvSpPr>
        <p:spPr>
          <a:xfrm>
            <a:off x="777240" y="2679192"/>
            <a:ext cx="49757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Обмен игровой моделью и программами с европейской или азиатской академией.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77240" y="3355848"/>
            <a:ext cx="548640" cy="24688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B8C1D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335584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</a:t>
            </a:r>
            <a:endParaRPr lang="en-US" sz="850" dirty="0"/>
          </a:p>
        </p:txBody>
      </p:sp>
      <p:sp>
        <p:nvSpPr>
          <p:cNvPr id="16" name="a2_card"/>
          <p:cNvSpPr/>
          <p:nvPr/>
        </p:nvSpPr>
        <p:spPr>
          <a:xfrm>
            <a:off x="6210148" y="1828800"/>
            <a:ext cx="543290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7" name="a2_iconbg"/>
          <p:cNvSpPr/>
          <p:nvPr/>
        </p:nvSpPr>
        <p:spPr>
          <a:xfrm>
            <a:off x="6438748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8" name="a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476" y="2167128"/>
            <a:ext cx="237744" cy="237744"/>
          </a:xfrm>
          <a:prstGeom prst="rect">
            <a:avLst/>
          </a:prstGeom>
        </p:spPr>
      </p:pic>
      <p:sp>
        <p:nvSpPr>
          <p:cNvPr id="19" name="a2_t"/>
          <p:cNvSpPr txBox="1"/>
          <p:nvPr/>
        </p:nvSpPr>
        <p:spPr>
          <a:xfrm>
            <a:off x="7033108" y="2039112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Обучение тренеров</a:t>
            </a:r>
            <a:endParaRPr lang="en-US" sz="1400" dirty="0"/>
          </a:p>
        </p:txBody>
      </p:sp>
      <p:sp>
        <p:nvSpPr>
          <p:cNvPr id="20" name="a2_d"/>
          <p:cNvSpPr txBox="1"/>
          <p:nvPr/>
        </p:nvSpPr>
        <p:spPr>
          <a:xfrm>
            <a:off x="6438748" y="2679192"/>
            <a:ext cx="49757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Стажировки и курсы для получения лицензий AFC и обмена опытом.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38748" y="3355848"/>
            <a:ext cx="548640" cy="24688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B8C1D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38748" y="335584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</a:t>
            </a:r>
            <a:endParaRPr lang="en-US" sz="850" dirty="0"/>
          </a:p>
        </p:txBody>
      </p:sp>
      <p:sp>
        <p:nvSpPr>
          <p:cNvPr id="23" name="a3_card"/>
          <p:cNvSpPr/>
          <p:nvPr/>
        </p:nvSpPr>
        <p:spPr>
          <a:xfrm>
            <a:off x="548640" y="4023360"/>
            <a:ext cx="543290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4" name="a3_iconbg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5" name="a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361688"/>
            <a:ext cx="237744" cy="237744"/>
          </a:xfrm>
          <a:prstGeom prst="rect">
            <a:avLst/>
          </a:prstGeom>
        </p:spPr>
      </p:pic>
      <p:sp>
        <p:nvSpPr>
          <p:cNvPr id="26" name="a3_t"/>
          <p:cNvSpPr txBox="1"/>
          <p:nvPr/>
        </p:nvSpPr>
        <p:spPr>
          <a:xfrm>
            <a:off x="1371600" y="4233672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Сборы и турниры</a:t>
            </a:r>
            <a:endParaRPr lang="en-US" sz="1400" dirty="0"/>
          </a:p>
        </p:txBody>
      </p:sp>
      <p:sp>
        <p:nvSpPr>
          <p:cNvPr id="27" name="a3_d"/>
          <p:cNvSpPr txBox="1"/>
          <p:nvPr/>
        </p:nvSpPr>
        <p:spPr>
          <a:xfrm>
            <a:off x="777240" y="4873752"/>
            <a:ext cx="49757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Международные юношеские турниры и учебно-тренировочные сборы.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777240" y="5550408"/>
            <a:ext cx="548640" cy="24688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B8C1D4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77240" y="555040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</a:t>
            </a:r>
            <a:endParaRPr lang="en-US" sz="850" dirty="0"/>
          </a:p>
        </p:txBody>
      </p:sp>
      <p:sp>
        <p:nvSpPr>
          <p:cNvPr id="30" name="a4_card"/>
          <p:cNvSpPr/>
          <p:nvPr/>
        </p:nvSpPr>
        <p:spPr>
          <a:xfrm>
            <a:off x="6210148" y="4023360"/>
            <a:ext cx="5432908" cy="1965960"/>
          </a:xfrm>
          <a:prstGeom prst="roundRect">
            <a:avLst>
              <a:gd name="adj" fmla="val 558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1" name="a4_iconbg"/>
          <p:cNvSpPr/>
          <p:nvPr/>
        </p:nvSpPr>
        <p:spPr>
          <a:xfrm>
            <a:off x="6438748" y="42519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2" name="a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476" y="4361688"/>
            <a:ext cx="237744" cy="237744"/>
          </a:xfrm>
          <a:prstGeom prst="rect">
            <a:avLst/>
          </a:prstGeom>
        </p:spPr>
      </p:pic>
      <p:sp>
        <p:nvSpPr>
          <p:cNvPr id="33" name="a4_t"/>
          <p:cNvSpPr txBox="1"/>
          <p:nvPr/>
        </p:nvSpPr>
        <p:spPr>
          <a:xfrm>
            <a:off x="7033108" y="4233672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Скаутинговая сеть</a:t>
            </a:r>
            <a:endParaRPr lang="en-US" sz="1400" dirty="0"/>
          </a:p>
        </p:txBody>
      </p:sp>
      <p:sp>
        <p:nvSpPr>
          <p:cNvPr id="34" name="a4_d"/>
          <p:cNvSpPr txBox="1"/>
          <p:nvPr/>
        </p:nvSpPr>
        <p:spPr>
          <a:xfrm>
            <a:off x="6438748" y="4873752"/>
            <a:ext cx="49757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Обмен данными о талантах и путь воспитанников в зарубежные клубы.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6438748" y="5550408"/>
            <a:ext cx="548640" cy="24688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B8C1D4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438748" y="555040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/>
      <p:bldP spid="13" grpId="0"/>
      <p:bldP spid="16" grpId="0" animBg="1"/>
      <p:bldP spid="17" grpId="0" animBg="1"/>
      <p:bldP spid="19" grpId="0"/>
      <p:bldP spid="20" grpId="0"/>
      <p:bldP spid="23" grpId="0" animBg="1"/>
      <p:bldP spid="24" grpId="0" animBg="1"/>
      <p:bldP spid="26" grpId="0"/>
      <p:bldP spid="27" grpId="0"/>
      <p:bldP spid="30" grpId="0" animBg="1"/>
      <p:bldP spid="31" grpId="0" animBg="1"/>
      <p:bldP spid="33" grpId="0"/>
      <p:bldP spid="34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Трансферная стратегия: развивать, раскрывать,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продавать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VIII · FOOTBALL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 механизмов: FIFA Regulations on the Status and Transfer of Players (компенсация за подготовку, механизм солидарности). Условия — по актуальной редакции.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FOOTBALL DEVELOPMENT</a:t>
            </a:r>
            <a:endParaRPr lang="en-US" sz="900" dirty="0"/>
          </a:p>
        </p:txBody>
      </p:sp>
      <p:sp>
        <p:nvSpPr>
          <p:cNvPr id="10" name="a1_dot"/>
          <p:cNvSpPr/>
          <p:nvPr/>
        </p:nvSpPr>
        <p:spPr>
          <a:xfrm>
            <a:off x="548640" y="210312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11" name="a1_num"/>
          <p:cNvSpPr txBox="1"/>
          <p:nvPr/>
        </p:nvSpPr>
        <p:spPr>
          <a:xfrm>
            <a:off x="54864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a1_ln"/>
          <p:cNvSpPr/>
          <p:nvPr/>
        </p:nvSpPr>
        <p:spPr>
          <a:xfrm>
            <a:off x="1207008" y="2386584"/>
            <a:ext cx="2074088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13" name="a1_t"/>
          <p:cNvSpPr txBox="1"/>
          <p:nvPr/>
        </p:nvSpPr>
        <p:spPr>
          <a:xfrm>
            <a:off x="548640" y="2880360"/>
            <a:ext cx="257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Развивать</a:t>
            </a:r>
            <a:endParaRPr lang="en-US" sz="1450" dirty="0"/>
          </a:p>
        </p:txBody>
      </p:sp>
      <p:sp>
        <p:nvSpPr>
          <p:cNvPr id="14" name="a1_d"/>
          <p:cNvSpPr txBox="1"/>
          <p:nvPr/>
        </p:nvSpPr>
        <p:spPr>
          <a:xfrm>
            <a:off x="548640" y="3337560"/>
            <a:ext cx="257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Воспитанники академии с индивидуальным планом.</a:t>
            </a:r>
            <a:endParaRPr lang="en-US" sz="1250" dirty="0"/>
          </a:p>
        </p:txBody>
      </p:sp>
      <p:sp>
        <p:nvSpPr>
          <p:cNvPr id="15" name="a2_dot"/>
          <p:cNvSpPr/>
          <p:nvPr/>
        </p:nvSpPr>
        <p:spPr>
          <a:xfrm>
            <a:off x="3372536" y="210312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16" name="a2_num"/>
          <p:cNvSpPr txBox="1"/>
          <p:nvPr/>
        </p:nvSpPr>
        <p:spPr>
          <a:xfrm>
            <a:off x="3372536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a2_ln"/>
          <p:cNvSpPr/>
          <p:nvPr/>
        </p:nvSpPr>
        <p:spPr>
          <a:xfrm>
            <a:off x="4030904" y="2386584"/>
            <a:ext cx="2074088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18" name="a2_t"/>
          <p:cNvSpPr txBox="1"/>
          <p:nvPr/>
        </p:nvSpPr>
        <p:spPr>
          <a:xfrm>
            <a:off x="3372536" y="2880360"/>
            <a:ext cx="257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Раскрывать</a:t>
            </a:r>
            <a:endParaRPr lang="en-US" sz="1450" dirty="0"/>
          </a:p>
        </p:txBody>
      </p:sp>
      <p:sp>
        <p:nvSpPr>
          <p:cNvPr id="19" name="a2_d"/>
          <p:cNvSpPr txBox="1"/>
          <p:nvPr/>
        </p:nvSpPr>
        <p:spPr>
          <a:xfrm>
            <a:off x="3372536" y="3337560"/>
            <a:ext cx="257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Игровая практика в основной команде FC FootureX.</a:t>
            </a:r>
            <a:endParaRPr lang="en-US" sz="1250" dirty="0"/>
          </a:p>
        </p:txBody>
      </p:sp>
      <p:sp>
        <p:nvSpPr>
          <p:cNvPr id="20" name="a3_dot"/>
          <p:cNvSpPr/>
          <p:nvPr/>
        </p:nvSpPr>
        <p:spPr>
          <a:xfrm>
            <a:off x="6196432" y="210312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1" name="a3_num"/>
          <p:cNvSpPr txBox="1"/>
          <p:nvPr/>
        </p:nvSpPr>
        <p:spPr>
          <a:xfrm>
            <a:off x="6196432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a3_ln"/>
          <p:cNvSpPr/>
          <p:nvPr/>
        </p:nvSpPr>
        <p:spPr>
          <a:xfrm>
            <a:off x="6854800" y="2386584"/>
            <a:ext cx="2074088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23" name="a3_t"/>
          <p:cNvSpPr txBox="1"/>
          <p:nvPr/>
        </p:nvSpPr>
        <p:spPr>
          <a:xfrm>
            <a:off x="6196432" y="2880360"/>
            <a:ext cx="257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Показывать</a:t>
            </a:r>
            <a:endParaRPr lang="en-US" sz="1450" dirty="0"/>
          </a:p>
        </p:txBody>
      </p:sp>
      <p:sp>
        <p:nvSpPr>
          <p:cNvPr id="24" name="a3_d"/>
          <p:cNvSpPr txBox="1"/>
          <p:nvPr/>
        </p:nvSpPr>
        <p:spPr>
          <a:xfrm>
            <a:off x="6196432" y="3337560"/>
            <a:ext cx="257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и видео — для скаутов клубов-покупателей.</a:t>
            </a:r>
            <a:endParaRPr lang="en-US" sz="1250" dirty="0"/>
          </a:p>
        </p:txBody>
      </p:sp>
      <p:sp>
        <p:nvSpPr>
          <p:cNvPr id="25" name="a4_dot"/>
          <p:cNvSpPr/>
          <p:nvPr/>
        </p:nvSpPr>
        <p:spPr>
          <a:xfrm>
            <a:off x="9020327" y="210312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6" name="a4_num"/>
          <p:cNvSpPr txBox="1"/>
          <p:nvPr/>
        </p:nvSpPr>
        <p:spPr>
          <a:xfrm>
            <a:off x="9020327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a4_t"/>
          <p:cNvSpPr txBox="1"/>
          <p:nvPr/>
        </p:nvSpPr>
        <p:spPr>
          <a:xfrm>
            <a:off x="9020327" y="2880360"/>
            <a:ext cx="257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Продавать</a:t>
            </a:r>
            <a:endParaRPr lang="en-US" sz="1450" dirty="0"/>
          </a:p>
        </p:txBody>
      </p:sp>
      <p:sp>
        <p:nvSpPr>
          <p:cNvPr id="28" name="a4_d"/>
          <p:cNvSpPr txBox="1"/>
          <p:nvPr/>
        </p:nvSpPr>
        <p:spPr>
          <a:xfrm>
            <a:off x="9020327" y="3337560"/>
            <a:ext cx="257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Трансфер с бонусами и процентом от перепродажи.</a:t>
            </a:r>
            <a:endParaRPr lang="en-US" sz="1250" dirty="0"/>
          </a:p>
        </p:txBody>
      </p:sp>
      <p:sp>
        <p:nvSpPr>
          <p:cNvPr id="29" name="a5_c1"/>
          <p:cNvSpPr/>
          <p:nvPr/>
        </p:nvSpPr>
        <p:spPr>
          <a:xfrm>
            <a:off x="548640" y="420624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Компенсация за подготовку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468172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Выплачивается клубам, готовившим игрока в возрасте 12–21 года, при первом профессиональном контракте и последующих переходах до 23 лет (FIFA RSTP).</a:t>
            </a:r>
            <a:endParaRPr lang="en-US" sz="1200" dirty="0"/>
          </a:p>
        </p:txBody>
      </p:sp>
      <p:sp>
        <p:nvSpPr>
          <p:cNvPr id="32" name="a6_c2"/>
          <p:cNvSpPr/>
          <p:nvPr/>
        </p:nvSpPr>
        <p:spPr>
          <a:xfrm>
            <a:off x="6199632" y="420624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28232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Механизм солидарности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6428232" y="468172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5% суммы каждого международного трансфера распределяется клубам, готовившим игрока в возрасте 12–23 лет (FIFA RSTP).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/>
      <p:bldP spid="14" grpId="0"/>
      <p:bldP spid="15" grpId="0" animBg="1"/>
      <p:bldP spid="16" grpId="0"/>
      <p:bldP spid="17" grpId="0" animBg="1"/>
      <p:bldP spid="18" grpId="0"/>
      <p:bldP spid="19" grpId="0"/>
      <p:bldP spid="20" grpId="0" animBg="1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/>
      <p:bldP spid="29" grpId="0" animBg="1"/>
      <p:bldP spid="32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Перспективная модель лиги: FootureX Phygital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League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VIII · FOOTBALL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FOOTBALL DEVELOPMENT</a:t>
            </a:r>
            <a:endParaRPr lang="en-US" sz="900" dirty="0"/>
          </a:p>
        </p:txBody>
      </p:sp>
      <p:sp>
        <p:nvSpPr>
          <p:cNvPr id="9" name="a1_n"/>
          <p:cNvSpPr/>
          <p:nvPr/>
        </p:nvSpPr>
        <p:spPr>
          <a:xfrm>
            <a:off x="2788920" y="1901952"/>
            <a:ext cx="2194560" cy="768096"/>
          </a:xfrm>
          <a:prstGeom prst="roundRect">
            <a:avLst>
              <a:gd name="adj" fmla="val 1428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t"/>
          <p:cNvSpPr txBox="1"/>
          <p:nvPr/>
        </p:nvSpPr>
        <p:spPr>
          <a:xfrm>
            <a:off x="2926080" y="19751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Реальные матчи</a:t>
            </a:r>
            <a:endParaRPr lang="en-US" sz="1250" dirty="0"/>
          </a:p>
        </p:txBody>
      </p:sp>
      <p:sp>
        <p:nvSpPr>
          <p:cNvPr id="11" name="a1_d"/>
          <p:cNvSpPr txBox="1"/>
          <p:nvPr/>
        </p:nvSpPr>
        <p:spPr>
          <a:xfrm>
            <a:off x="2926080" y="22677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Любительские и корпоративные команды</a:t>
            </a:r>
            <a:endParaRPr lang="en-US" sz="950" dirty="0"/>
          </a:p>
        </p:txBody>
      </p:sp>
      <p:sp>
        <p:nvSpPr>
          <p:cNvPr id="12" name="a2_n"/>
          <p:cNvSpPr/>
          <p:nvPr/>
        </p:nvSpPr>
        <p:spPr>
          <a:xfrm>
            <a:off x="4843459" y="3007663"/>
            <a:ext cx="2194560" cy="768096"/>
          </a:xfrm>
          <a:prstGeom prst="roundRect">
            <a:avLst>
              <a:gd name="adj" fmla="val 1428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3" name="a2_t"/>
          <p:cNvSpPr txBox="1"/>
          <p:nvPr/>
        </p:nvSpPr>
        <p:spPr>
          <a:xfrm>
            <a:off x="4980619" y="3080815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матчей</a:t>
            </a:r>
            <a:endParaRPr lang="en-US" sz="1250" dirty="0"/>
          </a:p>
        </p:txBody>
      </p:sp>
      <p:sp>
        <p:nvSpPr>
          <p:cNvPr id="14" name="a2_d"/>
          <p:cNvSpPr txBox="1"/>
          <p:nvPr/>
        </p:nvSpPr>
        <p:spPr>
          <a:xfrm>
            <a:off x="4980619" y="3373423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Статистика и видео — автоматически</a:t>
            </a:r>
            <a:endParaRPr lang="en-US" sz="950" dirty="0"/>
          </a:p>
        </p:txBody>
      </p:sp>
      <p:sp>
        <p:nvSpPr>
          <p:cNvPr id="15" name="a3_n"/>
          <p:cNvSpPr/>
          <p:nvPr/>
        </p:nvSpPr>
        <p:spPr>
          <a:xfrm>
            <a:off x="4058695" y="4796741"/>
            <a:ext cx="2194560" cy="768096"/>
          </a:xfrm>
          <a:prstGeom prst="roundRect">
            <a:avLst>
              <a:gd name="adj" fmla="val 1428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6" name="a3_t"/>
          <p:cNvSpPr txBox="1"/>
          <p:nvPr/>
        </p:nvSpPr>
        <p:spPr>
          <a:xfrm>
            <a:off x="4195855" y="4869893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Цифровой двойник</a:t>
            </a:r>
            <a:endParaRPr lang="en-US" sz="1250" dirty="0"/>
          </a:p>
        </p:txBody>
      </p:sp>
      <p:sp>
        <p:nvSpPr>
          <p:cNvPr id="17" name="a3_d"/>
          <p:cNvSpPr txBox="1"/>
          <p:nvPr/>
        </p:nvSpPr>
        <p:spPr>
          <a:xfrm>
            <a:off x="4195855" y="5162501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Команды и игроки лиги в FootureX Game</a:t>
            </a:r>
            <a:endParaRPr lang="en-US" sz="950" dirty="0"/>
          </a:p>
        </p:txBody>
      </p:sp>
      <p:sp>
        <p:nvSpPr>
          <p:cNvPr id="18" name="a4_n"/>
          <p:cNvSpPr/>
          <p:nvPr/>
        </p:nvSpPr>
        <p:spPr>
          <a:xfrm>
            <a:off x="1519145" y="4796741"/>
            <a:ext cx="2194560" cy="768096"/>
          </a:xfrm>
          <a:prstGeom prst="roundRect">
            <a:avLst>
              <a:gd name="adj" fmla="val 1428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9" name="a4_t"/>
          <p:cNvSpPr txBox="1"/>
          <p:nvPr/>
        </p:nvSpPr>
        <p:spPr>
          <a:xfrm>
            <a:off x="1656305" y="4869893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Болельщики</a:t>
            </a:r>
            <a:endParaRPr lang="en-US" sz="1250" dirty="0"/>
          </a:p>
        </p:txBody>
      </p:sp>
      <p:sp>
        <p:nvSpPr>
          <p:cNvPr id="20" name="a4_d"/>
          <p:cNvSpPr txBox="1"/>
          <p:nvPr/>
        </p:nvSpPr>
        <p:spPr>
          <a:xfrm>
            <a:off x="1656305" y="5162501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Трансляции, прогнозы, сообщество в Telegram</a:t>
            </a:r>
            <a:endParaRPr lang="en-US" sz="950" dirty="0"/>
          </a:p>
        </p:txBody>
      </p:sp>
      <p:sp>
        <p:nvSpPr>
          <p:cNvPr id="21" name="a5_n"/>
          <p:cNvSpPr/>
          <p:nvPr/>
        </p:nvSpPr>
        <p:spPr>
          <a:xfrm>
            <a:off x="734381" y="3007663"/>
            <a:ext cx="2194560" cy="768096"/>
          </a:xfrm>
          <a:prstGeom prst="roundRect">
            <a:avLst>
              <a:gd name="adj" fmla="val 1428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2" name="a5_t"/>
          <p:cNvSpPr txBox="1"/>
          <p:nvPr/>
        </p:nvSpPr>
        <p:spPr>
          <a:xfrm>
            <a:off x="871541" y="3080815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Скаутинг</a:t>
            </a:r>
            <a:endParaRPr lang="en-US" sz="1250" dirty="0"/>
          </a:p>
        </p:txBody>
      </p:sp>
      <p:sp>
        <p:nvSpPr>
          <p:cNvPr id="23" name="a5_d"/>
          <p:cNvSpPr txBox="1"/>
          <p:nvPr/>
        </p:nvSpPr>
        <p:spPr>
          <a:xfrm>
            <a:off x="871541" y="3373423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Лучшие игроки — в поле зрения академии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063240" y="3291840"/>
            <a:ext cx="1645920" cy="1188720"/>
          </a:xfrm>
          <a:prstGeom prst="ellipse">
            <a:avLst/>
          </a:prstGeom>
          <a:solidFill>
            <a:srgbClr val="142A70"/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06324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PHYGITAL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063240" y="3886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лига</a:t>
            </a:r>
            <a:endParaRPr lang="en-US" sz="1200" dirty="0"/>
          </a:p>
        </p:txBody>
      </p:sp>
      <p:sp>
        <p:nvSpPr>
          <p:cNvPr id="27" name="a2_ins"/>
          <p:cNvSpPr/>
          <p:nvPr/>
        </p:nvSpPr>
        <p:spPr>
          <a:xfrm>
            <a:off x="7498080" y="1828800"/>
            <a:ext cx="4142232" cy="4069080"/>
          </a:xfrm>
          <a:prstGeom prst="roundRect">
            <a:avLst>
              <a:gd name="adj" fmla="val 269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26680" y="2029968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Почему это работает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726680" y="2432304"/>
            <a:ext cx="36850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Уникальный продукт: реальный футбол внутри игры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Контент для медиа и спонсоров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Дополнительный канал скаутинга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Требует согласования с футбольной ассоциацией и правовой проверки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 animBg="1"/>
      <p:bldP spid="13" grpId="0"/>
      <p:bldP spid="14" grpId="0"/>
      <p:bldP spid="27" grpId="0" animBg="1"/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Долгосрочная футбольная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стратегия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VIII · FOOTBALL DEVELOPMENT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503359" y="2743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622231" y="374904"/>
            <a:ext cx="91440" cy="91440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741103" y="274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АМБИЦИЯ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FOOTBALL DEVELOPMENT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94415" cy="0"/>
          </a:xfrm>
          <a:prstGeom prst="line">
            <a:avLst/>
          </a:prstGeom>
          <a:noFill/>
          <a:ln w="19050">
            <a:solidFill>
              <a:srgbClr val="273B51"/>
            </a:solidFill>
            <a:prstDash val="solid"/>
          </a:ln>
        </p:spPr>
      </p:sp>
      <p:sp>
        <p:nvSpPr>
          <p:cNvPr id="10" name="a1_d"/>
          <p:cNvSpPr/>
          <p:nvPr/>
        </p:nvSpPr>
        <p:spPr>
          <a:xfrm>
            <a:off x="566928" y="2642616"/>
            <a:ext cx="201168" cy="201168"/>
          </a:xfrm>
          <a:prstGeom prst="ellipse">
            <a:avLst/>
          </a:prstGeom>
          <a:solidFill>
            <a:srgbClr val="2593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1" name="a1_l"/>
          <p:cNvSpPr txBox="1"/>
          <p:nvPr/>
        </p:nvSpPr>
        <p:spPr>
          <a:xfrm>
            <a:off x="548640" y="2176272"/>
            <a:ext cx="20817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1</a:t>
            </a:r>
            <a:endParaRPr lang="en-US" sz="1400" dirty="0"/>
          </a:p>
        </p:txBody>
      </p:sp>
      <p:sp>
        <p:nvSpPr>
          <p:cNvPr id="12" name="a1_t"/>
          <p:cNvSpPr txBox="1"/>
          <p:nvPr/>
        </p:nvSpPr>
        <p:spPr>
          <a:xfrm>
            <a:off x="548640" y="2999232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Лига и дети</a:t>
            </a:r>
            <a:endParaRPr lang="en-US" sz="1350" dirty="0"/>
          </a:p>
        </p:txBody>
      </p:sp>
      <p:sp>
        <p:nvSpPr>
          <p:cNvPr id="13" name="a1_x"/>
          <p:cNvSpPr txBox="1"/>
          <p:nvPr/>
        </p:nvSpPr>
        <p:spPr>
          <a:xfrm>
            <a:off x="548640" y="3447288"/>
            <a:ext cx="20360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Phygital League, детские программы, первые фестивали.</a:t>
            </a:r>
            <a:endParaRPr lang="en-US" sz="1200" dirty="0"/>
          </a:p>
        </p:txBody>
      </p:sp>
      <p:sp>
        <p:nvSpPr>
          <p:cNvPr id="14" name="a2_d"/>
          <p:cNvSpPr/>
          <p:nvPr/>
        </p:nvSpPr>
        <p:spPr>
          <a:xfrm>
            <a:off x="2785811" y="2642616"/>
            <a:ext cx="201168" cy="201168"/>
          </a:xfrm>
          <a:prstGeom prst="ellipse">
            <a:avLst/>
          </a:prstGeom>
          <a:solidFill>
            <a:srgbClr val="2550FA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5" name="a2_l"/>
          <p:cNvSpPr txBox="1"/>
          <p:nvPr/>
        </p:nvSpPr>
        <p:spPr>
          <a:xfrm>
            <a:off x="2767523" y="2176272"/>
            <a:ext cx="20817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50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2</a:t>
            </a:r>
            <a:endParaRPr lang="en-US" sz="1400" dirty="0"/>
          </a:p>
        </p:txBody>
      </p:sp>
      <p:sp>
        <p:nvSpPr>
          <p:cNvPr id="16" name="a2_t"/>
          <p:cNvSpPr txBox="1"/>
          <p:nvPr/>
        </p:nvSpPr>
        <p:spPr>
          <a:xfrm>
            <a:off x="2767523" y="2999232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Академия</a:t>
            </a:r>
            <a:endParaRPr lang="en-US" sz="1350" dirty="0"/>
          </a:p>
        </p:txBody>
      </p:sp>
      <p:sp>
        <p:nvSpPr>
          <p:cNvPr id="17" name="a2_x"/>
          <p:cNvSpPr txBox="1"/>
          <p:nvPr/>
        </p:nvSpPr>
        <p:spPr>
          <a:xfrm>
            <a:off x="2767523" y="3447288"/>
            <a:ext cx="20360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 Football Academy на арендуемой базе.</a:t>
            </a:r>
            <a:endParaRPr lang="en-US" sz="1200" dirty="0"/>
          </a:p>
        </p:txBody>
      </p:sp>
      <p:sp>
        <p:nvSpPr>
          <p:cNvPr id="18" name="a3_d"/>
          <p:cNvSpPr/>
          <p:nvPr/>
        </p:nvSpPr>
        <p:spPr>
          <a:xfrm>
            <a:off x="5004694" y="2642616"/>
            <a:ext cx="201168" cy="201168"/>
          </a:xfrm>
          <a:prstGeom prst="ellipse">
            <a:avLst/>
          </a:prstGeom>
          <a:solidFill>
            <a:srgbClr val="8EB4FF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9" name="a3_l"/>
          <p:cNvSpPr txBox="1"/>
          <p:nvPr/>
        </p:nvSpPr>
        <p:spPr>
          <a:xfrm>
            <a:off x="4986406" y="2176272"/>
            <a:ext cx="20817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EB4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3</a:t>
            </a:r>
            <a:endParaRPr lang="en-US" sz="1400" dirty="0"/>
          </a:p>
        </p:txBody>
      </p:sp>
      <p:sp>
        <p:nvSpPr>
          <p:cNvPr id="20" name="a3_t"/>
          <p:cNvSpPr txBox="1"/>
          <p:nvPr/>
        </p:nvSpPr>
        <p:spPr>
          <a:xfrm>
            <a:off x="4986406" y="2999232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</a:t>
            </a:r>
            <a:endParaRPr lang="en-US" sz="1350" dirty="0"/>
          </a:p>
        </p:txBody>
      </p:sp>
      <p:sp>
        <p:nvSpPr>
          <p:cNvPr id="21" name="a3_x"/>
          <p:cNvSpPr txBox="1"/>
          <p:nvPr/>
        </p:nvSpPr>
        <p:spPr>
          <a:xfrm>
            <a:off x="4986406" y="3447288"/>
            <a:ext cx="20360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Любительский состав FC FootureX, первый официальный уровень.</a:t>
            </a:r>
            <a:endParaRPr lang="en-US" sz="1200" dirty="0"/>
          </a:p>
        </p:txBody>
      </p:sp>
      <p:sp>
        <p:nvSpPr>
          <p:cNvPr id="22" name="a4_d"/>
          <p:cNvSpPr/>
          <p:nvPr/>
        </p:nvSpPr>
        <p:spPr>
          <a:xfrm>
            <a:off x="7223577" y="2642616"/>
            <a:ext cx="201168" cy="201168"/>
          </a:xfrm>
          <a:prstGeom prst="ellipse">
            <a:avLst/>
          </a:prstGeom>
          <a:solidFill>
            <a:srgbClr val="8EB4FF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23" name="a4_l"/>
          <p:cNvSpPr txBox="1"/>
          <p:nvPr/>
        </p:nvSpPr>
        <p:spPr>
          <a:xfrm>
            <a:off x="7205289" y="2176272"/>
            <a:ext cx="20817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EB4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4</a:t>
            </a:r>
            <a:endParaRPr lang="en-US" sz="1400" dirty="0"/>
          </a:p>
        </p:txBody>
      </p:sp>
      <p:sp>
        <p:nvSpPr>
          <p:cNvPr id="24" name="a4_t"/>
          <p:cNvSpPr txBox="1"/>
          <p:nvPr/>
        </p:nvSpPr>
        <p:spPr>
          <a:xfrm>
            <a:off x="7205289" y="2999232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Профессионалы</a:t>
            </a:r>
            <a:endParaRPr lang="en-US" sz="1350" dirty="0"/>
          </a:p>
        </p:txBody>
      </p:sp>
      <p:sp>
        <p:nvSpPr>
          <p:cNvPr id="25" name="a4_x"/>
          <p:cNvSpPr txBox="1"/>
          <p:nvPr/>
        </p:nvSpPr>
        <p:spPr>
          <a:xfrm>
            <a:off x="7205289" y="3447288"/>
            <a:ext cx="20360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Лицензия и выход в профессиональные лиги.</a:t>
            </a:r>
            <a:endParaRPr lang="en-US" sz="1200" dirty="0"/>
          </a:p>
        </p:txBody>
      </p:sp>
      <p:sp>
        <p:nvSpPr>
          <p:cNvPr id="26" name="a5_d"/>
          <p:cNvSpPr/>
          <p:nvPr/>
        </p:nvSpPr>
        <p:spPr>
          <a:xfrm>
            <a:off x="9442460" y="2642616"/>
            <a:ext cx="201168" cy="201168"/>
          </a:xfrm>
          <a:prstGeom prst="ellipse">
            <a:avLst/>
          </a:prstGeom>
          <a:solidFill>
            <a:srgbClr val="8A93A6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27" name="a5_l"/>
          <p:cNvSpPr txBox="1"/>
          <p:nvPr/>
        </p:nvSpPr>
        <p:spPr>
          <a:xfrm>
            <a:off x="9424172" y="2176272"/>
            <a:ext cx="20817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 5</a:t>
            </a:r>
            <a:endParaRPr lang="en-US" sz="1400" dirty="0"/>
          </a:p>
        </p:txBody>
      </p:sp>
      <p:sp>
        <p:nvSpPr>
          <p:cNvPr id="28" name="a5_t"/>
          <p:cNvSpPr txBox="1"/>
          <p:nvPr/>
        </p:nvSpPr>
        <p:spPr>
          <a:xfrm>
            <a:off x="9424172" y="2999232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Инфраструктура</a:t>
            </a:r>
            <a:endParaRPr lang="en-US" sz="1350" dirty="0"/>
          </a:p>
        </p:txBody>
      </p:sp>
      <p:sp>
        <p:nvSpPr>
          <p:cNvPr id="29" name="a5_x"/>
          <p:cNvSpPr txBox="1"/>
          <p:nvPr/>
        </p:nvSpPr>
        <p:spPr>
          <a:xfrm>
            <a:off x="9424172" y="3447288"/>
            <a:ext cx="20360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Собственная база и стадион — по итогам ТЭО.</a:t>
            </a:r>
            <a:endParaRPr lang="en-US" sz="1200" dirty="0"/>
          </a:p>
        </p:txBody>
      </p:sp>
      <p:sp>
        <p:nvSpPr>
          <p:cNvPr id="30" name="a6_k"/>
          <p:cNvSpPr/>
          <p:nvPr/>
        </p:nvSpPr>
        <p:spPr>
          <a:xfrm>
            <a:off x="548640" y="4754880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2960" y="475488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Условие каждого шага: </a:t>
            </a:r>
            <a:pPr indent="0" marL="0">
              <a:buNone/>
            </a:pPr>
            <a:r>
              <a:rPr lang="en-US" sz="14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подтверждённое финансирование, выполнение лицензионных требований и устойчивость цифровых направлений группы. Сроки — ориентиры, не обязательства.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/>
      <p:bldP spid="14" grpId="0" animBg="1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 animBg="1"/>
      <p:bldP spid="27" grpId="0"/>
      <p:bldP spid="28" grpId="0"/>
      <p:bldP spid="29" grpId="0"/>
      <p:bldP spid="30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stadium-aeri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58" y="-411480"/>
            <a:ext cx="13654699" cy="768096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FootureX Stadium — стратегическая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концепция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IX · STADIUM &amp; CITY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503359" y="2743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622231" y="374904"/>
            <a:ext cx="91440" cy="91440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741103" y="274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АМБИЦИЯ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STADIUM &amp; CITY</a:t>
            </a:r>
            <a:endParaRPr lang="en-US" sz="900" dirty="0"/>
          </a:p>
        </p:txBody>
      </p:sp>
      <p:sp>
        <p:nvSpPr>
          <p:cNvPr id="14" name="!!roman"/>
          <p:cNvSpPr txBox="1"/>
          <p:nvPr/>
        </p:nvSpPr>
        <p:spPr>
          <a:xfrm>
            <a:off x="502920" y="17830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IX</a:t>
            </a:r>
            <a:endParaRPr lang="en-US" sz="8800" dirty="0"/>
          </a:p>
        </p:txBody>
      </p:sp>
      <p:sp>
        <p:nvSpPr>
          <p:cNvPr id="15" name="Text 8"/>
          <p:cNvSpPr txBox="1"/>
          <p:nvPr/>
        </p:nvSpPr>
        <p:spPr>
          <a:xfrm>
            <a:off x="548640" y="3154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СТАДИОН И ГОРОД</a:t>
            </a:r>
            <a:endParaRPr lang="en-US" sz="1300" dirty="0"/>
          </a:p>
        </p:txBody>
      </p:sp>
      <p:sp>
        <p:nvSpPr>
          <p:cNvPr id="16" name="a1_lead"/>
          <p:cNvSpPr txBox="1"/>
          <p:nvPr/>
        </p:nvSpPr>
        <p:spPr>
          <a:xfrm>
            <a:off x="548640" y="36118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Современная спортивно-развлекательная арена: футбол, киберспорт, концерты и цифровые сервисы — как долгосрочная амбиция группы.</a:t>
            </a:r>
            <a:endParaRPr lang="en-US" sz="1500" dirty="0"/>
          </a:p>
        </p:txBody>
      </p:sp>
      <p:sp>
        <p:nvSpPr>
          <p:cNvPr id="17" name="a2_pv"/>
          <p:cNvSpPr txBox="1"/>
          <p:nvPr/>
        </p:nvSpPr>
        <p:spPr>
          <a:xfrm>
            <a:off x="54864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Футбол</a:t>
            </a:r>
            <a:endParaRPr lang="en-US" sz="1600" dirty="0"/>
          </a:p>
        </p:txBody>
      </p:sp>
      <p:sp>
        <p:nvSpPr>
          <p:cNvPr id="18" name="a2_pl"/>
          <p:cNvSpPr txBox="1"/>
          <p:nvPr/>
        </p:nvSpPr>
        <p:spPr>
          <a:xfrm>
            <a:off x="54864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домашняя арена клуба</a:t>
            </a:r>
            <a:endParaRPr lang="en-US" sz="1050" dirty="0"/>
          </a:p>
        </p:txBody>
      </p:sp>
      <p:sp>
        <p:nvSpPr>
          <p:cNvPr id="19" name="a3_pv"/>
          <p:cNvSpPr txBox="1"/>
          <p:nvPr/>
        </p:nvSpPr>
        <p:spPr>
          <a:xfrm>
            <a:off x="228600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Esports</a:t>
            </a:r>
            <a:endParaRPr lang="en-US" sz="1600" dirty="0"/>
          </a:p>
        </p:txBody>
      </p:sp>
      <p:sp>
        <p:nvSpPr>
          <p:cNvPr id="20" name="a3_pl"/>
          <p:cNvSpPr txBox="1"/>
          <p:nvPr/>
        </p:nvSpPr>
        <p:spPr>
          <a:xfrm>
            <a:off x="228600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арена турниров</a:t>
            </a:r>
            <a:endParaRPr lang="en-US" sz="1050" dirty="0"/>
          </a:p>
        </p:txBody>
      </p:sp>
      <p:sp>
        <p:nvSpPr>
          <p:cNvPr id="21" name="a4_pv"/>
          <p:cNvSpPr txBox="1"/>
          <p:nvPr/>
        </p:nvSpPr>
        <p:spPr>
          <a:xfrm>
            <a:off x="402336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События</a:t>
            </a:r>
            <a:endParaRPr lang="en-US" sz="1600" dirty="0"/>
          </a:p>
        </p:txBody>
      </p:sp>
      <p:sp>
        <p:nvSpPr>
          <p:cNvPr id="22" name="a4_pl"/>
          <p:cNvSpPr txBox="1"/>
          <p:nvPr/>
        </p:nvSpPr>
        <p:spPr>
          <a:xfrm>
            <a:off x="402336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концерты и шоу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stadium-contex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8" y="-171450"/>
            <a:ext cx="12801280" cy="72009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Предварительная концепция размещения: Новый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Ташкент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IX · STADIUM &amp; CITY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250985" y="274320"/>
            <a:ext cx="23920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369857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488729" y="274320"/>
            <a:ext cx="2099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ТРЕБУЕТСЯ ПОДТВЕРЖДЕНИЕ</a:t>
            </a:r>
            <a:endParaRPr lang="en-US" sz="850" dirty="0"/>
          </a:p>
        </p:txBody>
      </p:sp>
      <p:sp>
        <p:nvSpPr>
          <p:cNvPr id="12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gov.uz (Новый Ташкент: 20 000 га, первая очередь, метро); president.uz, fergana.agency (стадион на 55 тыс. мест, ≈$100 млн); ФИФА (U-20 World Cup 2027). Данные о первой очереди в источниках расходятся.</a:t>
            </a:r>
            <a:endParaRPr lang="en-US" sz="850" dirty="0"/>
          </a:p>
        </p:txBody>
      </p:sp>
      <p:sp>
        <p:nvSpPr>
          <p:cNvPr id="13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STADIUM &amp; CITY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6" name="a1_p"/>
          <p:cNvSpPr/>
          <p:nvPr/>
        </p:nvSpPr>
        <p:spPr>
          <a:xfrm>
            <a:off x="548640" y="1828800"/>
            <a:ext cx="5577840" cy="4069080"/>
          </a:xfrm>
          <a:prstGeom prst="roundRect">
            <a:avLst>
              <a:gd name="adj" fmla="val 2697"/>
            </a:avLst>
          </a:prstGeom>
          <a:solidFill>
            <a:srgbClr val="0B0F0E">
              <a:alpha val="82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777240" y="19659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Контекст Нового Ташкента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777240" y="233172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20 000 га выделено под новый город; первая очередь — в стадии реализации</a:t>
            </a:r>
            <a:endParaRPr lang="en-US" sz="12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Государственный стадион на 55 тыс. мест (≈$100 млн) строится к U-20 World Cup 2027</a:t>
            </a:r>
            <a:endParaRPr lang="en-US" sz="12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Запланирована линия метро к центру Ташкента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777240" y="39319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Позиционирование FootureX Stadium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777240" y="42976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дублировать национальную арену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Клубный стадион средней вместимости + esports-арена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Параметры — только по итогам ТЭО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777240" y="5440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Земельный участок не выделен · требуется согласование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stadium-aeri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v-right" descr="/home/user/footurex-main/presentation/assets/renders/ov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Архитектура современного стадиона: концептуальные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решения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IX · STADIUM &amp; CITY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503359" y="2743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622231" y="374904"/>
            <a:ext cx="91440" cy="91440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741103" y="274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АМБИЦИЯ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STADIUM &amp; CITY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548640" y="55961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5" name="a1_c"/>
          <p:cNvSpPr/>
          <p:nvPr/>
        </p:nvSpPr>
        <p:spPr>
          <a:xfrm>
            <a:off x="5923940" y="1836801"/>
            <a:ext cx="365760" cy="365760"/>
          </a:xfrm>
          <a:prstGeom prst="ellipse">
            <a:avLst/>
          </a:prstGeom>
          <a:solidFill>
            <a:srgbClr val="0B0F0E">
              <a:alpha val="85000"/>
            </a:srgbClr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16" name="a1_cn"/>
          <p:cNvSpPr txBox="1"/>
          <p:nvPr/>
        </p:nvSpPr>
        <p:spPr>
          <a:xfrm>
            <a:off x="5923940" y="183680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a2_c"/>
          <p:cNvSpPr/>
          <p:nvPr/>
        </p:nvSpPr>
        <p:spPr>
          <a:xfrm>
            <a:off x="4540190" y="4051935"/>
            <a:ext cx="365760" cy="365760"/>
          </a:xfrm>
          <a:prstGeom prst="ellipse">
            <a:avLst/>
          </a:prstGeom>
          <a:solidFill>
            <a:srgbClr val="0B0F0E">
              <a:alpha val="85000"/>
            </a:srgbClr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18" name="a2_cn"/>
          <p:cNvSpPr txBox="1"/>
          <p:nvPr/>
        </p:nvSpPr>
        <p:spPr>
          <a:xfrm>
            <a:off x="4540190" y="405193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a3_c"/>
          <p:cNvSpPr/>
          <p:nvPr/>
        </p:nvSpPr>
        <p:spPr>
          <a:xfrm>
            <a:off x="4691360" y="2642616"/>
            <a:ext cx="365760" cy="365760"/>
          </a:xfrm>
          <a:prstGeom prst="ellipse">
            <a:avLst/>
          </a:prstGeom>
          <a:solidFill>
            <a:srgbClr val="0B0F0E">
              <a:alpha val="85000"/>
            </a:srgbClr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20" name="a3_cn"/>
          <p:cNvSpPr txBox="1"/>
          <p:nvPr/>
        </p:nvSpPr>
        <p:spPr>
          <a:xfrm>
            <a:off x="4691360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a4_c"/>
          <p:cNvSpPr/>
          <p:nvPr/>
        </p:nvSpPr>
        <p:spPr>
          <a:xfrm>
            <a:off x="4714529" y="3228289"/>
            <a:ext cx="365760" cy="365760"/>
          </a:xfrm>
          <a:prstGeom prst="ellipse">
            <a:avLst/>
          </a:prstGeom>
          <a:solidFill>
            <a:srgbClr val="0B0F0E">
              <a:alpha val="85000"/>
            </a:srgbClr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22" name="a4_cn"/>
          <p:cNvSpPr txBox="1"/>
          <p:nvPr/>
        </p:nvSpPr>
        <p:spPr>
          <a:xfrm>
            <a:off x="4714529" y="322828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a5_c"/>
          <p:cNvSpPr/>
          <p:nvPr/>
        </p:nvSpPr>
        <p:spPr>
          <a:xfrm>
            <a:off x="5912968" y="3423742"/>
            <a:ext cx="365760" cy="365760"/>
          </a:xfrm>
          <a:prstGeom prst="ellipse">
            <a:avLst/>
          </a:prstGeom>
          <a:solidFill>
            <a:srgbClr val="0B0F0E">
              <a:alpha val="85000"/>
            </a:srgbClr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24" name="a5_cn"/>
          <p:cNvSpPr txBox="1"/>
          <p:nvPr/>
        </p:nvSpPr>
        <p:spPr>
          <a:xfrm>
            <a:off x="5912968" y="342374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138160" y="1920240"/>
            <a:ext cx="329184" cy="329184"/>
          </a:xfrm>
          <a:prstGeom prst="ellipse">
            <a:avLst/>
          </a:prstGeom>
          <a:solidFill>
            <a:srgbClr val="0B0F0E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13816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8595360" y="190195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Кольцевой навес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8595360" y="216712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Лёгкая конструкция над трибунами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2706624"/>
            <a:ext cx="329184" cy="329184"/>
          </a:xfrm>
          <a:prstGeom prst="ellipse">
            <a:avLst/>
          </a:prstGeom>
          <a:solidFill>
            <a:srgbClr val="0B0F0E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138160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8595360" y="268833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Медиа-фасад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8595360" y="295351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Ламели с динамической подсветкой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8138160" y="3493008"/>
            <a:ext cx="329184" cy="329184"/>
          </a:xfrm>
          <a:prstGeom prst="ellipse">
            <a:avLst/>
          </a:prstGeom>
          <a:solidFill>
            <a:srgbClr val="0B0F0E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138160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8595360" y="347472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LED-лента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8595360" y="3739896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Брендинг и инфографика матча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8138160" y="4279392"/>
            <a:ext cx="329184" cy="329184"/>
          </a:xfrm>
          <a:prstGeom prst="ellipse">
            <a:avLst/>
          </a:prstGeom>
          <a:solidFill>
            <a:srgbClr val="0B0F0E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813816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8595360" y="426110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Две трибуны-чаши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8595360" y="45262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Обзор и акустика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8138160" y="5065776"/>
            <a:ext cx="329184" cy="329184"/>
          </a:xfrm>
          <a:prstGeom prst="ellipse">
            <a:avLst/>
          </a:prstGeom>
          <a:solidFill>
            <a:srgbClr val="0B0F0E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138160" y="5065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8595360" y="504748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Поле 105 × 68 м</a:t>
            </a:r>
            <a:endParaRPr lang="en-US" sz="1300" dirty="0"/>
          </a:p>
        </p:txBody>
      </p:sp>
      <p:sp>
        <p:nvSpPr>
          <p:cNvPr id="44" name="Text 37"/>
          <p:cNvSpPr txBox="1"/>
          <p:nvPr/>
        </p:nvSpPr>
        <p:spPr>
          <a:xfrm>
            <a:off x="8595360" y="5312664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Стандарт ФИФА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stadium-faca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12" y="-274320"/>
            <a:ext cx="13167031" cy="740664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Интеллектуальная спортивная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инфраструктура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IX · STADIUM &amp; CITY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503359" y="2743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622231" y="374904"/>
            <a:ext cx="91440" cy="91440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741103" y="274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АМБИЦИЯ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STADIUM &amp; CITY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pic>
        <p:nvPicPr>
          <p:cNvPr id="15" name="!!phoneA" descr="/home/user/footurex-main/presentation/assets/ui/stadium-ap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1783080"/>
            <a:ext cx="1965960" cy="4114800"/>
          </a:xfrm>
          <a:prstGeom prst="rect">
            <a:avLst/>
          </a:prstGeom>
        </p:spPr>
      </p:pic>
      <p:sp>
        <p:nvSpPr>
          <p:cNvPr id="16" name="a1_ibg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7" name="a1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1984248"/>
            <a:ext cx="237744" cy="237744"/>
          </a:xfrm>
          <a:prstGeom prst="rect">
            <a:avLst/>
          </a:prstGeom>
        </p:spPr>
      </p:pic>
      <p:sp>
        <p:nvSpPr>
          <p:cNvPr id="18" name="a1_t"/>
          <p:cNvSpPr txBox="1"/>
          <p:nvPr/>
        </p:nvSpPr>
        <p:spPr>
          <a:xfrm>
            <a:off x="1143000" y="1874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Цифровой билет и проход</a:t>
            </a:r>
            <a:endParaRPr lang="en-US" sz="1250" dirty="0"/>
          </a:p>
        </p:txBody>
      </p:sp>
      <p:sp>
        <p:nvSpPr>
          <p:cNvPr id="19" name="a2_ibg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0" name="a2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2642616"/>
            <a:ext cx="237744" cy="237744"/>
          </a:xfrm>
          <a:prstGeom prst="rect">
            <a:avLst/>
          </a:prstGeom>
        </p:spPr>
      </p:pic>
      <p:sp>
        <p:nvSpPr>
          <p:cNvPr id="21" name="a2_t"/>
          <p:cNvSpPr txBox="1"/>
          <p:nvPr/>
        </p:nvSpPr>
        <p:spPr>
          <a:xfrm>
            <a:off x="1143000" y="25328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Высокоплотная связь</a:t>
            </a:r>
            <a:endParaRPr lang="en-US" sz="1250" dirty="0"/>
          </a:p>
        </p:txBody>
      </p:sp>
      <p:sp>
        <p:nvSpPr>
          <p:cNvPr id="22" name="a3_ibg"/>
          <p:cNvSpPr/>
          <p:nvPr/>
        </p:nvSpPr>
        <p:spPr>
          <a:xfrm>
            <a:off x="548640" y="3191256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3" name="a3_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3300984"/>
            <a:ext cx="237744" cy="237744"/>
          </a:xfrm>
          <a:prstGeom prst="rect">
            <a:avLst/>
          </a:prstGeom>
        </p:spPr>
      </p:pic>
      <p:sp>
        <p:nvSpPr>
          <p:cNvPr id="24" name="a3_t"/>
          <p:cNvSpPr txBox="1"/>
          <p:nvPr/>
        </p:nvSpPr>
        <p:spPr>
          <a:xfrm>
            <a:off x="1143000" y="31912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Безналичные покупки</a:t>
            </a:r>
            <a:endParaRPr lang="en-US" sz="1250" dirty="0"/>
          </a:p>
        </p:txBody>
      </p:sp>
      <p:sp>
        <p:nvSpPr>
          <p:cNvPr id="25" name="a4_ibg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6" name="a4_i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3959352"/>
            <a:ext cx="237744" cy="237744"/>
          </a:xfrm>
          <a:prstGeom prst="rect">
            <a:avLst/>
          </a:prstGeom>
        </p:spPr>
      </p:pic>
      <p:sp>
        <p:nvSpPr>
          <p:cNvPr id="27" name="a4_t"/>
          <p:cNvSpPr txBox="1"/>
          <p:nvPr/>
        </p:nvSpPr>
        <p:spPr>
          <a:xfrm>
            <a:off x="1143000" y="384962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Цифровой двойник и BMS</a:t>
            </a:r>
            <a:endParaRPr lang="en-US" sz="1250" dirty="0"/>
          </a:p>
        </p:txBody>
      </p:sp>
      <p:sp>
        <p:nvSpPr>
          <p:cNvPr id="28" name="a5_ibg"/>
          <p:cNvSpPr/>
          <p:nvPr/>
        </p:nvSpPr>
        <p:spPr>
          <a:xfrm>
            <a:off x="548640" y="4507992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9" name="a5_i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617720"/>
            <a:ext cx="237744" cy="237744"/>
          </a:xfrm>
          <a:prstGeom prst="rect">
            <a:avLst/>
          </a:prstGeom>
        </p:spPr>
      </p:pic>
      <p:sp>
        <p:nvSpPr>
          <p:cNvPr id="30" name="a5_t"/>
          <p:cNvSpPr txBox="1"/>
          <p:nvPr/>
        </p:nvSpPr>
        <p:spPr>
          <a:xfrm>
            <a:off x="1143000" y="45079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Видеоаналитика безопасности</a:t>
            </a:r>
            <a:endParaRPr lang="en-US" sz="1250" dirty="0"/>
          </a:p>
        </p:txBody>
      </p:sp>
      <p:sp>
        <p:nvSpPr>
          <p:cNvPr id="31" name="a6_ibg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2" name="a6_i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5276088"/>
            <a:ext cx="237744" cy="237744"/>
          </a:xfrm>
          <a:prstGeom prst="rect">
            <a:avLst/>
          </a:prstGeom>
        </p:spPr>
      </p:pic>
      <p:sp>
        <p:nvSpPr>
          <p:cNvPr id="33" name="a6_t"/>
          <p:cNvSpPr txBox="1"/>
          <p:nvPr/>
        </p:nvSpPr>
        <p:spPr>
          <a:xfrm>
            <a:off x="1143000" y="5166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Энергоменеджмент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  <p:bldP spid="19" grpId="0" animBg="1"/>
      <p:bldP spid="21" grpId="0"/>
      <p:bldP spid="22" grpId="0" animBg="1"/>
      <p:bldP spid="24" grpId="0"/>
      <p:bldP spid="25" grpId="0" animBg="1"/>
      <p:bldP spid="27" grpId="0"/>
      <p:bldP spid="28" grpId="0" animBg="1"/>
      <p:bldP spid="30" grpId="0"/>
      <p:bldP spid="31" grpId="0" animBg="1"/>
      <p:bldP spid="33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Коммерческая модель стадиона: стратегические опции и источники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дохода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IX · STADIUM &amp; CITY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250985" y="274320"/>
            <a:ext cx="23920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369857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88729" y="274320"/>
            <a:ext cx="2099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ТРЕБУЕТСЯ ПОДТВЕРЖДЕНИЕ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STADIUM &amp; CITY</a:t>
            </a:r>
            <a:endParaRPr lang="en-US" sz="900" dirty="0"/>
          </a:p>
        </p:txBody>
      </p:sp>
      <p:graphicFrame>
        <p:nvGraphicFramePr>
          <p:cNvPr id="88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852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1188720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Источник дохода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Драйвер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Оценка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Билеты на матчи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Посещаемость × цена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ТЭО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Концерты и события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Число событий в год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ТЭО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Esports-арена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Турниры, аренда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ТЭО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Хоспиталити и ложи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Корпоративные клиенты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ТЭО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Права на название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Партнёр-бренд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ТЭО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Ритейл и F&amp;B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Траты на посетителя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ТЭО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Цифровые сервисы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Пользователи приложения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EB4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ТЭО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62940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Стратегические опции: A → B → C</a:t>
            </a:r>
            <a:endParaRPr lang="en-US" sz="1250" dirty="0"/>
          </a:p>
        </p:txBody>
      </p:sp>
      <p:sp>
        <p:nvSpPr>
          <p:cNvPr id="11" name="a2_o"/>
          <p:cNvSpPr/>
          <p:nvPr/>
        </p:nvSpPr>
        <p:spPr>
          <a:xfrm>
            <a:off x="6629400" y="2212848"/>
            <a:ext cx="5010912" cy="1115568"/>
          </a:xfrm>
          <a:prstGeom prst="roundRect">
            <a:avLst>
              <a:gd name="adj" fmla="val 983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78484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A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3225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Партнёрская модель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360920" y="26151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Цифровые сервисы и esports-события на существующих аренах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360920" y="29992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Низкий CAPEX · первым шагом</a:t>
            </a:r>
            <a:endParaRPr lang="en-US" sz="1050" dirty="0"/>
          </a:p>
        </p:txBody>
      </p:sp>
      <p:sp>
        <p:nvSpPr>
          <p:cNvPr id="16" name="a3_o"/>
          <p:cNvSpPr/>
          <p:nvPr/>
        </p:nvSpPr>
        <p:spPr>
          <a:xfrm>
            <a:off x="6629400" y="3456432"/>
            <a:ext cx="5010912" cy="1115568"/>
          </a:xfrm>
          <a:prstGeom prst="roundRect">
            <a:avLst>
              <a:gd name="adj" fmla="val 983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84848" y="3621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B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736092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Многофункциональная арена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360920" y="3858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Esports, концерты и мини-футбол — меньший формат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360920" y="42428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Средний CAPEX · после ТЭО</a:t>
            </a:r>
            <a:endParaRPr lang="en-US" sz="1050" dirty="0"/>
          </a:p>
        </p:txBody>
      </p:sp>
      <p:sp>
        <p:nvSpPr>
          <p:cNvPr id="21" name="a4_o"/>
          <p:cNvSpPr/>
          <p:nvPr/>
        </p:nvSpPr>
        <p:spPr>
          <a:xfrm>
            <a:off x="6629400" y="4700016"/>
            <a:ext cx="5010912" cy="1115568"/>
          </a:xfrm>
          <a:prstGeom prst="roundRect">
            <a:avLst>
              <a:gd name="adj" fmla="val 983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784848" y="4864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C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7360920" y="48097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Клубный стадион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7360920" y="5102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Домашняя арена FC FootureX средней вместимости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7360920" y="54864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Высокий CAPEX · горизонт 10+ лет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21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city-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63" y="-331470"/>
            <a:ext cx="14020449" cy="78867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FootureX City — генеральная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концепция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IX · STADIUM &amp; CITY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503359" y="2743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622231" y="374904"/>
            <a:ext cx="91440" cy="91440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741103" y="274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АМБИЦИЯ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STADIUM &amp; CITY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5" name="a1_p"/>
          <p:cNvSpPr/>
          <p:nvPr/>
        </p:nvSpPr>
        <p:spPr>
          <a:xfrm>
            <a:off x="548640" y="1828800"/>
            <a:ext cx="5120640" cy="4069080"/>
          </a:xfrm>
          <a:prstGeom prst="roundRect">
            <a:avLst>
              <a:gd name="adj" fmla="val 2697"/>
            </a:avLst>
          </a:prstGeom>
          <a:solidFill>
            <a:srgbClr val="0B0F0E">
              <a:alpha val="82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777240" y="20116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Квартал, где работают, учатся, живут и болеют за свою команду</a:t>
            </a:r>
            <a:endParaRPr lang="en-US" sz="1600" dirty="0"/>
          </a:p>
        </p:txBody>
      </p:sp>
      <p:sp>
        <p:nvSpPr>
          <p:cNvPr id="17" name="Text 10"/>
          <p:cNvSpPr txBox="1"/>
          <p:nvPr/>
        </p:nvSpPr>
        <p:spPr>
          <a:xfrm>
            <a:off x="777240" y="301752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Технологический кампус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Стадион и esports-арена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Жилые кварталы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Бульвар с кафе и ритейлом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Образование и академии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Спортивные центры и парк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City-инфраструктура</a:t>
            </a:r>
            <a:endParaRPr lang="en-US" sz="1250" dirty="0"/>
          </a:p>
        </p:txBody>
      </p:sp>
      <p:sp>
        <p:nvSpPr>
          <p:cNvPr id="18" name="Text 11"/>
          <p:cNvSpPr txBox="1"/>
          <p:nvPr/>
        </p:nvSpPr>
        <p:spPr>
          <a:xfrm>
            <a:off x="777240" y="5440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концепция · требует согласований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city-pl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0" y="0"/>
            <a:ext cx="12191695" cy="6858000"/>
          </a:xfrm>
          <a:prstGeom prst="rect">
            <a:avLst/>
          </a:prstGeom>
        </p:spPr>
      </p:pic>
      <p:pic>
        <p:nvPicPr>
          <p:cNvPr id="3" name="ov-right" descr="/home/user/footurex-main/presentation/assets/renders/ov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Генеральный план многофункционального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квартала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IX · STADIUM &amp; CITY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503359" y="2743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622231" y="374904"/>
            <a:ext cx="91440" cy="91440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741103" y="274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АМБИЦИЯ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STADIUM &amp; CITY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548640" y="55961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5" name="a1_c"/>
          <p:cNvSpPr/>
          <p:nvPr/>
        </p:nvSpPr>
        <p:spPr>
          <a:xfrm>
            <a:off x="1936002" y="2382012"/>
            <a:ext cx="365760" cy="365760"/>
          </a:xfrm>
          <a:prstGeom prst="ellipse">
            <a:avLst/>
          </a:prstGeom>
          <a:solidFill>
            <a:srgbClr val="0B0F0E">
              <a:alpha val="85000"/>
            </a:srgbClr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16" name="a1_cn"/>
          <p:cNvSpPr txBox="1"/>
          <p:nvPr/>
        </p:nvSpPr>
        <p:spPr>
          <a:xfrm>
            <a:off x="1936002" y="23820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a2_c"/>
          <p:cNvSpPr/>
          <p:nvPr/>
        </p:nvSpPr>
        <p:spPr>
          <a:xfrm>
            <a:off x="3802551" y="2255139"/>
            <a:ext cx="365760" cy="365760"/>
          </a:xfrm>
          <a:prstGeom prst="ellipse">
            <a:avLst/>
          </a:prstGeom>
          <a:solidFill>
            <a:srgbClr val="0B0F0E">
              <a:alpha val="85000"/>
            </a:srgbClr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18" name="a2_cn"/>
          <p:cNvSpPr txBox="1"/>
          <p:nvPr/>
        </p:nvSpPr>
        <p:spPr>
          <a:xfrm>
            <a:off x="3802551" y="225513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a3_c"/>
          <p:cNvSpPr/>
          <p:nvPr/>
        </p:nvSpPr>
        <p:spPr>
          <a:xfrm>
            <a:off x="6058632" y="2139239"/>
            <a:ext cx="365760" cy="365760"/>
          </a:xfrm>
          <a:prstGeom prst="ellipse">
            <a:avLst/>
          </a:prstGeom>
          <a:solidFill>
            <a:srgbClr val="0B0F0E">
              <a:alpha val="85000"/>
            </a:srgbClr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20" name="a3_cn"/>
          <p:cNvSpPr txBox="1"/>
          <p:nvPr/>
        </p:nvSpPr>
        <p:spPr>
          <a:xfrm>
            <a:off x="6058632" y="213923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a4_c"/>
          <p:cNvSpPr/>
          <p:nvPr/>
        </p:nvSpPr>
        <p:spPr>
          <a:xfrm>
            <a:off x="3032036" y="3426257"/>
            <a:ext cx="365760" cy="365760"/>
          </a:xfrm>
          <a:prstGeom prst="ellipse">
            <a:avLst/>
          </a:prstGeom>
          <a:solidFill>
            <a:srgbClr val="0B0F0E">
              <a:alpha val="85000"/>
            </a:srgbClr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22" name="a4_cn"/>
          <p:cNvSpPr txBox="1"/>
          <p:nvPr/>
        </p:nvSpPr>
        <p:spPr>
          <a:xfrm>
            <a:off x="3032036" y="34262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a5_c"/>
          <p:cNvSpPr/>
          <p:nvPr/>
        </p:nvSpPr>
        <p:spPr>
          <a:xfrm>
            <a:off x="2540710" y="4684928"/>
            <a:ext cx="365760" cy="365760"/>
          </a:xfrm>
          <a:prstGeom prst="ellipse">
            <a:avLst/>
          </a:prstGeom>
          <a:solidFill>
            <a:srgbClr val="0B0F0E">
              <a:alpha val="85000"/>
            </a:srgbClr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24" name="a5_cn"/>
          <p:cNvSpPr txBox="1"/>
          <p:nvPr/>
        </p:nvSpPr>
        <p:spPr>
          <a:xfrm>
            <a:off x="2540710" y="4684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a6_c"/>
          <p:cNvSpPr/>
          <p:nvPr/>
        </p:nvSpPr>
        <p:spPr>
          <a:xfrm>
            <a:off x="3958605" y="4584116"/>
            <a:ext cx="365760" cy="365760"/>
          </a:xfrm>
          <a:prstGeom prst="ellipse">
            <a:avLst/>
          </a:prstGeom>
          <a:solidFill>
            <a:srgbClr val="0B0F0E">
              <a:alpha val="85000"/>
            </a:srgbClr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26" name="a6_cn"/>
          <p:cNvSpPr txBox="1"/>
          <p:nvPr/>
        </p:nvSpPr>
        <p:spPr>
          <a:xfrm>
            <a:off x="3958605" y="45841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a7_c"/>
          <p:cNvSpPr/>
          <p:nvPr/>
        </p:nvSpPr>
        <p:spPr>
          <a:xfrm>
            <a:off x="7252801" y="4588231"/>
            <a:ext cx="365760" cy="365760"/>
          </a:xfrm>
          <a:prstGeom prst="ellipse">
            <a:avLst/>
          </a:prstGeom>
          <a:solidFill>
            <a:srgbClr val="0B0F0E">
              <a:alpha val="85000"/>
            </a:srgbClr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28" name="a7_cn"/>
          <p:cNvSpPr txBox="1"/>
          <p:nvPr/>
        </p:nvSpPr>
        <p:spPr>
          <a:xfrm>
            <a:off x="7252801" y="458823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a8_c"/>
          <p:cNvSpPr/>
          <p:nvPr/>
        </p:nvSpPr>
        <p:spPr>
          <a:xfrm>
            <a:off x="1536115" y="4538167"/>
            <a:ext cx="365760" cy="365760"/>
          </a:xfrm>
          <a:prstGeom prst="ellipse">
            <a:avLst/>
          </a:prstGeom>
          <a:solidFill>
            <a:srgbClr val="0B0F0E">
              <a:alpha val="85000"/>
            </a:srgbClr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30" name="a8_cn"/>
          <p:cNvSpPr txBox="1"/>
          <p:nvPr/>
        </p:nvSpPr>
        <p:spPr>
          <a:xfrm>
            <a:off x="1536115" y="453816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595360" y="1874520"/>
            <a:ext cx="329184" cy="329184"/>
          </a:xfrm>
          <a:prstGeom prst="ellipse">
            <a:avLst/>
          </a:prstGeom>
          <a:solidFill>
            <a:srgbClr val="0B0F0E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859536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9052560" y="185623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Стадион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8595360" y="2350008"/>
            <a:ext cx="329184" cy="329184"/>
          </a:xfrm>
          <a:prstGeom prst="ellipse">
            <a:avLst/>
          </a:prstGeom>
          <a:solidFill>
            <a:srgbClr val="0B0F0E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595360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9052560" y="233172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Esports-арена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8595360" y="2825496"/>
            <a:ext cx="329184" cy="329184"/>
          </a:xfrm>
          <a:prstGeom prst="ellipse">
            <a:avLst/>
          </a:prstGeom>
          <a:solidFill>
            <a:srgbClr val="0B0F0E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8595360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9052560" y="2807208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Технологический кампус</a:t>
            </a:r>
            <a:endParaRPr lang="en-US" sz="1250" dirty="0"/>
          </a:p>
        </p:txBody>
      </p:sp>
      <p:sp>
        <p:nvSpPr>
          <p:cNvPr id="40" name="Shape 33"/>
          <p:cNvSpPr/>
          <p:nvPr/>
        </p:nvSpPr>
        <p:spPr>
          <a:xfrm>
            <a:off x="8595360" y="3300984"/>
            <a:ext cx="329184" cy="329184"/>
          </a:xfrm>
          <a:prstGeom prst="ellipse">
            <a:avLst/>
          </a:prstGeom>
          <a:solidFill>
            <a:srgbClr val="0B0F0E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859536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052560" y="3282696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Бульвар и ритейл</a:t>
            </a:r>
            <a:endParaRPr lang="en-US" sz="1250" dirty="0"/>
          </a:p>
        </p:txBody>
      </p:sp>
      <p:sp>
        <p:nvSpPr>
          <p:cNvPr id="43" name="Shape 36"/>
          <p:cNvSpPr/>
          <p:nvPr/>
        </p:nvSpPr>
        <p:spPr>
          <a:xfrm>
            <a:off x="8595360" y="3776472"/>
            <a:ext cx="329184" cy="329184"/>
          </a:xfrm>
          <a:prstGeom prst="ellipse">
            <a:avLst/>
          </a:prstGeom>
          <a:solidFill>
            <a:srgbClr val="0B0F0E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859536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052560" y="375818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Жилые кварталы</a:t>
            </a:r>
            <a:endParaRPr lang="en-US" sz="1250" dirty="0"/>
          </a:p>
        </p:txBody>
      </p:sp>
      <p:sp>
        <p:nvSpPr>
          <p:cNvPr id="46" name="Shape 39"/>
          <p:cNvSpPr/>
          <p:nvPr/>
        </p:nvSpPr>
        <p:spPr>
          <a:xfrm>
            <a:off x="8595360" y="4251960"/>
            <a:ext cx="329184" cy="329184"/>
          </a:xfrm>
          <a:prstGeom prst="ellipse">
            <a:avLst/>
          </a:prstGeom>
          <a:solidFill>
            <a:srgbClr val="0B0F0E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859536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6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9052560" y="423367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Центральный парк</a:t>
            </a:r>
            <a:endParaRPr lang="en-US" sz="1250" dirty="0"/>
          </a:p>
        </p:txBody>
      </p:sp>
      <p:sp>
        <p:nvSpPr>
          <p:cNvPr id="49" name="Shape 42"/>
          <p:cNvSpPr/>
          <p:nvPr/>
        </p:nvSpPr>
        <p:spPr>
          <a:xfrm>
            <a:off x="8595360" y="4727448"/>
            <a:ext cx="329184" cy="329184"/>
          </a:xfrm>
          <a:prstGeom prst="ellipse">
            <a:avLst/>
          </a:prstGeom>
          <a:solidFill>
            <a:srgbClr val="0B0F0E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8595360" y="4727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7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9052560" y="470916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Образовательный кампус</a:t>
            </a:r>
            <a:endParaRPr lang="en-US" sz="1250" dirty="0"/>
          </a:p>
        </p:txBody>
      </p:sp>
      <p:sp>
        <p:nvSpPr>
          <p:cNvPr id="52" name="Shape 45"/>
          <p:cNvSpPr/>
          <p:nvPr/>
        </p:nvSpPr>
        <p:spPr>
          <a:xfrm>
            <a:off x="8595360" y="5202936"/>
            <a:ext cx="329184" cy="329184"/>
          </a:xfrm>
          <a:prstGeom prst="ellipse">
            <a:avLst/>
          </a:prstGeom>
          <a:solidFill>
            <a:srgbClr val="0B0F0E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8595360" y="5202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8</a:t>
            </a:r>
            <a:endParaRPr lang="en-US" sz="1000" dirty="0"/>
          </a:p>
        </p:txBody>
      </p:sp>
      <p:sp>
        <p:nvSpPr>
          <p:cNvPr id="54" name="Text 47"/>
          <p:cNvSpPr txBox="1"/>
          <p:nvPr/>
        </p:nvSpPr>
        <p:spPr>
          <a:xfrm>
            <a:off x="9052560" y="5184648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Спортивный центр</a:t>
            </a:r>
            <a:endParaRPr lang="en-US" sz="1250" dirty="0"/>
          </a:p>
        </p:txBody>
      </p:sp>
      <p:sp>
        <p:nvSpPr>
          <p:cNvPr id="55" name="Text 48"/>
          <p:cNvSpPr txBox="1"/>
          <p:nvPr/>
        </p:nvSpPr>
        <p:spPr>
          <a:xfrm>
            <a:off x="8595360" y="5760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Схема без масштаба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city-campu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15" y="-342900"/>
            <a:ext cx="13410865" cy="75438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Корпоративный технологический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кампус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IX · STADIUM &amp; CITY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503359" y="2743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622231" y="374904"/>
            <a:ext cx="91440" cy="91440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741103" y="274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АМБИЦИЯ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STADIUM &amp; CITY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5" name="a1_p"/>
          <p:cNvSpPr/>
          <p:nvPr/>
        </p:nvSpPr>
        <p:spPr>
          <a:xfrm>
            <a:off x="548640" y="1828800"/>
            <a:ext cx="5120640" cy="4069080"/>
          </a:xfrm>
          <a:prstGeom prst="roundRect">
            <a:avLst>
              <a:gd name="adj" fmla="val 2697"/>
            </a:avLst>
          </a:prstGeom>
          <a:solidFill>
            <a:srgbClr val="0B0F0E">
              <a:alpha val="82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6" name="a2_ibg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7" name="a2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121408"/>
            <a:ext cx="237744" cy="237744"/>
          </a:xfrm>
          <a:prstGeom prst="rect">
            <a:avLst/>
          </a:prstGeom>
        </p:spPr>
      </p:pic>
      <p:sp>
        <p:nvSpPr>
          <p:cNvPr id="18" name="a2_t"/>
          <p:cNvSpPr txBox="1"/>
          <p:nvPr/>
        </p:nvSpPr>
        <p:spPr>
          <a:xfrm>
            <a:off x="1371600" y="1984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Штаб-квартира FootureX</a:t>
            </a:r>
            <a:endParaRPr lang="en-US" sz="1300" dirty="0"/>
          </a:p>
        </p:txBody>
      </p:sp>
      <p:sp>
        <p:nvSpPr>
          <p:cNvPr id="19" name="a2_d"/>
          <p:cNvSpPr txBox="1"/>
          <p:nvPr/>
        </p:nvSpPr>
        <p:spPr>
          <a:xfrm>
            <a:off x="1371600" y="2258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Офисы всех направлений группы</a:t>
            </a:r>
            <a:endParaRPr lang="en-US" sz="1100" dirty="0"/>
          </a:p>
        </p:txBody>
      </p:sp>
      <p:sp>
        <p:nvSpPr>
          <p:cNvPr id="20" name="a3_ibg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1" name="a3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2852928"/>
            <a:ext cx="237744" cy="237744"/>
          </a:xfrm>
          <a:prstGeom prst="rect">
            <a:avLst/>
          </a:prstGeom>
        </p:spPr>
      </p:pic>
      <p:sp>
        <p:nvSpPr>
          <p:cNvPr id="22" name="a3_t"/>
          <p:cNvSpPr txBox="1"/>
          <p:nvPr/>
        </p:nvSpPr>
        <p:spPr>
          <a:xfrm>
            <a:off x="1371600" y="2715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AI-лаборатории</a:t>
            </a:r>
            <a:endParaRPr lang="en-US" sz="1300" dirty="0"/>
          </a:p>
        </p:txBody>
      </p:sp>
      <p:sp>
        <p:nvSpPr>
          <p:cNvPr id="23" name="a3_d"/>
          <p:cNvSpPr txBox="1"/>
          <p:nvPr/>
        </p:nvSpPr>
        <p:spPr>
          <a:xfrm>
            <a:off x="1371600" y="2990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R&amp;D, вычислительные мощности</a:t>
            </a:r>
            <a:endParaRPr lang="en-US" sz="1100" dirty="0"/>
          </a:p>
        </p:txBody>
      </p:sp>
      <p:sp>
        <p:nvSpPr>
          <p:cNvPr id="24" name="a4_ibg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5" name="a4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3584448"/>
            <a:ext cx="237744" cy="237744"/>
          </a:xfrm>
          <a:prstGeom prst="rect">
            <a:avLst/>
          </a:prstGeom>
        </p:spPr>
      </p:pic>
      <p:sp>
        <p:nvSpPr>
          <p:cNvPr id="26" name="a4_t"/>
          <p:cNvSpPr txBox="1"/>
          <p:nvPr/>
        </p:nvSpPr>
        <p:spPr>
          <a:xfrm>
            <a:off x="1371600" y="34472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Игровые студии</a:t>
            </a:r>
            <a:endParaRPr lang="en-US" sz="1300" dirty="0"/>
          </a:p>
        </p:txBody>
      </p:sp>
      <p:sp>
        <p:nvSpPr>
          <p:cNvPr id="27" name="a4_d"/>
          <p:cNvSpPr txBox="1"/>
          <p:nvPr/>
        </p:nvSpPr>
        <p:spPr>
          <a:xfrm>
            <a:off x="1371600" y="3721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Разработка, тестирование, трансляции</a:t>
            </a:r>
            <a:endParaRPr lang="en-US" sz="1100" dirty="0"/>
          </a:p>
        </p:txBody>
      </p:sp>
      <p:sp>
        <p:nvSpPr>
          <p:cNvPr id="28" name="a5_ibg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9" name="a5_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4315968"/>
            <a:ext cx="237744" cy="237744"/>
          </a:xfrm>
          <a:prstGeom prst="rect">
            <a:avLst/>
          </a:prstGeom>
        </p:spPr>
      </p:pic>
      <p:sp>
        <p:nvSpPr>
          <p:cNvPr id="30" name="a5_t"/>
          <p:cNvSpPr txBox="1"/>
          <p:nvPr/>
        </p:nvSpPr>
        <p:spPr>
          <a:xfrm>
            <a:off x="1371600" y="4178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Пространства партнёров</a:t>
            </a:r>
            <a:endParaRPr lang="en-US" sz="1300" dirty="0"/>
          </a:p>
        </p:txBody>
      </p:sp>
      <p:sp>
        <p:nvSpPr>
          <p:cNvPr id="31" name="a5_d"/>
          <p:cNvSpPr txBox="1"/>
          <p:nvPr/>
        </p:nvSpPr>
        <p:spPr>
          <a:xfrm>
            <a:off x="1371600" y="4453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Технологические компании и стартапы</a:t>
            </a:r>
            <a:endParaRPr lang="en-US" sz="1100" dirty="0"/>
          </a:p>
        </p:txBody>
      </p:sp>
      <p:sp>
        <p:nvSpPr>
          <p:cNvPr id="32" name="a6_ibg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3" name="a6_i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" y="5047488"/>
            <a:ext cx="237744" cy="237744"/>
          </a:xfrm>
          <a:prstGeom prst="rect">
            <a:avLst/>
          </a:prstGeom>
        </p:spPr>
      </p:pic>
      <p:sp>
        <p:nvSpPr>
          <p:cNvPr id="34" name="a6_t"/>
          <p:cNvSpPr txBox="1"/>
          <p:nvPr/>
        </p:nvSpPr>
        <p:spPr>
          <a:xfrm>
            <a:off x="1371600" y="4910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Конференц-центр</a:t>
            </a:r>
            <a:endParaRPr lang="en-US" sz="1300" dirty="0"/>
          </a:p>
        </p:txBody>
      </p:sp>
      <p:sp>
        <p:nvSpPr>
          <p:cNvPr id="35" name="a6_d"/>
          <p:cNvSpPr txBox="1"/>
          <p:nvPr/>
        </p:nvSpPr>
        <p:spPr>
          <a:xfrm>
            <a:off x="1371600" y="51846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Мероприятия, демо-дни, хакатоны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/>
      <p:bldP spid="19" grpId="0"/>
      <p:bldP spid="20" grpId="0" animBg="1"/>
      <p:bldP spid="22" grpId="0"/>
      <p:bldP spid="23" grpId="0"/>
      <p:bldP spid="24" grpId="0" animBg="1"/>
      <p:bldP spid="26" grpId="0"/>
      <p:bldP spid="27" grpId="0"/>
      <p:bldP spid="28" grpId="0" animBg="1"/>
      <p:bldP spid="30" grpId="0"/>
      <p:bldP spid="31" grpId="0"/>
      <p:bldP spid="32" grpId="0" animBg="1"/>
      <p:bldP spid="34" grpId="0"/>
      <p:bldP spid="3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city-residenti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4948" y="-274320"/>
            <a:ext cx="13167031" cy="7406640"/>
          </a:xfrm>
          <a:prstGeom prst="rect">
            <a:avLst/>
          </a:prstGeom>
        </p:spPr>
      </p:pic>
      <p:pic>
        <p:nvPicPr>
          <p:cNvPr id="3" name="ov-right" descr="/home/user/footurex-main/presentation/assets/renders/ov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Жилая и общественная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инфраструктура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IX · STADIUM &amp; CITY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503359" y="2743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622231" y="374904"/>
            <a:ext cx="91440" cy="91440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741103" y="274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АМБИЦИЯ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STADIUM &amp; CITY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548640" y="55961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5" name="a1_p"/>
          <p:cNvSpPr/>
          <p:nvPr/>
        </p:nvSpPr>
        <p:spPr>
          <a:xfrm>
            <a:off x="6537960" y="1828800"/>
            <a:ext cx="5102352" cy="4069080"/>
          </a:xfrm>
          <a:prstGeom prst="roundRect">
            <a:avLst>
              <a:gd name="adj" fmla="val 2697"/>
            </a:avLst>
          </a:prstGeom>
          <a:solidFill>
            <a:srgbClr val="0B0F0E">
              <a:alpha val="82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6" name="a1_card"/>
          <p:cNvSpPr/>
          <p:nvPr/>
        </p:nvSpPr>
        <p:spPr>
          <a:xfrm>
            <a:off x="6675120" y="1965960"/>
            <a:ext cx="2345436" cy="1828800"/>
          </a:xfrm>
          <a:prstGeom prst="roundRect">
            <a:avLst>
              <a:gd name="adj" fmla="val 6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7" name="a1_iconbg"/>
          <p:cNvSpPr/>
          <p:nvPr/>
        </p:nvSpPr>
        <p:spPr>
          <a:xfrm>
            <a:off x="6903720" y="21945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8" name="a1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448" y="2304288"/>
            <a:ext cx="237744" cy="237744"/>
          </a:xfrm>
          <a:prstGeom prst="rect">
            <a:avLst/>
          </a:prstGeom>
        </p:spPr>
      </p:pic>
      <p:sp>
        <p:nvSpPr>
          <p:cNvPr id="19" name="a1_t"/>
          <p:cNvSpPr txBox="1"/>
          <p:nvPr/>
        </p:nvSpPr>
        <p:spPr>
          <a:xfrm>
            <a:off x="7498080" y="2176272"/>
            <a:ext cx="1293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Квартальная застройка</a:t>
            </a:r>
            <a:endParaRPr lang="en-US" sz="1250" dirty="0"/>
          </a:p>
        </p:txBody>
      </p:sp>
      <p:sp>
        <p:nvSpPr>
          <p:cNvPr id="20" name="a1_d"/>
          <p:cNvSpPr txBox="1"/>
          <p:nvPr/>
        </p:nvSpPr>
        <p:spPr>
          <a:xfrm>
            <a:off x="6903720" y="2816352"/>
            <a:ext cx="18882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Дворы без машин, разные форматы жилья</a:t>
            </a:r>
            <a:endParaRPr lang="en-US" sz="1100" dirty="0"/>
          </a:p>
        </p:txBody>
      </p:sp>
      <p:sp>
        <p:nvSpPr>
          <p:cNvPr id="21" name="a2_card"/>
          <p:cNvSpPr/>
          <p:nvPr/>
        </p:nvSpPr>
        <p:spPr>
          <a:xfrm>
            <a:off x="9157716" y="1965960"/>
            <a:ext cx="2345436" cy="1828800"/>
          </a:xfrm>
          <a:prstGeom prst="roundRect">
            <a:avLst>
              <a:gd name="adj" fmla="val 6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2" name="a2_iconbg"/>
          <p:cNvSpPr/>
          <p:nvPr/>
        </p:nvSpPr>
        <p:spPr>
          <a:xfrm>
            <a:off x="9386316" y="21945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3" name="a2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044" y="2304288"/>
            <a:ext cx="237744" cy="237744"/>
          </a:xfrm>
          <a:prstGeom prst="rect">
            <a:avLst/>
          </a:prstGeom>
        </p:spPr>
      </p:pic>
      <p:sp>
        <p:nvSpPr>
          <p:cNvPr id="24" name="a2_t"/>
          <p:cNvSpPr txBox="1"/>
          <p:nvPr/>
        </p:nvSpPr>
        <p:spPr>
          <a:xfrm>
            <a:off x="9980676" y="2176272"/>
            <a:ext cx="1293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Школы и сады</a:t>
            </a:r>
            <a:endParaRPr lang="en-US" sz="1250" dirty="0"/>
          </a:p>
        </p:txBody>
      </p:sp>
      <p:sp>
        <p:nvSpPr>
          <p:cNvPr id="25" name="a2_d"/>
          <p:cNvSpPr txBox="1"/>
          <p:nvPr/>
        </p:nvSpPr>
        <p:spPr>
          <a:xfrm>
            <a:off x="9386316" y="2816352"/>
            <a:ext cx="18882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пешей доступности</a:t>
            </a:r>
            <a:endParaRPr lang="en-US" sz="1100" dirty="0"/>
          </a:p>
        </p:txBody>
      </p:sp>
      <p:sp>
        <p:nvSpPr>
          <p:cNvPr id="26" name="a3_card"/>
          <p:cNvSpPr/>
          <p:nvPr/>
        </p:nvSpPr>
        <p:spPr>
          <a:xfrm>
            <a:off x="6675120" y="3931920"/>
            <a:ext cx="2345436" cy="1828800"/>
          </a:xfrm>
          <a:prstGeom prst="roundRect">
            <a:avLst>
              <a:gd name="adj" fmla="val 6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7" name="a3_iconbg"/>
          <p:cNvSpPr/>
          <p:nvPr/>
        </p:nvSpPr>
        <p:spPr>
          <a:xfrm>
            <a:off x="6903720" y="416052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8" name="a3_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3448" y="4270248"/>
            <a:ext cx="237744" cy="237744"/>
          </a:xfrm>
          <a:prstGeom prst="rect">
            <a:avLst/>
          </a:prstGeom>
        </p:spPr>
      </p:pic>
      <p:sp>
        <p:nvSpPr>
          <p:cNvPr id="29" name="a3_t"/>
          <p:cNvSpPr txBox="1"/>
          <p:nvPr/>
        </p:nvSpPr>
        <p:spPr>
          <a:xfrm>
            <a:off x="7498080" y="4142232"/>
            <a:ext cx="1293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Центральный парк</a:t>
            </a:r>
            <a:endParaRPr lang="en-US" sz="1250" dirty="0"/>
          </a:p>
        </p:txBody>
      </p:sp>
      <p:sp>
        <p:nvSpPr>
          <p:cNvPr id="30" name="a3_d"/>
          <p:cNvSpPr txBox="1"/>
          <p:nvPr/>
        </p:nvSpPr>
        <p:spPr>
          <a:xfrm>
            <a:off x="6903720" y="4782312"/>
            <a:ext cx="18882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Пруд, спорт, прогулки</a:t>
            </a:r>
            <a:endParaRPr lang="en-US" sz="1100" dirty="0"/>
          </a:p>
        </p:txBody>
      </p:sp>
      <p:sp>
        <p:nvSpPr>
          <p:cNvPr id="31" name="a4_card"/>
          <p:cNvSpPr/>
          <p:nvPr/>
        </p:nvSpPr>
        <p:spPr>
          <a:xfrm>
            <a:off x="9157716" y="3931920"/>
            <a:ext cx="2345436" cy="1828800"/>
          </a:xfrm>
          <a:prstGeom prst="roundRect">
            <a:avLst>
              <a:gd name="adj" fmla="val 6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2" name="a4_iconbg"/>
          <p:cNvSpPr/>
          <p:nvPr/>
        </p:nvSpPr>
        <p:spPr>
          <a:xfrm>
            <a:off x="9386316" y="416052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3" name="a4_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6044" y="4270248"/>
            <a:ext cx="237744" cy="237744"/>
          </a:xfrm>
          <a:prstGeom prst="rect">
            <a:avLst/>
          </a:prstGeom>
        </p:spPr>
      </p:pic>
      <p:sp>
        <p:nvSpPr>
          <p:cNvPr id="34" name="a4_t"/>
          <p:cNvSpPr txBox="1"/>
          <p:nvPr/>
        </p:nvSpPr>
        <p:spPr>
          <a:xfrm>
            <a:off x="9980676" y="4142232"/>
            <a:ext cx="12938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Пешеходы прежде всего</a:t>
            </a:r>
            <a:endParaRPr lang="en-US" sz="1250" dirty="0"/>
          </a:p>
        </p:txBody>
      </p:sp>
      <p:sp>
        <p:nvSpPr>
          <p:cNvPr id="35" name="a4_d"/>
          <p:cNvSpPr txBox="1"/>
          <p:nvPr/>
        </p:nvSpPr>
        <p:spPr>
          <a:xfrm>
            <a:off x="9386316" y="4782312"/>
            <a:ext cx="18882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Велодорожки, метро, бульвар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9" grpId="0"/>
      <p:bldP spid="20" grpId="0"/>
      <p:bldP spid="21" grpId="0" animBg="1"/>
      <p:bldP spid="22" grpId="0" animBg="1"/>
      <p:bldP spid="24" grpId="0"/>
      <p:bldP spid="25" grpId="0"/>
      <p:bldP spid="26" grpId="0" animBg="1"/>
      <p:bldP spid="27" grpId="0" animBg="1"/>
      <p:bldP spid="29" grpId="0"/>
      <p:bldP spid="30" grpId="0"/>
      <p:bldP spid="31" grpId="0" animBg="1"/>
      <p:bldP spid="32" grpId="0" animBg="1"/>
      <p:bldP spid="34" grpId="0"/>
      <p:bldP spid="3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city-boulev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9" y="-205740"/>
            <a:ext cx="12923197" cy="726948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Торговые и коммерческие пространства: бульвар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FootureX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IX · STADIUM &amp; CITY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503359" y="2743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622231" y="374904"/>
            <a:ext cx="91440" cy="91440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741103" y="274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АМБИЦИЯ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STADIUM &amp; CITY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5" name="a1_p"/>
          <p:cNvSpPr/>
          <p:nvPr/>
        </p:nvSpPr>
        <p:spPr>
          <a:xfrm>
            <a:off x="548640" y="1828800"/>
            <a:ext cx="5120640" cy="4069080"/>
          </a:xfrm>
          <a:prstGeom prst="roundRect">
            <a:avLst>
              <a:gd name="adj" fmla="val 2697"/>
            </a:avLst>
          </a:prstGeom>
          <a:solidFill>
            <a:srgbClr val="0B0F0E">
              <a:alpha val="82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6" name="a2_ibg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7" name="a2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121408"/>
            <a:ext cx="237744" cy="237744"/>
          </a:xfrm>
          <a:prstGeom prst="rect">
            <a:avLst/>
          </a:prstGeom>
        </p:spPr>
      </p:pic>
      <p:sp>
        <p:nvSpPr>
          <p:cNvPr id="18" name="a2_t"/>
          <p:cNvSpPr txBox="1"/>
          <p:nvPr/>
        </p:nvSpPr>
        <p:spPr>
          <a:xfrm>
            <a:off x="1371600" y="1984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Кофейни и рестораны</a:t>
            </a:r>
            <a:endParaRPr lang="en-US" sz="1300" dirty="0"/>
          </a:p>
        </p:txBody>
      </p:sp>
      <p:sp>
        <p:nvSpPr>
          <p:cNvPr id="19" name="a2_d"/>
          <p:cNvSpPr txBox="1"/>
          <p:nvPr/>
        </p:nvSpPr>
        <p:spPr>
          <a:xfrm>
            <a:off x="1371600" y="2258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Гастрономия на первых этажах</a:t>
            </a:r>
            <a:endParaRPr lang="en-US" sz="1100" dirty="0"/>
          </a:p>
        </p:txBody>
      </p:sp>
      <p:sp>
        <p:nvSpPr>
          <p:cNvPr id="20" name="a3_ibg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1" name="a3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2852928"/>
            <a:ext cx="237744" cy="237744"/>
          </a:xfrm>
          <a:prstGeom prst="rect">
            <a:avLst/>
          </a:prstGeom>
        </p:spPr>
      </p:pic>
      <p:sp>
        <p:nvSpPr>
          <p:cNvPr id="22" name="a3_t"/>
          <p:cNvSpPr txBox="1"/>
          <p:nvPr/>
        </p:nvSpPr>
        <p:spPr>
          <a:xfrm>
            <a:off x="1371600" y="2715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Ритейл и бренд-стор</a:t>
            </a:r>
            <a:endParaRPr lang="en-US" sz="1300" dirty="0"/>
          </a:p>
        </p:txBody>
      </p:sp>
      <p:sp>
        <p:nvSpPr>
          <p:cNvPr id="23" name="a3_d"/>
          <p:cNvSpPr txBox="1"/>
          <p:nvPr/>
        </p:nvSpPr>
        <p:spPr>
          <a:xfrm>
            <a:off x="1371600" y="2990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Мерч FootureX и повседневный спрос</a:t>
            </a:r>
            <a:endParaRPr lang="en-US" sz="1100" dirty="0"/>
          </a:p>
        </p:txBody>
      </p:sp>
      <p:sp>
        <p:nvSpPr>
          <p:cNvPr id="24" name="a4_ibg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5" name="a4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3584448"/>
            <a:ext cx="237744" cy="237744"/>
          </a:xfrm>
          <a:prstGeom prst="rect">
            <a:avLst/>
          </a:prstGeom>
        </p:spPr>
      </p:pic>
      <p:sp>
        <p:nvSpPr>
          <p:cNvPr id="26" name="a4_t"/>
          <p:cNvSpPr txBox="1"/>
          <p:nvPr/>
        </p:nvSpPr>
        <p:spPr>
          <a:xfrm>
            <a:off x="1371600" y="34472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Фан-зоны</a:t>
            </a:r>
            <a:endParaRPr lang="en-US" sz="1300" dirty="0"/>
          </a:p>
        </p:txBody>
      </p:sp>
      <p:sp>
        <p:nvSpPr>
          <p:cNvPr id="27" name="a4_d"/>
          <p:cNvSpPr txBox="1"/>
          <p:nvPr/>
        </p:nvSpPr>
        <p:spPr>
          <a:xfrm>
            <a:off x="1371600" y="3721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Экраны трансляций в дни матчей</a:t>
            </a:r>
            <a:endParaRPr lang="en-US" sz="1100" dirty="0"/>
          </a:p>
        </p:txBody>
      </p:sp>
      <p:sp>
        <p:nvSpPr>
          <p:cNvPr id="28" name="a5_ibg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9" name="a5_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4315968"/>
            <a:ext cx="237744" cy="237744"/>
          </a:xfrm>
          <a:prstGeom prst="rect">
            <a:avLst/>
          </a:prstGeom>
        </p:spPr>
      </p:pic>
      <p:sp>
        <p:nvSpPr>
          <p:cNvPr id="30" name="a5_t"/>
          <p:cNvSpPr txBox="1"/>
          <p:nvPr/>
        </p:nvSpPr>
        <p:spPr>
          <a:xfrm>
            <a:off x="1371600" y="4178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Вечерняя жизнь</a:t>
            </a:r>
            <a:endParaRPr lang="en-US" sz="1300" dirty="0"/>
          </a:p>
        </p:txBody>
      </p:sp>
      <p:sp>
        <p:nvSpPr>
          <p:cNvPr id="31" name="a5_d"/>
          <p:cNvSpPr txBox="1"/>
          <p:nvPr/>
        </p:nvSpPr>
        <p:spPr>
          <a:xfrm>
            <a:off x="1371600" y="4453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События, подсветка, уличные фестивали</a:t>
            </a:r>
            <a:endParaRPr lang="en-US" sz="1100" dirty="0"/>
          </a:p>
        </p:txBody>
      </p:sp>
      <p:sp>
        <p:nvSpPr>
          <p:cNvPr id="32" name="a6_ibg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3" name="a6_i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" y="5047488"/>
            <a:ext cx="237744" cy="237744"/>
          </a:xfrm>
          <a:prstGeom prst="rect">
            <a:avLst/>
          </a:prstGeom>
        </p:spPr>
      </p:pic>
      <p:sp>
        <p:nvSpPr>
          <p:cNvPr id="34" name="a6_t"/>
          <p:cNvSpPr txBox="1"/>
          <p:nvPr/>
        </p:nvSpPr>
        <p:spPr>
          <a:xfrm>
            <a:off x="1371600" y="4910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Спорт и здоровье</a:t>
            </a:r>
            <a:endParaRPr lang="en-US" sz="1300" dirty="0"/>
          </a:p>
        </p:txBody>
      </p:sp>
      <p:sp>
        <p:nvSpPr>
          <p:cNvPr id="35" name="a6_d"/>
          <p:cNvSpPr txBox="1"/>
          <p:nvPr/>
        </p:nvSpPr>
        <p:spPr>
          <a:xfrm>
            <a:off x="1371600" y="51846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Фитнес и спортивные центры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/>
      <p:bldP spid="19" grpId="0"/>
      <p:bldP spid="20" grpId="0" animBg="1"/>
      <p:bldP spid="22" grpId="0"/>
      <p:bldP spid="23" grpId="0"/>
      <p:bldP spid="24" grpId="0" animBg="1"/>
      <p:bldP spid="26" grpId="0"/>
      <p:bldP spid="27" grpId="0"/>
      <p:bldP spid="28" grpId="0" animBg="1"/>
      <p:bldP spid="30" grpId="0"/>
      <p:bldP spid="31" grpId="0"/>
      <p:bldP spid="32" grpId="0" animBg="1"/>
      <p:bldP spid="34" grpId="0"/>
      <p:bldP spid="3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city-smart-sm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92" y="-274320"/>
            <a:ext cx="13167031" cy="740664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 City и цифровое управление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кварталом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IX · STADIUM &amp; CITY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503359" y="2743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622231" y="374904"/>
            <a:ext cx="91440" cy="91440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741103" y="274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АМБИЦИЯ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STADIUM &amp; CITY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5" name="a1_p"/>
          <p:cNvSpPr/>
          <p:nvPr/>
        </p:nvSpPr>
        <p:spPr>
          <a:xfrm>
            <a:off x="548640" y="1828800"/>
            <a:ext cx="5120640" cy="4069080"/>
          </a:xfrm>
          <a:prstGeom prst="roundRect">
            <a:avLst>
              <a:gd name="adj" fmla="val 2697"/>
            </a:avLst>
          </a:prstGeom>
          <a:solidFill>
            <a:srgbClr val="0B0F0E">
              <a:alpha val="82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6" name="a1_card"/>
          <p:cNvSpPr/>
          <p:nvPr/>
        </p:nvSpPr>
        <p:spPr>
          <a:xfrm>
            <a:off x="685800" y="1965960"/>
            <a:ext cx="2368296" cy="1191768"/>
          </a:xfrm>
          <a:prstGeom prst="roundRect">
            <a:avLst>
              <a:gd name="adj" fmla="val 920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7" name="a1_iconbg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8" name="a1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2304288"/>
            <a:ext cx="237744" cy="237744"/>
          </a:xfrm>
          <a:prstGeom prst="rect">
            <a:avLst/>
          </a:prstGeom>
        </p:spPr>
      </p:pic>
      <p:sp>
        <p:nvSpPr>
          <p:cNvPr id="19" name="a1_t"/>
          <p:cNvSpPr txBox="1"/>
          <p:nvPr/>
        </p:nvSpPr>
        <p:spPr>
          <a:xfrm>
            <a:off x="1508760" y="217627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Цифровой двойник</a:t>
            </a:r>
            <a:endParaRPr lang="en-US" sz="1200" dirty="0"/>
          </a:p>
        </p:txBody>
      </p:sp>
      <p:sp>
        <p:nvSpPr>
          <p:cNvPr id="20" name="a1_d"/>
          <p:cNvSpPr txBox="1"/>
          <p:nvPr/>
        </p:nvSpPr>
        <p:spPr>
          <a:xfrm>
            <a:off x="914400" y="2816352"/>
            <a:ext cx="191109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зданий и сетей</a:t>
            </a:r>
            <a:endParaRPr lang="en-US" sz="1050" dirty="0"/>
          </a:p>
        </p:txBody>
      </p:sp>
      <p:sp>
        <p:nvSpPr>
          <p:cNvPr id="21" name="a2_card"/>
          <p:cNvSpPr/>
          <p:nvPr/>
        </p:nvSpPr>
        <p:spPr>
          <a:xfrm>
            <a:off x="3163824" y="1965960"/>
            <a:ext cx="2368296" cy="1191768"/>
          </a:xfrm>
          <a:prstGeom prst="roundRect">
            <a:avLst>
              <a:gd name="adj" fmla="val 920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2" name="a2_iconbg"/>
          <p:cNvSpPr/>
          <p:nvPr/>
        </p:nvSpPr>
        <p:spPr>
          <a:xfrm>
            <a:off x="3392424" y="219456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3" name="a2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2304288"/>
            <a:ext cx="237744" cy="237744"/>
          </a:xfrm>
          <a:prstGeom prst="rect">
            <a:avLst/>
          </a:prstGeom>
        </p:spPr>
      </p:pic>
      <p:sp>
        <p:nvSpPr>
          <p:cNvPr id="24" name="a2_t"/>
          <p:cNvSpPr txBox="1"/>
          <p:nvPr/>
        </p:nvSpPr>
        <p:spPr>
          <a:xfrm>
            <a:off x="3986784" y="217627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Приложение жителя</a:t>
            </a:r>
            <a:endParaRPr lang="en-US" sz="1200" dirty="0"/>
          </a:p>
        </p:txBody>
      </p:sp>
      <p:sp>
        <p:nvSpPr>
          <p:cNvPr id="25" name="a2_d"/>
          <p:cNvSpPr txBox="1"/>
          <p:nvPr/>
        </p:nvSpPr>
        <p:spPr>
          <a:xfrm>
            <a:off x="3392424" y="2816352"/>
            <a:ext cx="191109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Доступ, услуги, события</a:t>
            </a:r>
            <a:endParaRPr lang="en-US" sz="1050" dirty="0"/>
          </a:p>
        </p:txBody>
      </p:sp>
      <p:sp>
        <p:nvSpPr>
          <p:cNvPr id="26" name="a3_card"/>
          <p:cNvSpPr/>
          <p:nvPr/>
        </p:nvSpPr>
        <p:spPr>
          <a:xfrm>
            <a:off x="685800" y="3267456"/>
            <a:ext cx="2368296" cy="1191768"/>
          </a:xfrm>
          <a:prstGeom prst="roundRect">
            <a:avLst>
              <a:gd name="adj" fmla="val 920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7" name="a3_iconbg"/>
          <p:cNvSpPr/>
          <p:nvPr/>
        </p:nvSpPr>
        <p:spPr>
          <a:xfrm>
            <a:off x="914400" y="3496056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8" name="a3_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3605784"/>
            <a:ext cx="237744" cy="237744"/>
          </a:xfrm>
          <a:prstGeom prst="rect">
            <a:avLst/>
          </a:prstGeom>
        </p:spPr>
      </p:pic>
      <p:sp>
        <p:nvSpPr>
          <p:cNvPr id="29" name="a3_t"/>
          <p:cNvSpPr txBox="1"/>
          <p:nvPr/>
        </p:nvSpPr>
        <p:spPr>
          <a:xfrm>
            <a:off x="1508760" y="3477768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Мобильность</a:t>
            </a:r>
            <a:endParaRPr lang="en-US" sz="1200" dirty="0"/>
          </a:p>
        </p:txBody>
      </p:sp>
      <p:sp>
        <p:nvSpPr>
          <p:cNvPr id="30" name="a3_d"/>
          <p:cNvSpPr txBox="1"/>
          <p:nvPr/>
        </p:nvSpPr>
        <p:spPr>
          <a:xfrm>
            <a:off x="914400" y="4117848"/>
            <a:ext cx="191109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Парковки и транспорт</a:t>
            </a:r>
            <a:endParaRPr lang="en-US" sz="1050" dirty="0"/>
          </a:p>
        </p:txBody>
      </p:sp>
      <p:sp>
        <p:nvSpPr>
          <p:cNvPr id="31" name="a4_card"/>
          <p:cNvSpPr/>
          <p:nvPr/>
        </p:nvSpPr>
        <p:spPr>
          <a:xfrm>
            <a:off x="3163824" y="3267456"/>
            <a:ext cx="2368296" cy="1191768"/>
          </a:xfrm>
          <a:prstGeom prst="roundRect">
            <a:avLst>
              <a:gd name="adj" fmla="val 920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2" name="a4_iconbg"/>
          <p:cNvSpPr/>
          <p:nvPr/>
        </p:nvSpPr>
        <p:spPr>
          <a:xfrm>
            <a:off x="3392424" y="3496056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3" name="a4_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2152" y="3605784"/>
            <a:ext cx="237744" cy="237744"/>
          </a:xfrm>
          <a:prstGeom prst="rect">
            <a:avLst/>
          </a:prstGeom>
        </p:spPr>
      </p:pic>
      <p:sp>
        <p:nvSpPr>
          <p:cNvPr id="34" name="a4_t"/>
          <p:cNvSpPr txBox="1"/>
          <p:nvPr/>
        </p:nvSpPr>
        <p:spPr>
          <a:xfrm>
            <a:off x="3986784" y="3477768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Энергия</a:t>
            </a:r>
            <a:endParaRPr lang="en-US" sz="1200" dirty="0"/>
          </a:p>
        </p:txBody>
      </p:sp>
      <p:sp>
        <p:nvSpPr>
          <p:cNvPr id="35" name="a4_d"/>
          <p:cNvSpPr txBox="1"/>
          <p:nvPr/>
        </p:nvSpPr>
        <p:spPr>
          <a:xfrm>
            <a:off x="3392424" y="4117848"/>
            <a:ext cx="191109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Учёт и экономия ресурсов</a:t>
            </a:r>
            <a:endParaRPr lang="en-US" sz="1050" dirty="0"/>
          </a:p>
        </p:txBody>
      </p:sp>
      <p:sp>
        <p:nvSpPr>
          <p:cNvPr id="36" name="a5_card"/>
          <p:cNvSpPr/>
          <p:nvPr/>
        </p:nvSpPr>
        <p:spPr>
          <a:xfrm>
            <a:off x="685800" y="4568952"/>
            <a:ext cx="2368296" cy="1191768"/>
          </a:xfrm>
          <a:prstGeom prst="roundRect">
            <a:avLst>
              <a:gd name="adj" fmla="val 920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7" name="a5_iconbg"/>
          <p:cNvSpPr/>
          <p:nvPr/>
        </p:nvSpPr>
        <p:spPr>
          <a:xfrm>
            <a:off x="914400" y="4797552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38" name="a5_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128" y="4907280"/>
            <a:ext cx="237744" cy="237744"/>
          </a:xfrm>
          <a:prstGeom prst="rect">
            <a:avLst/>
          </a:prstGeom>
        </p:spPr>
      </p:pic>
      <p:sp>
        <p:nvSpPr>
          <p:cNvPr id="39" name="a5_t"/>
          <p:cNvSpPr txBox="1"/>
          <p:nvPr/>
        </p:nvSpPr>
        <p:spPr>
          <a:xfrm>
            <a:off x="1508760" y="4779264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1200" dirty="0"/>
          </a:p>
        </p:txBody>
      </p:sp>
      <p:sp>
        <p:nvSpPr>
          <p:cNvPr id="40" name="a5_d"/>
          <p:cNvSpPr txBox="1"/>
          <p:nvPr/>
        </p:nvSpPr>
        <p:spPr>
          <a:xfrm>
            <a:off x="914400" y="5419344"/>
            <a:ext cx="191109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 защитой приватности</a:t>
            </a:r>
            <a:endParaRPr lang="en-US" sz="1050" dirty="0"/>
          </a:p>
        </p:txBody>
      </p:sp>
      <p:sp>
        <p:nvSpPr>
          <p:cNvPr id="41" name="a6_card"/>
          <p:cNvSpPr/>
          <p:nvPr/>
        </p:nvSpPr>
        <p:spPr>
          <a:xfrm>
            <a:off x="3163824" y="4568952"/>
            <a:ext cx="2368296" cy="1191768"/>
          </a:xfrm>
          <a:prstGeom prst="roundRect">
            <a:avLst>
              <a:gd name="adj" fmla="val 920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42" name="a6_iconbg"/>
          <p:cNvSpPr/>
          <p:nvPr/>
        </p:nvSpPr>
        <p:spPr>
          <a:xfrm>
            <a:off x="3392424" y="4797552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43" name="a6_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2152" y="4907280"/>
            <a:ext cx="237744" cy="237744"/>
          </a:xfrm>
          <a:prstGeom prst="rect">
            <a:avLst/>
          </a:prstGeom>
        </p:spPr>
      </p:pic>
      <p:sp>
        <p:nvSpPr>
          <p:cNvPr id="44" name="a6_t"/>
          <p:cNvSpPr txBox="1"/>
          <p:nvPr/>
        </p:nvSpPr>
        <p:spPr>
          <a:xfrm>
            <a:off x="3986784" y="4779264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Открытые данные</a:t>
            </a:r>
            <a:endParaRPr lang="en-US" sz="1200" dirty="0"/>
          </a:p>
        </p:txBody>
      </p:sp>
      <p:sp>
        <p:nvSpPr>
          <p:cNvPr id="45" name="a6_d"/>
          <p:cNvSpPr txBox="1"/>
          <p:nvPr/>
        </p:nvSpPr>
        <p:spPr>
          <a:xfrm>
            <a:off x="3392424" y="5419344"/>
            <a:ext cx="191109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для партнёров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9" grpId="0"/>
      <p:bldP spid="20" grpId="0"/>
      <p:bldP spid="21" grpId="0" animBg="1"/>
      <p:bldP spid="22" grpId="0" animBg="1"/>
      <p:bldP spid="24" grpId="0"/>
      <p:bldP spid="25" grpId="0"/>
      <p:bldP spid="26" grpId="0" animBg="1"/>
      <p:bldP spid="27" grpId="0" animBg="1"/>
      <p:bldP spid="29" grpId="0"/>
      <p:bldP spid="30" grpId="0"/>
      <p:bldP spid="31" grpId="0" animBg="1"/>
      <p:bldP spid="32" grpId="0" animBg="1"/>
      <p:bldP spid="34" grpId="0"/>
      <p:bldP spid="35" grpId="0"/>
      <p:bldP spid="36" grpId="0" animBg="1"/>
      <p:bldP spid="37" grpId="0" animBg="1"/>
      <p:bldP spid="39" grpId="0"/>
      <p:bldP spid="40" grpId="0"/>
      <p:bldP spid="41" grpId="0" animBg="1"/>
      <p:bldP spid="42" grpId="0" animBg="1"/>
      <p:bldP spid="44" grpId="0"/>
      <p:bldP spid="4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city-phases-phas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v-right" descr="/home/user/footurex-main/presentation/assets/renders/ov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FootureX City: этапы реализации и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инвестиции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IX · STADIUM &amp; CITY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250985" y="274320"/>
            <a:ext cx="239207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369857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488729" y="274320"/>
            <a:ext cx="2099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ТРЕБУЕТСЯ ПОДТВЕРЖДЕНИЕ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STADIUM &amp; CITY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548640" y="55961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15" name="a1_p"/>
          <p:cNvSpPr/>
          <p:nvPr/>
        </p:nvSpPr>
        <p:spPr>
          <a:xfrm>
            <a:off x="6537960" y="1828800"/>
            <a:ext cx="5102352" cy="4069080"/>
          </a:xfrm>
          <a:prstGeom prst="roundRect">
            <a:avLst>
              <a:gd name="adj" fmla="val 2697"/>
            </a:avLst>
          </a:prstGeom>
          <a:solidFill>
            <a:srgbClr val="0B0F0E">
              <a:alpha val="82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6766560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67665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I</a:t>
            </a:r>
            <a:endParaRPr lang="en-US" sz="1100" dirty="0"/>
          </a:p>
        </p:txBody>
      </p:sp>
      <p:sp>
        <p:nvSpPr>
          <p:cNvPr id="18" name="Text 11"/>
          <p:cNvSpPr txBox="1"/>
          <p:nvPr/>
        </p:nvSpPr>
        <p:spPr>
          <a:xfrm>
            <a:off x="7296912" y="20116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Очередь I · Кампус и образование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766560" y="2514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67665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II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7296912" y="25146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Очередь II · Спортивный кластер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766560" y="3017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67665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III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7296912" y="30175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Очередь III · Жильё и бульвар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676656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Варианты структуры финансирования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766560" y="3950208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Проектные компании (SPV) по очередям</a:t>
            </a:r>
            <a:endParaRPr lang="en-US" sz="12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ГЧП и институты развития</a:t>
            </a:r>
            <a:endParaRPr lang="en-US" sz="12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Совместные предприятия с девелоперами</a:t>
            </a:r>
            <a:endParaRPr lang="en-US" sz="1200" dirty="0"/>
          </a:p>
          <a:p>
            <a:pPr marL="203200" indent="-2032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Проектное финансирование банков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6766560" y="5394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CAPEX — по итогам ТЭО · инвестиции не привлечены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Общая бизнес-модель FootureX Uzbekistan: маховик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экосистемы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 · BUSINESS &amp; FINANCIAL MODEL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BUSINESS &amp; FINANCIAL MODEL</a:t>
            </a:r>
            <a:endParaRPr lang="en-US" sz="900" dirty="0"/>
          </a:p>
        </p:txBody>
      </p:sp>
      <p:sp>
        <p:nvSpPr>
          <p:cNvPr id="9" name="!!roman"/>
          <p:cNvSpPr txBox="1"/>
          <p:nvPr/>
        </p:nvSpPr>
        <p:spPr>
          <a:xfrm>
            <a:off x="502920" y="1783080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X</a:t>
            </a:r>
            <a:endParaRPr lang="en-US" sz="8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154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БИЗНЕС-МОДЕЛЬ И ФИНАНСЫ</a:t>
            </a:r>
            <a:endParaRPr lang="en-US" sz="1300" dirty="0"/>
          </a:p>
        </p:txBody>
      </p:sp>
      <p:sp>
        <p:nvSpPr>
          <p:cNvPr id="11" name="a1_lead"/>
          <p:cNvSpPr txBox="1"/>
          <p:nvPr/>
        </p:nvSpPr>
        <p:spPr>
          <a:xfrm>
            <a:off x="548640" y="36118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Сервисная выручка финансирует продукты; продукты создают аудиторию; аудитория усиливает бренд, который приводит клиентов, таланты и партнёров.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080760" y="2148840"/>
            <a:ext cx="4754880" cy="3566160"/>
          </a:xfrm>
          <a:prstGeom prst="ellipse">
            <a:avLst/>
          </a:prstGeom>
          <a:ln w="15875">
            <a:solidFill>
              <a:srgbClr val="2593FA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7589520" y="3429000"/>
            <a:ext cx="1737360" cy="1005840"/>
          </a:xfrm>
          <a:prstGeom prst="ellipse">
            <a:avLst/>
          </a:prstGeom>
          <a:solidFill>
            <a:srgbClr val="142A70"/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FLYWHEEL</a:t>
            </a:r>
            <a:endParaRPr lang="en-US" sz="1200" dirty="0"/>
          </a:p>
        </p:txBody>
      </p:sp>
      <p:sp>
        <p:nvSpPr>
          <p:cNvPr id="15" name="a2_n"/>
          <p:cNvSpPr/>
          <p:nvPr/>
        </p:nvSpPr>
        <p:spPr>
          <a:xfrm>
            <a:off x="7406640" y="178308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5512" y="2002536"/>
            <a:ext cx="292608" cy="292608"/>
          </a:xfrm>
          <a:prstGeom prst="rect">
            <a:avLst/>
          </a:prstGeom>
        </p:spPr>
      </p:pic>
      <p:sp>
        <p:nvSpPr>
          <p:cNvPr id="17" name="a2_t"/>
          <p:cNvSpPr txBox="1"/>
          <p:nvPr/>
        </p:nvSpPr>
        <p:spPr>
          <a:xfrm>
            <a:off x="7891272" y="183794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и AI-услуги</a:t>
            </a:r>
            <a:endParaRPr lang="en-US" sz="1150" dirty="0"/>
          </a:p>
        </p:txBody>
      </p:sp>
      <p:sp>
        <p:nvSpPr>
          <p:cNvPr id="18" name="a2_d"/>
          <p:cNvSpPr txBox="1"/>
          <p:nvPr/>
        </p:nvSpPr>
        <p:spPr>
          <a:xfrm>
            <a:off x="7891272" y="21671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выручка и компетенции</a:t>
            </a:r>
            <a:endParaRPr lang="en-US" sz="900" dirty="0"/>
          </a:p>
        </p:txBody>
      </p:sp>
      <p:sp>
        <p:nvSpPr>
          <p:cNvPr id="19" name="a3_n"/>
          <p:cNvSpPr/>
          <p:nvPr/>
        </p:nvSpPr>
        <p:spPr>
          <a:xfrm>
            <a:off x="9465563" y="267462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435" y="2894076"/>
            <a:ext cx="292608" cy="292608"/>
          </a:xfrm>
          <a:prstGeom prst="rect">
            <a:avLst/>
          </a:prstGeom>
        </p:spPr>
      </p:pic>
      <p:sp>
        <p:nvSpPr>
          <p:cNvPr id="21" name="a3_t"/>
          <p:cNvSpPr txBox="1"/>
          <p:nvPr/>
        </p:nvSpPr>
        <p:spPr>
          <a:xfrm>
            <a:off x="9950195" y="27294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Продукты</a:t>
            </a:r>
            <a:endParaRPr lang="en-US" sz="1150" dirty="0"/>
          </a:p>
        </p:txBody>
      </p:sp>
      <p:sp>
        <p:nvSpPr>
          <p:cNvPr id="22" name="a3_d"/>
          <p:cNvSpPr txBox="1"/>
          <p:nvPr/>
        </p:nvSpPr>
        <p:spPr>
          <a:xfrm>
            <a:off x="9950195" y="30586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Game, AI SaaS</a:t>
            </a:r>
            <a:endParaRPr lang="en-US" sz="900" dirty="0"/>
          </a:p>
        </p:txBody>
      </p:sp>
      <p:sp>
        <p:nvSpPr>
          <p:cNvPr id="23" name="a4_n"/>
          <p:cNvSpPr/>
          <p:nvPr/>
        </p:nvSpPr>
        <p:spPr>
          <a:xfrm>
            <a:off x="9465563" y="445770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4435" y="4677156"/>
            <a:ext cx="292608" cy="292608"/>
          </a:xfrm>
          <a:prstGeom prst="rect">
            <a:avLst/>
          </a:prstGeom>
        </p:spPr>
      </p:pic>
      <p:sp>
        <p:nvSpPr>
          <p:cNvPr id="25" name="a4_t"/>
          <p:cNvSpPr txBox="1"/>
          <p:nvPr/>
        </p:nvSpPr>
        <p:spPr>
          <a:xfrm>
            <a:off x="9950195" y="45125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Аудитория</a:t>
            </a:r>
            <a:endParaRPr lang="en-US" sz="1150" dirty="0"/>
          </a:p>
        </p:txBody>
      </p:sp>
      <p:sp>
        <p:nvSpPr>
          <p:cNvPr id="26" name="a4_d"/>
          <p:cNvSpPr txBox="1"/>
          <p:nvPr/>
        </p:nvSpPr>
        <p:spPr>
          <a:xfrm>
            <a:off x="9950195" y="48417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игроки и сообщество</a:t>
            </a:r>
            <a:endParaRPr lang="en-US" sz="900" dirty="0"/>
          </a:p>
        </p:txBody>
      </p:sp>
      <p:sp>
        <p:nvSpPr>
          <p:cNvPr id="27" name="a5_n"/>
          <p:cNvSpPr/>
          <p:nvPr/>
        </p:nvSpPr>
        <p:spPr>
          <a:xfrm>
            <a:off x="7406640" y="534924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5568696"/>
            <a:ext cx="292608" cy="292608"/>
          </a:xfrm>
          <a:prstGeom prst="rect">
            <a:avLst/>
          </a:prstGeom>
        </p:spPr>
      </p:pic>
      <p:sp>
        <p:nvSpPr>
          <p:cNvPr id="29" name="a5_t"/>
          <p:cNvSpPr txBox="1"/>
          <p:nvPr/>
        </p:nvSpPr>
        <p:spPr>
          <a:xfrm>
            <a:off x="7891272" y="54041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Таланты</a:t>
            </a:r>
            <a:endParaRPr lang="en-US" sz="1150" dirty="0"/>
          </a:p>
        </p:txBody>
      </p:sp>
      <p:sp>
        <p:nvSpPr>
          <p:cNvPr id="30" name="a5_d"/>
          <p:cNvSpPr txBox="1"/>
          <p:nvPr/>
        </p:nvSpPr>
        <p:spPr>
          <a:xfrm>
            <a:off x="7891272" y="57332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академия и студия</a:t>
            </a:r>
            <a:endParaRPr lang="en-US" sz="900" dirty="0"/>
          </a:p>
        </p:txBody>
      </p:sp>
      <p:sp>
        <p:nvSpPr>
          <p:cNvPr id="31" name="a6_n"/>
          <p:cNvSpPr/>
          <p:nvPr/>
        </p:nvSpPr>
        <p:spPr>
          <a:xfrm>
            <a:off x="5347717" y="445770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6589" y="4677156"/>
            <a:ext cx="292608" cy="292608"/>
          </a:xfrm>
          <a:prstGeom prst="rect">
            <a:avLst/>
          </a:prstGeom>
        </p:spPr>
      </p:pic>
      <p:sp>
        <p:nvSpPr>
          <p:cNvPr id="33" name="a6_t"/>
          <p:cNvSpPr txBox="1"/>
          <p:nvPr/>
        </p:nvSpPr>
        <p:spPr>
          <a:xfrm>
            <a:off x="5832349" y="45125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Спорт и бренд</a:t>
            </a:r>
            <a:endParaRPr lang="en-US" sz="1150" dirty="0"/>
          </a:p>
        </p:txBody>
      </p:sp>
      <p:sp>
        <p:nvSpPr>
          <p:cNvPr id="34" name="a6_d"/>
          <p:cNvSpPr txBox="1"/>
          <p:nvPr/>
        </p:nvSpPr>
        <p:spPr>
          <a:xfrm>
            <a:off x="5832349" y="48417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футбол и киберспорт</a:t>
            </a:r>
            <a:endParaRPr lang="en-US" sz="900" dirty="0"/>
          </a:p>
        </p:txBody>
      </p:sp>
      <p:sp>
        <p:nvSpPr>
          <p:cNvPr id="35" name="a7_n"/>
          <p:cNvSpPr/>
          <p:nvPr/>
        </p:nvSpPr>
        <p:spPr>
          <a:xfrm>
            <a:off x="5347717" y="267462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6589" y="2894076"/>
            <a:ext cx="292608" cy="292608"/>
          </a:xfrm>
          <a:prstGeom prst="rect">
            <a:avLst/>
          </a:prstGeom>
        </p:spPr>
      </p:pic>
      <p:sp>
        <p:nvSpPr>
          <p:cNvPr id="37" name="a7_t"/>
          <p:cNvSpPr txBox="1"/>
          <p:nvPr/>
        </p:nvSpPr>
        <p:spPr>
          <a:xfrm>
            <a:off x="5832349" y="27294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Клиенты и партнёры</a:t>
            </a:r>
            <a:endParaRPr lang="en-US" sz="1150" dirty="0"/>
          </a:p>
        </p:txBody>
      </p:sp>
      <p:sp>
        <p:nvSpPr>
          <p:cNvPr id="38" name="a7_d"/>
          <p:cNvSpPr txBox="1"/>
          <p:nvPr/>
        </p:nvSpPr>
        <p:spPr>
          <a:xfrm>
            <a:off x="5832349" y="30586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спрос на услуги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 animBg="1"/>
      <p:bldP spid="17" grpId="0"/>
      <p:bldP spid="18" grpId="0"/>
      <p:bldP spid="19" grpId="0" animBg="1"/>
      <p:bldP spid="21" grpId="0"/>
      <p:bldP spid="22" grpId="0"/>
      <p:bldP spid="23" grpId="0" animBg="1"/>
      <p:bldP spid="25" grpId="0"/>
      <p:bldP spid="26" grpId="0"/>
      <p:bldP spid="27" grpId="0" animBg="1"/>
      <p:bldP spid="29" grpId="0"/>
      <p:bldP spid="30" grpId="0"/>
      <p:bldP spid="31" grpId="0" animBg="1"/>
      <p:bldP spid="33" grpId="0"/>
      <p:bldP spid="34" grpId="0"/>
      <p:bldP spid="35" grpId="0" animBg="1"/>
      <p:bldP spid="37" grpId="0"/>
      <p:bldP spid="38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Business Model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Canvas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 · BUSINESS &amp; FINANCIAL MODEL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662111" y="274320"/>
            <a:ext cx="298094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B8C1D4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8780983" y="374904"/>
            <a:ext cx="91440" cy="91440"/>
          </a:xfrm>
          <a:prstGeom prst="ellipse">
            <a:avLst/>
          </a:prstGeom>
          <a:solidFill>
            <a:srgbClr val="B8C1D4"/>
          </a:solidFill>
          <a:ln w="12700">
            <a:solidFill>
              <a:srgbClr val="B8C1D4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8899855" y="2743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УПРАВЛЕНЧЕСКАЯ МОДЕЛЬ · ПРОЕКТ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BUSINESS &amp; FINANCIAL MODEL</a:t>
            </a:r>
            <a:endParaRPr lang="en-US" sz="900" dirty="0"/>
          </a:p>
        </p:txBody>
      </p:sp>
      <p:sp>
        <p:nvSpPr>
          <p:cNvPr id="9" name="a1_b"/>
          <p:cNvSpPr/>
          <p:nvPr/>
        </p:nvSpPr>
        <p:spPr>
          <a:xfrm>
            <a:off x="548640" y="1783080"/>
            <a:ext cx="2145731" cy="2670048"/>
          </a:xfrm>
          <a:prstGeom prst="roundRect">
            <a:avLst>
              <a:gd name="adj" fmla="val 511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6656" y="1856232"/>
            <a:ext cx="18896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Ключевые партнёры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2130552"/>
            <a:ext cx="1889699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Park и программы поддержки*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Платёжные провайдеры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Telegram-платформа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Вузы и работодатели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Спортивные организации*</a:t>
            </a:r>
            <a:endParaRPr lang="en-US" sz="950" dirty="0"/>
          </a:p>
        </p:txBody>
      </p:sp>
      <p:sp>
        <p:nvSpPr>
          <p:cNvPr id="12" name="a2_b"/>
          <p:cNvSpPr/>
          <p:nvPr/>
        </p:nvSpPr>
        <p:spPr>
          <a:xfrm>
            <a:off x="2767523" y="1783080"/>
            <a:ext cx="2145731" cy="1298448"/>
          </a:xfrm>
          <a:prstGeom prst="roundRect">
            <a:avLst>
              <a:gd name="adj" fmla="val 845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95539" y="1856232"/>
            <a:ext cx="18896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Ключевые активности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2895539" y="2130552"/>
            <a:ext cx="1889699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ПО и AI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 development и LiveOps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Обучение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Турниры и медиа</a:t>
            </a:r>
            <a:endParaRPr lang="en-US" sz="950" dirty="0"/>
          </a:p>
        </p:txBody>
      </p:sp>
      <p:sp>
        <p:nvSpPr>
          <p:cNvPr id="15" name="a3_b"/>
          <p:cNvSpPr/>
          <p:nvPr/>
        </p:nvSpPr>
        <p:spPr>
          <a:xfrm>
            <a:off x="2767523" y="3154680"/>
            <a:ext cx="2145731" cy="1298448"/>
          </a:xfrm>
          <a:prstGeom prst="roundRect">
            <a:avLst>
              <a:gd name="adj" fmla="val 845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95539" y="3227832"/>
            <a:ext cx="18896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Ключевые ресурсы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2895539" y="3502152"/>
            <a:ext cx="1889699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Инженерная команда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Технологическая платформа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Бренд FootureX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Сообщество игроков</a:t>
            </a:r>
            <a:endParaRPr lang="en-US" sz="950" dirty="0"/>
          </a:p>
        </p:txBody>
      </p:sp>
      <p:sp>
        <p:nvSpPr>
          <p:cNvPr id="18" name="a4_b"/>
          <p:cNvSpPr/>
          <p:nvPr/>
        </p:nvSpPr>
        <p:spPr>
          <a:xfrm>
            <a:off x="4986406" y="1783080"/>
            <a:ext cx="2145731" cy="2670048"/>
          </a:xfrm>
          <a:prstGeom prst="roundRect">
            <a:avLst>
              <a:gd name="adj" fmla="val 5114"/>
            </a:avLst>
          </a:prstGeom>
          <a:solidFill>
            <a:srgbClr val="142A70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114422" y="1856232"/>
            <a:ext cx="1889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Ценностные предложения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114422" y="2286000"/>
            <a:ext cx="1889699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Бизнесу: автоматизация и AI с результатом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Игрокам: футбол в Telegram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Студентам: профессия через практику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Партнёрам: молодая цифровая аудитория</a:t>
            </a:r>
            <a:endParaRPr lang="en-US" sz="950" dirty="0"/>
          </a:p>
        </p:txBody>
      </p:sp>
      <p:sp>
        <p:nvSpPr>
          <p:cNvPr id="21" name="a5_b"/>
          <p:cNvSpPr/>
          <p:nvPr/>
        </p:nvSpPr>
        <p:spPr>
          <a:xfrm>
            <a:off x="7205289" y="1783080"/>
            <a:ext cx="2145731" cy="1298448"/>
          </a:xfrm>
          <a:prstGeom prst="roundRect">
            <a:avLst>
              <a:gd name="adj" fmla="val 845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33305" y="1856232"/>
            <a:ext cx="1889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Отношения с клиентами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333305" y="2286000"/>
            <a:ext cx="18896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Аккаунт-менеджмент и SLA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Сообщество и LiveOps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Наставничество</a:t>
            </a:r>
            <a:endParaRPr lang="en-US" sz="950" dirty="0"/>
          </a:p>
        </p:txBody>
      </p:sp>
      <p:sp>
        <p:nvSpPr>
          <p:cNvPr id="24" name="a6_b"/>
          <p:cNvSpPr/>
          <p:nvPr/>
        </p:nvSpPr>
        <p:spPr>
          <a:xfrm>
            <a:off x="7205289" y="3154680"/>
            <a:ext cx="2145731" cy="1298448"/>
          </a:xfrm>
          <a:prstGeom prst="roundRect">
            <a:avLst>
              <a:gd name="adj" fmla="val 845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33305" y="3227832"/>
            <a:ext cx="18896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Каналы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333305" y="3502152"/>
            <a:ext cx="1889699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Прямые продажи B2B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 и медиа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Партнёрские сети</a:t>
            </a:r>
            <a:endParaRPr lang="en-US" sz="950" dirty="0"/>
          </a:p>
        </p:txBody>
      </p:sp>
      <p:sp>
        <p:nvSpPr>
          <p:cNvPr id="27" name="a7_b"/>
          <p:cNvSpPr/>
          <p:nvPr/>
        </p:nvSpPr>
        <p:spPr>
          <a:xfrm>
            <a:off x="9424172" y="1783080"/>
            <a:ext cx="2145731" cy="2670048"/>
          </a:xfrm>
          <a:prstGeom prst="roundRect">
            <a:avLst>
              <a:gd name="adj" fmla="val 511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552188" y="1856232"/>
            <a:ext cx="18896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Клиентские сегменты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9552188" y="2130552"/>
            <a:ext cx="1889699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МСБ и корпорации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Игроки и болельщики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Студенты и семьи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Спонсоры и бренды</a:t>
            </a:r>
            <a:endParaRPr lang="en-US" sz="950" dirty="0"/>
          </a:p>
        </p:txBody>
      </p:sp>
      <p:sp>
        <p:nvSpPr>
          <p:cNvPr id="30" name="a8_b"/>
          <p:cNvSpPr/>
          <p:nvPr/>
        </p:nvSpPr>
        <p:spPr>
          <a:xfrm>
            <a:off x="548640" y="4526280"/>
            <a:ext cx="5474056" cy="1298448"/>
          </a:xfrm>
          <a:prstGeom prst="roundRect">
            <a:avLst>
              <a:gd name="adj" fmla="val 845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6656" y="4599432"/>
            <a:ext cx="521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Структура затрат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676656" y="4873752"/>
            <a:ext cx="521802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(разработка, R&amp;D, админ.) · привлечение игроков · облако и инфраструктура · CAPEX: оборудование, студии, учебные пространства</a:t>
            </a:r>
            <a:endParaRPr lang="en-US" sz="950" dirty="0"/>
          </a:p>
        </p:txBody>
      </p:sp>
      <p:sp>
        <p:nvSpPr>
          <p:cNvPr id="33" name="a9_b"/>
          <p:cNvSpPr/>
          <p:nvPr/>
        </p:nvSpPr>
        <p:spPr>
          <a:xfrm>
            <a:off x="6095848" y="4526280"/>
            <a:ext cx="5474056" cy="1298448"/>
          </a:xfrm>
          <a:prstGeom prst="roundRect">
            <a:avLst>
              <a:gd name="adj" fmla="val 8451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23864" y="4599432"/>
            <a:ext cx="521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Потоки доходов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6223864" y="4873752"/>
            <a:ext cx="521802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 (BX-001/BX-013): Battle Pass, пакеты FTXcoin, косметика, турниры, партнёрства · IT и AI: проекты, SLA, подписка · обучение · спонсорство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592531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Целевые партнёрства; соглашения отсутствуют, требуют подтверждения.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5" grpId="0" animBg="1"/>
      <p:bldP spid="18" grpId="0" animBg="1"/>
      <p:bldP spid="21" grpId="0" animBg="1"/>
      <p:bldP spid="24" grpId="0" animBg="1"/>
      <p:bldP spid="27" grpId="0" animBg="1"/>
      <p:bldP spid="30" grpId="0" animBg="1"/>
      <p:bldP spid="33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Источники доходов по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направлениям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 · BUSINESS &amp; FINANCIAL MODEL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335110" y="274320"/>
            <a:ext cx="230794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45398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572854" y="274320"/>
            <a:ext cx="20153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ЦИФРЫ НЕ ПРЕДОСТАВЛЕНЫ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BX-001 (монетизация игры), BX-013 (каталог), корпоративная концепция FootureX Uzbekistan (прочие направления).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BUSINESS &amp; FINANCIAL MODEL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53619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ВЫРУЧКА ПО НАПРАВЛЕНИЯМ НЕ ЗАДАНА В ДОКУМЕНТАХ · ПОКАЗАНА МОДЕЛЬ ДОХОДА И ЕЁ ОСНОВА</a:t>
            </a:r>
            <a:endParaRPr lang="en-US" sz="900" dirty="0"/>
          </a:p>
        </p:txBody>
      </p:sp>
      <p:graphicFrame>
        <p:nvGraphicFramePr>
          <p:cNvPr id="98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572000"/>
                <a:gridCol w="2240280"/>
                <a:gridCol w="176479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Направление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Модель дохода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Основа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Объём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FootureX Game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Premium Pass · пакеты FTXcoin · косметика · турниры · партнёрства · реклама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BX-001, BX-013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Community &amp; Esports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Спонсорство · турнирные билеты · медиа · цифровой мерч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BX-001 (доп. источники)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Technologies · AI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Проекты разработки · SLA-поддержка · внедрения AI · подписка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Корпоративная концепция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Game Dev Academy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Платные программы · корпоративное обучение · партнёрства с работодателями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Корпоративная концепция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FC FootureX · Football Academy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Спонсорство · билеты · обучение · трансферы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Концепция; не подтверждено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Stadium · City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Аренда, события, недвижимость — долгосрочные амбиции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Концепция; не подтверждено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55321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≠ Sink ≠ оборот P2P. </a:t>
            </a:r>
            <a:pPr indent="0" marL="0">
              <a:buNone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Выручка FootureX Game — только реальные платежи через Telegram Stars / TON (BX-013).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Экономика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IT-услуг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 · BUSINESS &amp; FINANCIAL MODEL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335110" y="274320"/>
            <a:ext cx="230794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45398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572854" y="274320"/>
            <a:ext cx="20153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ЦИФРЫ НЕ ПРЕДОСТАВЛЕНЫ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Корпоративная концепция FootureX Uzbekistan. Документы BX не описывают направление Technologies.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BUSINESS &amp; FINANCIAL MODEL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53619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СТРУКТУРА ЭКОНОМИКИ · ЗНАЧЕНИЯ ТРЕБУЮТ ПОДТВЕРЖДЕНИЯ</a:t>
            </a:r>
            <a:endParaRPr lang="en-US" sz="900" dirty="0"/>
          </a:p>
        </p:txBody>
      </p:sp>
      <p:sp>
        <p:nvSpPr>
          <p:cNvPr id="11" name="a1_dot"/>
          <p:cNvSpPr/>
          <p:nvPr/>
        </p:nvSpPr>
        <p:spPr>
          <a:xfrm>
            <a:off x="548640" y="201168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12" name="a1_num"/>
          <p:cNvSpPr txBox="1"/>
          <p:nvPr/>
        </p:nvSpPr>
        <p:spPr>
          <a:xfrm>
            <a:off x="54864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a1_ln"/>
          <p:cNvSpPr/>
          <p:nvPr/>
        </p:nvSpPr>
        <p:spPr>
          <a:xfrm>
            <a:off x="1207008" y="2295144"/>
            <a:ext cx="150930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14" name="a1_t"/>
          <p:cNvSpPr txBox="1"/>
          <p:nvPr/>
        </p:nvSpPr>
        <p:spPr>
          <a:xfrm>
            <a:off x="548640" y="2788920"/>
            <a:ext cx="20122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Специалисты</a:t>
            </a:r>
            <a:endParaRPr lang="en-US" sz="1450" dirty="0"/>
          </a:p>
        </p:txBody>
      </p:sp>
      <p:sp>
        <p:nvSpPr>
          <p:cNvPr id="15" name="a1_d"/>
          <p:cNvSpPr txBox="1"/>
          <p:nvPr/>
        </p:nvSpPr>
        <p:spPr>
          <a:xfrm>
            <a:off x="548640" y="3383280"/>
            <a:ext cx="20122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Численность оплачиваемых специалистов (FTE)</a:t>
            </a:r>
            <a:endParaRPr lang="en-US" sz="1250" dirty="0"/>
          </a:p>
        </p:txBody>
      </p:sp>
      <p:sp>
        <p:nvSpPr>
          <p:cNvPr id="16" name="a2_dot"/>
          <p:cNvSpPr/>
          <p:nvPr/>
        </p:nvSpPr>
        <p:spPr>
          <a:xfrm>
            <a:off x="2807757" y="201168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17" name="a2_num"/>
          <p:cNvSpPr txBox="1"/>
          <p:nvPr/>
        </p:nvSpPr>
        <p:spPr>
          <a:xfrm>
            <a:off x="2807757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a2_ln"/>
          <p:cNvSpPr/>
          <p:nvPr/>
        </p:nvSpPr>
        <p:spPr>
          <a:xfrm>
            <a:off x="3466125" y="2295144"/>
            <a:ext cx="150930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19" name="a2_t"/>
          <p:cNvSpPr txBox="1"/>
          <p:nvPr/>
        </p:nvSpPr>
        <p:spPr>
          <a:xfrm>
            <a:off x="2807757" y="2788920"/>
            <a:ext cx="20122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Загрузка</a:t>
            </a:r>
            <a:endParaRPr lang="en-US" sz="1450" dirty="0"/>
          </a:p>
        </p:txBody>
      </p:sp>
      <p:sp>
        <p:nvSpPr>
          <p:cNvPr id="20" name="a2_d"/>
          <p:cNvSpPr txBox="1"/>
          <p:nvPr/>
        </p:nvSpPr>
        <p:spPr>
          <a:xfrm>
            <a:off x="2807757" y="3383280"/>
            <a:ext cx="20122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Доля оплачиваемых часов</a:t>
            </a:r>
            <a:endParaRPr lang="en-US" sz="1250" dirty="0"/>
          </a:p>
        </p:txBody>
      </p:sp>
      <p:sp>
        <p:nvSpPr>
          <p:cNvPr id="21" name="a3_dot"/>
          <p:cNvSpPr/>
          <p:nvPr/>
        </p:nvSpPr>
        <p:spPr>
          <a:xfrm>
            <a:off x="5066873" y="201168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2" name="a3_num"/>
          <p:cNvSpPr txBox="1"/>
          <p:nvPr/>
        </p:nvSpPr>
        <p:spPr>
          <a:xfrm>
            <a:off x="5066873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a3_ln"/>
          <p:cNvSpPr/>
          <p:nvPr/>
        </p:nvSpPr>
        <p:spPr>
          <a:xfrm>
            <a:off x="5725241" y="2295144"/>
            <a:ext cx="150930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24" name="a3_t"/>
          <p:cNvSpPr txBox="1"/>
          <p:nvPr/>
        </p:nvSpPr>
        <p:spPr>
          <a:xfrm>
            <a:off x="5066873" y="2788920"/>
            <a:ext cx="20122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Ставка</a:t>
            </a:r>
            <a:endParaRPr lang="en-US" sz="1450" dirty="0"/>
          </a:p>
        </p:txBody>
      </p:sp>
      <p:sp>
        <p:nvSpPr>
          <p:cNvPr id="25" name="a3_d"/>
          <p:cNvSpPr txBox="1"/>
          <p:nvPr/>
        </p:nvSpPr>
        <p:spPr>
          <a:xfrm>
            <a:off x="5066873" y="3383280"/>
            <a:ext cx="20122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Цена часа или фиксированная цена проекта</a:t>
            </a:r>
            <a:endParaRPr lang="en-US" sz="1250" dirty="0"/>
          </a:p>
        </p:txBody>
      </p:sp>
      <p:sp>
        <p:nvSpPr>
          <p:cNvPr id="26" name="a4_dot"/>
          <p:cNvSpPr/>
          <p:nvPr/>
        </p:nvSpPr>
        <p:spPr>
          <a:xfrm>
            <a:off x="7325990" y="201168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27" name="a4_num"/>
          <p:cNvSpPr txBox="1"/>
          <p:nvPr/>
        </p:nvSpPr>
        <p:spPr>
          <a:xfrm>
            <a:off x="732599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a4_ln"/>
          <p:cNvSpPr/>
          <p:nvPr/>
        </p:nvSpPr>
        <p:spPr>
          <a:xfrm>
            <a:off x="7984358" y="2295144"/>
            <a:ext cx="1509309" cy="0"/>
          </a:xfrm>
          <a:prstGeom prst="line">
            <a:avLst/>
          </a:prstGeom>
          <a:noFill/>
          <a:ln w="15875">
            <a:solidFill>
              <a:srgbClr val="273B51"/>
            </a:solidFill>
            <a:prstDash val="dash"/>
            <a:tailEnd type="triangle"/>
          </a:ln>
        </p:spPr>
      </p:sp>
      <p:sp>
        <p:nvSpPr>
          <p:cNvPr id="29" name="a4_t"/>
          <p:cNvSpPr txBox="1"/>
          <p:nvPr/>
        </p:nvSpPr>
        <p:spPr>
          <a:xfrm>
            <a:off x="7325990" y="2788920"/>
            <a:ext cx="20122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Выручка</a:t>
            </a:r>
            <a:endParaRPr lang="en-US" sz="1450" dirty="0"/>
          </a:p>
        </p:txBody>
      </p:sp>
      <p:sp>
        <p:nvSpPr>
          <p:cNvPr id="30" name="a4_d"/>
          <p:cNvSpPr txBox="1"/>
          <p:nvPr/>
        </p:nvSpPr>
        <p:spPr>
          <a:xfrm>
            <a:off x="7325990" y="3383280"/>
            <a:ext cx="20122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FTE × часы × загрузка × ставка + SLA</a:t>
            </a:r>
            <a:endParaRPr lang="en-US" sz="1250" dirty="0"/>
          </a:p>
        </p:txBody>
      </p:sp>
      <p:sp>
        <p:nvSpPr>
          <p:cNvPr id="31" name="a5_dot"/>
          <p:cNvSpPr/>
          <p:nvPr/>
        </p:nvSpPr>
        <p:spPr>
          <a:xfrm>
            <a:off x="9585107" y="2011680"/>
            <a:ext cx="566928" cy="566928"/>
          </a:xfrm>
          <a:prstGeom prst="ellipse">
            <a:avLst/>
          </a:prstGeom>
          <a:solidFill>
            <a:srgbClr val="0E1629"/>
          </a:solidFill>
          <a:ln w="15875">
            <a:solidFill>
              <a:srgbClr val="2593FA"/>
            </a:solidFill>
            <a:prstDash val="solid"/>
          </a:ln>
        </p:spPr>
      </p:sp>
      <p:sp>
        <p:nvSpPr>
          <p:cNvPr id="32" name="a5_num"/>
          <p:cNvSpPr txBox="1"/>
          <p:nvPr/>
        </p:nvSpPr>
        <p:spPr>
          <a:xfrm>
            <a:off x="9585107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a5_t"/>
          <p:cNvSpPr txBox="1"/>
          <p:nvPr/>
        </p:nvSpPr>
        <p:spPr>
          <a:xfrm>
            <a:off x="9585107" y="2788920"/>
            <a:ext cx="20122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Маржа</a:t>
            </a:r>
            <a:endParaRPr lang="en-US" sz="1450" dirty="0"/>
          </a:p>
        </p:txBody>
      </p:sp>
      <p:sp>
        <p:nvSpPr>
          <p:cNvPr id="34" name="a5_d"/>
          <p:cNvSpPr txBox="1"/>
          <p:nvPr/>
        </p:nvSpPr>
        <p:spPr>
          <a:xfrm>
            <a:off x="9585107" y="3383280"/>
            <a:ext cx="20122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Выручка − ФОТ − субподряд − инфраструктура</a:t>
            </a:r>
            <a:endParaRPr lang="en-US" sz="1250" dirty="0"/>
          </a:p>
        </p:txBody>
      </p:sp>
      <p:graphicFrame>
        <p:nvGraphicFramePr>
          <p:cNvPr id="99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74980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Драйвер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Значение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Источник данных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FTE, загрузка, ставка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Штатное расписание, договоры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Портфель и pipeline договоров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CRM, подписанные договоры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Фонд оплаты труда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Бухгалтерия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</a:tbl>
          </a:graphicData>
        </a:graphic>
      </p:graphicFrame>
      <p:sp>
        <p:nvSpPr>
          <p:cNvPr id="36" name="a6_ins"/>
          <p:cNvSpPr/>
          <p:nvPr/>
        </p:nvSpPr>
        <p:spPr>
          <a:xfrm>
            <a:off x="8229600" y="4343400"/>
            <a:ext cx="3410712" cy="1600200"/>
          </a:xfrm>
          <a:prstGeom prst="roundRect">
            <a:avLst>
              <a:gd name="adj" fmla="val 6857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8458200" y="454456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Логика модели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8458200" y="4946904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Сервисная выручка — источник денежного потока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подтверждённых договоров выручка не прогнозируется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/>
      <p:bldP spid="15" grpId="0"/>
      <p:bldP spid="16" grpId="0" animBg="1"/>
      <p:bldP spid="17" grpId="0"/>
      <p:bldP spid="18" grpId="0" animBg="1"/>
      <p:bldP spid="19" grpId="0"/>
      <p:bldP spid="20" grpId="0"/>
      <p:bldP spid="21" grpId="0" animBg="1"/>
      <p:bldP spid="22" grpId="0"/>
      <p:bldP spid="23" grpId="0" animBg="1"/>
      <p:bldP spid="24" grpId="0"/>
      <p:bldP spid="25" grpId="0"/>
      <p:bldP spid="26" grpId="0" animBg="1"/>
      <p:bldP spid="27" grpId="0"/>
      <p:bldP spid="28" grpId="0" animBg="1"/>
      <p:bldP spid="29" grpId="0"/>
      <p:bldP spid="30" grpId="0"/>
      <p:bldP spid="31" grpId="0" animBg="1"/>
      <p:bldP spid="32" grpId="0"/>
      <p:bldP spid="33" grpId="0"/>
      <p:bldP spid="34" grpId="0"/>
      <p:bldP spid="3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Экономика AI-продуктов: проекты и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подписка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 · BUSINESS &amp; FINANCIAL MODEL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335110" y="274320"/>
            <a:ext cx="230794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45398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572854" y="274320"/>
            <a:ext cx="20153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ЦИФРЫ НЕ ПРЕДОСТАВЛЕНЫ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Корпоративная концепция FootureX Uzbekistan. Документы BX не описывают направление AI.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BUSINESS &amp; FINANCIAL MODEL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53619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СТРУКТУРА ЭКОНОМИКИ · ЗНАЧЕНИЯ ТРЕБУЮТ ПОДТВЕРЖДЕНИЯ</a:t>
            </a:r>
            <a:endParaRPr lang="en-US" sz="900" dirty="0"/>
          </a:p>
        </p:txBody>
      </p:sp>
      <p:sp>
        <p:nvSpPr>
          <p:cNvPr id="11" name="a1_c"/>
          <p:cNvSpPr/>
          <p:nvPr/>
        </p:nvSpPr>
        <p:spPr>
          <a:xfrm>
            <a:off x="548640" y="187452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011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Проекты внедрения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42316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Выручка = количество проектов × средний чек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Себестоимость: команда, данные, интеграции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Количество и чек — требуется подтверждение</a:t>
            </a:r>
            <a:endParaRPr lang="en-US" sz="1150" dirty="0"/>
          </a:p>
        </p:txBody>
      </p:sp>
      <p:sp>
        <p:nvSpPr>
          <p:cNvPr id="14" name="a2_c"/>
          <p:cNvSpPr/>
          <p:nvPr/>
        </p:nvSpPr>
        <p:spPr>
          <a:xfrm>
            <a:off x="6199632" y="187452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28232" y="2011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Подписка (SaaS)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428232" y="242316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MRR = платящие клиенты × ARPA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Отток, CAC, LTV = ARPA × маржа / отток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Инференс и облако — переменные затраты</a:t>
            </a:r>
            <a:endParaRPr lang="en-US" sz="1150" dirty="0"/>
          </a:p>
        </p:txBody>
      </p:sp>
      <p:graphicFrame>
        <p:nvGraphicFramePr>
          <p:cNvPr id="100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  <a:gridCol w="32278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Метрика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Формула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Значение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LTV клиента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ARPA × валовая маржа / месячный отток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CAC payback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CAC / (ARPA × валовая маржа)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Экономика Game Development: утверждённый каталог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цен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 · BUSINESS &amp; FINANCIAL MODEL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176358" y="27432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95230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414102" y="274320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BX-013 Approved Services Catalog, v1.0 (июнь 2026); расчёты — арифметика по ценам каталога (Excel-приложение).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BUSINESS &amp; FINANCIAL MODEL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53619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ЦЕНЫ — ДОКУМЕНТ BX-013 · USD-ЭКВИВАЛЕНТЫ — РАСЧЁТ · ОБЪЁМЫ ПРОДАЖ НЕ ЗАДАНЫ</a:t>
            </a:r>
            <a:endParaRPr lang="en-US" sz="900" dirty="0"/>
          </a:p>
        </p:txBody>
      </p:sp>
      <p:graphicFrame>
        <p:nvGraphicFramePr>
          <p:cNvPr id="101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Пакет FTXcoin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Цена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USD за 1 FTXcoin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30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$1,99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$0,0663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60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$3,99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$0,0665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90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$5,99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$0,0666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150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$9,50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$0,0633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400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$24,99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$0,0625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41605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Пакет 120 исключён каталогом</a:t>
            </a:r>
            <a:endParaRPr lang="en-US" sz="950" dirty="0"/>
          </a:p>
        </p:txBody>
      </p:sp>
      <p:graphicFrame>
        <p:nvGraphicFramePr>
          <p:cNvPr id="201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874520"/>
          <a:ext cx="3657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Набор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FTXcoin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USD-экв.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Rare Pack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39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$2,44–2,60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Legendary Pack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89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$5,56–5,92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Immortal Pack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139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$8,68–9,25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Elite Pack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149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$9,31–9,92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4663440" y="3794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200 Coins · Uncommon 800 Coins · Free — каждые 24 ч</a:t>
            </a:r>
            <a:endParaRPr lang="en-US" sz="950" dirty="0"/>
          </a:p>
        </p:txBody>
      </p:sp>
      <p:sp>
        <p:nvSpPr>
          <p:cNvPr id="15" name="a3_c"/>
          <p:cNvSpPr/>
          <p:nvPr/>
        </p:nvSpPr>
        <p:spPr>
          <a:xfrm>
            <a:off x="548640" y="4526280"/>
            <a:ext cx="7772400" cy="1325880"/>
          </a:xfrm>
          <a:prstGeom prst="roundRect">
            <a:avLst>
              <a:gd name="adj" fmla="val 8276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77240" y="4617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$3.99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5212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Premium Pass · 14 дней · 100 уровней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2926080" y="4617720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$0,285 в день</a:t>
            </a:r>
            <a:pPr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</a:t>
            </a:r>
            <a:pPr indent="0" marL="0">
              <a:buNone/>
            </a:pPr>
            <a:r>
              <a:rPr lang="en-US" sz="11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26 сезонов в год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Максимум на одного плательщика при покупке каждого сезона — ≈ $104 в год. Количество плательщиков — требуется подтверждение.</a:t>
            </a:r>
            <a:endParaRPr lang="en-US" sz="1100" dirty="0"/>
          </a:p>
        </p:txBody>
      </p:sp>
      <p:pic>
        <p:nvPicPr>
          <p:cNvPr id="19" name="!!phoneA" descr="/home/user/footurex-main/presentation/assets/ui/game-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691640"/>
            <a:ext cx="1987804" cy="41605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12480" y="58704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 · цены BX-013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Экономика футбольного и киберспортивного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направлений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 · BUSINESS &amp; FINANCIAL MODEL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587484" y="274320"/>
            <a:ext cx="2055571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706356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825228" y="274320"/>
            <a:ext cx="17629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 ПО ДАННЫМ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BX-013 Approved Services Catalog, v1.0 (июнь 2026); расчёты — арифметика по ценам каталога (Excel-приложение). Футбол — корпоративная концепция, не подтверждено.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BUSINESS &amp; FINANCIAL MODEL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53619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 ПО BX-013 · ВНУТРИИГРОВАЯ ВАЛЮТА, НЕ ДЕНЕЖНАЯ ВЫРУЧКА</a:t>
            </a:r>
            <a:endParaRPr lang="en-US" sz="900" dirty="0"/>
          </a:p>
        </p:txBody>
      </p:sp>
      <p:graphicFrame>
        <p:nvGraphicFramePr>
          <p:cNvPr id="102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097280"/>
                <a:gridCol w="1280160"/>
                <a:gridCol w="109728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Лига · 48 мест · 7 дней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Взносы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Создателю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Призовой фонд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Казна (sink)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Fan League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240 FTXcoin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96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96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48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 League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384 FTXcoin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144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144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96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Master League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576 FTXcoin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240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240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96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a2_chart" descr=""/>
          <p:cNvGraphicFramePr/>
          <p:nvPr/>
        </p:nvGraphicFramePr>
        <p:xfrm>
          <a:off x="548640" y="3611880"/>
          <a:ext cx="69494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a3_c"/>
          <p:cNvSpPr/>
          <p:nvPr/>
        </p:nvSpPr>
        <p:spPr>
          <a:xfrm>
            <a:off x="7772400" y="1874520"/>
            <a:ext cx="3867912" cy="1874520"/>
          </a:xfrm>
          <a:prstGeom prst="roundRect">
            <a:avLst>
              <a:gd name="adj" fmla="val 5854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973568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Esports · денежные доходы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7973568" y="233172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Спонсорство, турнирные билеты, медиа, цифровой мерч (BX-001). Объёмы — требуется подтверждение.</a:t>
            </a:r>
            <a:endParaRPr lang="en-US" sz="1100" dirty="0"/>
          </a:p>
        </p:txBody>
      </p:sp>
      <p:sp>
        <p:nvSpPr>
          <p:cNvPr id="16" name="a4_c"/>
          <p:cNvSpPr/>
          <p:nvPr/>
        </p:nvSpPr>
        <p:spPr>
          <a:xfrm>
            <a:off x="7772400" y="3931920"/>
            <a:ext cx="3867912" cy="1920240"/>
          </a:xfrm>
          <a:prstGeom prst="roundRect">
            <a:avLst>
              <a:gd name="adj" fmla="val 5714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973568" y="4050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FC FootureX · Academy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7973568" y="43891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Спонсорство, билеты, обучение, трансферы. Доходы клуба и академии не считаются подтверждёнными; модель строится после решения о лицензировании и базе.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  <p:bldP spid="13" grpId="0" animBg="1"/>
      <p:bldP spid="1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Структура капитальных и операционных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затрат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 · BUSINESS &amp; FINANCIAL MODEL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335110" y="274320"/>
            <a:ext cx="230794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45398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572854" y="274320"/>
            <a:ext cx="20153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ЦИФРЫ НЕ ПРЕДОСТАВЛЕНЫ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BX-008 Investment &amp; Partnership Strategy, v0.4.92. Состав ролей — BX-002; архитектура — BX-005.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BUSINESS &amp; FINANCIAL MODEL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53619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СТАТЬИ ЗАТРАТ ПО ДОКУМЕНТАМ · СУММЫ ТРЕБУЮТ ПОДТВЕРЖДЕНИЯ</a:t>
            </a:r>
            <a:endParaRPr lang="en-US" sz="900" dirty="0"/>
          </a:p>
        </p:txBody>
      </p:sp>
      <p:graphicFrame>
        <p:nvGraphicFramePr>
          <p:cNvPr id="103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492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737360"/>
                <a:gridCol w="15544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OPEX · FootureX Game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Основа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Сумма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Backend и Gameplay (команда разработки)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BX-008 Seed, BX-002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Infrastructure: облако, БД, мониторинг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BX-005, BX-008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LiveOps: сезоны, события, аналитика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BX-008, BX-004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Marketing и рост сообщества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BX-008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Безопасность и антифрод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BX-002, BX-005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Управление: COO, CFO и др.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BX-002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5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874520"/>
          <a:ext cx="437083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67335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CAPEX · прочие направления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Сумма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IT-оборудование и офис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Esports-студия и арена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Учебные пространства Academy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Футбольная база, стадион, City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7269480" y="4206240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Стадион и City — только после решения о модели площадки (варианты A → B → C, глава IX).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Финансовая модель на 5 лет: структура и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формулы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 · BUSINESS &amp; FINANCIAL MODEL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662111" y="274320"/>
            <a:ext cx="298094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B8C1D4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8780983" y="374904"/>
            <a:ext cx="91440" cy="91440"/>
          </a:xfrm>
          <a:prstGeom prst="ellipse">
            <a:avLst/>
          </a:prstGeom>
          <a:solidFill>
            <a:srgbClr val="B8C1D4"/>
          </a:solidFill>
          <a:ln w="12700">
            <a:solidFill>
              <a:srgbClr val="B8C1D4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8899855" y="2743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УПРАВЛЕНЧЕСКАЯ МОДЕЛЬ · ПРОЕКТ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Шаблон: лист «Драйверы (шаблон)» Excel-приложения. Значения не заданы.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BUSINESS &amp; FINANCIAL MODEL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53619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ДЕРЕВО ДРАЙВЕРОВ · ВВОДЫ ПУСТЫЕ · РЕЗУЛЬТАТЫ — ФОРМУЛЫ</a:t>
            </a:r>
            <a:endParaRPr lang="en-US" sz="900" dirty="0"/>
          </a:p>
        </p:txBody>
      </p:sp>
      <p:sp>
        <p:nvSpPr>
          <p:cNvPr id="11" name="a1_i0"/>
          <p:cNvSpPr/>
          <p:nvPr/>
        </p:nvSpPr>
        <p:spPr>
          <a:xfrm>
            <a:off x="548640" y="187452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0E1629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MAU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1671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BX-008 KPI</a:t>
            </a:r>
            <a:endParaRPr lang="en-US" sz="850" dirty="0"/>
          </a:p>
        </p:txBody>
      </p:sp>
      <p:sp>
        <p:nvSpPr>
          <p:cNvPr id="14" name="a1_i1"/>
          <p:cNvSpPr/>
          <p:nvPr/>
        </p:nvSpPr>
        <p:spPr>
          <a:xfrm>
            <a:off x="2153869" y="187452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0E1629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245309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Conversion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245309" y="21671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BX-008 KPI</a:t>
            </a:r>
            <a:endParaRPr lang="en-US" sz="850" dirty="0"/>
          </a:p>
        </p:txBody>
      </p:sp>
      <p:sp>
        <p:nvSpPr>
          <p:cNvPr id="17" name="a1_i2"/>
          <p:cNvSpPr/>
          <p:nvPr/>
        </p:nvSpPr>
        <p:spPr>
          <a:xfrm>
            <a:off x="3759098" y="187452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0E1629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50538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ARPPU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850538" y="21671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цены BX-013</a:t>
            </a:r>
            <a:endParaRPr lang="en-US" sz="850" dirty="0"/>
          </a:p>
        </p:txBody>
      </p:sp>
      <p:sp>
        <p:nvSpPr>
          <p:cNvPr id="20" name="a1_i3"/>
          <p:cNvSpPr/>
          <p:nvPr/>
        </p:nvSpPr>
        <p:spPr>
          <a:xfrm>
            <a:off x="5364328" y="187452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0E1629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55768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Партнёрства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455768" y="21671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BX-001</a:t>
            </a:r>
            <a:endParaRPr lang="en-US" sz="850" dirty="0"/>
          </a:p>
        </p:txBody>
      </p:sp>
      <p:sp>
        <p:nvSpPr>
          <p:cNvPr id="23" name="a1_i4"/>
          <p:cNvSpPr/>
          <p:nvPr/>
        </p:nvSpPr>
        <p:spPr>
          <a:xfrm>
            <a:off x="6969557" y="187452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0E1629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60997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Комиссии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060997" y="21671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в BX</a:t>
            </a:r>
            <a:endParaRPr lang="en-US" sz="850" dirty="0"/>
          </a:p>
        </p:txBody>
      </p:sp>
      <p:sp>
        <p:nvSpPr>
          <p:cNvPr id="26" name="a1_i5"/>
          <p:cNvSpPr/>
          <p:nvPr/>
        </p:nvSpPr>
        <p:spPr>
          <a:xfrm>
            <a:off x="8574786" y="187452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0E1629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66226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OPEX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666226" y="21671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BX-002/005</a:t>
            </a:r>
            <a:endParaRPr lang="en-US" sz="850" dirty="0"/>
          </a:p>
        </p:txBody>
      </p:sp>
      <p:sp>
        <p:nvSpPr>
          <p:cNvPr id="29" name="a1_i6"/>
          <p:cNvSpPr/>
          <p:nvPr/>
        </p:nvSpPr>
        <p:spPr>
          <a:xfrm>
            <a:off x="10180015" y="187452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0E1629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71455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CAPEX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0271455" y="21671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решениям</a:t>
            </a:r>
            <a:endParaRPr lang="en-US" sz="850" dirty="0"/>
          </a:p>
        </p:txBody>
      </p:sp>
      <p:sp>
        <p:nvSpPr>
          <p:cNvPr id="32" name="a2_m0"/>
          <p:cNvSpPr/>
          <p:nvPr/>
        </p:nvSpPr>
        <p:spPr>
          <a:xfrm>
            <a:off x="1371600" y="306324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0E1629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463040" y="31089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1463040" y="335584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Stars / TON</a:t>
            </a:r>
            <a:endParaRPr lang="en-US" sz="850" dirty="0"/>
          </a:p>
        </p:txBody>
      </p:sp>
      <p:sp>
        <p:nvSpPr>
          <p:cNvPr id="35" name="a2_m1"/>
          <p:cNvSpPr/>
          <p:nvPr/>
        </p:nvSpPr>
        <p:spPr>
          <a:xfrm>
            <a:off x="4023360" y="306324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0E1629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114800" y="31089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Gross Profit · Margin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114800" y="335584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 − комиссии − прямые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703320" y="3346704"/>
            <a:ext cx="301752" cy="0"/>
          </a:xfrm>
          <a:prstGeom prst="line">
            <a:avLst/>
          </a:prstGeom>
          <a:noFill/>
          <a:ln w="15875">
            <a:solidFill>
              <a:srgbClr val="2593FA"/>
            </a:solidFill>
            <a:prstDash val="solid"/>
            <a:tailEnd type="triangle"/>
          </a:ln>
        </p:spPr>
      </p:sp>
      <p:sp>
        <p:nvSpPr>
          <p:cNvPr id="39" name="a2_m2"/>
          <p:cNvSpPr/>
          <p:nvPr/>
        </p:nvSpPr>
        <p:spPr>
          <a:xfrm>
            <a:off x="6675120" y="306324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0E1629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66560" y="31089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EBITDA → Net Profit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335584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 − OPEX − D&amp;A − налог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355080" y="3346704"/>
            <a:ext cx="301752" cy="0"/>
          </a:xfrm>
          <a:prstGeom prst="line">
            <a:avLst/>
          </a:prstGeom>
          <a:noFill/>
          <a:ln w="15875">
            <a:solidFill>
              <a:srgbClr val="2593FA"/>
            </a:solidFill>
            <a:prstDash val="solid"/>
            <a:tailEnd type="triangle"/>
          </a:ln>
        </p:spPr>
      </p:sp>
      <p:sp>
        <p:nvSpPr>
          <p:cNvPr id="43" name="a2_m3"/>
          <p:cNvSpPr/>
          <p:nvPr/>
        </p:nvSpPr>
        <p:spPr>
          <a:xfrm>
            <a:off x="9326880" y="306324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0E1629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18320" y="31089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OCF → FCF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9418320" y="335584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 + D&amp;A − ΔWC − CAPEX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9006840" y="3346704"/>
            <a:ext cx="301752" cy="0"/>
          </a:xfrm>
          <a:prstGeom prst="line">
            <a:avLst/>
          </a:prstGeom>
          <a:noFill/>
          <a:ln w="15875">
            <a:solidFill>
              <a:srgbClr val="2593FA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1280160" y="2441448"/>
            <a:ext cx="1097280" cy="621792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H="1">
            <a:off x="2514600" y="2441448"/>
            <a:ext cx="370789" cy="621792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H="1">
            <a:off x="2651760" y="2441448"/>
            <a:ext cx="1838858" cy="621792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flipH="1">
            <a:off x="2651760" y="2441448"/>
            <a:ext cx="3444088" cy="621792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flipH="1">
            <a:off x="5120640" y="2441448"/>
            <a:ext cx="2580437" cy="621792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H="1">
            <a:off x="7863840" y="2441448"/>
            <a:ext cx="1442466" cy="621792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flipH="1">
            <a:off x="10515600" y="2441448"/>
            <a:ext cx="395935" cy="621792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54" name="a3_o0"/>
          <p:cNvSpPr/>
          <p:nvPr/>
        </p:nvSpPr>
        <p:spPr>
          <a:xfrm>
            <a:off x="548640" y="425196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0E1629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40080" y="4297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Break-even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640080" y="45445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= все затраты</a:t>
            </a:r>
            <a:endParaRPr lang="en-US" sz="850" dirty="0"/>
          </a:p>
        </p:txBody>
      </p:sp>
      <p:sp>
        <p:nvSpPr>
          <p:cNvPr id="57" name="a3_o1"/>
          <p:cNvSpPr/>
          <p:nvPr/>
        </p:nvSpPr>
        <p:spPr>
          <a:xfrm>
            <a:off x="3355848" y="425196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0E1629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3447288" y="4297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3447288" y="45445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ARPPU, маржа на плательщика</a:t>
            </a:r>
            <a:endParaRPr lang="en-US" sz="850" dirty="0"/>
          </a:p>
        </p:txBody>
      </p:sp>
      <p:sp>
        <p:nvSpPr>
          <p:cNvPr id="60" name="a3_o2"/>
          <p:cNvSpPr/>
          <p:nvPr/>
        </p:nvSpPr>
        <p:spPr>
          <a:xfrm>
            <a:off x="6163056" y="425196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0E1629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254496" y="4297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CAC · LTV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6254496" y="45445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UA / новые · ARPPU × срок жизни</a:t>
            </a:r>
            <a:endParaRPr lang="en-US" sz="850" dirty="0"/>
          </a:p>
        </p:txBody>
      </p:sp>
      <p:sp>
        <p:nvSpPr>
          <p:cNvPr id="63" name="a3_o3"/>
          <p:cNvSpPr/>
          <p:nvPr/>
        </p:nvSpPr>
        <p:spPr>
          <a:xfrm>
            <a:off x="8970264" y="425196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0E1629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061704" y="4297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ROI · Payback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9061704" y="45445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после ввода инвестиций</a:t>
            </a:r>
            <a:endParaRPr lang="en-US" sz="850" dirty="0"/>
          </a:p>
        </p:txBody>
      </p:sp>
      <p:sp>
        <p:nvSpPr>
          <p:cNvPr id="66" name="a4_c"/>
          <p:cNvSpPr/>
          <p:nvPr/>
        </p:nvSpPr>
        <p:spPr>
          <a:xfrm>
            <a:off x="548640" y="507492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777240" y="50749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Статус всех значений: </a:t>
            </a:r>
            <a:pPr indent="0" marL="0">
              <a:buNone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требуется подтверждение. Цены — из BX-013; MAU, конверсия, ARPPU, затраты, инвестиции и сроки руководство не предоставило. Расчёт — после заполнения шаблона.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7" grpId="0" animBg="1"/>
      <p:bldP spid="20" grpId="0" animBg="1"/>
      <p:bldP spid="23" grpId="0" animBg="1"/>
      <p:bldP spid="26" grpId="0" animBg="1"/>
      <p:bldP spid="29" grpId="0" animBg="1"/>
      <p:bldP spid="32" grpId="0" animBg="1"/>
      <p:bldP spid="35" grpId="0" animBg="1"/>
      <p:bldP spid="39" grpId="0" animBg="1"/>
      <p:bldP spid="43" grpId="0" animBg="1"/>
      <p:bldP spid="54" grpId="0" animBg="1"/>
      <p:bldP spid="57" grpId="0" animBg="1"/>
      <p:bldP spid="60" grpId="0" animBg="1"/>
      <p:bldP spid="63" grpId="0" animBg="1"/>
      <p:bldP spid="66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Прогноз выручки, EBITDA и денежных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потоков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 · BUSINESS &amp; FINANCIAL MODEL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335110" y="274320"/>
            <a:ext cx="230794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45398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572854" y="274320"/>
            <a:ext cx="20153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ЦИФРЫ НЕ ПРЕДОСТАВЛЕНЫ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Структура прогноза — лист «Драйверы (шаблон)». Источник: BX-008 Investment &amp; Partnership Strategy, v0.4.92.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BUSINESS &amp; FINANCIAL MODEL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53619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ПРОГНОЗ НЕ ПУБЛИКУЕТСЯ ДО ПОДТВЕРЖДЕНИЯ ДРАЙВЕРОВ</a:t>
            </a:r>
            <a:endParaRPr lang="en-US" sz="900" dirty="0"/>
          </a:p>
        </p:txBody>
      </p:sp>
      <p:graphicFrame>
        <p:nvGraphicFramePr>
          <p:cNvPr id="105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960120"/>
                <a:gridCol w="960120"/>
                <a:gridCol w="960120"/>
                <a:gridCol w="960120"/>
                <a:gridCol w="9601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USD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Год 1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Год 2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Год 3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Год 4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Год 5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Revenue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Gross Profit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EBITDA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Net Profit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Operating Cash Flow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Free Cash Flow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Накопленный FCF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</a:tbl>
          </a:graphicData>
        </a:graphic>
      </p:graphicFrame>
      <p:sp>
        <p:nvSpPr>
          <p:cNvPr id="12" name="a2_c"/>
          <p:cNvSpPr/>
          <p:nvPr/>
        </p:nvSpPr>
        <p:spPr>
          <a:xfrm>
            <a:off x="7772400" y="1874520"/>
            <a:ext cx="3867912" cy="3200400"/>
          </a:xfrm>
          <a:prstGeom prst="roundRect">
            <a:avLst>
              <a:gd name="adj" fmla="val 3429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973568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инвестора · BX-008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7973568" y="23957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DAU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9966960" y="23957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данных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7973568" y="28254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MAU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9966960" y="282549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данных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7973568" y="32552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Retention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9966960" y="32552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данных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7973568" y="36850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9966960" y="36850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данных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7973568" y="41148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9966960" y="4114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данных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7973568" y="4544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 Growth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9966960" y="45445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данных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5257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Значения заполняются по факту тестов Foundation и утверждённому бизнес-плану.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Сценарный анализ и точка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безубыточности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 · BUSINESS &amp; FINANCIAL MODEL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662111" y="274320"/>
            <a:ext cx="298094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B8C1D4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8780983" y="374904"/>
            <a:ext cx="91440" cy="91440"/>
          </a:xfrm>
          <a:prstGeom prst="ellipse">
            <a:avLst/>
          </a:prstGeom>
          <a:solidFill>
            <a:srgbClr val="B8C1D4"/>
          </a:solidFill>
          <a:ln w="12700">
            <a:solidFill>
              <a:srgbClr val="B8C1D4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8899855" y="2743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УПРАВЛЕНЧЕСКАЯ МОДЕЛЬ · ПРОЕКТ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Методика сценариев — проект; переходы между стадиями — BX-008 Investment &amp; Partnership Strategy, v0.4.92.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BUSINESS &amp; FINANCIAL MODEL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53619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МЕТОДИКА СЦЕНАРИЕВ · ЗНАЧЕНИЯ ДРАЙВЕРОВ ТРЕБУЮТ ПОДТВЕРЖДЕНИЯ</a:t>
            </a:r>
            <a:endParaRPr lang="en-US" sz="900" dirty="0"/>
          </a:p>
        </p:txBody>
      </p:sp>
      <p:graphicFrame>
        <p:nvGraphicFramePr>
          <p:cNvPr id="106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463040"/>
                <a:gridCol w="16459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Драйвер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Пессимистичный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Базовый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Оптимистичный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Retention D30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ниже цели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цель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выше цели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Conversion в платящих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ниже цели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цель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выше цели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ARPPU (цены BX-013)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меньше покупок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цель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больше покупок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CAC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выше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цель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ниже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Переход к Growth (BX-008)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позже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 плану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раньше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46177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Целевые значения не заданы в документах — требуется подтверждение.</a:t>
            </a:r>
            <a:endParaRPr lang="en-US" sz="1000" dirty="0"/>
          </a:p>
        </p:txBody>
      </p:sp>
      <p:sp>
        <p:nvSpPr>
          <p:cNvPr id="13" name="a2_c"/>
          <p:cNvSpPr/>
          <p:nvPr/>
        </p:nvSpPr>
        <p:spPr>
          <a:xfrm>
            <a:off x="7772400" y="1874520"/>
            <a:ext cx="3867912" cy="3977640"/>
          </a:xfrm>
          <a:prstGeom prst="roundRect">
            <a:avLst>
              <a:gd name="adj" fmla="val 2837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973568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Break-even · формула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973568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Платящих в месяц =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973568" y="2788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Постоянные затраты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38160" y="3154680"/>
            <a:ext cx="3154680" cy="0"/>
          </a:xfrm>
          <a:prstGeom prst="line">
            <a:avLst/>
          </a:prstGeom>
          <a:noFill/>
          <a:ln w="15875">
            <a:solidFill>
              <a:srgbClr val="2593F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973568" y="3246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ARPPU × (1 − комиссия) − переменные затраты на плательщика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973568" y="40690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ARPPU опирается на цены BX-013 (Premium Pass $3.99 за 14 дней; FTXcoin ≈ $0,0625–0,0666). Постоянные затраты и комиссии — требуется подтверждение.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Инвестиционная стратегия и потребность в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капитале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 · BUSINESS &amp; FINANCIAL MODEL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176358" y="27432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95230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414102" y="274320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BX-008 Investment &amp; Partnership Strategy, v0.4.92.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BUSINESS &amp; FINANCIAL MODEL</a:t>
            </a:r>
            <a:endParaRPr lang="en-US" sz="900" dirty="0"/>
          </a:p>
        </p:txBody>
      </p:sp>
      <p:graphicFrame>
        <p:nvGraphicFramePr>
          <p:cNvPr id="107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3931920"/>
                <a:gridCol w="17647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Стадия (BX-008)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Источники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Приоритеты использования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Сумма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Bootstrap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Собственные средства, близкие партнёры, небольшие инвестиции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MVP: Telegram Web App, базовая экономика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Seed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Планируемый раунд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Backend · Gameplay · Infrastructure · LiveOps · Marketing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Планируемый раунд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Новые рынки, инфраструктура, конкурентные системы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Ecosystem Expansion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Стратегические партнёры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Медиа, киберспорт, blockchain, футбольная инфраструктура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11" name="a2_c"/>
          <p:cNvSpPr/>
          <p:nvPr/>
        </p:nvSpPr>
        <p:spPr>
          <a:xfrm>
            <a:off x="548640" y="461772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9808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Подтверждённые инвестиции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данных</a:t>
            </a:r>
            <a:endParaRPr lang="en-US" sz="1600" dirty="0"/>
          </a:p>
        </p:txBody>
      </p:sp>
      <p:sp>
        <p:nvSpPr>
          <p:cNvPr id="14" name="a3_c"/>
          <p:cNvSpPr/>
          <p:nvPr/>
        </p:nvSpPr>
        <p:spPr>
          <a:xfrm>
            <a:off x="4297680" y="461772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498848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Планируемые раунды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498848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Seed → Growth</a:t>
            </a:r>
            <a:endParaRPr lang="en-US" sz="1600" dirty="0"/>
          </a:p>
        </p:txBody>
      </p:sp>
      <p:sp>
        <p:nvSpPr>
          <p:cNvPr id="17" name="a4_c"/>
          <p:cNvSpPr/>
          <p:nvPr/>
        </p:nvSpPr>
        <p:spPr>
          <a:xfrm>
            <a:off x="8046720" y="461772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47888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Партнёрские направления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247888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50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 · Sports · Technology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7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Корпоративная структура FootureX Uzbekistan: целевая модель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группы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XI · GOVERNANCE &amp; EXECUTION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662111" y="274320"/>
            <a:ext cx="298094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B8C1D4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8780983" y="374904"/>
            <a:ext cx="91440" cy="91440"/>
          </a:xfrm>
          <a:prstGeom prst="ellipse">
            <a:avLst/>
          </a:prstGeom>
          <a:solidFill>
            <a:srgbClr val="B8C1D4"/>
          </a:solidFill>
          <a:ln w="12700">
            <a:solidFill>
              <a:srgbClr val="B8C1D4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8899855" y="2743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УПРАВЛЕНЧЕСКАЯ МОДЕЛЬ · ПРОЕКТ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GOVERNANCE &amp; EXECUTION</a:t>
            </a:r>
            <a:endParaRPr lang="en-US" sz="900" dirty="0"/>
          </a:p>
        </p:txBody>
      </p:sp>
      <p:sp>
        <p:nvSpPr>
          <p:cNvPr id="9" name="a1_n"/>
          <p:cNvSpPr/>
          <p:nvPr/>
        </p:nvSpPr>
        <p:spPr>
          <a:xfrm>
            <a:off x="4544568" y="178308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7720" y="1874520"/>
            <a:ext cx="2962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MChJ «FootureX Uzbekistan»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2130552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материнская компания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99048" y="2423160"/>
            <a:ext cx="0" cy="22860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74520" y="2651760"/>
            <a:ext cx="8458200" cy="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74520" y="2651760"/>
            <a:ext cx="0" cy="164592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15" name="a2_c"/>
          <p:cNvSpPr/>
          <p:nvPr/>
        </p:nvSpPr>
        <p:spPr>
          <a:xfrm>
            <a:off x="548640" y="2816352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142A70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" y="2871216"/>
            <a:ext cx="2505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364992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" y="3410712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Technologies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21792" y="366674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подразделение → ДК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8640" y="3986784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" y="4032504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AI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21792" y="428853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подразделение → ДК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693615" y="2651760"/>
            <a:ext cx="0" cy="164592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24" name="a3_c"/>
          <p:cNvSpPr/>
          <p:nvPr/>
        </p:nvSpPr>
        <p:spPr>
          <a:xfrm>
            <a:off x="3367735" y="2816352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142A70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440887" y="2871216"/>
            <a:ext cx="2505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Gaming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367735" y="3364992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440887" y="3410712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Game Development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3440887" y="366674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подразделение → ДК (IP)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367735" y="3986784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440887" y="4032504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Game Community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3440887" y="428853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подразделение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367735" y="4608576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440887" y="4654296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Esports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3440887" y="491032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подразделение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367735" y="5230368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440887" y="5276088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Game Dev Academy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3440887" y="55321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подразделение → ДК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7512710" y="2651760"/>
            <a:ext cx="0" cy="164592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39" name="a4_c"/>
          <p:cNvSpPr/>
          <p:nvPr/>
        </p:nvSpPr>
        <p:spPr>
          <a:xfrm>
            <a:off x="6186830" y="2816352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142A70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259982" y="2871216"/>
            <a:ext cx="2505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Sports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186830" y="3364992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259982" y="3410712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FC FootureX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6259982" y="366674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отдельная организация*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6186830" y="3986784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259982" y="4032504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Football Academy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6259982" y="428853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отдельная организация*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331806" y="2651760"/>
            <a:ext cx="0" cy="164592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48" name="a5_c"/>
          <p:cNvSpPr/>
          <p:nvPr/>
        </p:nvSpPr>
        <p:spPr>
          <a:xfrm>
            <a:off x="9005926" y="2816352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142A70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079078" y="2871216"/>
            <a:ext cx="2505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9005926" y="3364992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079078" y="3410712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Stadium</a:t>
            </a:r>
            <a:endParaRPr lang="en-US" sz="1050" dirty="0"/>
          </a:p>
        </p:txBody>
      </p:sp>
      <p:sp>
        <p:nvSpPr>
          <p:cNvPr id="52" name="Text 49"/>
          <p:cNvSpPr txBox="1"/>
          <p:nvPr/>
        </p:nvSpPr>
        <p:spPr>
          <a:xfrm>
            <a:off x="9079078" y="366674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SPV с партнёрами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9005926" y="3986784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079078" y="4032504"/>
            <a:ext cx="2505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City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9079078" y="428853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SPV с партнёрами</a:t>
            </a:r>
            <a:endParaRPr lang="en-US" sz="850" dirty="0"/>
          </a:p>
        </p:txBody>
      </p:sp>
      <p:sp>
        <p:nvSpPr>
          <p:cNvPr id="56" name="Text 53"/>
          <p:cNvSpPr txBox="1"/>
          <p:nvPr/>
        </p:nvSpPr>
        <p:spPr>
          <a:xfrm>
            <a:off x="548640" y="59436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Форма определяется требованиями клубного лицензирования. Все звенья — концептуальные; зарегистрированных дочерних компаний нет.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4" grpId="0" animBg="1"/>
      <p:bldP spid="39" grpId="0" animBg="1"/>
      <p:bldP spid="48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Модель управления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компанией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XI · GOVERNANCE &amp; EXECUTION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662111" y="274320"/>
            <a:ext cx="298094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B8C1D4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8780983" y="374904"/>
            <a:ext cx="91440" cy="91440"/>
          </a:xfrm>
          <a:prstGeom prst="ellipse">
            <a:avLst/>
          </a:prstGeom>
          <a:solidFill>
            <a:srgbClr val="B8C1D4"/>
          </a:solidFill>
          <a:ln w="12700">
            <a:solidFill>
              <a:srgbClr val="B8C1D4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8899855" y="2743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УПРАВЛЕНЧЕСКАЯ МОДЕЛЬ · ПРОЕКТ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Органы ООО — законодательство РУз; уровень управления и роли — BX-002 Organizational Structure, v0.0.23.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GOVERNANCE &amp; EXECUTION</a:t>
            </a:r>
            <a:endParaRPr lang="en-US" sz="900" dirty="0"/>
          </a:p>
        </p:txBody>
      </p:sp>
      <p:sp>
        <p:nvSpPr>
          <p:cNvPr id="10" name="a1_n"/>
          <p:cNvSpPr/>
          <p:nvPr/>
        </p:nvSpPr>
        <p:spPr>
          <a:xfrm>
            <a:off x="3813048" y="1783080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86200" y="1837944"/>
            <a:ext cx="4425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Общее собрание участников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86200" y="2093976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высший орган ООО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099048" y="2350008"/>
            <a:ext cx="0" cy="18288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14" name="a2_n"/>
          <p:cNvSpPr/>
          <p:nvPr/>
        </p:nvSpPr>
        <p:spPr>
          <a:xfrm>
            <a:off x="3813048" y="2532888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0E1629"/>
          </a:solidFill>
          <a:ln w="19050">
            <a:solidFill>
              <a:srgbClr val="2593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86200" y="2587752"/>
            <a:ext cx="4425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Наблюдательный совет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886200" y="2843784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стратегия, бюджет, крупные сделки (при создании)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99048" y="3099816"/>
            <a:ext cx="0" cy="18288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18" name="a3_n"/>
          <p:cNvSpPr/>
          <p:nvPr/>
        </p:nvSpPr>
        <p:spPr>
          <a:xfrm>
            <a:off x="3813048" y="3282696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86200" y="3337560"/>
            <a:ext cx="4425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 / CEO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886200" y="3593592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Vision · Executive Control · Investment Direction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99048" y="3849624"/>
            <a:ext cx="0" cy="18288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22" name="a4_n"/>
          <p:cNvSpPr/>
          <p:nvPr/>
        </p:nvSpPr>
        <p:spPr>
          <a:xfrm>
            <a:off x="3813048" y="4032504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886200" y="4087368"/>
            <a:ext cx="4425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team (BX-002)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886200" y="4343400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 · CTO · CPO · CFO · CMO · LiveOps · Security — предусмотрены</a:t>
            </a:r>
            <a:endParaRPr lang="en-US" sz="850" dirty="0"/>
          </a:p>
        </p:txBody>
      </p:sp>
      <p:sp>
        <p:nvSpPr>
          <p:cNvPr id="25" name="a5_k"/>
          <p:cNvSpPr/>
          <p:nvPr/>
        </p:nvSpPr>
        <p:spPr>
          <a:xfrm>
            <a:off x="8823960" y="1828800"/>
            <a:ext cx="2816352" cy="713232"/>
          </a:xfrm>
          <a:prstGeom prst="roundRect">
            <a:avLst>
              <a:gd name="adj" fmla="val 10256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897112" y="1956816"/>
            <a:ext cx="2670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Комитет по аудиту и рискам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897112" y="221284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контроль, отчётность</a:t>
            </a:r>
            <a:endParaRPr lang="en-US" sz="850" dirty="0"/>
          </a:p>
        </p:txBody>
      </p:sp>
      <p:sp>
        <p:nvSpPr>
          <p:cNvPr id="28" name="a6_k"/>
          <p:cNvSpPr/>
          <p:nvPr/>
        </p:nvSpPr>
        <p:spPr>
          <a:xfrm>
            <a:off x="8823960" y="2697480"/>
            <a:ext cx="2816352" cy="713232"/>
          </a:xfrm>
          <a:prstGeom prst="roundRect">
            <a:avLst>
              <a:gd name="adj" fmla="val 10256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897112" y="2825496"/>
            <a:ext cx="2670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Инвестиционный комитет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897112" y="308152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CAPEX, новые направления</a:t>
            </a:r>
            <a:endParaRPr lang="en-US" sz="850" dirty="0"/>
          </a:p>
        </p:txBody>
      </p:sp>
      <p:sp>
        <p:nvSpPr>
          <p:cNvPr id="31" name="a7_k"/>
          <p:cNvSpPr/>
          <p:nvPr/>
        </p:nvSpPr>
        <p:spPr>
          <a:xfrm>
            <a:off x="8823960" y="3566160"/>
            <a:ext cx="2816352" cy="713232"/>
          </a:xfrm>
          <a:prstGeom prst="roundRect">
            <a:avLst>
              <a:gd name="adj" fmla="val 10256"/>
            </a:avLst>
          </a:prstGeom>
          <a:solidFill>
            <a:srgbClr val="0E1629"/>
          </a:solidFill>
          <a:ln w="12700">
            <a:solidFill>
              <a:srgbClr val="273B5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897112" y="3694176"/>
            <a:ext cx="2670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Комитет по технологиям и этике AI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897112" y="395020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архитектура, данные, AI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385048" y="2816352"/>
            <a:ext cx="219456" cy="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604504" y="2185416"/>
            <a:ext cx="0" cy="173736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604504" y="2185416"/>
            <a:ext cx="219456" cy="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604504" y="3054096"/>
            <a:ext cx="219456" cy="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604504" y="3922776"/>
            <a:ext cx="219456" cy="0"/>
          </a:xfrm>
          <a:prstGeom prst="line">
            <a:avLst/>
          </a:prstGeom>
          <a:noFill/>
          <a:ln w="12700">
            <a:solidFill>
              <a:srgbClr val="273B5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864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Финансовый контроль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219456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Годовой бюджет и инвестиционный план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Ежемесячная управленческая отчётность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Матрица полномочий и лимиты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Двойная подпись крупных платежей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Ежегодный внешний аудит</a:t>
            </a:r>
            <a:endParaRPr lang="en-US" sz="1150" dirty="0"/>
          </a:p>
        </p:txBody>
      </p:sp>
      <p:sp>
        <p:nvSpPr>
          <p:cNvPr id="41" name="a8_n"/>
          <p:cNvSpPr/>
          <p:nvPr/>
        </p:nvSpPr>
        <p:spPr>
          <a:xfrm>
            <a:off x="548640" y="48920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2960" y="48920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Органы ООО — по законодательству РУз и уставу. Уровень Founder / CEO и роли C-level — по BX-002; роли предусмотрены, но не представлены как занятые. Совет и комитеты — рекомендуемая модель.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8" grpId="0" animBg="1"/>
      <p:bldP spid="22" grpId="0" animBg="1"/>
      <p:bldP spid="25" grpId="0" animBg="1"/>
      <p:bldP spid="28" grpId="0" animBg="1"/>
      <p:bldP spid="31" grpId="0" animBg="1"/>
      <p:bldP spid="41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Структура подразделений и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ответственности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XI · GOVERNANCE &amp; EXECUTION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10176358" y="27432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50FA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10295230" y="374904"/>
            <a:ext cx="91440" cy="91440"/>
          </a:xfrm>
          <a:prstGeom prst="ellipse">
            <a:avLst/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10414102" y="274320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BX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BX-002 Organizational Structure, v0.0.23 (игровое направление). Прочие направления — корпоративная концепция.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GOVERNANCE &amp; EXECUTION</a:t>
            </a:r>
            <a:endParaRPr lang="en-US" sz="900" dirty="0"/>
          </a:p>
        </p:txBody>
      </p:sp>
      <p:graphicFrame>
        <p:nvGraphicFramePr>
          <p:cNvPr id="110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583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  <a:gridCol w="14630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Роль (BX-002)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Зона ответственности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Статус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Founder / CEO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 Vision · Executive Control · Investment Direction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основатель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COO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Операционные процессы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предусмотрена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CTO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Технологии и архитектура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предусмотрена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CPO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Продукт и геймдизайн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предусмотрена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CFO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Финансы и экономика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предусмотрена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CMO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Маркетинг и сообщество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предусмотрена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Head of LiveOps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Сезоны, события, удержание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предусмотрена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Head of Security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Безопасность и антифрод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предусмотрена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«Предусмотрена» — роль заложена в BX-002; занятость позиции не подтверждена.</a:t>
            </a:r>
            <a:endParaRPr lang="en-US" sz="950" dirty="0"/>
          </a:p>
        </p:txBody>
      </p:sp>
      <p:sp>
        <p:nvSpPr>
          <p:cNvPr id="12" name="a2_c"/>
          <p:cNvSpPr/>
          <p:nvPr/>
        </p:nvSpPr>
        <p:spPr>
          <a:xfrm>
            <a:off x="7406640" y="1828800"/>
            <a:ext cx="4233672" cy="1691640"/>
          </a:xfrm>
          <a:prstGeom prst="roundRect">
            <a:avLst>
              <a:gd name="adj" fmla="val 648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607808" y="1947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Department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607808" y="2377440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07808" y="2377440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Mgmt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8906256" y="2377440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906256" y="2377440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 Design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10204704" y="2377440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204704" y="2377440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607808" y="2816352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607808" y="281635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UX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8906256" y="2816352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906256" y="281635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Economy</a:t>
            </a:r>
            <a:endParaRPr lang="en-US" sz="850" dirty="0"/>
          </a:p>
        </p:txBody>
      </p:sp>
      <p:sp>
        <p:nvSpPr>
          <p:cNvPr id="24" name="a3_c"/>
          <p:cNvSpPr/>
          <p:nvPr/>
        </p:nvSpPr>
        <p:spPr>
          <a:xfrm>
            <a:off x="7406640" y="3657600"/>
            <a:ext cx="4233672" cy="1691640"/>
          </a:xfrm>
          <a:prstGeom prst="roundRect">
            <a:avLst>
              <a:gd name="adj" fmla="val 6486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607808" y="3776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Development Department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7607808" y="4206240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607808" y="4206240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8906256" y="4206240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906256" y="4206240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10204704" y="4206240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0204704" y="4206240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607808" y="4645152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607808" y="464515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8906256" y="4645152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906256" y="464515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QA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10204704" y="4645152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6350">
            <a:solidFill>
              <a:srgbClr val="2550F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10204704" y="464515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</a:t>
            </a:r>
            <a:endParaRPr lang="en-US" sz="850" dirty="0"/>
          </a:p>
        </p:txBody>
      </p:sp>
      <p:sp>
        <p:nvSpPr>
          <p:cNvPr id="38" name="Text 34"/>
          <p:cNvSpPr txBox="1"/>
          <p:nvPr/>
        </p:nvSpPr>
        <p:spPr>
          <a:xfrm>
            <a:off x="7406640" y="5486400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1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Hybrid Product Structure: Product-driven · Service-oriented · LiveOps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Операционная модель и контроль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качества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XI · GOVERNANCE &amp; EXECUTION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662111" y="274320"/>
            <a:ext cx="298094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B8C1D4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8780983" y="374904"/>
            <a:ext cx="91440" cy="91440"/>
          </a:xfrm>
          <a:prstGeom prst="ellipse">
            <a:avLst/>
          </a:prstGeom>
          <a:solidFill>
            <a:srgbClr val="B8C1D4"/>
          </a:solidFill>
          <a:ln w="12700">
            <a:solidFill>
              <a:srgbClr val="B8C1D4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8899855" y="2743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УПРАВЛЕНЧЕСКАЯ МОДЕЛЬ · ПРОЕКТ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GOVERNANCE &amp; EXECUTION</a:t>
            </a:r>
            <a:endParaRPr lang="en-US" sz="900" dirty="0"/>
          </a:p>
        </p:txBody>
      </p:sp>
      <p:sp>
        <p:nvSpPr>
          <p:cNvPr id="9" name="a1_bg"/>
          <p:cNvSpPr/>
          <p:nvPr/>
        </p:nvSpPr>
        <p:spPr>
          <a:xfrm>
            <a:off x="548640" y="1783080"/>
            <a:ext cx="11094415" cy="530352"/>
          </a:xfrm>
          <a:prstGeom prst="roundRect">
            <a:avLst>
              <a:gd name="adj" fmla="val 2069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0" name="a1_lb"/>
          <p:cNvSpPr/>
          <p:nvPr/>
        </p:nvSpPr>
        <p:spPr>
          <a:xfrm>
            <a:off x="640080" y="18745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11" name="a1_lt"/>
          <p:cNvSpPr txBox="1"/>
          <p:nvPr/>
        </p:nvSpPr>
        <p:spPr>
          <a:xfrm>
            <a:off x="749808" y="187452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Стратегия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834640" y="1911096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07792" y="1911096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Стратегия на 3 года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76874" y="1911096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0026" y="1911096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Годовые OKR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19109" y="1911096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92261" y="1911096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Квартальный пересмотр</a:t>
            </a:r>
            <a:endParaRPr lang="en-US" sz="1100" dirty="0"/>
          </a:p>
        </p:txBody>
      </p:sp>
      <p:sp>
        <p:nvSpPr>
          <p:cNvPr id="18" name="a2_bg"/>
          <p:cNvSpPr/>
          <p:nvPr/>
        </p:nvSpPr>
        <p:spPr>
          <a:xfrm>
            <a:off x="548640" y="2386584"/>
            <a:ext cx="11094415" cy="530352"/>
          </a:xfrm>
          <a:prstGeom prst="roundRect">
            <a:avLst>
              <a:gd name="adj" fmla="val 2069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9" name="a2_lb"/>
          <p:cNvSpPr/>
          <p:nvPr/>
        </p:nvSpPr>
        <p:spPr>
          <a:xfrm>
            <a:off x="640080" y="2478024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20" name="a2_lt"/>
          <p:cNvSpPr txBox="1"/>
          <p:nvPr/>
        </p:nvSpPr>
        <p:spPr>
          <a:xfrm>
            <a:off x="749808" y="2478024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Портфель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2834640" y="2514600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907792" y="2514600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Приоритизация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76874" y="2514600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850026" y="2514600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Ворота качества проектов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719109" y="2514600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792261" y="2514600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Распределение ресурсов</a:t>
            </a:r>
            <a:endParaRPr lang="en-US" sz="1100" dirty="0"/>
          </a:p>
        </p:txBody>
      </p:sp>
      <p:sp>
        <p:nvSpPr>
          <p:cNvPr id="27" name="a3_bg"/>
          <p:cNvSpPr/>
          <p:nvPr/>
        </p:nvSpPr>
        <p:spPr>
          <a:xfrm>
            <a:off x="548640" y="2990088"/>
            <a:ext cx="11094415" cy="530352"/>
          </a:xfrm>
          <a:prstGeom prst="roundRect">
            <a:avLst>
              <a:gd name="adj" fmla="val 2069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8" name="a3_lb"/>
          <p:cNvSpPr/>
          <p:nvPr/>
        </p:nvSpPr>
        <p:spPr>
          <a:xfrm>
            <a:off x="640080" y="308152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29" name="a3_lt"/>
          <p:cNvSpPr txBox="1"/>
          <p:nvPr/>
        </p:nvSpPr>
        <p:spPr>
          <a:xfrm>
            <a:off x="749808" y="308152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Поставка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2834640" y="3118104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907792" y="3118104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Agile-спринты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776874" y="3118104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850026" y="3118104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Демо и ретроспективы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719109" y="3118104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2261" y="3118104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SLA клиентов</a:t>
            </a:r>
            <a:endParaRPr lang="en-US" sz="1100" dirty="0"/>
          </a:p>
        </p:txBody>
      </p:sp>
      <p:sp>
        <p:nvSpPr>
          <p:cNvPr id="36" name="a4_bg"/>
          <p:cNvSpPr/>
          <p:nvPr/>
        </p:nvSpPr>
        <p:spPr>
          <a:xfrm>
            <a:off x="548640" y="3593592"/>
            <a:ext cx="11094415" cy="530352"/>
          </a:xfrm>
          <a:prstGeom prst="roundRect">
            <a:avLst>
              <a:gd name="adj" fmla="val 2069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7" name="a4_lb"/>
          <p:cNvSpPr/>
          <p:nvPr/>
        </p:nvSpPr>
        <p:spPr>
          <a:xfrm>
            <a:off x="640080" y="368503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38" name="a4_lt"/>
          <p:cNvSpPr txBox="1"/>
          <p:nvPr/>
        </p:nvSpPr>
        <p:spPr>
          <a:xfrm>
            <a:off x="749808" y="36850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Качество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2834640" y="3721608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907792" y="3721608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Автотесты и код-ревью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776874" y="3721608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850026" y="3721608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Безопасность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719109" y="3721608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92261" y="3721608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NPS клиентов и игроков</a:t>
            </a:r>
            <a:endParaRPr lang="en-US" sz="1100" dirty="0"/>
          </a:p>
        </p:txBody>
      </p:sp>
      <p:sp>
        <p:nvSpPr>
          <p:cNvPr id="45" name="a5_bg"/>
          <p:cNvSpPr/>
          <p:nvPr/>
        </p:nvSpPr>
        <p:spPr>
          <a:xfrm>
            <a:off x="548640" y="4197096"/>
            <a:ext cx="11094415" cy="530352"/>
          </a:xfrm>
          <a:prstGeom prst="roundRect">
            <a:avLst>
              <a:gd name="adj" fmla="val 2069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46" name="a5_lb"/>
          <p:cNvSpPr/>
          <p:nvPr/>
        </p:nvSpPr>
        <p:spPr>
          <a:xfrm>
            <a:off x="640080" y="4288536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47" name="a5_lt"/>
          <p:cNvSpPr txBox="1"/>
          <p:nvPr/>
        </p:nvSpPr>
        <p:spPr>
          <a:xfrm>
            <a:off x="749808" y="428853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Финансы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2834640" y="4325112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907792" y="4325112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 и прогноз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5776874" y="4325112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850026" y="4325112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Ежемесячная отчётность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8719109" y="4325112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792261" y="4325112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Переход на МСФО</a:t>
            </a:r>
            <a:endParaRPr lang="en-US" sz="1100" dirty="0"/>
          </a:p>
        </p:txBody>
      </p:sp>
      <p:sp>
        <p:nvSpPr>
          <p:cNvPr id="54" name="a6_bg"/>
          <p:cNvSpPr/>
          <p:nvPr/>
        </p:nvSpPr>
        <p:spPr>
          <a:xfrm>
            <a:off x="548640" y="4800600"/>
            <a:ext cx="11094415" cy="530352"/>
          </a:xfrm>
          <a:prstGeom prst="roundRect">
            <a:avLst>
              <a:gd name="adj" fmla="val 2069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55" name="a6_lb"/>
          <p:cNvSpPr/>
          <p:nvPr/>
        </p:nvSpPr>
        <p:spPr>
          <a:xfrm>
            <a:off x="640080" y="489204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sp>
        <p:nvSpPr>
          <p:cNvPr id="56" name="a6_lt"/>
          <p:cNvSpPr txBox="1"/>
          <p:nvPr/>
        </p:nvSpPr>
        <p:spPr>
          <a:xfrm>
            <a:off x="749808" y="489204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Аудит</a:t>
            </a:r>
            <a:endParaRPr lang="en-US" sz="1250" dirty="0"/>
          </a:p>
        </p:txBody>
      </p:sp>
      <p:sp>
        <p:nvSpPr>
          <p:cNvPr id="57" name="Shape 54"/>
          <p:cNvSpPr/>
          <p:nvPr/>
        </p:nvSpPr>
        <p:spPr>
          <a:xfrm>
            <a:off x="2834640" y="4928616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907792" y="4928616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Внутренний контроль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5776874" y="4928616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5850026" y="4928616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Внешний аудит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8719109" y="4928616"/>
            <a:ext cx="2832506" cy="274320"/>
          </a:xfrm>
          <a:prstGeom prst="roundRect">
            <a:avLst>
              <a:gd name="adj" fmla="val 23333"/>
            </a:avLst>
          </a:prstGeom>
          <a:solidFill>
            <a:srgbClr val="0B1220"/>
          </a:solidFill>
          <a:ln w="6350">
            <a:solidFill>
              <a:srgbClr val="273B51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792261" y="4928616"/>
            <a:ext cx="2686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Комплаенс и данные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548640" y="5440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Игровое направление — Hybrid Product Structure (BX-002): Product-driven · Service-oriented · LiveOps Architecture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8" grpId="0" animBg="1"/>
      <p:bldP spid="19" grpId="0" animBg="1"/>
      <p:bldP spid="20" grpId="0"/>
      <p:bldP spid="27" grpId="0" animBg="1"/>
      <p:bldP spid="28" grpId="0" animBg="1"/>
      <p:bldP spid="29" grpId="0"/>
      <p:bldP spid="36" grpId="0" animBg="1"/>
      <p:bldP spid="37" grpId="0" animBg="1"/>
      <p:bldP spid="38" grpId="0"/>
      <p:bldP spid="45" grpId="0" animBg="1"/>
      <p:bldP spid="46" grpId="0" animBg="1"/>
      <p:bldP spid="47" grpId="0"/>
      <p:bldP spid="54" grpId="0" animBg="1"/>
      <p:bldP spid="55" grpId="0" animBg="1"/>
      <p:bldP spid="56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Основные стратегические и финансовые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риски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XI · GOVERNANCE &amp; EXECUTION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8662111" y="274320"/>
            <a:ext cx="2980944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B8C1D4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8780983" y="374904"/>
            <a:ext cx="91440" cy="91440"/>
          </a:xfrm>
          <a:prstGeom prst="ellipse">
            <a:avLst/>
          </a:prstGeom>
          <a:solidFill>
            <a:srgbClr val="B8C1D4"/>
          </a:solidFill>
          <a:ln w="12700">
            <a:solidFill>
              <a:srgbClr val="B8C1D4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8899855" y="27432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УПРАВЛЕНЧЕСКАЯ МОДЕЛЬ · ПРОЕКТ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Риски 2–6 — BX-008 Investment &amp; Partnership Strategy, v0.4.92; меры — BX-003, BX-005, BX-006, BX-013. Оценка вероятности и влияния — экспертная.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GOVERNANCE &amp; EXECUTION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51560" y="1874520"/>
            <a:ext cx="1225296" cy="1225296"/>
          </a:xfrm>
          <a:prstGeom prst="rect">
            <a:avLst/>
          </a:prstGeom>
          <a:solidFill>
            <a:srgbClr val="142A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13432" y="1874520"/>
            <a:ext cx="1225296" cy="1225296"/>
          </a:xfrm>
          <a:prstGeom prst="rect">
            <a:avLst/>
          </a:prstGeom>
          <a:solidFill>
            <a:srgbClr val="1B3E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75304" y="1874520"/>
            <a:ext cx="1225296" cy="1225296"/>
          </a:xfrm>
          <a:prstGeom prst="rect">
            <a:avLst/>
          </a:prstGeom>
          <a:solidFill>
            <a:srgbClr val="2550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51560" y="3136392"/>
            <a:ext cx="1225296" cy="1225296"/>
          </a:xfrm>
          <a:prstGeom prst="rect">
            <a:avLst/>
          </a:prstGeom>
          <a:solidFill>
            <a:srgbClr val="111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313432" y="3136392"/>
            <a:ext cx="1225296" cy="1225296"/>
          </a:xfrm>
          <a:prstGeom prst="rect">
            <a:avLst/>
          </a:prstGeom>
          <a:solidFill>
            <a:srgbClr val="142A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75304" y="3136392"/>
            <a:ext cx="1225296" cy="1225296"/>
          </a:xfrm>
          <a:prstGeom prst="rect">
            <a:avLst/>
          </a:prstGeom>
          <a:solidFill>
            <a:srgbClr val="1B3E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51560" y="4398264"/>
            <a:ext cx="1225296" cy="1225296"/>
          </a:xfrm>
          <a:prstGeom prst="rect">
            <a:avLst/>
          </a:prstGeom>
          <a:solidFill>
            <a:srgbClr val="0E16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13432" y="4398264"/>
            <a:ext cx="1225296" cy="1225296"/>
          </a:xfrm>
          <a:prstGeom prst="rect">
            <a:avLst/>
          </a:prstGeom>
          <a:solidFill>
            <a:srgbClr val="111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75304" y="4398264"/>
            <a:ext cx="1225296" cy="1225296"/>
          </a:xfrm>
          <a:prstGeom prst="rect">
            <a:avLst/>
          </a:prstGeom>
          <a:solidFill>
            <a:srgbClr val="142A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1560" y="5678424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Влияние →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 rot="16200000">
            <a:off x="45720" y="3639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Вероятность →</a:t>
            </a:r>
            <a:endParaRPr lang="en-US" sz="1000" dirty="0"/>
          </a:p>
        </p:txBody>
      </p:sp>
      <p:sp>
        <p:nvSpPr>
          <p:cNvPr id="21" name="a1_r"/>
          <p:cNvSpPr/>
          <p:nvPr/>
        </p:nvSpPr>
        <p:spPr>
          <a:xfrm>
            <a:off x="3712464" y="2011680"/>
            <a:ext cx="384048" cy="384048"/>
          </a:xfrm>
          <a:prstGeom prst="ellipse">
            <a:avLst/>
          </a:prstGeom>
          <a:solidFill>
            <a:srgbClr val="142A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71246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a2_r"/>
          <p:cNvSpPr/>
          <p:nvPr/>
        </p:nvSpPr>
        <p:spPr>
          <a:xfrm>
            <a:off x="4261104" y="2560320"/>
            <a:ext cx="384048" cy="384048"/>
          </a:xfrm>
          <a:prstGeom prst="ellipse">
            <a:avLst/>
          </a:prstGeom>
          <a:solidFill>
            <a:srgbClr val="142A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261104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a3_r"/>
          <p:cNvSpPr/>
          <p:nvPr/>
        </p:nvSpPr>
        <p:spPr>
          <a:xfrm>
            <a:off x="2587752" y="2148840"/>
            <a:ext cx="384048" cy="384048"/>
          </a:xfrm>
          <a:prstGeom prst="ellipse">
            <a:avLst/>
          </a:prstGeom>
          <a:solidFill>
            <a:srgbClr val="142A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58775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a4_r"/>
          <p:cNvSpPr/>
          <p:nvPr/>
        </p:nvSpPr>
        <p:spPr>
          <a:xfrm>
            <a:off x="3758184" y="3410712"/>
            <a:ext cx="384048" cy="384048"/>
          </a:xfrm>
          <a:prstGeom prst="ellipse">
            <a:avLst/>
          </a:prstGeom>
          <a:solidFill>
            <a:srgbClr val="142A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758184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a5_r"/>
          <p:cNvSpPr/>
          <p:nvPr/>
        </p:nvSpPr>
        <p:spPr>
          <a:xfrm>
            <a:off x="2496312" y="3319272"/>
            <a:ext cx="384048" cy="384048"/>
          </a:xfrm>
          <a:prstGeom prst="ellipse">
            <a:avLst/>
          </a:prstGeom>
          <a:solidFill>
            <a:srgbClr val="142A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496312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a6_r"/>
          <p:cNvSpPr/>
          <p:nvPr/>
        </p:nvSpPr>
        <p:spPr>
          <a:xfrm>
            <a:off x="1600200" y="3410712"/>
            <a:ext cx="384048" cy="384048"/>
          </a:xfrm>
          <a:prstGeom prst="ellipse">
            <a:avLst/>
          </a:prstGeom>
          <a:solidFill>
            <a:srgbClr val="142A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60020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a7_r"/>
          <p:cNvSpPr/>
          <p:nvPr/>
        </p:nvSpPr>
        <p:spPr>
          <a:xfrm>
            <a:off x="3044952" y="3867912"/>
            <a:ext cx="384048" cy="384048"/>
          </a:xfrm>
          <a:prstGeom prst="ellipse">
            <a:avLst/>
          </a:prstGeom>
          <a:solidFill>
            <a:srgbClr val="142A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04495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00" dirty="0"/>
          </a:p>
        </p:txBody>
      </p:sp>
      <p:sp>
        <p:nvSpPr>
          <p:cNvPr id="35" name="a8_r"/>
          <p:cNvSpPr/>
          <p:nvPr/>
        </p:nvSpPr>
        <p:spPr>
          <a:xfrm>
            <a:off x="3986784" y="4626864"/>
            <a:ext cx="384048" cy="384048"/>
          </a:xfrm>
          <a:prstGeom prst="ellipse">
            <a:avLst/>
          </a:prstGeom>
          <a:solidFill>
            <a:srgbClr val="142A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986784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000" dirty="0"/>
          </a:p>
        </p:txBody>
      </p:sp>
      <p:sp>
        <p:nvSpPr>
          <p:cNvPr id="37" name="a9_r"/>
          <p:cNvSpPr/>
          <p:nvPr/>
        </p:nvSpPr>
        <p:spPr>
          <a:xfrm>
            <a:off x="2587752" y="4855464"/>
            <a:ext cx="384048" cy="384048"/>
          </a:xfrm>
          <a:prstGeom prst="ellipse">
            <a:avLst/>
          </a:prstGeom>
          <a:solidFill>
            <a:srgbClr val="142A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587752" y="4855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000" dirty="0"/>
          </a:p>
        </p:txBody>
      </p:sp>
      <p:sp>
        <p:nvSpPr>
          <p:cNvPr id="39" name="a10_r"/>
          <p:cNvSpPr/>
          <p:nvPr/>
        </p:nvSpPr>
        <p:spPr>
          <a:xfrm>
            <a:off x="3090672" y="2651760"/>
            <a:ext cx="384048" cy="384048"/>
          </a:xfrm>
          <a:prstGeom prst="ellipse">
            <a:avLst/>
          </a:prstGeom>
          <a:solidFill>
            <a:srgbClr val="142A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090672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2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828800"/>
          <a:ext cx="6748272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926080"/>
                <a:gridCol w="3456432"/>
              </a:tblGrid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Риск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Мера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Финансирование не привлечено в срок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Этапность BX-008: раунд — после метрик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Слишком быстрый рост, распыление фокуса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Фазы и ворота: новое — после метрик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Низкое удержание (BX-008)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Тесты Foundation, LiveOps, A/B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Нарушение игровой экономики (BX-008)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Контроль эмиссии, баланс sources/sinks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Агрессивная монетизация, потеря доверия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Без pay-to-win, лутбоксов и ставок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Слабая инфраструктура (BX-008)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Архитектура BX-005, мониторинг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Регулирование платежей, Stars/TON, токенов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Юридическое заключение до запуска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Зависимость от Telegram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Веб-платформа BX-006, своя база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Кибербезопасность и мошенничество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Серверная валидация, антифрод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Земля и разрешения Stadium/City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Опция A, ТЭО до обязательств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  <p:bldP spid="39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Roadmap развития на 10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лет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XI · GOVERNANCE &amp; EXECUTION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503359" y="2743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622231" y="374904"/>
            <a:ext cx="91440" cy="91440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741103" y="274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АМБИЦИЯ</a:t>
            </a:r>
            <a:endParaRPr lang="en-US" sz="850" dirty="0"/>
          </a:p>
        </p:txBody>
      </p:sp>
      <p:sp>
        <p:nvSpPr>
          <p:cNvPr id="7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GOVERNANCE &amp; EXECUTION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1828800"/>
            <a:ext cx="835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2103120"/>
            <a:ext cx="0" cy="3749040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26962" y="1828800"/>
            <a:ext cx="835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26962" y="2103120"/>
            <a:ext cx="0" cy="3749040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62083" y="1828800"/>
            <a:ext cx="835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962083" y="2103120"/>
            <a:ext cx="0" cy="3749040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97205" y="1828800"/>
            <a:ext cx="835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Г4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97205" y="2103120"/>
            <a:ext cx="0" cy="3749040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32326" y="1828800"/>
            <a:ext cx="835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Г5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632326" y="2103120"/>
            <a:ext cx="0" cy="3749040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67448" y="1828800"/>
            <a:ext cx="835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Г6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467448" y="2103120"/>
            <a:ext cx="0" cy="3749040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02569" y="1828800"/>
            <a:ext cx="835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Г7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02569" y="2103120"/>
            <a:ext cx="0" cy="3749040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37691" y="1828800"/>
            <a:ext cx="835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Г8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137691" y="2103120"/>
            <a:ext cx="0" cy="3749040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972812" y="1828800"/>
            <a:ext cx="835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Г9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972812" y="2103120"/>
            <a:ext cx="0" cy="3749040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807934" y="1828800"/>
            <a:ext cx="835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Г10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0807934" y="2103120"/>
            <a:ext cx="0" cy="3749040"/>
          </a:xfrm>
          <a:prstGeom prst="line">
            <a:avLst/>
          </a:prstGeom>
          <a:noFill/>
          <a:ln w="9525">
            <a:solidFill>
              <a:srgbClr val="273B5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21488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Technologies</a:t>
            </a:r>
            <a:endParaRPr lang="en-US" sz="1100" dirty="0"/>
          </a:p>
        </p:txBody>
      </p:sp>
      <p:sp>
        <p:nvSpPr>
          <p:cNvPr id="30" name="a1_b"/>
          <p:cNvSpPr/>
          <p:nvPr/>
        </p:nvSpPr>
        <p:spPr>
          <a:xfrm>
            <a:off x="3319272" y="2203704"/>
            <a:ext cx="8296351" cy="219456"/>
          </a:xfrm>
          <a:prstGeom prst="roundRect">
            <a:avLst>
              <a:gd name="adj" fmla="val 25000"/>
            </a:avLst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251460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AI</a:t>
            </a:r>
            <a:endParaRPr lang="en-US" sz="1100" dirty="0"/>
          </a:p>
        </p:txBody>
      </p:sp>
      <p:sp>
        <p:nvSpPr>
          <p:cNvPr id="32" name="a2_b"/>
          <p:cNvSpPr/>
          <p:nvPr/>
        </p:nvSpPr>
        <p:spPr>
          <a:xfrm>
            <a:off x="3319272" y="2569464"/>
            <a:ext cx="8296351" cy="219456"/>
          </a:xfrm>
          <a:prstGeom prst="roundRect">
            <a:avLst>
              <a:gd name="adj" fmla="val 25000"/>
            </a:avLst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" y="288036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Game</a:t>
            </a:r>
            <a:endParaRPr lang="en-US" sz="1100" dirty="0"/>
          </a:p>
        </p:txBody>
      </p:sp>
      <p:sp>
        <p:nvSpPr>
          <p:cNvPr id="34" name="a3_b"/>
          <p:cNvSpPr/>
          <p:nvPr/>
        </p:nvSpPr>
        <p:spPr>
          <a:xfrm>
            <a:off x="3319272" y="2935224"/>
            <a:ext cx="8296351" cy="219456"/>
          </a:xfrm>
          <a:prstGeom prst="roundRect">
            <a:avLst>
              <a:gd name="adj" fmla="val 25000"/>
            </a:avLst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48640" y="32461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 Development (заказы)</a:t>
            </a:r>
            <a:endParaRPr lang="en-US" sz="1100" dirty="0"/>
          </a:p>
        </p:txBody>
      </p:sp>
      <p:sp>
        <p:nvSpPr>
          <p:cNvPr id="36" name="a4_b"/>
          <p:cNvSpPr/>
          <p:nvPr/>
        </p:nvSpPr>
        <p:spPr>
          <a:xfrm>
            <a:off x="4154394" y="3300984"/>
            <a:ext cx="7461230" cy="219456"/>
          </a:xfrm>
          <a:prstGeom prst="roundRect">
            <a:avLst>
              <a:gd name="adj" fmla="val 25000"/>
            </a:avLst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48640" y="361188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 Dev Academy</a:t>
            </a:r>
            <a:endParaRPr lang="en-US" sz="1100" dirty="0"/>
          </a:p>
        </p:txBody>
      </p:sp>
      <p:sp>
        <p:nvSpPr>
          <p:cNvPr id="38" name="a5_b"/>
          <p:cNvSpPr/>
          <p:nvPr/>
        </p:nvSpPr>
        <p:spPr>
          <a:xfrm>
            <a:off x="3319272" y="3666744"/>
            <a:ext cx="8296351" cy="219456"/>
          </a:xfrm>
          <a:prstGeom prst="roundRect">
            <a:avLst>
              <a:gd name="adj" fmla="val 25000"/>
            </a:avLst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8640" y="39776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 &amp; Esports</a:t>
            </a:r>
            <a:endParaRPr lang="en-US" sz="1100" dirty="0"/>
          </a:p>
        </p:txBody>
      </p:sp>
      <p:sp>
        <p:nvSpPr>
          <p:cNvPr id="40" name="a6_p"/>
          <p:cNvSpPr/>
          <p:nvPr/>
        </p:nvSpPr>
        <p:spPr>
          <a:xfrm>
            <a:off x="3319272" y="4032504"/>
            <a:ext cx="780258" cy="219456"/>
          </a:xfrm>
          <a:prstGeom prst="roundRect">
            <a:avLst>
              <a:gd name="adj" fmla="val 25000"/>
            </a:avLst>
          </a:prstGeom>
          <a:solidFill>
            <a:srgbClr val="2550FA">
              <a:alpha val="28000"/>
            </a:srgbClr>
          </a:solidFill>
          <a:ln w="9525">
            <a:solidFill>
              <a:srgbClr val="2550FA"/>
            </a:solidFill>
            <a:prstDash val="dash"/>
          </a:ln>
        </p:spPr>
      </p:sp>
      <p:sp>
        <p:nvSpPr>
          <p:cNvPr id="41" name="a6_b"/>
          <p:cNvSpPr/>
          <p:nvPr/>
        </p:nvSpPr>
        <p:spPr>
          <a:xfrm>
            <a:off x="4154394" y="4032504"/>
            <a:ext cx="7461230" cy="219456"/>
          </a:xfrm>
          <a:prstGeom prst="roundRect">
            <a:avLst>
              <a:gd name="adj" fmla="val 25000"/>
            </a:avLst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48640" y="434340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Football Academy</a:t>
            </a:r>
            <a:endParaRPr lang="en-US" sz="1100" dirty="0"/>
          </a:p>
        </p:txBody>
      </p:sp>
      <p:sp>
        <p:nvSpPr>
          <p:cNvPr id="43" name="a7_p"/>
          <p:cNvSpPr/>
          <p:nvPr/>
        </p:nvSpPr>
        <p:spPr>
          <a:xfrm>
            <a:off x="4989515" y="4398264"/>
            <a:ext cx="780258" cy="219456"/>
          </a:xfrm>
          <a:prstGeom prst="roundRect">
            <a:avLst>
              <a:gd name="adj" fmla="val 25000"/>
            </a:avLst>
          </a:prstGeom>
          <a:solidFill>
            <a:srgbClr val="2550FA">
              <a:alpha val="28000"/>
            </a:srgbClr>
          </a:solidFill>
          <a:ln w="9525">
            <a:solidFill>
              <a:srgbClr val="2550FA"/>
            </a:solidFill>
            <a:prstDash val="dash"/>
          </a:ln>
        </p:spPr>
      </p:sp>
      <p:sp>
        <p:nvSpPr>
          <p:cNvPr id="44" name="a7_b"/>
          <p:cNvSpPr/>
          <p:nvPr/>
        </p:nvSpPr>
        <p:spPr>
          <a:xfrm>
            <a:off x="5824637" y="4398264"/>
            <a:ext cx="5790987" cy="219456"/>
          </a:xfrm>
          <a:prstGeom prst="roundRect">
            <a:avLst>
              <a:gd name="adj" fmla="val 25000"/>
            </a:avLst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48640" y="470916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FC FootureX</a:t>
            </a:r>
            <a:endParaRPr lang="en-US" sz="1100" dirty="0"/>
          </a:p>
        </p:txBody>
      </p:sp>
      <p:sp>
        <p:nvSpPr>
          <p:cNvPr id="46" name="a8_p"/>
          <p:cNvSpPr/>
          <p:nvPr/>
        </p:nvSpPr>
        <p:spPr>
          <a:xfrm>
            <a:off x="5824637" y="4764024"/>
            <a:ext cx="780258" cy="219456"/>
          </a:xfrm>
          <a:prstGeom prst="roundRect">
            <a:avLst>
              <a:gd name="adj" fmla="val 25000"/>
            </a:avLst>
          </a:prstGeom>
          <a:solidFill>
            <a:srgbClr val="2550FA">
              <a:alpha val="28000"/>
            </a:srgbClr>
          </a:solidFill>
          <a:ln w="9525">
            <a:solidFill>
              <a:srgbClr val="2550FA"/>
            </a:solidFill>
            <a:prstDash val="dash"/>
          </a:ln>
        </p:spPr>
      </p:sp>
      <p:sp>
        <p:nvSpPr>
          <p:cNvPr id="47" name="a8_b"/>
          <p:cNvSpPr/>
          <p:nvPr/>
        </p:nvSpPr>
        <p:spPr>
          <a:xfrm>
            <a:off x="6659758" y="4764024"/>
            <a:ext cx="4955865" cy="219456"/>
          </a:xfrm>
          <a:prstGeom prst="roundRect">
            <a:avLst>
              <a:gd name="adj" fmla="val 25000"/>
            </a:avLst>
          </a:prstGeom>
          <a:solidFill>
            <a:srgbClr val="2550FA"/>
          </a:solidFill>
          <a:ln w="12700">
            <a:solidFill>
              <a:srgbClr val="2550F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48640" y="50749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Stadium</a:t>
            </a:r>
            <a:endParaRPr lang="en-US" sz="1100" dirty="0"/>
          </a:p>
        </p:txBody>
      </p:sp>
      <p:sp>
        <p:nvSpPr>
          <p:cNvPr id="49" name="a9_p"/>
          <p:cNvSpPr/>
          <p:nvPr/>
        </p:nvSpPr>
        <p:spPr>
          <a:xfrm>
            <a:off x="6659758" y="5129784"/>
            <a:ext cx="4955865" cy="219456"/>
          </a:xfrm>
          <a:prstGeom prst="roundRect">
            <a:avLst>
              <a:gd name="adj" fmla="val 25000"/>
            </a:avLst>
          </a:prstGeom>
          <a:solidFill>
            <a:srgbClr val="8A93A6">
              <a:alpha val="28000"/>
            </a:srgbClr>
          </a:solidFill>
          <a:ln w="9525">
            <a:solidFill>
              <a:srgbClr val="8A93A6"/>
            </a:solidFill>
            <a:prstDash val="dash"/>
          </a:ln>
        </p:spPr>
      </p:sp>
      <p:sp>
        <p:nvSpPr>
          <p:cNvPr id="50" name="Text 47"/>
          <p:cNvSpPr txBox="1"/>
          <p:nvPr/>
        </p:nvSpPr>
        <p:spPr>
          <a:xfrm>
            <a:off x="548640" y="544068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FootureX City</a:t>
            </a:r>
            <a:endParaRPr lang="en-US" sz="1100" dirty="0"/>
          </a:p>
        </p:txBody>
      </p:sp>
      <p:sp>
        <p:nvSpPr>
          <p:cNvPr id="51" name="a10_p"/>
          <p:cNvSpPr/>
          <p:nvPr/>
        </p:nvSpPr>
        <p:spPr>
          <a:xfrm>
            <a:off x="7494880" y="5495544"/>
            <a:ext cx="4120744" cy="219456"/>
          </a:xfrm>
          <a:prstGeom prst="roundRect">
            <a:avLst>
              <a:gd name="adj" fmla="val 25000"/>
            </a:avLst>
          </a:prstGeom>
          <a:solidFill>
            <a:srgbClr val="8A93A6">
              <a:alpha val="28000"/>
            </a:srgbClr>
          </a:solidFill>
          <a:ln w="9525">
            <a:solidFill>
              <a:srgbClr val="8A93A6"/>
            </a:solidFill>
            <a:prstDash val="dash"/>
          </a:ln>
        </p:spPr>
      </p:sp>
      <p:sp>
        <p:nvSpPr>
          <p:cNvPr id="52" name="Text 49"/>
          <p:cNvSpPr txBox="1"/>
          <p:nvPr/>
        </p:nvSpPr>
        <p:spPr>
          <a:xfrm>
            <a:off x="548640" y="59253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Сплошная полоса — реализация · светлая — подготовка (пилоты, ТЭО, партнёры) · сроки ориентировочные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1" grpId="0" animBg="1"/>
      <p:bldP spid="43" grpId="0" animBg="1"/>
      <p:bldP spid="44" grpId="0" animBg="1"/>
      <p:bldP spid="46" grpId="0" animBg="1"/>
      <p:bldP spid="47" grpId="0" animBg="1"/>
      <p:bldP spid="49" grpId="0" animBg="1"/>
      <p:bldP spid="51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KPI, контроль исполнения и ключевые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этапы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XI · GOVERNANCE &amp; EXECUTION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335110" y="274320"/>
            <a:ext cx="230794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45398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572854" y="274320"/>
            <a:ext cx="20153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ЦИФРЫ НЕ ПРЕДОСТАВЛЕНЫ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игрового направления — BX-008 (DAU, MAU, Retention, Revenue, Conversion, Community Growth). Целевые значения не заданы документами.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GOVERNANCE &amp; EXECUTION</a:t>
            </a:r>
            <a:endParaRPr lang="en-US" sz="900" dirty="0"/>
          </a:p>
        </p:txBody>
      </p:sp>
      <p:graphicFrame>
        <p:nvGraphicFramePr>
          <p:cNvPr id="114" name="a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1737360"/>
                <a:gridCol w="2560320"/>
                <a:gridCol w="167335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Направление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KPI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Основа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Цель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Контроль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7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FootureX Game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DAU · MAU · Retention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BX-008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Еженедельно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FootureX Game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Conversion · Revenue (Stars / TON)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BX-008, BX-013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Ежемесячно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Community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Community Growth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BX-008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Ежемесячно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Technologies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Выручка, маржа, загрузка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Концепция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Ежемесячно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AI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Проекты, клиенты подписки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Концепция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Ежемесячно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Academy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Слушатели, трудоустройство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Концепция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Ежеквартально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Esports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Участники, просмотры, спонсоры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BX-001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Требуется подтверждение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Ежеквартально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Stadium / City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Этап подготовки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Глава IX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Опция A → B → C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D9E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Ежегодно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city-smart-sm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15" y="-342900"/>
            <a:ext cx="13410865" cy="75438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FootureX Uzbekistan — экосистема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будущего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XII · FUTURE VISION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10591495" y="2743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10710367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10829239" y="274320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ВИДЕНИЕ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FUTURE VISION</a:t>
            </a:r>
            <a:endParaRPr lang="en-US" sz="900" dirty="0"/>
          </a:p>
        </p:txBody>
      </p:sp>
      <p:sp>
        <p:nvSpPr>
          <p:cNvPr id="14" name="!!roman"/>
          <p:cNvSpPr txBox="1"/>
          <p:nvPr/>
        </p:nvSpPr>
        <p:spPr>
          <a:xfrm>
            <a:off x="502920" y="17830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XII</a:t>
            </a:r>
            <a:endParaRPr lang="en-US" sz="8800" dirty="0"/>
          </a:p>
        </p:txBody>
      </p:sp>
      <p:sp>
        <p:nvSpPr>
          <p:cNvPr id="15" name="Text 8"/>
          <p:cNvSpPr txBox="1"/>
          <p:nvPr/>
        </p:nvSpPr>
        <p:spPr>
          <a:xfrm>
            <a:off x="548640" y="3154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ВИДЕНИЕ БУДУЩЕГО</a:t>
            </a:r>
            <a:endParaRPr lang="en-US" sz="1300" dirty="0"/>
          </a:p>
        </p:txBody>
      </p:sp>
      <p:sp>
        <p:nvSpPr>
          <p:cNvPr id="16" name="a1_lead"/>
          <p:cNvSpPr txBox="1"/>
          <p:nvPr/>
        </p:nvSpPr>
        <p:spPr>
          <a:xfrm>
            <a:off x="548640" y="36118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Через 10–20 лет FootureX — группа, где программное обеспечение, AI, игры, образование, киберспорт и футбол работают как одна система.</a:t>
            </a:r>
            <a:endParaRPr lang="en-US" sz="1500" dirty="0"/>
          </a:p>
        </p:txBody>
      </p:sp>
      <p:sp>
        <p:nvSpPr>
          <p:cNvPr id="17" name="a2_pv"/>
          <p:cNvSpPr txBox="1"/>
          <p:nvPr/>
        </p:nvSpPr>
        <p:spPr>
          <a:xfrm>
            <a:off x="54864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10</a:t>
            </a:r>
            <a:endParaRPr lang="en-US" sz="2200" dirty="0"/>
          </a:p>
        </p:txBody>
      </p:sp>
      <p:sp>
        <p:nvSpPr>
          <p:cNvPr id="18" name="a2_pl"/>
          <p:cNvSpPr txBox="1"/>
          <p:nvPr/>
        </p:nvSpPr>
        <p:spPr>
          <a:xfrm>
            <a:off x="54864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направлений одной экосистемы</a:t>
            </a:r>
            <a:endParaRPr lang="en-US" sz="1050" dirty="0"/>
          </a:p>
        </p:txBody>
      </p:sp>
      <p:sp>
        <p:nvSpPr>
          <p:cNvPr id="19" name="a3_pv"/>
          <p:cNvSpPr txBox="1"/>
          <p:nvPr/>
        </p:nvSpPr>
        <p:spPr>
          <a:xfrm>
            <a:off x="228600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a3_pl"/>
          <p:cNvSpPr txBox="1"/>
          <p:nvPr/>
        </p:nvSpPr>
        <p:spPr>
          <a:xfrm>
            <a:off x="228600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фазы последовательной реализации</a:t>
            </a:r>
            <a:endParaRPr lang="en-US" sz="1050" dirty="0"/>
          </a:p>
        </p:txBody>
      </p:sp>
      <p:sp>
        <p:nvSpPr>
          <p:cNvPr id="21" name="a4_pv"/>
          <p:cNvSpPr txBox="1"/>
          <p:nvPr/>
        </p:nvSpPr>
        <p:spPr>
          <a:xfrm>
            <a:off x="402336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a4_pl"/>
          <p:cNvSpPr txBox="1"/>
          <p:nvPr/>
        </p:nvSpPr>
        <p:spPr>
          <a:xfrm>
            <a:off x="4023360" y="5404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бренд: FootureX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Стратегическое влияние на технологическую и спортивную индустрию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Узбекистана</a:t>
            </a:r>
            <a:endParaRPr lang="en-US" sz="23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XII · FUTURE VISION</a:t>
            </a:r>
            <a:endParaRPr lang="en-US" sz="1000" dirty="0"/>
          </a:p>
        </p:txBody>
      </p:sp>
      <p:sp>
        <p:nvSpPr>
          <p:cNvPr id="4" name="!!statusbg"/>
          <p:cNvSpPr/>
          <p:nvPr/>
        </p:nvSpPr>
        <p:spPr>
          <a:xfrm>
            <a:off x="9166860" y="274320"/>
            <a:ext cx="2476195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5" name="!!statusdot"/>
          <p:cNvSpPr/>
          <p:nvPr/>
        </p:nvSpPr>
        <p:spPr>
          <a:xfrm>
            <a:off x="9285732" y="374904"/>
            <a:ext cx="91440" cy="91440"/>
          </a:xfrm>
          <a:prstGeom prst="ellipse">
            <a:avLst/>
          </a:prstGeom>
          <a:solidFill>
            <a:srgbClr val="8EB4FF"/>
          </a:solidFill>
          <a:ln w="12700">
            <a:solidFill>
              <a:srgbClr val="8EB4FF"/>
            </a:solidFill>
            <a:prstDash val="solid"/>
          </a:ln>
        </p:spPr>
      </p:sp>
      <p:sp>
        <p:nvSpPr>
          <p:cNvPr id="6" name="!!status"/>
          <p:cNvSpPr txBox="1"/>
          <p:nvPr/>
        </p:nvSpPr>
        <p:spPr>
          <a:xfrm>
            <a:off x="9404604" y="274320"/>
            <a:ext cx="2183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СТРАТЕГИЧЕСКАЯ КОНЦЕПЦИЯ</a:t>
            </a:r>
            <a:endParaRPr lang="en-US" sz="85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Цели BX-001 (IP, киберспорт, интеграция реального спорта, платформа для молодёжи и талантов); государственные стратегии — «Цифровой Узбекистан — 2030», стратегия развития ИИ до 2030 г.</a:t>
            </a:r>
            <a:endParaRPr lang="en-US" sz="850" dirty="0"/>
          </a:p>
        </p:txBody>
      </p:sp>
      <p:sp>
        <p:nvSpPr>
          <p:cNvPr id="8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FUTURE VISION</a:t>
            </a:r>
            <a:endParaRPr lang="en-US" sz="900" dirty="0"/>
          </a:p>
        </p:txBody>
      </p:sp>
      <p:sp>
        <p:nvSpPr>
          <p:cNvPr id="10" name="a1_card"/>
          <p:cNvSpPr/>
          <p:nvPr/>
        </p:nvSpPr>
        <p:spPr>
          <a:xfrm>
            <a:off x="548640" y="1828800"/>
            <a:ext cx="2602154" cy="2377440"/>
          </a:xfrm>
          <a:prstGeom prst="roundRect">
            <a:avLst>
              <a:gd name="adj" fmla="val 4615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1" name="a1_iconbg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2" name="a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67128"/>
            <a:ext cx="237744" cy="237744"/>
          </a:xfrm>
          <a:prstGeom prst="rect">
            <a:avLst/>
          </a:prstGeom>
        </p:spPr>
      </p:pic>
      <p:sp>
        <p:nvSpPr>
          <p:cNvPr id="13" name="a1_t"/>
          <p:cNvSpPr txBox="1"/>
          <p:nvPr/>
        </p:nvSpPr>
        <p:spPr>
          <a:xfrm>
            <a:off x="777240" y="2679192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IT-экспорт</a:t>
            </a:r>
            <a:endParaRPr lang="en-US" sz="1350" dirty="0"/>
          </a:p>
        </p:txBody>
      </p:sp>
      <p:sp>
        <p:nvSpPr>
          <p:cNvPr id="14" name="a1_d"/>
          <p:cNvSpPr txBox="1"/>
          <p:nvPr/>
        </p:nvSpPr>
        <p:spPr>
          <a:xfrm>
            <a:off x="777240" y="3044952"/>
            <a:ext cx="214495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Экспортные проекты Technologies и AI в Центральной Азии и СНГ.</a:t>
            </a:r>
            <a:endParaRPr lang="en-US" sz="1150" dirty="0"/>
          </a:p>
        </p:txBody>
      </p:sp>
      <p:sp>
        <p:nvSpPr>
          <p:cNvPr id="15" name="a2_card"/>
          <p:cNvSpPr/>
          <p:nvPr/>
        </p:nvSpPr>
        <p:spPr>
          <a:xfrm>
            <a:off x="3379394" y="1828800"/>
            <a:ext cx="2602154" cy="2377440"/>
          </a:xfrm>
          <a:prstGeom prst="roundRect">
            <a:avLst>
              <a:gd name="adj" fmla="val 4615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6" name="a2_iconbg"/>
          <p:cNvSpPr/>
          <p:nvPr/>
        </p:nvSpPr>
        <p:spPr>
          <a:xfrm>
            <a:off x="3607994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17" name="a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722" y="2167128"/>
            <a:ext cx="237744" cy="237744"/>
          </a:xfrm>
          <a:prstGeom prst="rect">
            <a:avLst/>
          </a:prstGeom>
        </p:spPr>
      </p:pic>
      <p:sp>
        <p:nvSpPr>
          <p:cNvPr id="18" name="a2_t"/>
          <p:cNvSpPr txBox="1"/>
          <p:nvPr/>
        </p:nvSpPr>
        <p:spPr>
          <a:xfrm>
            <a:off x="3607994" y="2679192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Кадры индустрии</a:t>
            </a:r>
            <a:endParaRPr lang="en-US" sz="1350" dirty="0"/>
          </a:p>
        </p:txBody>
      </p:sp>
      <p:sp>
        <p:nvSpPr>
          <p:cNvPr id="19" name="a2_d"/>
          <p:cNvSpPr txBox="1"/>
          <p:nvPr/>
        </p:nvSpPr>
        <p:spPr>
          <a:xfrm>
            <a:off x="3607994" y="3044952"/>
            <a:ext cx="214495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Подготовка разработчиков, геймдизайнеров и AI-инженеров.</a:t>
            </a:r>
            <a:endParaRPr lang="en-US" sz="1150" dirty="0"/>
          </a:p>
        </p:txBody>
      </p:sp>
      <p:sp>
        <p:nvSpPr>
          <p:cNvPr id="20" name="a3_card"/>
          <p:cNvSpPr/>
          <p:nvPr/>
        </p:nvSpPr>
        <p:spPr>
          <a:xfrm>
            <a:off x="6210148" y="1828800"/>
            <a:ext cx="2602154" cy="2377440"/>
          </a:xfrm>
          <a:prstGeom prst="roundRect">
            <a:avLst>
              <a:gd name="adj" fmla="val 4615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1" name="a3_iconbg"/>
          <p:cNvSpPr/>
          <p:nvPr/>
        </p:nvSpPr>
        <p:spPr>
          <a:xfrm>
            <a:off x="6438748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2" name="a3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476" y="2167128"/>
            <a:ext cx="237744" cy="237744"/>
          </a:xfrm>
          <a:prstGeom prst="rect">
            <a:avLst/>
          </a:prstGeom>
        </p:spPr>
      </p:pic>
      <p:sp>
        <p:nvSpPr>
          <p:cNvPr id="23" name="a3_t"/>
          <p:cNvSpPr txBox="1"/>
          <p:nvPr/>
        </p:nvSpPr>
        <p:spPr>
          <a:xfrm>
            <a:off x="6438748" y="2679192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Собственная IP</a:t>
            </a:r>
            <a:endParaRPr lang="en-US" sz="1350" dirty="0"/>
          </a:p>
        </p:txBody>
      </p:sp>
      <p:sp>
        <p:nvSpPr>
          <p:cNvPr id="24" name="a3_d"/>
          <p:cNvSpPr txBox="1"/>
          <p:nvPr/>
        </p:nvSpPr>
        <p:spPr>
          <a:xfrm>
            <a:off x="6438748" y="3044952"/>
            <a:ext cx="214495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Игры и AI-продукты, созданные в Узбекистане (цель BX-001).</a:t>
            </a:r>
            <a:endParaRPr lang="en-US" sz="1150" dirty="0"/>
          </a:p>
        </p:txBody>
      </p:sp>
      <p:sp>
        <p:nvSpPr>
          <p:cNvPr id="25" name="a4_card"/>
          <p:cNvSpPr/>
          <p:nvPr/>
        </p:nvSpPr>
        <p:spPr>
          <a:xfrm>
            <a:off x="9040901" y="1828800"/>
            <a:ext cx="2602154" cy="2377440"/>
          </a:xfrm>
          <a:prstGeom prst="roundRect">
            <a:avLst>
              <a:gd name="adj" fmla="val 4615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6" name="a4_iconbg"/>
          <p:cNvSpPr/>
          <p:nvPr/>
        </p:nvSpPr>
        <p:spPr>
          <a:xfrm>
            <a:off x="9269501" y="2057400"/>
            <a:ext cx="457200" cy="457200"/>
          </a:xfrm>
          <a:prstGeom prst="ellipse">
            <a:avLst/>
          </a:prstGeom>
          <a:solidFill>
            <a:srgbClr val="142A70"/>
          </a:solidFill>
          <a:ln w="12700">
            <a:solidFill>
              <a:srgbClr val="142A70"/>
            </a:solidFill>
            <a:prstDash val="solid"/>
          </a:ln>
        </p:spPr>
      </p:sp>
      <p:pic>
        <p:nvPicPr>
          <p:cNvPr id="27" name="a4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229" y="2167128"/>
            <a:ext cx="237744" cy="237744"/>
          </a:xfrm>
          <a:prstGeom prst="rect">
            <a:avLst/>
          </a:prstGeom>
        </p:spPr>
      </p:pic>
      <p:sp>
        <p:nvSpPr>
          <p:cNvPr id="28" name="a4_t"/>
          <p:cNvSpPr txBox="1"/>
          <p:nvPr/>
        </p:nvSpPr>
        <p:spPr>
          <a:xfrm>
            <a:off x="9269501" y="2679192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Молодёжь и футбол</a:t>
            </a:r>
            <a:endParaRPr lang="en-US" sz="1350" dirty="0"/>
          </a:p>
        </p:txBody>
      </p:sp>
      <p:sp>
        <p:nvSpPr>
          <p:cNvPr id="29" name="a4_d"/>
          <p:cNvSpPr txBox="1"/>
          <p:nvPr/>
        </p:nvSpPr>
        <p:spPr>
          <a:xfrm>
            <a:off x="9269501" y="3044952"/>
            <a:ext cx="214495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Платформа развития молодёжи и футбольных талантов (цель BX-001).</a:t>
            </a:r>
            <a:endParaRPr lang="en-US" sz="1150" dirty="0"/>
          </a:p>
        </p:txBody>
      </p:sp>
      <p:sp>
        <p:nvSpPr>
          <p:cNvPr id="30" name="a5_c"/>
          <p:cNvSpPr/>
          <p:nvPr/>
        </p:nvSpPr>
        <p:spPr>
          <a:xfrm>
            <a:off x="548640" y="4434840"/>
            <a:ext cx="6766560" cy="1463040"/>
          </a:xfrm>
          <a:prstGeom prst="roundRect">
            <a:avLst>
              <a:gd name="adj" fmla="val 7500"/>
            </a:avLst>
          </a:prstGeom>
          <a:solidFill>
            <a:srgbClr val="0E1629"/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77240" y="45537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9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Связь с государственной повесткой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777240" y="4919472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«Цифровой Узбекистан — 2030» и стратегия развития ИИ до 2030 г.</a:t>
            </a:r>
            <a:endParaRPr lang="en-US" sz="1150" dirty="0"/>
          </a:p>
          <a:p>
            <a:pPr marL="203200" indent="-2032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D3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 киберспорта (постановление от 16.11.2022) и детского футбола</a:t>
            </a:r>
            <a:endParaRPr lang="en-US" sz="1150" dirty="0"/>
          </a:p>
        </p:txBody>
      </p:sp>
      <p:sp>
        <p:nvSpPr>
          <p:cNvPr id="33" name="a6_c"/>
          <p:cNvSpPr/>
          <p:nvPr/>
        </p:nvSpPr>
        <p:spPr>
          <a:xfrm>
            <a:off x="7498080" y="4434840"/>
            <a:ext cx="4142232" cy="1463040"/>
          </a:xfrm>
          <a:prstGeom prst="roundRect">
            <a:avLst>
              <a:gd name="adj" fmla="val 7500"/>
            </a:avLst>
          </a:prstGeom>
          <a:solidFill>
            <a:srgbClr val="0E1629"/>
          </a:solidFill>
          <a:ln w="9525">
            <a:solidFill>
              <a:srgbClr val="8EB4F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699248" y="4553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EB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Масштаб эффекта</a:t>
            </a:r>
            <a:endParaRPr lang="en-US" sz="1250" dirty="0"/>
          </a:p>
        </p:txBody>
      </p:sp>
      <p:sp>
        <p:nvSpPr>
          <p:cNvPr id="35" name="Text 28"/>
          <p:cNvSpPr txBox="1"/>
          <p:nvPr/>
        </p:nvSpPr>
        <p:spPr>
          <a:xfrm>
            <a:off x="7699248" y="4892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Рабочие места, слушатели, аудитория и экспорт — требуется подтверждение бизнес-планом.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4" grpId="0"/>
      <p:bldP spid="15" grpId="0" animBg="1"/>
      <p:bldP spid="16" grpId="0" animBg="1"/>
      <p:bldP spid="18" grpId="0"/>
      <p:bldP spid="19" grpId="0"/>
      <p:bldP spid="20" grpId="0" animBg="1"/>
      <p:bldP spid="21" grpId="0" animBg="1"/>
      <p:bldP spid="23" grpId="0"/>
      <p:bldP spid="24" grpId="0"/>
      <p:bldP spid="25" grpId="0" animBg="1"/>
      <p:bldP spid="26" grpId="0" animBg="1"/>
      <p:bldP spid="28" grpId="0"/>
      <p:bldP spid="29" grpId="0"/>
      <p:bldP spid="30" grpId="0" animBg="1"/>
      <p:bldP spid="3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map-m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v-right" descr="/home/user/footurex-main/presentation/assets/renders/ov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Международное развитие и долгосрочные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амбиции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XII · FUTURE VISION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9503359" y="2743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8A93A6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9622231" y="374904"/>
            <a:ext cx="91440" cy="91440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9741103" y="274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ДОЛГОСРОЧНАЯ АМБИЦИЯ</a:t>
            </a:r>
            <a:endParaRPr lang="en-US" sz="850" dirty="0"/>
          </a:p>
        </p:txBody>
      </p:sp>
      <p:sp>
        <p:nvSpPr>
          <p:cNvPr id="12" name="source"/>
          <p:cNvSpPr txBox="1"/>
          <p:nvPr/>
        </p:nvSpPr>
        <p:spPr>
          <a:xfrm>
            <a:off x="548640" y="5943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BX-001 — география: Ташкент и Узбекистан → СНГ → международный рынок; миссия — крупнейшая футбольная цифровая экосистема Центральной Азии.</a:t>
            </a:r>
            <a:endParaRPr lang="en-US" sz="850" dirty="0"/>
          </a:p>
        </p:txBody>
      </p:sp>
      <p:sp>
        <p:nvSpPr>
          <p:cNvPr id="13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FUTURE VISION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548640" y="55961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3D-карта: Natural Earth · схематично</a:t>
            </a:r>
            <a:endParaRPr lang="en-US" sz="850" dirty="0"/>
          </a:p>
        </p:txBody>
      </p:sp>
      <p:sp>
        <p:nvSpPr>
          <p:cNvPr id="16" name="a1_c"/>
          <p:cNvSpPr/>
          <p:nvPr/>
        </p:nvSpPr>
        <p:spPr>
          <a:xfrm>
            <a:off x="6675120" y="1874520"/>
            <a:ext cx="4965192" cy="841248"/>
          </a:xfrm>
          <a:prstGeom prst="roundRect">
            <a:avLst>
              <a:gd name="adj" fmla="val 13043"/>
            </a:avLst>
          </a:prstGeom>
          <a:solidFill>
            <a:srgbClr val="0B0F0E">
              <a:alpha val="85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6858000" y="187452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01</a:t>
            </a:r>
            <a:endParaRPr lang="en-US" sz="1800" dirty="0"/>
          </a:p>
        </p:txBody>
      </p:sp>
      <p:sp>
        <p:nvSpPr>
          <p:cNvPr id="18" name="Text 11"/>
          <p:cNvSpPr txBox="1"/>
          <p:nvPr/>
        </p:nvSpPr>
        <p:spPr>
          <a:xfrm>
            <a:off x="7589520" y="19842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Ташкент и Узбекистан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7589520" y="23042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Стартовый рынок · BX-001</a:t>
            </a:r>
            <a:endParaRPr lang="en-US" sz="1150" dirty="0"/>
          </a:p>
        </p:txBody>
      </p:sp>
      <p:sp>
        <p:nvSpPr>
          <p:cNvPr id="20" name="a2_c"/>
          <p:cNvSpPr/>
          <p:nvPr/>
        </p:nvSpPr>
        <p:spPr>
          <a:xfrm>
            <a:off x="6675120" y="2862072"/>
            <a:ext cx="4965192" cy="841248"/>
          </a:xfrm>
          <a:prstGeom prst="roundRect">
            <a:avLst>
              <a:gd name="adj" fmla="val 13043"/>
            </a:avLst>
          </a:prstGeom>
          <a:solidFill>
            <a:srgbClr val="0B0F0E">
              <a:alpha val="85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858000" y="2862072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50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7589520" y="29718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Центральная Азия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7589520" y="3291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Миссия: крупнейшая экосистема региона</a:t>
            </a:r>
            <a:endParaRPr lang="en-US" sz="1150" dirty="0"/>
          </a:p>
        </p:txBody>
      </p:sp>
      <p:sp>
        <p:nvSpPr>
          <p:cNvPr id="24" name="a3_c"/>
          <p:cNvSpPr/>
          <p:nvPr/>
        </p:nvSpPr>
        <p:spPr>
          <a:xfrm>
            <a:off x="6675120" y="3849624"/>
            <a:ext cx="4965192" cy="841248"/>
          </a:xfrm>
          <a:prstGeom prst="roundRect">
            <a:avLst>
              <a:gd name="adj" fmla="val 13043"/>
            </a:avLst>
          </a:prstGeom>
          <a:solidFill>
            <a:srgbClr val="0B0F0E">
              <a:alpha val="85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858000" y="3849624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B4FF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7589520" y="39593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СНГ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7589520" y="4279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Локализация игры, IT-экспорт, AI SaaS</a:t>
            </a:r>
            <a:endParaRPr lang="en-US" sz="1150" dirty="0"/>
          </a:p>
        </p:txBody>
      </p:sp>
      <p:sp>
        <p:nvSpPr>
          <p:cNvPr id="28" name="a4_c"/>
          <p:cNvSpPr/>
          <p:nvPr/>
        </p:nvSpPr>
        <p:spPr>
          <a:xfrm>
            <a:off x="6675120" y="4837176"/>
            <a:ext cx="4965192" cy="841248"/>
          </a:xfrm>
          <a:prstGeom prst="roundRect">
            <a:avLst>
              <a:gd name="adj" fmla="val 13043"/>
            </a:avLst>
          </a:prstGeom>
          <a:solidFill>
            <a:srgbClr val="0B0F0E">
              <a:alpha val="85000"/>
            </a:srgbClr>
          </a:solidFill>
          <a:ln w="9525">
            <a:solidFill>
              <a:srgbClr val="273B51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858000" y="4837176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1D4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7589520" y="49469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Международный рынок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7589520" y="52669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 — старт, а не ограничение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4" grpId="0" animBg="1"/>
      <p:bldP spid="28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render" descr="/home/user/footurex-main/presentation/assets/renders/hero-fi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0"/>
            <a:ext cx="12191695" cy="6858000"/>
          </a:xfrm>
          <a:prstGeom prst="rect">
            <a:avLst/>
          </a:prstGeom>
        </p:spPr>
      </p:pic>
      <p:pic>
        <p:nvPicPr>
          <p:cNvPr id="3" name="ov-left" descr="/home/user/footurex-main/presentation/assets/renders/ov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v-topbottom" descr="/home/user/footurex-main/presentation/assets/renders/ov-top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55664"/>
            <a:ext cx="1028381" cy="18288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140135" y="6437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117</a:t>
            </a:r>
            <a:endParaRPr lang="en-US" sz="9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FootureX Uzbekistan: Building the </a:t>
            </a:r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2593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Future</a:t>
            </a:r>
            <a:endParaRPr lang="en-US" sz="2300" dirty="0"/>
          </a:p>
        </p:txBody>
      </p:sp>
      <p:sp>
        <p:nvSpPr>
          <p:cNvPr id="8" name="!!kicker"/>
          <p:cNvSpPr txBox="1"/>
          <p:nvPr/>
        </p:nvSpPr>
        <p:spPr>
          <a:xfrm>
            <a:off x="548640" y="3291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— · XII · FUTURE VISION</a:t>
            </a:r>
            <a:endParaRPr lang="en-US" sz="1000" dirty="0"/>
          </a:p>
        </p:txBody>
      </p:sp>
      <p:sp>
        <p:nvSpPr>
          <p:cNvPr id="9" name="!!statusbg"/>
          <p:cNvSpPr/>
          <p:nvPr/>
        </p:nvSpPr>
        <p:spPr>
          <a:xfrm>
            <a:off x="10591495" y="2743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E1629"/>
          </a:solidFill>
          <a:ln w="9525">
            <a:solidFill>
              <a:srgbClr val="2593FA"/>
            </a:solidFill>
            <a:prstDash val="solid"/>
          </a:ln>
        </p:spPr>
      </p:sp>
      <p:sp>
        <p:nvSpPr>
          <p:cNvPr id="10" name="!!statusdot"/>
          <p:cNvSpPr/>
          <p:nvPr/>
        </p:nvSpPr>
        <p:spPr>
          <a:xfrm>
            <a:off x="10710367" y="374904"/>
            <a:ext cx="91440" cy="91440"/>
          </a:xfrm>
          <a:prstGeom prst="ellipse">
            <a:avLst/>
          </a:prstGeom>
          <a:solidFill>
            <a:srgbClr val="2593FA"/>
          </a:solidFill>
          <a:ln w="12700">
            <a:solidFill>
              <a:srgbClr val="2593FA"/>
            </a:solidFill>
            <a:prstDash val="solid"/>
          </a:ln>
        </p:spPr>
      </p:sp>
      <p:sp>
        <p:nvSpPr>
          <p:cNvPr id="11" name="!!status"/>
          <p:cNvSpPr txBox="1"/>
          <p:nvPr/>
        </p:nvSpPr>
        <p:spPr>
          <a:xfrm>
            <a:off x="10829239" y="274320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ВИДЕНИЕ</a:t>
            </a:r>
            <a:endParaRPr lang="en-US" sz="850" dirty="0"/>
          </a:p>
        </p:txBody>
      </p:sp>
      <p:sp>
        <p:nvSpPr>
          <p:cNvPr id="12" name="!!chapter"/>
          <p:cNvSpPr txBox="1"/>
          <p:nvPr/>
        </p:nvSpPr>
        <p:spPr>
          <a:xfrm>
            <a:off x="3840480" y="6455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FOOTUREX UZBEKISTAN · FUTURE VISION</a:t>
            </a:r>
            <a:endParaRPr lang="en-US" sz="900" dirty="0"/>
          </a:p>
        </p:txBody>
      </p:sp>
      <p:pic>
        <p:nvPicPr>
          <p:cNvPr id="14" name="!!logo" descr="/home/user/footurex-main/presentation/brand/logo/footurex-lockup-on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965960"/>
            <a:ext cx="4937760" cy="878096"/>
          </a:xfrm>
          <a:prstGeom prst="rect">
            <a:avLst/>
          </a:prstGeom>
        </p:spPr>
      </p:pic>
      <p:sp>
        <p:nvSpPr>
          <p:cNvPr id="15" name="!!uz"/>
          <p:cNvSpPr txBox="1"/>
          <p:nvPr/>
        </p:nvSpPr>
        <p:spPr>
          <a:xfrm>
            <a:off x="548640" y="30632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We will create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593FA"/>
                </a:solidFill>
                <a:latin typeface="Zen Dots" pitchFamily="34" charset="0"/>
                <a:ea typeface="Zen Dots" pitchFamily="34" charset="-122"/>
                <a:cs typeface="Zen Dots" pitchFamily="34" charset="-120"/>
              </a:rPr>
              <a:t>a digital football era.</a:t>
            </a:r>
            <a:endParaRPr lang="en-US" sz="2200" dirty="0"/>
          </a:p>
        </p:txBody>
      </p:sp>
      <p:sp>
        <p:nvSpPr>
          <p:cNvPr id="16" name="Text 8"/>
          <p:cNvSpPr txBox="1"/>
          <p:nvPr/>
        </p:nvSpPr>
        <p:spPr>
          <a:xfrm>
            <a:off x="548640" y="40690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C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Технологии · Игры · AI · Образование · Киберспорт · Футбол · Городские инновации</a:t>
            </a:r>
            <a:endParaRPr lang="en-US" sz="1400" dirty="0"/>
          </a:p>
        </p:txBody>
      </p:sp>
      <p:sp>
        <p:nvSpPr>
          <p:cNvPr id="17" name="Text 9"/>
          <p:cNvSpPr txBox="1"/>
          <p:nvPr/>
        </p:nvSpPr>
        <p:spPr>
          <a:xfrm>
            <a:off x="548640" y="470916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Благодарим за внимание. Приглашаем к диалогу о партнёрстве и инвестициях.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548640" y="5394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1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MChJ «FootureX Uzbekistan» · Ташкент, Республика Узбекистан</a:t>
            </a:r>
            <a:endParaRPr lang="en-US" sz="1100" dirty="0"/>
          </a:p>
        </p:txBody>
      </p:sp>
      <p:sp>
        <p:nvSpPr>
          <p:cNvPr id="19" name="Text 11"/>
          <p:cNvSpPr txBox="1"/>
          <p:nvPr/>
        </p:nvSpPr>
        <p:spPr>
          <a:xfrm>
            <a:off x="548640" y="5687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Контактные данные: требуется подтверждение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8716975" y="61630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Концептуальная визуализация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6437376"/>
            <a:ext cx="4389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FootureX">
      <a:dk1>
        <a:srgbClr val="0B0F0E"/>
      </a:dk1>
      <a:lt1>
        <a:srgbClr val="FFFFFF"/>
      </a:lt1>
      <a:dk2>
        <a:srgbClr val="0E1629"/>
      </a:dk2>
      <a:lt2>
        <a:srgbClr val="B8C1D4"/>
      </a:lt2>
      <a:accent1>
        <a:srgbClr val="2550FA"/>
      </a:accent1>
      <a:accent2>
        <a:srgbClr val="2593FA"/>
      </a:accent2>
      <a:accent3>
        <a:srgbClr val="1B3EE9"/>
      </a:accent3>
      <a:accent4>
        <a:srgbClr val="8EB4FF"/>
      </a:accent4>
      <a:accent5>
        <a:srgbClr val="273B51"/>
      </a:accent5>
      <a:accent6>
        <a:srgbClr val="142A70"/>
      </a:accent6>
      <a:hlink>
        <a:srgbClr val="2593FA"/>
      </a:hlink>
      <a:folHlink>
        <a:srgbClr val="8A93A6"/>
      </a:folHlink>
    </a:clrScheme>
    <a:fontScheme name="Office">
      <a:majorFont>
        <a:latin typeface="Unbound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117</Slides>
  <Notes>117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</vt:vector>
  </TitlesOfParts>
  <Company>FootureX Uzbekistan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FootureX Uzbekistan — Corporate Vision &amp; Strategic Development</dc:title>
  <dc:subject>Корпоративная стратегическая презентация, 117 слайдов</dc:subject>
  <dc:creator>FootureX Uzbekistan</dc:creator>
  <cp:lastModifiedBy>FootureX Uzbekistan</cp:lastModifiedBy>
  <cp:revision>1</cp:revision>
  <dcterms:created xsi:type="dcterms:W3CDTF">2026-10-26T11:43:02Z</dcterms:created>
  <dcterms:modified xsi:type="dcterms:W3CDTF">2026-10-26T11:43:02Z</dcterms:modified>
</cp:coreProperties>
</file>